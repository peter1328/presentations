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 id="2147483687" r:id="rId2"/>
  </p:sldMasterIdLst>
  <p:notesMasterIdLst>
    <p:notesMasterId r:id="rId28"/>
  </p:notesMasterIdLst>
  <p:sldIdLst>
    <p:sldId id="846" r:id="rId3"/>
    <p:sldId id="845" r:id="rId4"/>
    <p:sldId id="870" r:id="rId5"/>
    <p:sldId id="849" r:id="rId6"/>
    <p:sldId id="264" r:id="rId7"/>
    <p:sldId id="851" r:id="rId8"/>
    <p:sldId id="852" r:id="rId9"/>
    <p:sldId id="853" r:id="rId10"/>
    <p:sldId id="855" r:id="rId11"/>
    <p:sldId id="857" r:id="rId12"/>
    <p:sldId id="848" r:id="rId13"/>
    <p:sldId id="854" r:id="rId14"/>
    <p:sldId id="858" r:id="rId15"/>
    <p:sldId id="860" r:id="rId16"/>
    <p:sldId id="861" r:id="rId17"/>
    <p:sldId id="862" r:id="rId18"/>
    <p:sldId id="863" r:id="rId19"/>
    <p:sldId id="864" r:id="rId20"/>
    <p:sldId id="865" r:id="rId21"/>
    <p:sldId id="866" r:id="rId22"/>
    <p:sldId id="869" r:id="rId23"/>
    <p:sldId id="265" r:id="rId24"/>
    <p:sldId id="867" r:id="rId25"/>
    <p:sldId id="868" r:id="rId26"/>
    <p:sldId id="850" r:id="rId2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13" autoAdjust="0"/>
    <p:restoredTop sz="75467" autoAdjust="0"/>
  </p:normalViewPr>
  <p:slideViewPr>
    <p:cSldViewPr snapToGrid="0" showGuides="1">
      <p:cViewPr>
        <p:scale>
          <a:sx n="50" d="100"/>
          <a:sy n="50" d="100"/>
        </p:scale>
        <p:origin x="3228" y="1590"/>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227EB2-344A-4056-82D0-EC6CB786D4BD}" type="datetimeFigureOut">
              <a:rPr lang="de-DE" smtClean="0"/>
              <a:t>15.07.2026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E877DA-6631-45DD-A8ED-B21393C9203F}" type="slidenum">
              <a:rPr lang="de-DE" smtClean="0"/>
              <a:t>‹Nr.›</a:t>
            </a:fld>
            <a:endParaRPr lang="de-DE"/>
          </a:p>
        </p:txBody>
      </p:sp>
    </p:spTree>
    <p:extLst>
      <p:ext uri="{BB962C8B-B14F-4D97-AF65-F5344CB8AC3E}">
        <p14:creationId xmlns:p14="http://schemas.microsoft.com/office/powerpoint/2010/main" val="2424989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8" Type="http://schemas.openxmlformats.org/officeDocument/2006/relationships/hyperlink" Target="https://stochtree.ai/vignettes/bcf.html" TargetMode="External"/><Relationship Id="rId13" Type="http://schemas.openxmlformats.org/officeDocument/2006/relationships/hyperlink" Target="https://stat.duke.edu/~fl35/teaching/640/Chap4.2ML.pdf" TargetMode="External"/><Relationship Id="rId18" Type="http://schemas.openxmlformats.org/officeDocument/2006/relationships/hyperlink" Target="https://medium.com/data-science-collective/causal-inference-in-data-science-beyond-correlation-9ebf9e9fc0ce" TargetMode="External"/><Relationship Id="rId3" Type="http://schemas.openxmlformats.org/officeDocument/2006/relationships/hyperlink" Target="https://arxiv.org/pdf/1706.09523" TargetMode="External"/><Relationship Id="rId7" Type="http://schemas.openxmlformats.org/officeDocument/2006/relationships/hyperlink" Target="https://link.springer.com/article/10.1007/s41060-025-01013-5" TargetMode="External"/><Relationship Id="rId12" Type="http://schemas.openxmlformats.org/officeDocument/2006/relationships/hyperlink" Target="https://arxiv.org/html/2404.13356v1" TargetMode="External"/><Relationship Id="rId17" Type="http://schemas.openxmlformats.org/officeDocument/2006/relationships/hyperlink" Target="https://telnyx.com/learn-ai/bayesian-machine-learning-ai" TargetMode="External"/><Relationship Id="rId2" Type="http://schemas.openxmlformats.org/officeDocument/2006/relationships/slide" Target="../slides/slide9.xml"/><Relationship Id="rId16" Type="http://schemas.openxmlformats.org/officeDocument/2006/relationships/hyperlink" Target="https://pmc.ncbi.nlm.nih.gov/articles/PMC2885293/" TargetMode="External"/><Relationship Id="rId1" Type="http://schemas.openxmlformats.org/officeDocument/2006/relationships/notesMaster" Target="../notesMasters/notesMaster1.xml"/><Relationship Id="rId6" Type="http://schemas.openxmlformats.org/officeDocument/2006/relationships/hyperlink" Target="https://academic.oup.com/jrsssa/article/188/2/428/7681717" TargetMode="External"/><Relationship Id="rId11" Type="http://schemas.openxmlformats.org/officeDocument/2006/relationships/hyperlink" Target="https://www.stat.purdue.edu/~sabbaghi/teaching/DTSS/Causal%20Epiphanies.html" TargetMode="External"/><Relationship Id="rId5" Type="http://schemas.openxmlformats.org/officeDocument/2006/relationships/hyperlink" Target="https://www.emergentmind.com/topics/bayesian-causal-forest" TargetMode="External"/><Relationship Id="rId15" Type="http://schemas.openxmlformats.org/officeDocument/2006/relationships/hyperlink" Target="https://pmc.ncbi.nlm.nih.gov/articles/PMC4158865/" TargetMode="External"/><Relationship Id="rId10" Type="http://schemas.openxmlformats.org/officeDocument/2006/relationships/hyperlink" Target="https://www.sciencedirect.com/science/article/pii/S2214317321000780" TargetMode="External"/><Relationship Id="rId4" Type="http://schemas.openxmlformats.org/officeDocument/2006/relationships/hyperlink" Target="https://book.martinez.fyi/bcf.html" TargetMode="External"/><Relationship Id="rId9" Type="http://schemas.openxmlformats.org/officeDocument/2006/relationships/hyperlink" Target="https://www.emergentmind.com/topics/bayesian-causal-forests-bcf" TargetMode="External"/><Relationship Id="rId14" Type="http://schemas.openxmlformats.org/officeDocument/2006/relationships/hyperlink" Target="https://bookdown.org/stanfordgsbsilab/ml-ci-tutorial/hte-i-binary-treatment.html" TargetMode="External"/></Relationships>
</file>

<file path=ppt/notesSlides/_rels/notesSlide10.xml.rels><?xml version="1.0" encoding="UTF-8" standalone="yes"?>
<Relationships xmlns="http://schemas.openxmlformats.org/package/2006/relationships"><Relationship Id="rId8" Type="http://schemas.openxmlformats.org/officeDocument/2006/relationships/hyperlink" Target="https://stochtree.ai/vignettes/bcf.html" TargetMode="External"/><Relationship Id="rId13" Type="http://schemas.openxmlformats.org/officeDocument/2006/relationships/hyperlink" Target="https://stat.duke.edu/~fl35/teaching/640/Chap4.2ML.pdf" TargetMode="External"/><Relationship Id="rId18" Type="http://schemas.openxmlformats.org/officeDocument/2006/relationships/hyperlink" Target="https://medium.com/data-science-collective/causal-inference-in-data-science-beyond-correlation-9ebf9e9fc0ce" TargetMode="External"/><Relationship Id="rId3" Type="http://schemas.openxmlformats.org/officeDocument/2006/relationships/hyperlink" Target="https://arxiv.org/pdf/1706.09523" TargetMode="External"/><Relationship Id="rId7" Type="http://schemas.openxmlformats.org/officeDocument/2006/relationships/hyperlink" Target="https://link.springer.com/article/10.1007/s41060-025-01013-5" TargetMode="External"/><Relationship Id="rId12" Type="http://schemas.openxmlformats.org/officeDocument/2006/relationships/hyperlink" Target="https://arxiv.org/html/2404.13356v1" TargetMode="External"/><Relationship Id="rId17" Type="http://schemas.openxmlformats.org/officeDocument/2006/relationships/hyperlink" Target="https://telnyx.com/learn-ai/bayesian-machine-learning-ai" TargetMode="External"/><Relationship Id="rId2" Type="http://schemas.openxmlformats.org/officeDocument/2006/relationships/slide" Target="../slides/slide10.xml"/><Relationship Id="rId16" Type="http://schemas.openxmlformats.org/officeDocument/2006/relationships/hyperlink" Target="https://pmc.ncbi.nlm.nih.gov/articles/PMC2885293/" TargetMode="External"/><Relationship Id="rId1" Type="http://schemas.openxmlformats.org/officeDocument/2006/relationships/notesMaster" Target="../notesMasters/notesMaster1.xml"/><Relationship Id="rId6" Type="http://schemas.openxmlformats.org/officeDocument/2006/relationships/hyperlink" Target="https://academic.oup.com/jrsssa/article/188/2/428/7681717" TargetMode="External"/><Relationship Id="rId11" Type="http://schemas.openxmlformats.org/officeDocument/2006/relationships/hyperlink" Target="https://www.stat.purdue.edu/~sabbaghi/teaching/DTSS/Causal%20Epiphanies.html" TargetMode="External"/><Relationship Id="rId5" Type="http://schemas.openxmlformats.org/officeDocument/2006/relationships/hyperlink" Target="https://www.emergentmind.com/topics/bayesian-causal-forest" TargetMode="External"/><Relationship Id="rId15" Type="http://schemas.openxmlformats.org/officeDocument/2006/relationships/hyperlink" Target="https://pmc.ncbi.nlm.nih.gov/articles/PMC4158865/" TargetMode="External"/><Relationship Id="rId10" Type="http://schemas.openxmlformats.org/officeDocument/2006/relationships/hyperlink" Target="https://www.sciencedirect.com/science/article/pii/S2214317321000780" TargetMode="External"/><Relationship Id="rId4" Type="http://schemas.openxmlformats.org/officeDocument/2006/relationships/hyperlink" Target="https://book.martinez.fyi/bcf.html" TargetMode="External"/><Relationship Id="rId9" Type="http://schemas.openxmlformats.org/officeDocument/2006/relationships/hyperlink" Target="https://www.emergentmind.com/topics/bayesian-causal-forests-bcf" TargetMode="External"/><Relationship Id="rId14" Type="http://schemas.openxmlformats.org/officeDocument/2006/relationships/hyperlink" Target="https://bookdown.org/stanfordgsbsilab/ml-ci-tutorial/hte-i-binary-treatment.html" TargetMode="External"/></Relationships>
</file>

<file path=ppt/notesSlides/_rels/notesSlide11.xml.rels><?xml version="1.0" encoding="UTF-8" standalone="yes"?>
<Relationships xmlns="http://schemas.openxmlformats.org/package/2006/relationships"><Relationship Id="rId8" Type="http://schemas.openxmlformats.org/officeDocument/2006/relationships/hyperlink" Target="https://stochtree.ai/vignettes/bcf.html" TargetMode="External"/><Relationship Id="rId13" Type="http://schemas.openxmlformats.org/officeDocument/2006/relationships/hyperlink" Target="https://stat.duke.edu/~fl35/teaching/640/Chap4.2ML.pdf" TargetMode="External"/><Relationship Id="rId18" Type="http://schemas.openxmlformats.org/officeDocument/2006/relationships/hyperlink" Target="https://medium.com/data-science-collective/causal-inference-in-data-science-beyond-correlation-9ebf9e9fc0ce" TargetMode="External"/><Relationship Id="rId3" Type="http://schemas.openxmlformats.org/officeDocument/2006/relationships/hyperlink" Target="https://arxiv.org/pdf/1706.09523" TargetMode="External"/><Relationship Id="rId7" Type="http://schemas.openxmlformats.org/officeDocument/2006/relationships/hyperlink" Target="https://link.springer.com/article/10.1007/s41060-025-01013-5" TargetMode="External"/><Relationship Id="rId12" Type="http://schemas.openxmlformats.org/officeDocument/2006/relationships/hyperlink" Target="https://arxiv.org/html/2404.13356v1" TargetMode="External"/><Relationship Id="rId17" Type="http://schemas.openxmlformats.org/officeDocument/2006/relationships/hyperlink" Target="https://telnyx.com/learn-ai/bayesian-machine-learning-ai" TargetMode="External"/><Relationship Id="rId2" Type="http://schemas.openxmlformats.org/officeDocument/2006/relationships/slide" Target="../slides/slide11.xml"/><Relationship Id="rId16" Type="http://schemas.openxmlformats.org/officeDocument/2006/relationships/hyperlink" Target="https://pmc.ncbi.nlm.nih.gov/articles/PMC2885293/" TargetMode="External"/><Relationship Id="rId1" Type="http://schemas.openxmlformats.org/officeDocument/2006/relationships/notesMaster" Target="../notesMasters/notesMaster1.xml"/><Relationship Id="rId6" Type="http://schemas.openxmlformats.org/officeDocument/2006/relationships/hyperlink" Target="https://academic.oup.com/jrsssa/article/188/2/428/7681717" TargetMode="External"/><Relationship Id="rId11" Type="http://schemas.openxmlformats.org/officeDocument/2006/relationships/hyperlink" Target="https://www.stat.purdue.edu/~sabbaghi/teaching/DTSS/Causal%20Epiphanies.html" TargetMode="External"/><Relationship Id="rId5" Type="http://schemas.openxmlformats.org/officeDocument/2006/relationships/hyperlink" Target="https://www.emergentmind.com/topics/bayesian-causal-forest" TargetMode="External"/><Relationship Id="rId15" Type="http://schemas.openxmlformats.org/officeDocument/2006/relationships/hyperlink" Target="https://pmc.ncbi.nlm.nih.gov/articles/PMC4158865/" TargetMode="External"/><Relationship Id="rId10" Type="http://schemas.openxmlformats.org/officeDocument/2006/relationships/hyperlink" Target="https://www.sciencedirect.com/science/article/pii/S2214317321000780" TargetMode="External"/><Relationship Id="rId4" Type="http://schemas.openxmlformats.org/officeDocument/2006/relationships/hyperlink" Target="https://book.martinez.fyi/bcf.html" TargetMode="External"/><Relationship Id="rId9" Type="http://schemas.openxmlformats.org/officeDocument/2006/relationships/hyperlink" Target="https://www.emergentmind.com/topics/bayesian-causal-forests-bcf" TargetMode="External"/><Relationship Id="rId14" Type="http://schemas.openxmlformats.org/officeDocument/2006/relationships/hyperlink" Target="https://bookdown.org/stanfordgsbsilab/ml-ci-tutorial/hte-i-binary-treatment.html"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8" Type="http://schemas.openxmlformats.org/officeDocument/2006/relationships/hyperlink" Target="https://stochtree.ai/vignettes/bcf.html" TargetMode="External"/><Relationship Id="rId13" Type="http://schemas.openxmlformats.org/officeDocument/2006/relationships/hyperlink" Target="https://stat.duke.edu/~fl35/teaching/640/Chap4.2ML.pdf" TargetMode="External"/><Relationship Id="rId18" Type="http://schemas.openxmlformats.org/officeDocument/2006/relationships/hyperlink" Target="https://medium.com/data-science-collective/causal-inference-in-data-science-beyond-correlation-9ebf9e9fc0ce" TargetMode="External"/><Relationship Id="rId3" Type="http://schemas.openxmlformats.org/officeDocument/2006/relationships/hyperlink" Target="https://arxiv.org/pdf/1706.09523" TargetMode="External"/><Relationship Id="rId7" Type="http://schemas.openxmlformats.org/officeDocument/2006/relationships/hyperlink" Target="https://link.springer.com/article/10.1007/s41060-025-01013-5" TargetMode="External"/><Relationship Id="rId12" Type="http://schemas.openxmlformats.org/officeDocument/2006/relationships/hyperlink" Target="https://arxiv.org/html/2404.13356v1" TargetMode="External"/><Relationship Id="rId17" Type="http://schemas.openxmlformats.org/officeDocument/2006/relationships/hyperlink" Target="https://telnyx.com/learn-ai/bayesian-machine-learning-ai" TargetMode="External"/><Relationship Id="rId2" Type="http://schemas.openxmlformats.org/officeDocument/2006/relationships/slide" Target="../slides/slide14.xml"/><Relationship Id="rId16" Type="http://schemas.openxmlformats.org/officeDocument/2006/relationships/hyperlink" Target="https://pmc.ncbi.nlm.nih.gov/articles/PMC2885293/" TargetMode="External"/><Relationship Id="rId1" Type="http://schemas.openxmlformats.org/officeDocument/2006/relationships/notesMaster" Target="../notesMasters/notesMaster1.xml"/><Relationship Id="rId6" Type="http://schemas.openxmlformats.org/officeDocument/2006/relationships/hyperlink" Target="https://academic.oup.com/jrsssa/article/188/2/428/7681717" TargetMode="External"/><Relationship Id="rId11" Type="http://schemas.openxmlformats.org/officeDocument/2006/relationships/hyperlink" Target="https://www.stat.purdue.edu/~sabbaghi/teaching/DTSS/Causal%20Epiphanies.html" TargetMode="External"/><Relationship Id="rId5" Type="http://schemas.openxmlformats.org/officeDocument/2006/relationships/hyperlink" Target="https://www.emergentmind.com/topics/bayesian-causal-forest" TargetMode="External"/><Relationship Id="rId15" Type="http://schemas.openxmlformats.org/officeDocument/2006/relationships/hyperlink" Target="https://pmc.ncbi.nlm.nih.gov/articles/PMC4158865/" TargetMode="External"/><Relationship Id="rId10" Type="http://schemas.openxmlformats.org/officeDocument/2006/relationships/hyperlink" Target="https://www.sciencedirect.com/science/article/pii/S2214317321000780" TargetMode="External"/><Relationship Id="rId4" Type="http://schemas.openxmlformats.org/officeDocument/2006/relationships/hyperlink" Target="https://book.martinez.fyi/bcf.html" TargetMode="External"/><Relationship Id="rId9" Type="http://schemas.openxmlformats.org/officeDocument/2006/relationships/hyperlink" Target="https://www.emergentmind.com/topics/bayesian-causal-forests-bcf" TargetMode="External"/><Relationship Id="rId14" Type="http://schemas.openxmlformats.org/officeDocument/2006/relationships/hyperlink" Target="https://bookdown.org/stanfordgsbsilab/ml-ci-tutorial/hte-i-binary-treatment.html" TargetMode="External"/></Relationships>
</file>

<file path=ppt/notesSlides/_rels/notesSlide15.xml.rels><?xml version="1.0" encoding="UTF-8" standalone="yes"?>
<Relationships xmlns="http://schemas.openxmlformats.org/package/2006/relationships"><Relationship Id="rId8" Type="http://schemas.openxmlformats.org/officeDocument/2006/relationships/hyperlink" Target="https://stochtree.ai/vignettes/bcf.html" TargetMode="External"/><Relationship Id="rId13" Type="http://schemas.openxmlformats.org/officeDocument/2006/relationships/hyperlink" Target="https://stat.duke.edu/~fl35/teaching/640/Chap4.2ML.pdf" TargetMode="External"/><Relationship Id="rId18" Type="http://schemas.openxmlformats.org/officeDocument/2006/relationships/hyperlink" Target="https://medium.com/data-science-collective/causal-inference-in-data-science-beyond-correlation-9ebf9e9fc0ce" TargetMode="External"/><Relationship Id="rId3" Type="http://schemas.openxmlformats.org/officeDocument/2006/relationships/hyperlink" Target="https://arxiv.org/pdf/1706.09523" TargetMode="External"/><Relationship Id="rId7" Type="http://schemas.openxmlformats.org/officeDocument/2006/relationships/hyperlink" Target="https://link.springer.com/article/10.1007/s41060-025-01013-5" TargetMode="External"/><Relationship Id="rId12" Type="http://schemas.openxmlformats.org/officeDocument/2006/relationships/hyperlink" Target="https://arxiv.org/html/2404.13356v1" TargetMode="External"/><Relationship Id="rId17" Type="http://schemas.openxmlformats.org/officeDocument/2006/relationships/hyperlink" Target="https://telnyx.com/learn-ai/bayesian-machine-learning-ai" TargetMode="External"/><Relationship Id="rId2" Type="http://schemas.openxmlformats.org/officeDocument/2006/relationships/slide" Target="../slides/slide15.xml"/><Relationship Id="rId16" Type="http://schemas.openxmlformats.org/officeDocument/2006/relationships/hyperlink" Target="https://pmc.ncbi.nlm.nih.gov/articles/PMC2885293/" TargetMode="External"/><Relationship Id="rId1" Type="http://schemas.openxmlformats.org/officeDocument/2006/relationships/notesMaster" Target="../notesMasters/notesMaster1.xml"/><Relationship Id="rId6" Type="http://schemas.openxmlformats.org/officeDocument/2006/relationships/hyperlink" Target="https://academic.oup.com/jrsssa/article/188/2/428/7681717" TargetMode="External"/><Relationship Id="rId11" Type="http://schemas.openxmlformats.org/officeDocument/2006/relationships/hyperlink" Target="https://www.stat.purdue.edu/~sabbaghi/teaching/DTSS/Causal%20Epiphanies.html" TargetMode="External"/><Relationship Id="rId5" Type="http://schemas.openxmlformats.org/officeDocument/2006/relationships/hyperlink" Target="https://www.emergentmind.com/topics/bayesian-causal-forest" TargetMode="External"/><Relationship Id="rId15" Type="http://schemas.openxmlformats.org/officeDocument/2006/relationships/hyperlink" Target="https://pmc.ncbi.nlm.nih.gov/articles/PMC4158865/" TargetMode="External"/><Relationship Id="rId10" Type="http://schemas.openxmlformats.org/officeDocument/2006/relationships/hyperlink" Target="https://www.sciencedirect.com/science/article/pii/S2214317321000780" TargetMode="External"/><Relationship Id="rId4" Type="http://schemas.openxmlformats.org/officeDocument/2006/relationships/hyperlink" Target="https://book.martinez.fyi/bcf.html" TargetMode="External"/><Relationship Id="rId9" Type="http://schemas.openxmlformats.org/officeDocument/2006/relationships/hyperlink" Target="https://www.emergentmind.com/topics/bayesian-causal-forests-bcf" TargetMode="External"/><Relationship Id="rId14" Type="http://schemas.openxmlformats.org/officeDocument/2006/relationships/hyperlink" Target="https://bookdown.org/stanfordgsbsilab/ml-ci-tutorial/hte-i-binary-treatment.html" TargetMode="External"/></Relationships>
</file>

<file path=ppt/notesSlides/_rels/notesSlide16.xml.rels><?xml version="1.0" encoding="UTF-8" standalone="yes"?>
<Relationships xmlns="http://schemas.openxmlformats.org/package/2006/relationships"><Relationship Id="rId8" Type="http://schemas.openxmlformats.org/officeDocument/2006/relationships/hyperlink" Target="https://stochtree.ai/vignettes/bcf.html" TargetMode="External"/><Relationship Id="rId13" Type="http://schemas.openxmlformats.org/officeDocument/2006/relationships/hyperlink" Target="https://stat.duke.edu/~fl35/teaching/640/Chap4.2ML.pdf" TargetMode="External"/><Relationship Id="rId18" Type="http://schemas.openxmlformats.org/officeDocument/2006/relationships/hyperlink" Target="https://medium.com/data-science-collective/causal-inference-in-data-science-beyond-correlation-9ebf9e9fc0ce" TargetMode="External"/><Relationship Id="rId3" Type="http://schemas.openxmlformats.org/officeDocument/2006/relationships/hyperlink" Target="https://arxiv.org/pdf/1706.09523" TargetMode="External"/><Relationship Id="rId7" Type="http://schemas.openxmlformats.org/officeDocument/2006/relationships/hyperlink" Target="https://link.springer.com/article/10.1007/s41060-025-01013-5" TargetMode="External"/><Relationship Id="rId12" Type="http://schemas.openxmlformats.org/officeDocument/2006/relationships/hyperlink" Target="https://arxiv.org/html/2404.13356v1" TargetMode="External"/><Relationship Id="rId17" Type="http://schemas.openxmlformats.org/officeDocument/2006/relationships/hyperlink" Target="https://telnyx.com/learn-ai/bayesian-machine-learning-ai" TargetMode="External"/><Relationship Id="rId2" Type="http://schemas.openxmlformats.org/officeDocument/2006/relationships/slide" Target="../slides/slide16.xml"/><Relationship Id="rId16" Type="http://schemas.openxmlformats.org/officeDocument/2006/relationships/hyperlink" Target="https://pmc.ncbi.nlm.nih.gov/articles/PMC2885293/" TargetMode="External"/><Relationship Id="rId1" Type="http://schemas.openxmlformats.org/officeDocument/2006/relationships/notesMaster" Target="../notesMasters/notesMaster1.xml"/><Relationship Id="rId6" Type="http://schemas.openxmlformats.org/officeDocument/2006/relationships/hyperlink" Target="https://academic.oup.com/jrsssa/article/188/2/428/7681717" TargetMode="External"/><Relationship Id="rId11" Type="http://schemas.openxmlformats.org/officeDocument/2006/relationships/hyperlink" Target="https://www.stat.purdue.edu/~sabbaghi/teaching/DTSS/Causal%20Epiphanies.html" TargetMode="External"/><Relationship Id="rId5" Type="http://schemas.openxmlformats.org/officeDocument/2006/relationships/hyperlink" Target="https://www.emergentmind.com/topics/bayesian-causal-forest" TargetMode="External"/><Relationship Id="rId15" Type="http://schemas.openxmlformats.org/officeDocument/2006/relationships/hyperlink" Target="https://pmc.ncbi.nlm.nih.gov/articles/PMC4158865/" TargetMode="External"/><Relationship Id="rId10" Type="http://schemas.openxmlformats.org/officeDocument/2006/relationships/hyperlink" Target="https://www.sciencedirect.com/science/article/pii/S2214317321000780" TargetMode="External"/><Relationship Id="rId4" Type="http://schemas.openxmlformats.org/officeDocument/2006/relationships/hyperlink" Target="https://book.martinez.fyi/bcf.html" TargetMode="External"/><Relationship Id="rId9" Type="http://schemas.openxmlformats.org/officeDocument/2006/relationships/hyperlink" Target="https://www.emergentmind.com/topics/bayesian-causal-forests-bcf" TargetMode="External"/><Relationship Id="rId14" Type="http://schemas.openxmlformats.org/officeDocument/2006/relationships/hyperlink" Target="https://bookdown.org/stanfordgsbsilab/ml-ci-tutorial/hte-i-binary-treatment.html" TargetMode="External"/></Relationships>
</file>

<file path=ppt/notesSlides/_rels/notesSlide17.xml.rels><?xml version="1.0" encoding="UTF-8" standalone="yes"?>
<Relationships xmlns="http://schemas.openxmlformats.org/package/2006/relationships"><Relationship Id="rId8" Type="http://schemas.openxmlformats.org/officeDocument/2006/relationships/hyperlink" Target="https://stochtree.ai/vignettes/bcf.html" TargetMode="External"/><Relationship Id="rId13" Type="http://schemas.openxmlformats.org/officeDocument/2006/relationships/hyperlink" Target="https://stat.duke.edu/~fl35/teaching/640/Chap4.2ML.pdf" TargetMode="External"/><Relationship Id="rId18" Type="http://schemas.openxmlformats.org/officeDocument/2006/relationships/hyperlink" Target="https://medium.com/data-science-collective/causal-inference-in-data-science-beyond-correlation-9ebf9e9fc0ce" TargetMode="External"/><Relationship Id="rId3" Type="http://schemas.openxmlformats.org/officeDocument/2006/relationships/hyperlink" Target="https://arxiv.org/pdf/1706.09523" TargetMode="External"/><Relationship Id="rId7" Type="http://schemas.openxmlformats.org/officeDocument/2006/relationships/hyperlink" Target="https://link.springer.com/article/10.1007/s41060-025-01013-5" TargetMode="External"/><Relationship Id="rId12" Type="http://schemas.openxmlformats.org/officeDocument/2006/relationships/hyperlink" Target="https://arxiv.org/html/2404.13356v1" TargetMode="External"/><Relationship Id="rId17" Type="http://schemas.openxmlformats.org/officeDocument/2006/relationships/hyperlink" Target="https://telnyx.com/learn-ai/bayesian-machine-learning-ai" TargetMode="External"/><Relationship Id="rId2" Type="http://schemas.openxmlformats.org/officeDocument/2006/relationships/slide" Target="../slides/slide17.xml"/><Relationship Id="rId16" Type="http://schemas.openxmlformats.org/officeDocument/2006/relationships/hyperlink" Target="https://pmc.ncbi.nlm.nih.gov/articles/PMC2885293/" TargetMode="External"/><Relationship Id="rId1" Type="http://schemas.openxmlformats.org/officeDocument/2006/relationships/notesMaster" Target="../notesMasters/notesMaster1.xml"/><Relationship Id="rId6" Type="http://schemas.openxmlformats.org/officeDocument/2006/relationships/hyperlink" Target="https://academic.oup.com/jrsssa/article/188/2/428/7681717" TargetMode="External"/><Relationship Id="rId11" Type="http://schemas.openxmlformats.org/officeDocument/2006/relationships/hyperlink" Target="https://www.stat.purdue.edu/~sabbaghi/teaching/DTSS/Causal%20Epiphanies.html" TargetMode="External"/><Relationship Id="rId5" Type="http://schemas.openxmlformats.org/officeDocument/2006/relationships/hyperlink" Target="https://www.emergentmind.com/topics/bayesian-causal-forest" TargetMode="External"/><Relationship Id="rId15" Type="http://schemas.openxmlformats.org/officeDocument/2006/relationships/hyperlink" Target="https://pmc.ncbi.nlm.nih.gov/articles/PMC4158865/" TargetMode="External"/><Relationship Id="rId10" Type="http://schemas.openxmlformats.org/officeDocument/2006/relationships/hyperlink" Target="https://www.sciencedirect.com/science/article/pii/S2214317321000780" TargetMode="External"/><Relationship Id="rId4" Type="http://schemas.openxmlformats.org/officeDocument/2006/relationships/hyperlink" Target="https://book.martinez.fyi/bcf.html" TargetMode="External"/><Relationship Id="rId9" Type="http://schemas.openxmlformats.org/officeDocument/2006/relationships/hyperlink" Target="https://www.emergentmind.com/topics/bayesian-causal-forests-bcf" TargetMode="External"/><Relationship Id="rId14" Type="http://schemas.openxmlformats.org/officeDocument/2006/relationships/hyperlink" Target="https://bookdown.org/stanfordgsbsilab/ml-ci-tutorial/hte-i-binary-treatment.html" TargetMode="External"/></Relationships>
</file>

<file path=ppt/notesSlides/_rels/notesSlide18.xml.rels><?xml version="1.0" encoding="UTF-8" standalone="yes"?>
<Relationships xmlns="http://schemas.openxmlformats.org/package/2006/relationships"><Relationship Id="rId8" Type="http://schemas.openxmlformats.org/officeDocument/2006/relationships/hyperlink" Target="https://stochtree.ai/vignettes/bcf.html" TargetMode="External"/><Relationship Id="rId13" Type="http://schemas.openxmlformats.org/officeDocument/2006/relationships/hyperlink" Target="https://stat.duke.edu/~fl35/teaching/640/Chap4.2ML.pdf" TargetMode="External"/><Relationship Id="rId18" Type="http://schemas.openxmlformats.org/officeDocument/2006/relationships/hyperlink" Target="https://medium.com/data-science-collective/causal-inference-in-data-science-beyond-correlation-9ebf9e9fc0ce" TargetMode="External"/><Relationship Id="rId3" Type="http://schemas.openxmlformats.org/officeDocument/2006/relationships/hyperlink" Target="https://arxiv.org/pdf/1706.09523" TargetMode="External"/><Relationship Id="rId7" Type="http://schemas.openxmlformats.org/officeDocument/2006/relationships/hyperlink" Target="https://link.springer.com/article/10.1007/s41060-025-01013-5" TargetMode="External"/><Relationship Id="rId12" Type="http://schemas.openxmlformats.org/officeDocument/2006/relationships/hyperlink" Target="https://arxiv.org/html/2404.13356v1" TargetMode="External"/><Relationship Id="rId17" Type="http://schemas.openxmlformats.org/officeDocument/2006/relationships/hyperlink" Target="https://telnyx.com/learn-ai/bayesian-machine-learning-ai" TargetMode="External"/><Relationship Id="rId2" Type="http://schemas.openxmlformats.org/officeDocument/2006/relationships/slide" Target="../slides/slide18.xml"/><Relationship Id="rId16" Type="http://schemas.openxmlformats.org/officeDocument/2006/relationships/hyperlink" Target="https://pmc.ncbi.nlm.nih.gov/articles/PMC2885293/" TargetMode="External"/><Relationship Id="rId1" Type="http://schemas.openxmlformats.org/officeDocument/2006/relationships/notesMaster" Target="../notesMasters/notesMaster1.xml"/><Relationship Id="rId6" Type="http://schemas.openxmlformats.org/officeDocument/2006/relationships/hyperlink" Target="https://academic.oup.com/jrsssa/article/188/2/428/7681717" TargetMode="External"/><Relationship Id="rId11" Type="http://schemas.openxmlformats.org/officeDocument/2006/relationships/hyperlink" Target="https://www.stat.purdue.edu/~sabbaghi/teaching/DTSS/Causal%20Epiphanies.html" TargetMode="External"/><Relationship Id="rId5" Type="http://schemas.openxmlformats.org/officeDocument/2006/relationships/hyperlink" Target="https://www.emergentmind.com/topics/bayesian-causal-forest" TargetMode="External"/><Relationship Id="rId15" Type="http://schemas.openxmlformats.org/officeDocument/2006/relationships/hyperlink" Target="https://pmc.ncbi.nlm.nih.gov/articles/PMC4158865/" TargetMode="External"/><Relationship Id="rId10" Type="http://schemas.openxmlformats.org/officeDocument/2006/relationships/hyperlink" Target="https://www.sciencedirect.com/science/article/pii/S2214317321000780" TargetMode="External"/><Relationship Id="rId4" Type="http://schemas.openxmlformats.org/officeDocument/2006/relationships/hyperlink" Target="https://book.martinez.fyi/bcf.html" TargetMode="External"/><Relationship Id="rId9" Type="http://schemas.openxmlformats.org/officeDocument/2006/relationships/hyperlink" Target="https://www.emergentmind.com/topics/bayesian-causal-forests-bcf" TargetMode="External"/><Relationship Id="rId14" Type="http://schemas.openxmlformats.org/officeDocument/2006/relationships/hyperlink" Target="https://bookdown.org/stanfordgsbsilab/ml-ci-tutorial/hte-i-binary-treatment.html" TargetMode="External"/></Relationships>
</file>

<file path=ppt/notesSlides/_rels/notesSlide19.xml.rels><?xml version="1.0" encoding="UTF-8" standalone="yes"?>
<Relationships xmlns="http://schemas.openxmlformats.org/package/2006/relationships"><Relationship Id="rId8" Type="http://schemas.openxmlformats.org/officeDocument/2006/relationships/hyperlink" Target="https://stochtree.ai/vignettes/bcf.html" TargetMode="External"/><Relationship Id="rId13" Type="http://schemas.openxmlformats.org/officeDocument/2006/relationships/hyperlink" Target="https://stat.duke.edu/~fl35/teaching/640/Chap4.2ML.pdf" TargetMode="External"/><Relationship Id="rId18" Type="http://schemas.openxmlformats.org/officeDocument/2006/relationships/hyperlink" Target="https://medium.com/data-science-collective/causal-inference-in-data-science-beyond-correlation-9ebf9e9fc0ce" TargetMode="External"/><Relationship Id="rId3" Type="http://schemas.openxmlformats.org/officeDocument/2006/relationships/hyperlink" Target="https://arxiv.org/pdf/1706.09523" TargetMode="External"/><Relationship Id="rId7" Type="http://schemas.openxmlformats.org/officeDocument/2006/relationships/hyperlink" Target="https://link.springer.com/article/10.1007/s41060-025-01013-5" TargetMode="External"/><Relationship Id="rId12" Type="http://schemas.openxmlformats.org/officeDocument/2006/relationships/hyperlink" Target="https://arxiv.org/html/2404.13356v1" TargetMode="External"/><Relationship Id="rId17" Type="http://schemas.openxmlformats.org/officeDocument/2006/relationships/hyperlink" Target="https://telnyx.com/learn-ai/bayesian-machine-learning-ai" TargetMode="External"/><Relationship Id="rId2" Type="http://schemas.openxmlformats.org/officeDocument/2006/relationships/slide" Target="../slides/slide19.xml"/><Relationship Id="rId16" Type="http://schemas.openxmlformats.org/officeDocument/2006/relationships/hyperlink" Target="https://pmc.ncbi.nlm.nih.gov/articles/PMC2885293/" TargetMode="External"/><Relationship Id="rId1" Type="http://schemas.openxmlformats.org/officeDocument/2006/relationships/notesMaster" Target="../notesMasters/notesMaster1.xml"/><Relationship Id="rId6" Type="http://schemas.openxmlformats.org/officeDocument/2006/relationships/hyperlink" Target="https://academic.oup.com/jrsssa/article/188/2/428/7681717" TargetMode="External"/><Relationship Id="rId11" Type="http://schemas.openxmlformats.org/officeDocument/2006/relationships/hyperlink" Target="https://www.stat.purdue.edu/~sabbaghi/teaching/DTSS/Causal%20Epiphanies.html" TargetMode="External"/><Relationship Id="rId5" Type="http://schemas.openxmlformats.org/officeDocument/2006/relationships/hyperlink" Target="https://www.emergentmind.com/topics/bayesian-causal-forest" TargetMode="External"/><Relationship Id="rId15" Type="http://schemas.openxmlformats.org/officeDocument/2006/relationships/hyperlink" Target="https://pmc.ncbi.nlm.nih.gov/articles/PMC4158865/" TargetMode="External"/><Relationship Id="rId10" Type="http://schemas.openxmlformats.org/officeDocument/2006/relationships/hyperlink" Target="https://www.sciencedirect.com/science/article/pii/S2214317321000780" TargetMode="External"/><Relationship Id="rId4" Type="http://schemas.openxmlformats.org/officeDocument/2006/relationships/hyperlink" Target="https://book.martinez.fyi/bcf.html" TargetMode="External"/><Relationship Id="rId9" Type="http://schemas.openxmlformats.org/officeDocument/2006/relationships/hyperlink" Target="https://www.emergentmind.com/topics/bayesian-causal-forests-bcf" TargetMode="External"/><Relationship Id="rId14" Type="http://schemas.openxmlformats.org/officeDocument/2006/relationships/hyperlink" Target="https://bookdown.org/stanfordgsbsilab/ml-ci-tutorial/hte-i-binary-treatment.html" TargetMode="External"/></Relationships>
</file>

<file path=ppt/notesSlides/_rels/notesSlide20.xml.rels><?xml version="1.0" encoding="UTF-8" standalone="yes"?>
<Relationships xmlns="http://schemas.openxmlformats.org/package/2006/relationships"><Relationship Id="rId8" Type="http://schemas.openxmlformats.org/officeDocument/2006/relationships/hyperlink" Target="https://stochtree.ai/vignettes/bcf.html" TargetMode="External"/><Relationship Id="rId13" Type="http://schemas.openxmlformats.org/officeDocument/2006/relationships/hyperlink" Target="https://stat.duke.edu/~fl35/teaching/640/Chap4.2ML.pdf" TargetMode="External"/><Relationship Id="rId18" Type="http://schemas.openxmlformats.org/officeDocument/2006/relationships/hyperlink" Target="https://medium.com/data-science-collective/causal-inference-in-data-science-beyond-correlation-9ebf9e9fc0ce" TargetMode="External"/><Relationship Id="rId3" Type="http://schemas.openxmlformats.org/officeDocument/2006/relationships/hyperlink" Target="https://arxiv.org/pdf/1706.09523" TargetMode="External"/><Relationship Id="rId7" Type="http://schemas.openxmlformats.org/officeDocument/2006/relationships/hyperlink" Target="https://link.springer.com/article/10.1007/s41060-025-01013-5" TargetMode="External"/><Relationship Id="rId12" Type="http://schemas.openxmlformats.org/officeDocument/2006/relationships/hyperlink" Target="https://arxiv.org/html/2404.13356v1" TargetMode="External"/><Relationship Id="rId17" Type="http://schemas.openxmlformats.org/officeDocument/2006/relationships/hyperlink" Target="https://telnyx.com/learn-ai/bayesian-machine-learning-ai" TargetMode="External"/><Relationship Id="rId2" Type="http://schemas.openxmlformats.org/officeDocument/2006/relationships/slide" Target="../slides/slide20.xml"/><Relationship Id="rId16" Type="http://schemas.openxmlformats.org/officeDocument/2006/relationships/hyperlink" Target="https://pmc.ncbi.nlm.nih.gov/articles/PMC2885293/" TargetMode="External"/><Relationship Id="rId1" Type="http://schemas.openxmlformats.org/officeDocument/2006/relationships/notesMaster" Target="../notesMasters/notesMaster1.xml"/><Relationship Id="rId6" Type="http://schemas.openxmlformats.org/officeDocument/2006/relationships/hyperlink" Target="https://academic.oup.com/jrsssa/article/188/2/428/7681717" TargetMode="External"/><Relationship Id="rId11" Type="http://schemas.openxmlformats.org/officeDocument/2006/relationships/hyperlink" Target="https://www.stat.purdue.edu/~sabbaghi/teaching/DTSS/Causal%20Epiphanies.html" TargetMode="External"/><Relationship Id="rId5" Type="http://schemas.openxmlformats.org/officeDocument/2006/relationships/hyperlink" Target="https://www.emergentmind.com/topics/bayesian-causal-forest" TargetMode="External"/><Relationship Id="rId15" Type="http://schemas.openxmlformats.org/officeDocument/2006/relationships/hyperlink" Target="https://pmc.ncbi.nlm.nih.gov/articles/PMC4158865/" TargetMode="External"/><Relationship Id="rId10" Type="http://schemas.openxmlformats.org/officeDocument/2006/relationships/hyperlink" Target="https://www.sciencedirect.com/science/article/pii/S2214317321000780" TargetMode="External"/><Relationship Id="rId4" Type="http://schemas.openxmlformats.org/officeDocument/2006/relationships/hyperlink" Target="https://book.martinez.fyi/bcf.html" TargetMode="External"/><Relationship Id="rId9" Type="http://schemas.openxmlformats.org/officeDocument/2006/relationships/hyperlink" Target="https://www.emergentmind.com/topics/bayesian-causal-forests-bcf" TargetMode="External"/><Relationship Id="rId14" Type="http://schemas.openxmlformats.org/officeDocument/2006/relationships/hyperlink" Target="https://bookdown.org/stanfordgsbsilab/ml-ci-tutorial/hte-i-binary-treatment.html" TargetMode="Externa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28984289" name="Folienbildplatzhalter 1"/>
          <p:cNvSpPr>
            <a:spLocks noGrp="1" noRot="1" noChangeAspect="1"/>
          </p:cNvSpPr>
          <p:nvPr>
            <p:ph type="sldImg"/>
          </p:nvPr>
        </p:nvSpPr>
        <p:spPr bwMode="auto"/>
      </p:sp>
      <p:sp>
        <p:nvSpPr>
          <p:cNvPr id="1667454889" name="Notizenplatzhalter 2"/>
          <p:cNvSpPr>
            <a:spLocks noGrp="1"/>
          </p:cNvSpPr>
          <p:nvPr>
            <p:ph type="body" idx="1"/>
          </p:nvPr>
        </p:nvSpPr>
        <p:spPr bwMode="auto"/>
        <p:txBody>
          <a:bodyPr/>
          <a:lstStyle/>
          <a:p>
            <a:pPr marL="0" marR="0" lvl="0" indent="0" algn="l" defTabSz="914400">
              <a:lnSpc>
                <a:spcPct val="100000"/>
              </a:lnSpc>
              <a:spcBef>
                <a:spcPts val="0"/>
              </a:spcBef>
              <a:spcAft>
                <a:spcPts val="0"/>
              </a:spcAft>
              <a:buClrTx/>
              <a:buSzTx/>
              <a:buFontTx/>
              <a:buNone/>
              <a:defRPr/>
            </a:pPr>
            <a:r>
              <a:rPr lang="de-DE"/>
              <a:t>Eine sehr gute Arbeit würde beschreiben, wie ihr die Sitzung geplant und umgesetzt habt. Dazu würde in so einer Arbeit begründet werden (mit wissenschaftlichen Befunden), warum dies so gemacht wurde. Und dann würde ein Teil kommen in dem man reflektieren könnte, ob das denn so wie geplant gelaufen ist oder was man auch auf Basis eurer Erfahrungen anders machen könnte.</a:t>
            </a:r>
            <a:endParaRPr/>
          </a:p>
          <a:p>
            <a:pPr>
              <a:defRPr/>
            </a:pPr>
            <a:endParaRPr lang="de-DE"/>
          </a:p>
        </p:txBody>
      </p:sp>
      <p:sp>
        <p:nvSpPr>
          <p:cNvPr id="1416629939" name="Foliennummernplatzhalt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057F9-B2ED-4B9D-B0F2-D3AD44C3FAB4}" type="slidenum">
              <a:rPr kumimoji="0" lang="de-DE"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925852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28984289" name="Folienbildplatzhalter 1"/>
          <p:cNvSpPr>
            <a:spLocks noGrp="1" noRot="1" noChangeAspect="1"/>
          </p:cNvSpPr>
          <p:nvPr>
            <p:ph type="sldImg"/>
          </p:nvPr>
        </p:nvSpPr>
        <p:spPr bwMode="auto"/>
      </p:sp>
      <p:sp>
        <p:nvSpPr>
          <p:cNvPr id="1667454889" name="Notizenplatzhalter 2"/>
          <p:cNvSpPr>
            <a:spLocks noGrp="1"/>
          </p:cNvSpPr>
          <p:nvPr>
            <p:ph type="body" idx="1"/>
          </p:nvPr>
        </p:nvSpPr>
        <p:spPr bwMode="auto"/>
        <p:txBody>
          <a:bodyPr/>
          <a:lstStyle/>
          <a:p>
            <a:pPr marL="0" marR="0" lvl="0" indent="0" algn="l" defTabSz="914400">
              <a:lnSpc>
                <a:spcPct val="100000"/>
              </a:lnSpc>
              <a:spcBef>
                <a:spcPts val="0"/>
              </a:spcBef>
              <a:spcAft>
                <a:spcPts val="0"/>
              </a:spcAft>
              <a:buClrTx/>
              <a:buSzTx/>
              <a:buFontTx/>
              <a:buNone/>
              <a:defRPr/>
            </a:pPr>
            <a:r>
              <a:rPr lang="de-DE" dirty="0" err="1"/>
              <a:t>Describe</a:t>
            </a:r>
            <a:r>
              <a:rPr lang="de-DE" dirty="0"/>
              <a:t> </a:t>
            </a:r>
            <a:r>
              <a:rPr lang="de-DE" dirty="0" err="1"/>
              <a:t>the</a:t>
            </a:r>
            <a:r>
              <a:rPr lang="de-DE" dirty="0"/>
              <a:t> TIMSS </a:t>
            </a:r>
            <a:r>
              <a:rPr lang="de-DE" dirty="0" err="1"/>
              <a:t>study</a:t>
            </a:r>
            <a:r>
              <a:rPr lang="de-DE" dirty="0"/>
              <a:t>.</a:t>
            </a:r>
          </a:p>
          <a:p>
            <a:pPr marL="0" marR="0" lvl="0" indent="0" algn="l" defTabSz="914400">
              <a:lnSpc>
                <a:spcPct val="100000"/>
              </a:lnSpc>
              <a:spcBef>
                <a:spcPts val="0"/>
              </a:spcBef>
              <a:spcAft>
                <a:spcPts val="0"/>
              </a:spcAft>
              <a:buClrTx/>
              <a:buSzTx/>
              <a:buFontTx/>
              <a:buNone/>
              <a:defRPr/>
            </a:pPr>
            <a:endParaRPr lang="de-DE" dirty="0"/>
          </a:p>
        </p:txBody>
      </p:sp>
      <p:sp>
        <p:nvSpPr>
          <p:cNvPr id="1416629939" name="Foliennummernplatzhalt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057F9-B2ED-4B9D-B0F2-D3AD44C3FAB4}" type="slidenum">
              <a:rPr kumimoji="0" lang="de-DE"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912635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28984289" name="Folienbildplatzhalter 1"/>
          <p:cNvSpPr>
            <a:spLocks noGrp="1" noRot="1" noChangeAspect="1"/>
          </p:cNvSpPr>
          <p:nvPr>
            <p:ph type="sldImg"/>
          </p:nvPr>
        </p:nvSpPr>
        <p:spPr bwMode="auto"/>
      </p:sp>
      <p:sp>
        <p:nvSpPr>
          <p:cNvPr id="1667454889" name="Notizenplatzhalter 2"/>
          <p:cNvSpPr>
            <a:spLocks noGrp="1"/>
          </p:cNvSpPr>
          <p:nvPr>
            <p:ph type="body" idx="1"/>
          </p:nvPr>
        </p:nvSpPr>
        <p:spPr bwMode="auto"/>
        <p:txBody>
          <a:bodyPr/>
          <a:lstStyle/>
          <a:p>
            <a:pPr marL="0" marR="0" lvl="0" indent="0" algn="l" defTabSz="914400">
              <a:lnSpc>
                <a:spcPct val="100000"/>
              </a:lnSpc>
              <a:spcBef>
                <a:spcPts val="0"/>
              </a:spcBef>
              <a:spcAft>
                <a:spcPts val="0"/>
              </a:spcAft>
              <a:buClrTx/>
              <a:buSzTx/>
              <a:buFontTx/>
              <a:buNone/>
              <a:defRPr/>
            </a:pPr>
            <a:r>
              <a:rPr lang="de-DE" dirty="0" err="1"/>
              <a:t>Describe</a:t>
            </a:r>
            <a:r>
              <a:rPr lang="de-DE" dirty="0"/>
              <a:t> </a:t>
            </a:r>
            <a:r>
              <a:rPr lang="de-DE" dirty="0" err="1"/>
              <a:t>the</a:t>
            </a:r>
            <a:r>
              <a:rPr lang="de-DE" dirty="0"/>
              <a:t> TIMSS </a:t>
            </a:r>
            <a:r>
              <a:rPr lang="de-DE" dirty="0" err="1"/>
              <a:t>study</a:t>
            </a:r>
            <a:r>
              <a:rPr lang="de-DE" dirty="0"/>
              <a:t>.</a:t>
            </a:r>
          </a:p>
          <a:p>
            <a:pPr marL="0" marR="0" lvl="0" indent="0" algn="l" defTabSz="914400">
              <a:lnSpc>
                <a:spcPct val="100000"/>
              </a:lnSpc>
              <a:spcBef>
                <a:spcPts val="0"/>
              </a:spcBef>
              <a:spcAft>
                <a:spcPts val="0"/>
              </a:spcAft>
              <a:buClrTx/>
              <a:buSzTx/>
              <a:buFontTx/>
              <a:buNone/>
              <a:defRPr/>
            </a:pPr>
            <a:endParaRPr lang="de-DE" dirty="0"/>
          </a:p>
        </p:txBody>
      </p:sp>
      <p:sp>
        <p:nvSpPr>
          <p:cNvPr id="1416629939" name="Foliennummernplatzhalt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057F9-B2ED-4B9D-B0F2-D3AD44C3FAB4}" type="slidenum">
              <a:rPr kumimoji="0" lang="de-DE"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731155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28984289" name="Folienbildplatzhalter 1"/>
          <p:cNvSpPr>
            <a:spLocks noGrp="1" noRot="1" noChangeAspect="1"/>
          </p:cNvSpPr>
          <p:nvPr>
            <p:ph type="sldImg"/>
          </p:nvPr>
        </p:nvSpPr>
        <p:spPr bwMode="auto"/>
      </p:sp>
      <p:sp>
        <p:nvSpPr>
          <p:cNvPr id="1667454889" name="Notizenplatzhalter 2"/>
          <p:cNvSpPr>
            <a:spLocks noGrp="1"/>
          </p:cNvSpPr>
          <p:nvPr>
            <p:ph type="body" idx="1"/>
          </p:nvPr>
        </p:nvSpPr>
        <p:spPr bwMode="auto"/>
        <p:txBody>
          <a:bodyPr/>
          <a:lstStyle/>
          <a:p>
            <a:pPr marL="0" marR="0" lvl="0" indent="0" algn="l" defTabSz="914400">
              <a:lnSpc>
                <a:spcPct val="100000"/>
              </a:lnSpc>
              <a:spcBef>
                <a:spcPts val="0"/>
              </a:spcBef>
              <a:spcAft>
                <a:spcPts val="0"/>
              </a:spcAft>
              <a:buClrTx/>
              <a:buSzTx/>
              <a:buFontTx/>
              <a:buNone/>
              <a:defRPr/>
            </a:pPr>
            <a:r>
              <a:rPr lang="de-DE" dirty="0"/>
              <a:t>The </a:t>
            </a:r>
            <a:r>
              <a:rPr lang="de-DE" dirty="0" err="1"/>
              <a:t>Bayesian</a:t>
            </a:r>
            <a:r>
              <a:rPr lang="de-DE" dirty="0"/>
              <a:t> </a:t>
            </a:r>
            <a:r>
              <a:rPr lang="de-DE" dirty="0" err="1"/>
              <a:t>causal</a:t>
            </a:r>
            <a:r>
              <a:rPr lang="de-DE" dirty="0"/>
              <a:t> </a:t>
            </a:r>
            <a:r>
              <a:rPr lang="de-DE" dirty="0" err="1"/>
              <a:t>forest</a:t>
            </a:r>
            <a:r>
              <a:rPr lang="de-DE" dirty="0"/>
              <a:t> </a:t>
            </a:r>
            <a:r>
              <a:rPr lang="de-DE" dirty="0" err="1"/>
              <a:t>appraoch</a:t>
            </a:r>
            <a:r>
              <a:rPr lang="de-DE" dirty="0"/>
              <a:t> </a:t>
            </a:r>
            <a:r>
              <a:rPr lang="de-DE" sz="1200" dirty="0" err="1">
                <a:latin typeface="Arial" panose="020B0604020202020204" pitchFamily="34" charset="0"/>
                <a:cs typeface="Arial" panose="020B0604020202020204" pitchFamily="34" charset="0"/>
              </a:rPr>
              <a:t>encompasses</a:t>
            </a:r>
            <a:r>
              <a:rPr lang="de-DE" sz="1200" dirty="0">
                <a:latin typeface="Arial" panose="020B0604020202020204" pitchFamily="34" charset="0"/>
                <a:cs typeface="Arial" panose="020B0604020202020204" pitchFamily="34" charset="0"/>
              </a:rPr>
              <a:t> </a:t>
            </a:r>
            <a:r>
              <a:rPr lang="de-DE" sz="1200" dirty="0" err="1">
                <a:latin typeface="Arial" panose="020B0604020202020204" pitchFamily="34" charset="0"/>
                <a:cs typeface="Arial" panose="020B0604020202020204" pitchFamily="34" charset="0"/>
              </a:rPr>
              <a:t>many</a:t>
            </a:r>
            <a:r>
              <a:rPr lang="de-DE" sz="1200" dirty="0">
                <a:latin typeface="Arial" panose="020B0604020202020204" pitchFamily="34" charset="0"/>
                <a:cs typeface="Arial" panose="020B0604020202020204" pitchFamily="34" charset="0"/>
              </a:rPr>
              <a:t> CML </a:t>
            </a:r>
            <a:r>
              <a:rPr lang="de-DE" sz="1200" dirty="0" err="1">
                <a:latin typeface="Arial" panose="020B0604020202020204" pitchFamily="34" charset="0"/>
                <a:cs typeface="Arial" panose="020B0604020202020204" pitchFamily="34" charset="0"/>
              </a:rPr>
              <a:t>topics</a:t>
            </a:r>
            <a:endParaRPr lang="de-DE" dirty="0"/>
          </a:p>
        </p:txBody>
      </p:sp>
      <p:sp>
        <p:nvSpPr>
          <p:cNvPr id="1416629939" name="Foliennummernplatzhalt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057F9-B2ED-4B9D-B0F2-D3AD44C3FAB4}" type="slidenum">
              <a:rPr kumimoji="0" lang="de-DE"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785243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228600" indent="-228600">
              <a:buAutoNum type="arabicParenR"/>
            </a:pPr>
            <a:r>
              <a:rPr lang="de-DE" dirty="0"/>
              <a:t>Model </a:t>
            </a:r>
            <a:r>
              <a:rPr lang="de-DE" dirty="0" err="1"/>
              <a:t>representation</a:t>
            </a:r>
            <a:r>
              <a:rPr lang="de-DE" dirty="0"/>
              <a:t> </a:t>
            </a:r>
            <a:r>
              <a:rPr lang="de-DE" dirty="0" err="1"/>
              <a:t>of</a:t>
            </a:r>
            <a:r>
              <a:rPr lang="de-DE" dirty="0"/>
              <a:t> </a:t>
            </a:r>
            <a:r>
              <a:rPr lang="de-DE" dirty="0" err="1"/>
              <a:t>your</a:t>
            </a:r>
            <a:r>
              <a:rPr lang="de-DE" dirty="0"/>
              <a:t> </a:t>
            </a:r>
            <a:r>
              <a:rPr lang="de-DE" dirty="0" err="1"/>
              <a:t>assumptions</a:t>
            </a:r>
            <a:r>
              <a:rPr lang="de-DE" dirty="0"/>
              <a:t> </a:t>
            </a:r>
            <a:r>
              <a:rPr lang="de-DE" dirty="0" err="1"/>
              <a:t>about</a:t>
            </a:r>
            <a:r>
              <a:rPr lang="de-DE" dirty="0"/>
              <a:t> </a:t>
            </a:r>
            <a:r>
              <a:rPr lang="de-DE" dirty="0" err="1"/>
              <a:t>the</a:t>
            </a:r>
            <a:r>
              <a:rPr lang="de-DE" dirty="0"/>
              <a:t> </a:t>
            </a:r>
            <a:r>
              <a:rPr lang="de-DE" dirty="0" err="1"/>
              <a:t>causal</a:t>
            </a:r>
            <a:r>
              <a:rPr lang="de-DE" dirty="0"/>
              <a:t> </a:t>
            </a:r>
            <a:r>
              <a:rPr lang="de-DE" dirty="0" err="1"/>
              <a:t>system</a:t>
            </a:r>
            <a:r>
              <a:rPr lang="de-DE" dirty="0"/>
              <a:t> </a:t>
            </a:r>
            <a:r>
              <a:rPr lang="de-DE" dirty="0" err="1"/>
              <a:t>of</a:t>
            </a:r>
            <a:r>
              <a:rPr lang="de-DE" dirty="0"/>
              <a:t> </a:t>
            </a:r>
            <a:r>
              <a:rPr lang="de-DE" dirty="0" err="1"/>
              <a:t>interest</a:t>
            </a:r>
            <a:endParaRPr lang="de-DE" dirty="0"/>
          </a:p>
          <a:p>
            <a:pPr marL="228600" indent="-228600">
              <a:buAutoNum type="arabicParenR"/>
            </a:pPr>
            <a:r>
              <a:rPr lang="de-DE" dirty="0" err="1"/>
              <a:t>Derive</a:t>
            </a:r>
            <a:r>
              <a:rPr lang="de-DE" dirty="0"/>
              <a:t> </a:t>
            </a:r>
            <a:r>
              <a:rPr lang="de-DE" dirty="0" err="1"/>
              <a:t>necessary</a:t>
            </a:r>
            <a:r>
              <a:rPr lang="de-DE" dirty="0"/>
              <a:t> </a:t>
            </a:r>
            <a:r>
              <a:rPr lang="de-DE" dirty="0" err="1"/>
              <a:t>covariates</a:t>
            </a:r>
            <a:r>
              <a:rPr lang="de-DE" dirty="0"/>
              <a:t> </a:t>
            </a:r>
            <a:r>
              <a:rPr lang="de-DE" dirty="0" err="1"/>
              <a:t>to</a:t>
            </a:r>
            <a:r>
              <a:rPr lang="de-DE" dirty="0"/>
              <a:t> </a:t>
            </a:r>
            <a:r>
              <a:rPr lang="de-DE" dirty="0" err="1"/>
              <a:t>include</a:t>
            </a:r>
            <a:r>
              <a:rPr lang="de-DE" dirty="0"/>
              <a:t> </a:t>
            </a:r>
            <a:r>
              <a:rPr lang="de-DE" dirty="0" err="1"/>
              <a:t>or</a:t>
            </a:r>
            <a:r>
              <a:rPr lang="de-DE" dirty="0"/>
              <a:t> </a:t>
            </a:r>
            <a:r>
              <a:rPr lang="de-DE" dirty="0" err="1"/>
              <a:t>exclude</a:t>
            </a:r>
            <a:r>
              <a:rPr lang="de-DE" dirty="0"/>
              <a:t> in </a:t>
            </a:r>
            <a:r>
              <a:rPr lang="de-DE" dirty="0" err="1"/>
              <a:t>your</a:t>
            </a:r>
            <a:r>
              <a:rPr lang="de-DE" dirty="0"/>
              <a:t> </a:t>
            </a:r>
            <a:r>
              <a:rPr lang="de-DE" dirty="0" err="1"/>
              <a:t>model</a:t>
            </a:r>
            <a:r>
              <a:rPr lang="de-DE" dirty="0"/>
              <a:t> </a:t>
            </a:r>
            <a:r>
              <a:rPr lang="de-DE" dirty="0" err="1"/>
              <a:t>to</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get</a:t>
            </a:r>
            <a:r>
              <a:rPr lang="de-DE" dirty="0"/>
              <a:t> an </a:t>
            </a:r>
            <a:r>
              <a:rPr lang="de-DE" dirty="0" err="1"/>
              <a:t>unbiased</a:t>
            </a:r>
            <a:r>
              <a:rPr lang="de-DE" dirty="0"/>
              <a:t> </a:t>
            </a:r>
            <a:r>
              <a:rPr lang="de-DE" dirty="0" err="1"/>
              <a:t>estimate</a:t>
            </a:r>
            <a:endParaRPr lang="de-DE" dirty="0"/>
          </a:p>
          <a:p>
            <a:pPr marL="228600" indent="-228600">
              <a:buAutoNum type="arabicParenR"/>
            </a:pPr>
            <a:endParaRPr lang="de-DE" dirty="0"/>
          </a:p>
          <a:p>
            <a:pPr marL="228600" indent="-228600">
              <a:buAutoNum type="arabicParenR"/>
            </a:pPr>
            <a:r>
              <a:rPr lang="de-DE" dirty="0"/>
              <a:t>Bias </a:t>
            </a:r>
            <a:r>
              <a:rPr lang="de-DE" dirty="0" err="1"/>
              <a:t>is</a:t>
            </a:r>
            <a:r>
              <a:rPr lang="de-DE" dirty="0"/>
              <a:t> </a:t>
            </a:r>
            <a:r>
              <a:rPr lang="de-DE" dirty="0" err="1"/>
              <a:t>the</a:t>
            </a:r>
            <a:r>
              <a:rPr lang="de-DE" dirty="0"/>
              <a:t> </a:t>
            </a:r>
            <a:r>
              <a:rPr lang="de-DE" dirty="0" err="1"/>
              <a:t>death</a:t>
            </a:r>
            <a:r>
              <a:rPr lang="de-DE" dirty="0"/>
              <a:t> </a:t>
            </a:r>
            <a:r>
              <a:rPr lang="de-DE" dirty="0" err="1"/>
              <a:t>penalty</a:t>
            </a:r>
            <a:r>
              <a:rPr lang="de-DE" dirty="0"/>
              <a:t> </a:t>
            </a:r>
            <a:r>
              <a:rPr lang="de-DE" dirty="0" err="1"/>
              <a:t>of</a:t>
            </a:r>
            <a:r>
              <a:rPr lang="de-DE" dirty="0"/>
              <a:t> </a:t>
            </a:r>
            <a:r>
              <a:rPr lang="de-DE" dirty="0" err="1"/>
              <a:t>causal</a:t>
            </a:r>
            <a:r>
              <a:rPr lang="de-DE" dirty="0"/>
              <a:t> </a:t>
            </a:r>
            <a:r>
              <a:rPr lang="de-DE" dirty="0" err="1"/>
              <a:t>inference</a:t>
            </a:r>
            <a:endParaRPr lang="de-DE" dirty="0"/>
          </a:p>
          <a:p>
            <a:pPr marL="228600" indent="-228600">
              <a:buAutoNum type="arabicParenR"/>
            </a:pPr>
            <a:endParaRPr lang="de-DE" dirty="0"/>
          </a:p>
          <a:p>
            <a:pPr marL="228600" indent="-228600">
              <a:buAutoNum type="arabicParenR"/>
            </a:pPr>
            <a:r>
              <a:rPr lang="de-DE" dirty="0"/>
              <a:t>More </a:t>
            </a:r>
            <a:r>
              <a:rPr lang="de-DE" dirty="0" err="1"/>
              <a:t>predictive</a:t>
            </a:r>
            <a:r>
              <a:rPr lang="de-DE" dirty="0"/>
              <a:t> </a:t>
            </a:r>
            <a:r>
              <a:rPr lang="de-DE" dirty="0" err="1"/>
              <a:t>accuracy</a:t>
            </a:r>
            <a:r>
              <a:rPr lang="de-DE" dirty="0"/>
              <a:t> = </a:t>
            </a:r>
            <a:r>
              <a:rPr lang="de-DE" dirty="0" err="1"/>
              <a:t>less</a:t>
            </a:r>
            <a:r>
              <a:rPr lang="de-DE" dirty="0"/>
              <a:t> </a:t>
            </a:r>
            <a:r>
              <a:rPr lang="de-DE" dirty="0" err="1"/>
              <a:t>variance</a:t>
            </a:r>
            <a:r>
              <a:rPr lang="de-DE" dirty="0"/>
              <a:t> </a:t>
            </a:r>
            <a:r>
              <a:rPr lang="de-DE" dirty="0" err="1"/>
              <a:t>through</a:t>
            </a:r>
            <a:r>
              <a:rPr lang="de-DE" dirty="0"/>
              <a:t> </a:t>
            </a:r>
            <a:r>
              <a:rPr lang="de-DE" dirty="0" err="1"/>
              <a:t>introducing</a:t>
            </a:r>
            <a:r>
              <a:rPr lang="de-DE" dirty="0"/>
              <a:t> </a:t>
            </a:r>
            <a:r>
              <a:rPr lang="de-DE" dirty="0" err="1"/>
              <a:t>bias</a:t>
            </a:r>
            <a:endParaRPr lang="de-DE" dirty="0"/>
          </a:p>
        </p:txBody>
      </p:sp>
      <p:sp>
        <p:nvSpPr>
          <p:cNvPr id="4" name="Foliennummernplatzhalter 3"/>
          <p:cNvSpPr>
            <a:spLocks noGrp="1"/>
          </p:cNvSpPr>
          <p:nvPr>
            <p:ph type="sldNum" sz="quarter" idx="5"/>
          </p:nvPr>
        </p:nvSpPr>
        <p:spPr/>
        <p:txBody>
          <a:bodyPr/>
          <a:lstStyle/>
          <a:p>
            <a:fld id="{BBE877DA-6631-45DD-A8ED-B21393C9203F}" type="slidenum">
              <a:rPr lang="de-DE" smtClean="0"/>
              <a:t>5</a:t>
            </a:fld>
            <a:endParaRPr lang="de-DE"/>
          </a:p>
        </p:txBody>
      </p:sp>
    </p:spTree>
    <p:extLst>
      <p:ext uri="{BB962C8B-B14F-4D97-AF65-F5344CB8AC3E}">
        <p14:creationId xmlns:p14="http://schemas.microsoft.com/office/powerpoint/2010/main" val="24411382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Causality-based</a:t>
            </a:r>
            <a:r>
              <a:rPr lang="de-DE" dirty="0"/>
              <a:t> </a:t>
            </a:r>
            <a:r>
              <a:rPr lang="de-DE" dirty="0" err="1"/>
              <a:t>data</a:t>
            </a:r>
            <a:r>
              <a:rPr lang="de-DE" dirty="0"/>
              <a:t> </a:t>
            </a:r>
            <a:r>
              <a:rPr lang="de-DE" dirty="0" err="1"/>
              <a:t>augmentation</a:t>
            </a:r>
            <a:r>
              <a:rPr lang="de-DE" dirty="0"/>
              <a:t> in </a:t>
            </a:r>
            <a:r>
              <a:rPr lang="de-DE" dirty="0" err="1"/>
              <a:t>machine</a:t>
            </a:r>
            <a:r>
              <a:rPr lang="de-DE" dirty="0"/>
              <a:t> </a:t>
            </a:r>
            <a:r>
              <a:rPr lang="de-DE" dirty="0" err="1"/>
              <a:t>learning</a:t>
            </a:r>
            <a:endParaRPr lang="de-DE" dirty="0"/>
          </a:p>
          <a:p>
            <a:r>
              <a:rPr lang="de-DE" dirty="0"/>
              <a:t>Next </a:t>
            </a:r>
            <a:r>
              <a:rPr lang="de-DE" dirty="0" err="1"/>
              <a:t>step</a:t>
            </a:r>
            <a:r>
              <a:rPr lang="de-DE" dirty="0"/>
              <a:t>:</a:t>
            </a:r>
          </a:p>
          <a:p>
            <a:r>
              <a:rPr lang="de-DE" dirty="0"/>
              <a:t>Show </a:t>
            </a:r>
            <a:r>
              <a:rPr lang="de-DE" dirty="0" err="1"/>
              <a:t>the</a:t>
            </a:r>
            <a:r>
              <a:rPr lang="de-DE" dirty="0"/>
              <a:t> </a:t>
            </a:r>
            <a:r>
              <a:rPr lang="de-DE" dirty="0" err="1"/>
              <a:t>three</a:t>
            </a:r>
            <a:r>
              <a:rPr lang="de-DE" dirty="0"/>
              <a:t> </a:t>
            </a:r>
            <a:r>
              <a:rPr lang="de-DE" dirty="0" err="1"/>
              <a:t>main</a:t>
            </a:r>
            <a:r>
              <a:rPr lang="de-DE" dirty="0"/>
              <a:t> </a:t>
            </a:r>
            <a:r>
              <a:rPr lang="de-DE" dirty="0" err="1"/>
              <a:t>applications</a:t>
            </a:r>
            <a:r>
              <a:rPr lang="de-DE" dirty="0"/>
              <a:t> </a:t>
            </a:r>
            <a:r>
              <a:rPr lang="de-DE" dirty="0" err="1"/>
              <a:t>of</a:t>
            </a:r>
            <a:r>
              <a:rPr lang="de-DE" dirty="0"/>
              <a:t> CML </a:t>
            </a:r>
            <a:r>
              <a:rPr lang="de-DE" dirty="0" err="1"/>
              <a:t>for</a:t>
            </a:r>
            <a:r>
              <a:rPr lang="de-DE" dirty="0"/>
              <a:t> </a:t>
            </a:r>
            <a:r>
              <a:rPr lang="de-DE" dirty="0" err="1"/>
              <a:t>causal</a:t>
            </a:r>
            <a:r>
              <a:rPr lang="de-DE" dirty="0"/>
              <a:t> </a:t>
            </a:r>
            <a:r>
              <a:rPr lang="de-DE" dirty="0" err="1"/>
              <a:t>inference</a:t>
            </a:r>
            <a:r>
              <a:rPr lang="de-DE" dirty="0"/>
              <a:t>:</a:t>
            </a:r>
          </a:p>
          <a:p>
            <a:pPr marL="171450" indent="-171450">
              <a:buFontTx/>
              <a:buChar char="-"/>
            </a:pPr>
            <a:r>
              <a:rPr lang="de-DE" dirty="0"/>
              <a:t>Double/</a:t>
            </a:r>
            <a:r>
              <a:rPr lang="de-DE" dirty="0" err="1"/>
              <a:t>debiased</a:t>
            </a:r>
            <a:r>
              <a:rPr lang="de-DE" dirty="0"/>
              <a:t> ML (Hamburg CML podcast ML </a:t>
            </a:r>
            <a:r>
              <a:rPr lang="de-DE" dirty="0" err="1"/>
              <a:t>researcher</a:t>
            </a:r>
            <a:r>
              <a:rPr lang="de-DE" dirty="0"/>
              <a:t>, CML </a:t>
            </a:r>
            <a:r>
              <a:rPr lang="de-DE" dirty="0" err="1"/>
              <a:t>book</a:t>
            </a:r>
            <a:r>
              <a:rPr lang="de-DE" dirty="0"/>
              <a:t>…)</a:t>
            </a:r>
          </a:p>
          <a:p>
            <a:pPr marL="171450" indent="-171450">
              <a:buFontTx/>
              <a:buChar char="-"/>
            </a:pPr>
            <a:r>
              <a:rPr lang="de-DE" dirty="0" err="1"/>
              <a:t>Heterogeneous</a:t>
            </a:r>
            <a:r>
              <a:rPr lang="de-DE" dirty="0"/>
              <a:t> </a:t>
            </a:r>
            <a:r>
              <a:rPr lang="de-DE" dirty="0" err="1"/>
              <a:t>treatment</a:t>
            </a:r>
            <a:r>
              <a:rPr lang="de-DE" dirty="0"/>
              <a:t> </a:t>
            </a:r>
            <a:r>
              <a:rPr lang="de-DE" dirty="0" err="1"/>
              <a:t>effects</a:t>
            </a:r>
            <a:r>
              <a:rPr lang="de-DE" dirty="0"/>
              <a:t> (</a:t>
            </a:r>
            <a:r>
              <a:rPr lang="de-DE" dirty="0" err="1"/>
              <a:t>treatment</a:t>
            </a:r>
            <a:r>
              <a:rPr lang="de-DE" dirty="0"/>
              <a:t> </a:t>
            </a:r>
            <a:r>
              <a:rPr lang="de-DE" dirty="0" err="1"/>
              <a:t>outcome</a:t>
            </a:r>
            <a:r>
              <a:rPr lang="de-DE" dirty="0"/>
              <a:t> </a:t>
            </a:r>
            <a:r>
              <a:rPr lang="de-DE" dirty="0" err="1"/>
              <a:t>prediction</a:t>
            </a:r>
            <a:r>
              <a:rPr lang="de-DE" dirty="0"/>
              <a:t>; CATEs/GATEs/I </a:t>
            </a:r>
            <a:r>
              <a:rPr lang="de-DE" dirty="0" err="1"/>
              <a:t>ates</a:t>
            </a:r>
            <a:r>
              <a:rPr lang="de-DE" dirty="0"/>
              <a:t> .etc. … (Feuerriegel et al., 2024)</a:t>
            </a:r>
          </a:p>
          <a:p>
            <a:pPr marL="171450" indent="-171450">
              <a:buFontTx/>
              <a:buChar char="-"/>
            </a:pPr>
            <a:r>
              <a:rPr lang="de-DE" dirty="0" err="1"/>
              <a:t>Causal</a:t>
            </a:r>
            <a:r>
              <a:rPr lang="de-DE" dirty="0"/>
              <a:t> </a:t>
            </a:r>
            <a:r>
              <a:rPr lang="de-DE" dirty="0" err="1"/>
              <a:t>discovery</a:t>
            </a:r>
            <a:r>
              <a:rPr lang="de-DE" dirty="0"/>
              <a:t> (</a:t>
            </a:r>
            <a:r>
              <a:rPr lang="de-DE" dirty="0" err="1"/>
              <a:t>learning</a:t>
            </a:r>
            <a:r>
              <a:rPr lang="de-DE" dirty="0"/>
              <a:t>) (</a:t>
            </a:r>
            <a:r>
              <a:rPr lang="de-DE" dirty="0" err="1"/>
              <a:t>Psych</a:t>
            </a:r>
            <a:r>
              <a:rPr lang="de-DE" dirty="0"/>
              <a:t> Methods </a:t>
            </a:r>
            <a:r>
              <a:rPr lang="de-DE" dirty="0" err="1"/>
              <a:t>thingie</a:t>
            </a:r>
            <a:r>
              <a:rPr lang="de-DE" dirty="0"/>
              <a:t>…)</a:t>
            </a:r>
          </a:p>
          <a:p>
            <a:pPr marL="171450" indent="-171450">
              <a:buFontTx/>
              <a:buChar char="-"/>
            </a:pPr>
            <a:r>
              <a:rPr lang="de-DE" dirty="0" err="1"/>
              <a:t>Cherhoznukov</a:t>
            </a:r>
            <a:r>
              <a:rPr lang="de-DE" dirty="0"/>
              <a:t> et al., 2024 </a:t>
            </a:r>
            <a:r>
              <a:rPr lang="de-DE" dirty="0" err="1"/>
              <a:t>as</a:t>
            </a:r>
            <a:r>
              <a:rPr lang="de-DE" dirty="0"/>
              <a:t> </a:t>
            </a:r>
            <a:r>
              <a:rPr lang="de-DE" dirty="0" err="1"/>
              <a:t>the</a:t>
            </a:r>
            <a:r>
              <a:rPr lang="de-DE" dirty="0"/>
              <a:t> </a:t>
            </a:r>
            <a:r>
              <a:rPr lang="de-DE" dirty="0" err="1"/>
              <a:t>go-to</a:t>
            </a:r>
            <a:r>
              <a:rPr lang="de-DE" dirty="0"/>
              <a:t> </a:t>
            </a:r>
            <a:r>
              <a:rPr lang="de-DE" dirty="0" err="1"/>
              <a:t>for</a:t>
            </a:r>
            <a:r>
              <a:rPr lang="de-DE" dirty="0"/>
              <a:t> </a:t>
            </a:r>
            <a:r>
              <a:rPr lang="de-DE" dirty="0" err="1"/>
              <a:t>everything</a:t>
            </a:r>
            <a:r>
              <a:rPr lang="de-DE" dirty="0"/>
              <a:t> + Podcast :)</a:t>
            </a:r>
          </a:p>
        </p:txBody>
      </p:sp>
      <p:sp>
        <p:nvSpPr>
          <p:cNvPr id="4" name="Foliennummernplatzhalter 3"/>
          <p:cNvSpPr>
            <a:spLocks noGrp="1"/>
          </p:cNvSpPr>
          <p:nvPr>
            <p:ph type="sldNum" sz="quarter" idx="5"/>
          </p:nvPr>
        </p:nvSpPr>
        <p:spPr/>
        <p:txBody>
          <a:bodyPr/>
          <a:lstStyle/>
          <a:p>
            <a:fld id="{BBE877DA-6631-45DD-A8ED-B21393C9203F}" type="slidenum">
              <a:rPr lang="de-DE" smtClean="0"/>
              <a:t>6</a:t>
            </a:fld>
            <a:endParaRPr lang="de-DE"/>
          </a:p>
        </p:txBody>
      </p:sp>
    </p:spTree>
    <p:extLst>
      <p:ext uri="{BB962C8B-B14F-4D97-AF65-F5344CB8AC3E}">
        <p14:creationId xmlns:p14="http://schemas.microsoft.com/office/powerpoint/2010/main" val="22493326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Double/</a:t>
            </a:r>
            <a:r>
              <a:rPr lang="de-DE" dirty="0" err="1"/>
              <a:t>debiased</a:t>
            </a:r>
            <a:r>
              <a:rPr lang="de-DE" dirty="0"/>
              <a:t> ML:</a:t>
            </a:r>
          </a:p>
          <a:p>
            <a:r>
              <a:rPr lang="de-DE" dirty="0" err="1"/>
              <a:t>Predict</a:t>
            </a:r>
            <a:r>
              <a:rPr lang="de-DE" dirty="0"/>
              <a:t> </a:t>
            </a:r>
            <a:r>
              <a:rPr lang="de-DE" dirty="0" err="1"/>
              <a:t>treatment</a:t>
            </a:r>
            <a:r>
              <a:rPr lang="de-DE" dirty="0"/>
              <a:t>, </a:t>
            </a:r>
            <a:r>
              <a:rPr lang="de-DE" dirty="0" err="1"/>
              <a:t>use</a:t>
            </a:r>
            <a:r>
              <a:rPr lang="de-DE" dirty="0"/>
              <a:t> </a:t>
            </a:r>
            <a:r>
              <a:rPr lang="de-DE" dirty="0" err="1"/>
              <a:t>residuals</a:t>
            </a:r>
            <a:r>
              <a:rPr lang="de-DE" dirty="0"/>
              <a:t> </a:t>
            </a:r>
            <a:r>
              <a:rPr lang="de-DE" dirty="0" err="1"/>
              <a:t>from</a:t>
            </a:r>
            <a:r>
              <a:rPr lang="de-DE" dirty="0"/>
              <a:t> </a:t>
            </a:r>
            <a:r>
              <a:rPr lang="de-DE" dirty="0" err="1"/>
              <a:t>predicted</a:t>
            </a:r>
            <a:r>
              <a:rPr lang="de-DE" dirty="0"/>
              <a:t> </a:t>
            </a:r>
            <a:r>
              <a:rPr lang="de-DE" dirty="0" err="1"/>
              <a:t>treatment</a:t>
            </a:r>
            <a:endParaRPr lang="de-DE" dirty="0"/>
          </a:p>
          <a:p>
            <a:r>
              <a:rPr lang="de-DE" dirty="0" err="1"/>
              <a:t>Predict</a:t>
            </a:r>
            <a:r>
              <a:rPr lang="de-DE" dirty="0"/>
              <a:t> </a:t>
            </a:r>
            <a:r>
              <a:rPr lang="de-DE" dirty="0" err="1"/>
              <a:t>outcome</a:t>
            </a:r>
            <a:r>
              <a:rPr lang="de-DE" dirty="0"/>
              <a:t>, </a:t>
            </a:r>
            <a:r>
              <a:rPr lang="de-DE" dirty="0" err="1"/>
              <a:t>use</a:t>
            </a:r>
            <a:r>
              <a:rPr lang="de-DE" dirty="0"/>
              <a:t> </a:t>
            </a:r>
            <a:r>
              <a:rPr lang="de-DE" dirty="0" err="1"/>
              <a:t>residuals</a:t>
            </a:r>
            <a:r>
              <a:rPr lang="de-DE" dirty="0"/>
              <a:t> </a:t>
            </a:r>
            <a:r>
              <a:rPr lang="de-DE" dirty="0" err="1"/>
              <a:t>from</a:t>
            </a:r>
            <a:r>
              <a:rPr lang="de-DE" dirty="0"/>
              <a:t> </a:t>
            </a:r>
            <a:r>
              <a:rPr lang="de-DE" dirty="0" err="1"/>
              <a:t>predicted</a:t>
            </a:r>
            <a:r>
              <a:rPr lang="de-DE" dirty="0"/>
              <a:t> </a:t>
            </a:r>
            <a:r>
              <a:rPr lang="de-DE" dirty="0" err="1"/>
              <a:t>outcome</a:t>
            </a:r>
            <a:endParaRPr lang="de-DE" dirty="0"/>
          </a:p>
          <a:p>
            <a:r>
              <a:rPr lang="de-DE" dirty="0" err="1"/>
              <a:t>Correlate</a:t>
            </a:r>
            <a:r>
              <a:rPr lang="de-DE" dirty="0"/>
              <a:t> </a:t>
            </a:r>
            <a:r>
              <a:rPr lang="de-DE" dirty="0" err="1"/>
              <a:t>these</a:t>
            </a:r>
            <a:r>
              <a:rPr lang="de-DE" dirty="0"/>
              <a:t> </a:t>
            </a:r>
            <a:r>
              <a:rPr lang="de-DE" dirty="0" err="1"/>
              <a:t>residuals</a:t>
            </a:r>
            <a:r>
              <a:rPr lang="de-DE" dirty="0"/>
              <a:t> </a:t>
            </a:r>
            <a:r>
              <a:rPr lang="de-DE" dirty="0" err="1"/>
              <a:t>instead</a:t>
            </a:r>
            <a:r>
              <a:rPr lang="de-DE" dirty="0"/>
              <a:t> </a:t>
            </a:r>
            <a:r>
              <a:rPr lang="de-DE" dirty="0" err="1"/>
              <a:t>of</a:t>
            </a:r>
            <a:r>
              <a:rPr lang="de-DE" dirty="0"/>
              <a:t> </a:t>
            </a:r>
            <a:r>
              <a:rPr lang="de-DE" dirty="0" err="1"/>
              <a:t>using</a:t>
            </a:r>
            <a:r>
              <a:rPr lang="de-DE" dirty="0"/>
              <a:t> </a:t>
            </a:r>
            <a:r>
              <a:rPr lang="de-DE" dirty="0" err="1"/>
              <a:t>the</a:t>
            </a:r>
            <a:r>
              <a:rPr lang="de-DE" dirty="0"/>
              <a:t> </a:t>
            </a:r>
            <a:r>
              <a:rPr lang="de-DE" dirty="0" err="1"/>
              <a:t>full</a:t>
            </a:r>
            <a:r>
              <a:rPr lang="de-DE" dirty="0"/>
              <a:t> </a:t>
            </a:r>
            <a:r>
              <a:rPr lang="de-DE" dirty="0" err="1"/>
              <a:t>variation</a:t>
            </a:r>
            <a:r>
              <a:rPr lang="de-DE" dirty="0"/>
              <a:t> </a:t>
            </a:r>
            <a:r>
              <a:rPr lang="de-DE" dirty="0" err="1"/>
              <a:t>of</a:t>
            </a:r>
            <a:r>
              <a:rPr lang="de-DE" dirty="0"/>
              <a:t> </a:t>
            </a:r>
            <a:r>
              <a:rPr lang="de-DE" dirty="0" err="1"/>
              <a:t>the</a:t>
            </a:r>
            <a:r>
              <a:rPr lang="de-DE" dirty="0"/>
              <a:t> </a:t>
            </a:r>
            <a:r>
              <a:rPr lang="de-DE" dirty="0" err="1"/>
              <a:t>treatment</a:t>
            </a:r>
            <a:r>
              <a:rPr lang="de-DE" dirty="0"/>
              <a:t> and </a:t>
            </a:r>
            <a:r>
              <a:rPr lang="de-DE" dirty="0" err="1"/>
              <a:t>the</a:t>
            </a:r>
            <a:r>
              <a:rPr lang="de-DE" dirty="0"/>
              <a:t> </a:t>
            </a:r>
            <a:r>
              <a:rPr lang="de-DE" dirty="0" err="1"/>
              <a:t>outcome</a:t>
            </a:r>
            <a:endParaRPr lang="de-DE" dirty="0"/>
          </a:p>
          <a:p>
            <a:r>
              <a:rPr lang="de-DE" dirty="0" err="1"/>
              <a:t>That`s</a:t>
            </a:r>
            <a:r>
              <a:rPr lang="de-DE" dirty="0"/>
              <a:t> </a:t>
            </a:r>
            <a:r>
              <a:rPr lang="de-DE" dirty="0" err="1"/>
              <a:t>called</a:t>
            </a:r>
            <a:r>
              <a:rPr lang="de-DE" dirty="0"/>
              <a:t> „</a:t>
            </a:r>
            <a:r>
              <a:rPr lang="de-DE" dirty="0" err="1"/>
              <a:t>Neyman</a:t>
            </a:r>
            <a:r>
              <a:rPr lang="de-DE" dirty="0"/>
              <a:t> </a:t>
            </a:r>
            <a:r>
              <a:rPr lang="de-DE" dirty="0" err="1"/>
              <a:t>orthogonalization</a:t>
            </a:r>
            <a:r>
              <a:rPr lang="de-DE" dirty="0"/>
              <a:t>“</a:t>
            </a:r>
          </a:p>
          <a:p>
            <a:r>
              <a:rPr lang="de-DE" dirty="0"/>
              <a:t>Plus </a:t>
            </a:r>
            <a:r>
              <a:rPr lang="de-DE" dirty="0" err="1"/>
              <a:t>cross</a:t>
            </a:r>
            <a:r>
              <a:rPr lang="de-DE" dirty="0"/>
              <a:t>-fitting:</a:t>
            </a:r>
          </a:p>
          <a:p>
            <a:r>
              <a:rPr lang="de-DE" dirty="0" err="1"/>
              <a:t>You</a:t>
            </a:r>
            <a:r>
              <a:rPr lang="de-DE" dirty="0"/>
              <a:t> </a:t>
            </a:r>
            <a:r>
              <a:rPr lang="de-DE" dirty="0" err="1"/>
              <a:t>estimate</a:t>
            </a:r>
            <a:r>
              <a:rPr lang="de-DE" dirty="0"/>
              <a:t> </a:t>
            </a:r>
            <a:r>
              <a:rPr lang="de-DE" dirty="0" err="1"/>
              <a:t>the</a:t>
            </a:r>
            <a:r>
              <a:rPr lang="de-DE" dirty="0"/>
              <a:t> </a:t>
            </a:r>
            <a:r>
              <a:rPr lang="de-DE" dirty="0" err="1"/>
              <a:t>treatment</a:t>
            </a:r>
            <a:r>
              <a:rPr lang="de-DE" dirty="0"/>
              <a:t> </a:t>
            </a:r>
            <a:r>
              <a:rPr lang="de-DE" dirty="0" err="1"/>
              <a:t>or</a:t>
            </a:r>
            <a:r>
              <a:rPr lang="de-DE" dirty="0"/>
              <a:t> </a:t>
            </a:r>
            <a:r>
              <a:rPr lang="de-DE" dirty="0" err="1"/>
              <a:t>outcome</a:t>
            </a:r>
            <a:r>
              <a:rPr lang="de-DE" dirty="0"/>
              <a:t> </a:t>
            </a:r>
            <a:r>
              <a:rPr lang="de-DE" dirty="0" err="1"/>
              <a:t>model</a:t>
            </a:r>
            <a:r>
              <a:rPr lang="de-DE" dirty="0"/>
              <a:t> on </a:t>
            </a:r>
            <a:r>
              <a:rPr lang="de-DE" dirty="0" err="1"/>
              <a:t>one</a:t>
            </a:r>
            <a:r>
              <a:rPr lang="de-DE" dirty="0"/>
              <a:t> </a:t>
            </a:r>
            <a:r>
              <a:rPr lang="de-DE" dirty="0" err="1"/>
              <a:t>part</a:t>
            </a:r>
            <a:r>
              <a:rPr lang="de-DE" dirty="0"/>
              <a:t> </a:t>
            </a:r>
            <a:r>
              <a:rPr lang="de-DE" dirty="0" err="1"/>
              <a:t>of</a:t>
            </a:r>
            <a:r>
              <a:rPr lang="de-DE" dirty="0"/>
              <a:t> </a:t>
            </a:r>
            <a:r>
              <a:rPr lang="de-DE" dirty="0" err="1"/>
              <a:t>the</a:t>
            </a:r>
            <a:r>
              <a:rPr lang="de-DE" dirty="0"/>
              <a:t> </a:t>
            </a:r>
            <a:r>
              <a:rPr lang="de-DE" dirty="0" err="1"/>
              <a:t>data</a:t>
            </a:r>
            <a:r>
              <a:rPr lang="de-DE" dirty="0"/>
              <a:t> but </a:t>
            </a:r>
            <a:r>
              <a:rPr lang="de-DE" dirty="0" err="1"/>
              <a:t>predict</a:t>
            </a:r>
            <a:r>
              <a:rPr lang="de-DE" dirty="0"/>
              <a:t> </a:t>
            </a:r>
            <a:r>
              <a:rPr lang="de-DE" dirty="0" err="1"/>
              <a:t>the</a:t>
            </a:r>
            <a:r>
              <a:rPr lang="de-DE" dirty="0"/>
              <a:t> </a:t>
            </a:r>
            <a:r>
              <a:rPr lang="de-DE" dirty="0" err="1"/>
              <a:t>other</a:t>
            </a:r>
            <a:r>
              <a:rPr lang="de-DE" dirty="0"/>
              <a:t> (e.g., </a:t>
            </a:r>
            <a:r>
              <a:rPr lang="de-DE" dirty="0" err="1"/>
              <a:t>predicting</a:t>
            </a:r>
            <a:r>
              <a:rPr lang="de-DE" dirty="0"/>
              <a:t> 1/5from </a:t>
            </a:r>
            <a:r>
              <a:rPr lang="de-DE" dirty="0" err="1"/>
              <a:t>the</a:t>
            </a:r>
            <a:r>
              <a:rPr lang="de-DE" dirty="0"/>
              <a:t> </a:t>
            </a:r>
            <a:r>
              <a:rPr lang="de-DE" dirty="0" err="1"/>
              <a:t>other</a:t>
            </a:r>
            <a:r>
              <a:rPr lang="de-DE" dirty="0"/>
              <a:t> 4/5, </a:t>
            </a:r>
            <a:r>
              <a:rPr lang="de-DE" dirty="0" err="1"/>
              <a:t>five</a:t>
            </a:r>
            <a:r>
              <a:rPr lang="de-DE" dirty="0"/>
              <a:t> </a:t>
            </a:r>
            <a:r>
              <a:rPr lang="de-DE" dirty="0" err="1"/>
              <a:t>times</a:t>
            </a:r>
            <a:r>
              <a:rPr lang="de-DE" dirty="0"/>
              <a:t>) </a:t>
            </a:r>
            <a:r>
              <a:rPr lang="de-DE" dirty="0" err="1"/>
              <a:t>to</a:t>
            </a:r>
            <a:r>
              <a:rPr lang="de-DE" dirty="0"/>
              <a:t> </a:t>
            </a:r>
            <a:r>
              <a:rPr lang="de-DE" dirty="0" err="1"/>
              <a:t>avoid</a:t>
            </a:r>
            <a:r>
              <a:rPr lang="de-DE" dirty="0"/>
              <a:t> </a:t>
            </a:r>
            <a:r>
              <a:rPr lang="de-DE" dirty="0" err="1"/>
              <a:t>overfitting</a:t>
            </a:r>
            <a:r>
              <a:rPr lang="de-DE" dirty="0"/>
              <a:t> </a:t>
            </a:r>
            <a:r>
              <a:rPr lang="de-DE" dirty="0" err="1"/>
              <a:t>when</a:t>
            </a:r>
            <a:r>
              <a:rPr lang="de-DE" dirty="0"/>
              <a:t> </a:t>
            </a:r>
            <a:r>
              <a:rPr lang="de-DE" dirty="0" err="1"/>
              <a:t>computing</a:t>
            </a:r>
            <a:r>
              <a:rPr lang="de-DE" dirty="0"/>
              <a:t> </a:t>
            </a:r>
            <a:r>
              <a:rPr lang="de-DE" dirty="0" err="1"/>
              <a:t>the</a:t>
            </a:r>
            <a:r>
              <a:rPr lang="de-DE" dirty="0"/>
              <a:t> </a:t>
            </a:r>
            <a:r>
              <a:rPr lang="de-DE" dirty="0" err="1"/>
              <a:t>residuals</a:t>
            </a:r>
            <a:r>
              <a:rPr lang="de-DE" dirty="0"/>
              <a:t>. So </a:t>
            </a:r>
            <a:r>
              <a:rPr lang="de-DE" dirty="0" err="1"/>
              <a:t>that</a:t>
            </a:r>
            <a:r>
              <a:rPr lang="de-DE" dirty="0"/>
              <a:t> </a:t>
            </a:r>
            <a:r>
              <a:rPr lang="de-DE" dirty="0" err="1"/>
              <a:t>there`s</a:t>
            </a:r>
            <a:r>
              <a:rPr lang="de-DE" dirty="0"/>
              <a:t> </a:t>
            </a:r>
            <a:r>
              <a:rPr lang="de-DE" dirty="0" err="1"/>
              <a:t>more</a:t>
            </a:r>
            <a:r>
              <a:rPr lang="de-DE" dirty="0"/>
              <a:t> residual </a:t>
            </a:r>
            <a:r>
              <a:rPr lang="de-DE" dirty="0" err="1"/>
              <a:t>variation</a:t>
            </a:r>
            <a:r>
              <a:rPr lang="de-DE" dirty="0"/>
              <a:t> </a:t>
            </a:r>
            <a:r>
              <a:rPr lang="de-DE" dirty="0" err="1"/>
              <a:t>left</a:t>
            </a:r>
            <a:r>
              <a:rPr lang="de-DE" dirty="0"/>
              <a:t> and </a:t>
            </a:r>
            <a:r>
              <a:rPr lang="de-DE" dirty="0" err="1"/>
              <a:t>less</a:t>
            </a:r>
            <a:r>
              <a:rPr lang="de-DE" dirty="0"/>
              <a:t> </a:t>
            </a:r>
            <a:r>
              <a:rPr lang="de-DE" dirty="0" err="1"/>
              <a:t>overfitting</a:t>
            </a:r>
            <a:r>
              <a:rPr lang="de-DE" dirty="0"/>
              <a:t> (</a:t>
            </a:r>
            <a:r>
              <a:rPr lang="de-DE" dirty="0" err="1"/>
              <a:t>which</a:t>
            </a:r>
            <a:r>
              <a:rPr lang="de-DE" dirty="0"/>
              <a:t> </a:t>
            </a:r>
            <a:r>
              <a:rPr lang="de-DE" dirty="0" err="1"/>
              <a:t>go</a:t>
            </a:r>
            <a:r>
              <a:rPr lang="de-DE" dirty="0"/>
              <a:t> hand-in-hand).</a:t>
            </a:r>
          </a:p>
          <a:p>
            <a:endParaRPr lang="de-DE" dirty="0"/>
          </a:p>
          <a:p>
            <a:endParaRPr lang="de-DE" dirty="0"/>
          </a:p>
        </p:txBody>
      </p:sp>
      <p:sp>
        <p:nvSpPr>
          <p:cNvPr id="4" name="Foliennummernplatzhalter 3"/>
          <p:cNvSpPr>
            <a:spLocks noGrp="1"/>
          </p:cNvSpPr>
          <p:nvPr>
            <p:ph type="sldNum" sz="quarter" idx="5"/>
          </p:nvPr>
        </p:nvSpPr>
        <p:spPr/>
        <p:txBody>
          <a:bodyPr/>
          <a:lstStyle/>
          <a:p>
            <a:fld id="{BBE877DA-6631-45DD-A8ED-B21393C9203F}" type="slidenum">
              <a:rPr lang="de-DE" smtClean="0"/>
              <a:t>7</a:t>
            </a:fld>
            <a:endParaRPr lang="de-DE"/>
          </a:p>
        </p:txBody>
      </p:sp>
    </p:spTree>
    <p:extLst>
      <p:ext uri="{BB962C8B-B14F-4D97-AF65-F5344CB8AC3E}">
        <p14:creationId xmlns:p14="http://schemas.microsoft.com/office/powerpoint/2010/main" val="2784401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Next </a:t>
            </a:r>
            <a:r>
              <a:rPr lang="de-DE" dirty="0" err="1"/>
              <a:t>step</a:t>
            </a:r>
            <a:r>
              <a:rPr lang="de-DE" dirty="0"/>
              <a:t>:</a:t>
            </a:r>
          </a:p>
          <a:p>
            <a:r>
              <a:rPr lang="de-DE" dirty="0"/>
              <a:t>Show </a:t>
            </a:r>
            <a:r>
              <a:rPr lang="de-DE" dirty="0" err="1"/>
              <a:t>the</a:t>
            </a:r>
            <a:r>
              <a:rPr lang="de-DE" dirty="0"/>
              <a:t> </a:t>
            </a:r>
            <a:r>
              <a:rPr lang="de-DE" dirty="0" err="1"/>
              <a:t>four</a:t>
            </a:r>
            <a:r>
              <a:rPr lang="de-DE" dirty="0"/>
              <a:t> </a:t>
            </a:r>
            <a:r>
              <a:rPr lang="de-DE" dirty="0" err="1"/>
              <a:t>main</a:t>
            </a:r>
            <a:r>
              <a:rPr lang="de-DE" dirty="0"/>
              <a:t> </a:t>
            </a:r>
            <a:r>
              <a:rPr lang="de-DE" dirty="0" err="1"/>
              <a:t>applications</a:t>
            </a:r>
            <a:r>
              <a:rPr lang="de-DE" dirty="0"/>
              <a:t> </a:t>
            </a:r>
            <a:r>
              <a:rPr lang="de-DE" dirty="0" err="1"/>
              <a:t>of</a:t>
            </a:r>
            <a:r>
              <a:rPr lang="de-DE" dirty="0"/>
              <a:t> CML </a:t>
            </a:r>
            <a:r>
              <a:rPr lang="de-DE" dirty="0" err="1"/>
              <a:t>for</a:t>
            </a:r>
            <a:r>
              <a:rPr lang="de-DE" dirty="0"/>
              <a:t> </a:t>
            </a:r>
            <a:r>
              <a:rPr lang="de-DE" dirty="0" err="1"/>
              <a:t>causal</a:t>
            </a:r>
            <a:r>
              <a:rPr lang="de-DE" dirty="0"/>
              <a:t> </a:t>
            </a:r>
            <a:r>
              <a:rPr lang="de-DE" dirty="0" err="1"/>
              <a:t>inference</a:t>
            </a:r>
            <a:r>
              <a:rPr lang="de-DE" dirty="0"/>
              <a:t>:</a:t>
            </a:r>
          </a:p>
          <a:p>
            <a:pPr marL="171450" indent="-171450">
              <a:buFontTx/>
              <a:buChar char="-"/>
            </a:pPr>
            <a:r>
              <a:rPr lang="de-DE" dirty="0"/>
              <a:t>Double/</a:t>
            </a:r>
            <a:r>
              <a:rPr lang="de-DE" dirty="0" err="1"/>
              <a:t>debiased</a:t>
            </a:r>
            <a:r>
              <a:rPr lang="de-DE" dirty="0"/>
              <a:t> ML (Hamburg CML podcast ML </a:t>
            </a:r>
            <a:r>
              <a:rPr lang="de-DE" dirty="0" err="1"/>
              <a:t>researcher</a:t>
            </a:r>
            <a:r>
              <a:rPr lang="de-DE" dirty="0"/>
              <a:t>, CML </a:t>
            </a:r>
            <a:r>
              <a:rPr lang="de-DE" dirty="0" err="1"/>
              <a:t>book</a:t>
            </a:r>
            <a:r>
              <a:rPr lang="de-DE" dirty="0"/>
              <a:t>…)</a:t>
            </a:r>
          </a:p>
          <a:p>
            <a:pPr marL="171450" indent="-171450">
              <a:buFontTx/>
              <a:buChar char="-"/>
            </a:pPr>
            <a:r>
              <a:rPr lang="de-DE" dirty="0" err="1"/>
              <a:t>Heterogeneous</a:t>
            </a:r>
            <a:r>
              <a:rPr lang="de-DE" dirty="0"/>
              <a:t> </a:t>
            </a:r>
            <a:r>
              <a:rPr lang="de-DE" dirty="0" err="1"/>
              <a:t>treatment</a:t>
            </a:r>
            <a:r>
              <a:rPr lang="de-DE" dirty="0"/>
              <a:t> </a:t>
            </a:r>
            <a:r>
              <a:rPr lang="de-DE" dirty="0" err="1"/>
              <a:t>effects</a:t>
            </a:r>
            <a:r>
              <a:rPr lang="de-DE" dirty="0"/>
              <a:t> (</a:t>
            </a:r>
            <a:r>
              <a:rPr lang="de-DE" dirty="0" err="1"/>
              <a:t>treatment</a:t>
            </a:r>
            <a:r>
              <a:rPr lang="de-DE" dirty="0"/>
              <a:t> </a:t>
            </a:r>
            <a:r>
              <a:rPr lang="de-DE" dirty="0" err="1"/>
              <a:t>outcome</a:t>
            </a:r>
            <a:r>
              <a:rPr lang="de-DE" dirty="0"/>
              <a:t> </a:t>
            </a:r>
            <a:r>
              <a:rPr lang="de-DE" dirty="0" err="1"/>
              <a:t>prediction</a:t>
            </a:r>
            <a:r>
              <a:rPr lang="de-DE" dirty="0"/>
              <a:t>; CATEs/GATEs/I </a:t>
            </a:r>
            <a:r>
              <a:rPr lang="de-DE" dirty="0" err="1"/>
              <a:t>ates</a:t>
            </a:r>
            <a:r>
              <a:rPr lang="de-DE" dirty="0"/>
              <a:t> .etc. … (Feuerriegel et al., 2024)</a:t>
            </a:r>
          </a:p>
          <a:p>
            <a:pPr marL="171450" indent="-171450">
              <a:buFontTx/>
              <a:buChar char="-"/>
            </a:pPr>
            <a:r>
              <a:rPr lang="de-DE" dirty="0" err="1"/>
              <a:t>Causal</a:t>
            </a:r>
            <a:r>
              <a:rPr lang="de-DE" dirty="0"/>
              <a:t> </a:t>
            </a:r>
            <a:r>
              <a:rPr lang="de-DE" dirty="0" err="1"/>
              <a:t>discovery</a:t>
            </a:r>
            <a:r>
              <a:rPr lang="de-DE" dirty="0"/>
              <a:t> (</a:t>
            </a:r>
            <a:r>
              <a:rPr lang="de-DE" dirty="0" err="1"/>
              <a:t>learning</a:t>
            </a:r>
            <a:r>
              <a:rPr lang="de-DE" dirty="0"/>
              <a:t>) (</a:t>
            </a:r>
            <a:r>
              <a:rPr lang="de-DE" dirty="0" err="1"/>
              <a:t>Psych</a:t>
            </a:r>
            <a:r>
              <a:rPr lang="de-DE" dirty="0"/>
              <a:t> Methods </a:t>
            </a:r>
            <a:r>
              <a:rPr lang="de-DE" dirty="0" err="1"/>
              <a:t>thingie</a:t>
            </a:r>
            <a:r>
              <a:rPr lang="de-DE" dirty="0"/>
              <a:t>…)</a:t>
            </a:r>
          </a:p>
          <a:p>
            <a:pPr marL="171450" indent="-171450">
              <a:buFontTx/>
              <a:buChar char="-"/>
            </a:pPr>
            <a:r>
              <a:rPr lang="de-DE" dirty="0" err="1"/>
              <a:t>Cherhoznukov</a:t>
            </a:r>
            <a:r>
              <a:rPr lang="de-DE" dirty="0"/>
              <a:t> et al., 2024 </a:t>
            </a:r>
            <a:r>
              <a:rPr lang="de-DE" dirty="0" err="1"/>
              <a:t>as</a:t>
            </a:r>
            <a:r>
              <a:rPr lang="de-DE" dirty="0"/>
              <a:t> </a:t>
            </a:r>
            <a:r>
              <a:rPr lang="de-DE" dirty="0" err="1"/>
              <a:t>the</a:t>
            </a:r>
            <a:r>
              <a:rPr lang="de-DE" dirty="0"/>
              <a:t> </a:t>
            </a:r>
            <a:r>
              <a:rPr lang="de-DE" dirty="0" err="1"/>
              <a:t>go-to</a:t>
            </a:r>
            <a:r>
              <a:rPr lang="de-DE" dirty="0"/>
              <a:t> </a:t>
            </a:r>
            <a:r>
              <a:rPr lang="de-DE" dirty="0" err="1"/>
              <a:t>for</a:t>
            </a:r>
            <a:r>
              <a:rPr lang="de-DE" dirty="0"/>
              <a:t> </a:t>
            </a:r>
            <a:r>
              <a:rPr lang="de-DE" dirty="0" err="1"/>
              <a:t>everything</a:t>
            </a:r>
            <a:r>
              <a:rPr lang="de-DE" dirty="0"/>
              <a:t> + Podcast :)</a:t>
            </a:r>
          </a:p>
        </p:txBody>
      </p:sp>
      <p:sp>
        <p:nvSpPr>
          <p:cNvPr id="4" name="Foliennummernplatzhalter 3"/>
          <p:cNvSpPr>
            <a:spLocks noGrp="1"/>
          </p:cNvSpPr>
          <p:nvPr>
            <p:ph type="sldNum" sz="quarter" idx="5"/>
          </p:nvPr>
        </p:nvSpPr>
        <p:spPr/>
        <p:txBody>
          <a:bodyPr/>
          <a:lstStyle/>
          <a:p>
            <a:fld id="{BBE877DA-6631-45DD-A8ED-B21393C9203F}" type="slidenum">
              <a:rPr lang="de-DE" smtClean="0"/>
              <a:t>8</a:t>
            </a:fld>
            <a:endParaRPr lang="de-DE"/>
          </a:p>
        </p:txBody>
      </p:sp>
    </p:spTree>
    <p:extLst>
      <p:ext uri="{BB962C8B-B14F-4D97-AF65-F5344CB8AC3E}">
        <p14:creationId xmlns:p14="http://schemas.microsoft.com/office/powerpoint/2010/main" val="10106598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28984289" name="Folienbildplatzhalter 1"/>
          <p:cNvSpPr>
            <a:spLocks noGrp="1" noRot="1" noChangeAspect="1"/>
          </p:cNvSpPr>
          <p:nvPr>
            <p:ph type="sldImg"/>
          </p:nvPr>
        </p:nvSpPr>
        <p:spPr bwMode="auto"/>
      </p:sp>
      <p:sp>
        <p:nvSpPr>
          <p:cNvPr id="1667454889" name="Notizenplatzhalter 2"/>
          <p:cNvSpPr>
            <a:spLocks noGrp="1"/>
          </p:cNvSpPr>
          <p:nvPr>
            <p:ph type="body" idx="1"/>
          </p:nvPr>
        </p:nvSpPr>
        <p:spPr bwMode="auto"/>
        <p:txBody>
          <a:bodyPr/>
          <a:lstStyle/>
          <a:p>
            <a:r>
              <a:rPr lang="en-US" sz="1200" b="0" u="none" strike="noStrike" kern="1200" dirty="0">
                <a:solidFill>
                  <a:schemeClr val="tx1"/>
                </a:solidFill>
                <a:effectLst/>
                <a:latin typeface="+mn-lt"/>
                <a:ea typeface="+mn-ea"/>
                <a:cs typeface="+mn-cs"/>
              </a:rPr>
              <a:t>A </a:t>
            </a:r>
            <a:r>
              <a:rPr lang="en-US" sz="1200" b="1" u="none" strike="noStrike" kern="1200" dirty="0">
                <a:solidFill>
                  <a:schemeClr val="tx1"/>
                </a:solidFill>
                <a:effectLst/>
                <a:latin typeface="+mn-lt"/>
                <a:ea typeface="+mn-ea"/>
                <a:cs typeface="+mn-cs"/>
              </a:rPr>
              <a:t>Bayesian Causal Forest (BCF)</a:t>
            </a:r>
            <a:r>
              <a:rPr lang="en-US" sz="1200" b="0" u="none" strike="noStrike" kern="1200" dirty="0">
                <a:solidFill>
                  <a:schemeClr val="tx1"/>
                </a:solidFill>
                <a:effectLst/>
                <a:latin typeface="+mn-lt"/>
                <a:ea typeface="+mn-ea"/>
                <a:cs typeface="+mn-cs"/>
              </a:rPr>
              <a:t> model is a machine learning method used to estimate </a:t>
            </a:r>
            <a:r>
              <a:rPr lang="en-US" sz="1200" b="1" u="none" strike="noStrike" kern="1200" dirty="0">
                <a:solidFill>
                  <a:schemeClr val="tx1"/>
                </a:solidFill>
                <a:effectLst/>
                <a:latin typeface="+mn-lt"/>
                <a:ea typeface="+mn-ea"/>
                <a:cs typeface="+mn-cs"/>
              </a:rPr>
              <a:t>Heterogeneous Treatment Effects</a:t>
            </a:r>
            <a:r>
              <a:rPr lang="en-US" sz="1200" b="0" u="none" strike="noStrike" kern="1200" dirty="0">
                <a:solidFill>
                  <a:schemeClr val="tx1"/>
                </a:solidFill>
                <a:effectLst/>
                <a:latin typeface="+mn-lt"/>
                <a:ea typeface="+mn-ea"/>
                <a:cs typeface="+mn-cs"/>
              </a:rPr>
              <a:t> (HTE) from observational or experimental data. It separates the baseline outcome prediction from the causal effect itself, preventing bias and providing rigorous uncertainty estimates.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3</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6"/>
              </a:rPr>
              <a:t>4</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7"/>
              </a:rPr>
              <a:t>5</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Here is the step-by-step breakdown of how the BCF model works:</a:t>
            </a:r>
          </a:p>
          <a:p>
            <a:r>
              <a:rPr lang="en-US" sz="1200" b="1" u="none" strike="noStrike" kern="1200" dirty="0">
                <a:solidFill>
                  <a:schemeClr val="tx1"/>
                </a:solidFill>
                <a:effectLst/>
                <a:latin typeface="+mn-lt"/>
                <a:ea typeface="+mn-ea"/>
                <a:cs typeface="+mn-cs"/>
              </a:rPr>
              <a:t>1. Model Formulation and Decomposition</a:t>
            </a:r>
          </a:p>
          <a:p>
            <a:r>
              <a:rPr lang="en-US" sz="1200" b="0" u="none" strike="noStrike" kern="1200" dirty="0">
                <a:solidFill>
                  <a:schemeClr val="tx1"/>
                </a:solidFill>
                <a:effectLst/>
                <a:latin typeface="+mn-lt"/>
                <a:ea typeface="+mn-ea"/>
                <a:cs typeface="+mn-cs"/>
              </a:rPr>
              <a:t>BCF starts by splitting the observed outcome (\(Y_{</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for individual (\(</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into two distinct, additive parts:</a:t>
            </a:r>
            <a:br>
              <a:rPr lang="en-US" sz="1200" b="0" u="none" strike="noStrike" kern="1200" dirty="0">
                <a:solidFill>
                  <a:schemeClr val="tx1"/>
                </a:solidFill>
                <a:effectLst/>
                <a:latin typeface="+mn-lt"/>
                <a:ea typeface="+mn-ea"/>
                <a:cs typeface="+mn-cs"/>
              </a:rPr>
            </a:br>
            <a:r>
              <a:rPr lang="en-US" sz="1200" b="0" u="none" strike="noStrike" kern="1200" dirty="0">
                <a:solidFill>
                  <a:schemeClr val="tx1"/>
                </a:solidFill>
                <a:effectLst/>
                <a:latin typeface="+mn-lt"/>
                <a:ea typeface="+mn-ea"/>
                <a:cs typeface="+mn-cs"/>
              </a:rPr>
              <a:t>\(</a:t>
            </a:r>
            <a:r>
              <a:rPr lang="en-US" sz="1200" b="0" u="none" strike="noStrike" kern="1200" dirty="0" err="1">
                <a:solidFill>
                  <a:schemeClr val="tx1"/>
                </a:solidFill>
                <a:effectLst/>
                <a:latin typeface="+mn-lt"/>
                <a:ea typeface="+mn-ea"/>
                <a:cs typeface="+mn-cs"/>
              </a:rPr>
              <a:t>Y_i</a:t>
            </a:r>
            <a:r>
              <a:rPr lang="en-US" sz="1200" b="0" u="none" strike="noStrike" kern="1200" dirty="0">
                <a:solidFill>
                  <a:schemeClr val="tx1"/>
                </a:solidFill>
                <a:effectLst/>
                <a:latin typeface="+mn-lt"/>
                <a:ea typeface="+mn-ea"/>
                <a:cs typeface="+mn-cs"/>
              </a:rPr>
              <a:t> = \mu(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 \tau(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cdot</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W_i</a:t>
            </a:r>
            <a:r>
              <a:rPr lang="en-US" sz="1200" b="0" u="none" strike="noStrike" kern="1200" dirty="0">
                <a:solidFill>
                  <a:schemeClr val="tx1"/>
                </a:solidFill>
                <a:effectLst/>
                <a:latin typeface="+mn-lt"/>
                <a:ea typeface="+mn-ea"/>
                <a:cs typeface="+mn-cs"/>
              </a:rPr>
              <a:t> + \</a:t>
            </a:r>
            <a:r>
              <a:rPr lang="en-US" sz="1200" b="0" u="none" strike="noStrike" kern="1200" dirty="0" err="1">
                <a:solidFill>
                  <a:schemeClr val="tx1"/>
                </a:solidFill>
                <a:effectLst/>
                <a:latin typeface="+mn-lt"/>
                <a:ea typeface="+mn-ea"/>
                <a:cs typeface="+mn-cs"/>
              </a:rPr>
              <a:t>epsilon_i</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\(Y_{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observed outcome.</a:t>
            </a:r>
          </a:p>
          <a:p>
            <a:r>
              <a:rPr lang="en-US" sz="1200" b="1" u="none" strike="noStrike" kern="1200" dirty="0">
                <a:solidFill>
                  <a:schemeClr val="tx1"/>
                </a:solidFill>
                <a:effectLst/>
                <a:latin typeface="+mn-lt"/>
                <a:ea typeface="+mn-ea"/>
                <a:cs typeface="+mn-cs"/>
              </a:rPr>
              <a:t>\(X_{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vector of baseline covariates (control variables).</a:t>
            </a:r>
          </a:p>
          <a:p>
            <a:r>
              <a:rPr lang="en-US" sz="1200" b="1" u="none" strike="noStrike" kern="1200" dirty="0">
                <a:solidFill>
                  <a:schemeClr val="tx1"/>
                </a:solidFill>
                <a:effectLst/>
                <a:latin typeface="+mn-lt"/>
                <a:ea typeface="+mn-ea"/>
                <a:cs typeface="+mn-cs"/>
              </a:rPr>
              <a:t>\(W_{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treatment assignment indicator (\(1\) for treated, \(0\) for control).</a:t>
            </a:r>
          </a:p>
          <a:p>
            <a:r>
              <a:rPr lang="en-US" sz="1200" b="1" u="none" strike="noStrike" kern="1200" dirty="0">
                <a:solidFill>
                  <a:schemeClr val="tx1"/>
                </a:solidFill>
                <a:effectLst/>
                <a:latin typeface="+mn-lt"/>
                <a:ea typeface="+mn-ea"/>
                <a:cs typeface="+mn-cs"/>
              </a:rPr>
              <a:t>\(\mu(</a:t>
            </a:r>
            <a:r>
              <a:rPr lang="en-US" sz="1200" b="1" u="none" strike="noStrike" kern="1200" dirty="0" err="1">
                <a:solidFill>
                  <a:schemeClr val="tx1"/>
                </a:solidFill>
                <a:effectLst/>
                <a:latin typeface="+mn-lt"/>
                <a:ea typeface="+mn-ea"/>
                <a:cs typeface="+mn-cs"/>
              </a:rPr>
              <a:t>X_i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a:t>
            </a:r>
            <a:r>
              <a:rPr lang="en-US" sz="1200" b="0" i="1" u="none" strike="noStrike" kern="1200" dirty="0">
                <a:solidFill>
                  <a:schemeClr val="tx1"/>
                </a:solidFill>
                <a:effectLst/>
                <a:latin typeface="+mn-lt"/>
                <a:ea typeface="+mn-ea"/>
                <a:cs typeface="+mn-cs"/>
              </a:rPr>
              <a:t>prognostic function</a:t>
            </a:r>
            <a:r>
              <a:rPr lang="en-US" sz="1200" b="0" u="none" strike="noStrike" kern="1200" dirty="0">
                <a:solidFill>
                  <a:schemeClr val="tx1"/>
                </a:solidFill>
                <a:effectLst/>
                <a:latin typeface="+mn-lt"/>
                <a:ea typeface="+mn-ea"/>
                <a:cs typeface="+mn-cs"/>
              </a:rPr>
              <a:t> (baseline outcome for untreated individuals).</a:t>
            </a:r>
          </a:p>
          <a:p>
            <a:r>
              <a:rPr lang="en-US" sz="1200" b="1" u="none" strike="noStrike" kern="1200" dirty="0">
                <a:solidFill>
                  <a:schemeClr val="tx1"/>
                </a:solidFill>
                <a:effectLst/>
                <a:latin typeface="+mn-lt"/>
                <a:ea typeface="+mn-ea"/>
                <a:cs typeface="+mn-cs"/>
              </a:rPr>
              <a:t>\(\tau(</a:t>
            </a:r>
            <a:r>
              <a:rPr lang="en-US" sz="1200" b="1" u="none" strike="noStrike" kern="1200" dirty="0" err="1">
                <a:solidFill>
                  <a:schemeClr val="tx1"/>
                </a:solidFill>
                <a:effectLst/>
                <a:latin typeface="+mn-lt"/>
                <a:ea typeface="+mn-ea"/>
                <a:cs typeface="+mn-cs"/>
              </a:rPr>
              <a:t>X_i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a:t>
            </a:r>
            <a:r>
              <a:rPr lang="en-US" sz="1200" b="0" i="1" u="none" strike="noStrike" kern="1200" dirty="0">
                <a:solidFill>
                  <a:schemeClr val="tx1"/>
                </a:solidFill>
                <a:effectLst/>
                <a:latin typeface="+mn-lt"/>
                <a:ea typeface="+mn-ea"/>
                <a:cs typeface="+mn-cs"/>
              </a:rPr>
              <a:t>treatment effect function</a:t>
            </a:r>
            <a:r>
              <a:rPr lang="en-US" sz="1200" b="0" u="none" strike="noStrike" kern="1200" dirty="0">
                <a:solidFill>
                  <a:schemeClr val="tx1"/>
                </a:solidFill>
                <a:effectLst/>
                <a:latin typeface="+mn-lt"/>
                <a:ea typeface="+mn-ea"/>
                <a:cs typeface="+mn-cs"/>
              </a:rPr>
              <a:t> (Conditional Average Treatment Effect - CATE).</a:t>
            </a:r>
          </a:p>
          <a:p>
            <a:r>
              <a:rPr lang="en-US" sz="1200" b="1" u="none" strike="noStrike" kern="1200" dirty="0">
                <a:solidFill>
                  <a:schemeClr val="tx1"/>
                </a:solidFill>
                <a:effectLst/>
                <a:latin typeface="+mn-lt"/>
                <a:ea typeface="+mn-ea"/>
                <a:cs typeface="+mn-cs"/>
              </a:rPr>
              <a:t>\(\epsilon 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Normally distributed random error term (\(N(0, \sigma^2)\)). [</a:t>
            </a:r>
            <a:r>
              <a:rPr lang="en-US" sz="1200" b="0" u="none" strike="noStrike" kern="1200" dirty="0">
                <a:solidFill>
                  <a:schemeClr val="tx1"/>
                </a:solidFill>
                <a:effectLst/>
                <a:latin typeface="+mn-lt"/>
                <a:ea typeface="+mn-ea"/>
                <a:cs typeface="+mn-cs"/>
                <a:hlinkClick r:id="rId9"/>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0"/>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1"/>
              </a:rPr>
              <a:t>3</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4</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5</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2. Propensity Score Estimation</a:t>
            </a:r>
          </a:p>
          <a:p>
            <a:r>
              <a:rPr lang="en-US" sz="1200" b="0" u="none" strike="noStrike" kern="1200" dirty="0">
                <a:solidFill>
                  <a:schemeClr val="tx1"/>
                </a:solidFill>
                <a:effectLst/>
                <a:latin typeface="+mn-lt"/>
                <a:ea typeface="+mn-ea"/>
                <a:cs typeface="+mn-cs"/>
              </a:rPr>
              <a:t>Before fitting the tree ensembles, BCF usually requires an estimate of the </a:t>
            </a:r>
            <a:r>
              <a:rPr lang="en-US" sz="1200" b="1" u="none" strike="noStrike" kern="1200" dirty="0">
                <a:solidFill>
                  <a:schemeClr val="tx1"/>
                </a:solidFill>
                <a:effectLst/>
                <a:latin typeface="+mn-lt"/>
                <a:ea typeface="+mn-ea"/>
                <a:cs typeface="+mn-cs"/>
              </a:rPr>
              <a:t>propensity score</a:t>
            </a:r>
            <a:r>
              <a:rPr lang="en-US" sz="1200" b="0" u="none" strike="noStrike" kern="1200" dirty="0">
                <a:solidFill>
                  <a:schemeClr val="tx1"/>
                </a:solidFill>
                <a:effectLst/>
                <a:latin typeface="+mn-lt"/>
                <a:ea typeface="+mn-ea"/>
                <a:cs typeface="+mn-cs"/>
              </a:rPr>
              <a:t>, \(\hat{\pi}(</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which is the probability that an individual receives the treatment based on their covariates (\(X_{</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3</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This is typically calculated using a separate model (such as logistic regression or a random forest) prior to running the main BCF algorithm. [</a:t>
            </a:r>
            <a:r>
              <a:rPr lang="en-US" sz="1200" b="0" u="none" strike="noStrike" kern="1200" dirty="0">
                <a:solidFill>
                  <a:schemeClr val="tx1"/>
                </a:solidFill>
                <a:effectLst/>
                <a:latin typeface="+mn-lt"/>
                <a:ea typeface="+mn-ea"/>
                <a:cs typeface="+mn-cs"/>
                <a:hlinkClick r:id="rId12"/>
              </a:rPr>
              <a:t>1</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3. Incorporating the Propensity Score into the Baseline</a:t>
            </a:r>
          </a:p>
          <a:p>
            <a:r>
              <a:rPr lang="en-US" sz="1200" b="0" u="none" strike="noStrike" kern="1200" dirty="0">
                <a:solidFill>
                  <a:schemeClr val="tx1"/>
                </a:solidFill>
                <a:effectLst/>
                <a:latin typeface="+mn-lt"/>
                <a:ea typeface="+mn-ea"/>
                <a:cs typeface="+mn-cs"/>
              </a:rPr>
              <a:t>Unlike traditional Bayesian Additive Regression Trees (BART), BCF implicitly includes the estimated propensity score as a covariate in the prognostic function \(\mu(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\hat{\pi}_</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9"/>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2</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This step acts as a powerful confounding control, ensuring that differences in baseline characteristics between treatment groups are properly adjusted, thus preventing regularization-induced bias.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4. Separate Tree Ensembles (BART Priors)</a:t>
            </a:r>
          </a:p>
          <a:p>
            <a:r>
              <a:rPr lang="en-US" sz="1200" b="0" u="none" strike="noStrike" kern="1200" dirty="0">
                <a:solidFill>
                  <a:schemeClr val="tx1"/>
                </a:solidFill>
                <a:effectLst/>
                <a:latin typeface="+mn-lt"/>
                <a:ea typeface="+mn-ea"/>
                <a:cs typeface="+mn-cs"/>
              </a:rPr>
              <a:t>BCF fits separate </a:t>
            </a:r>
            <a:r>
              <a:rPr lang="en-US" sz="1200" b="1" u="none" strike="noStrike" kern="1200" dirty="0">
                <a:solidFill>
                  <a:schemeClr val="tx1"/>
                </a:solidFill>
                <a:effectLst/>
                <a:latin typeface="+mn-lt"/>
                <a:ea typeface="+mn-ea"/>
                <a:cs typeface="+mn-cs"/>
              </a:rPr>
              <a:t>BART</a:t>
            </a:r>
            <a:r>
              <a:rPr lang="en-US" sz="1200" b="0" u="none" strike="noStrike" kern="1200" dirty="0">
                <a:solidFill>
                  <a:schemeClr val="tx1"/>
                </a:solidFill>
                <a:effectLst/>
                <a:latin typeface="+mn-lt"/>
                <a:ea typeface="+mn-ea"/>
                <a:cs typeface="+mn-cs"/>
              </a:rPr>
              <a:t> (Bayesian Additive Regression Trees) ensembles for both the prognostic function (\(\mu \)) and the treatment effect function (\(\tau \)): [</a:t>
            </a:r>
            <a:r>
              <a:rPr lang="en-US" sz="1200" b="0" u="none" strike="noStrike" kern="1200" dirty="0">
                <a:solidFill>
                  <a:schemeClr val="tx1"/>
                </a:solidFill>
                <a:effectLst/>
                <a:latin typeface="+mn-lt"/>
                <a:ea typeface="+mn-ea"/>
                <a:cs typeface="+mn-cs"/>
                <a:hlinkClick r:id="rId1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3</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4</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Prognostic Tree Ensemble (\(\mu \))</a:t>
            </a:r>
            <a:r>
              <a:rPr lang="en-US" sz="1200" b="0" u="none" strike="noStrike" kern="1200" dirty="0">
                <a:solidFill>
                  <a:schemeClr val="tx1"/>
                </a:solidFill>
                <a:effectLst/>
                <a:latin typeface="+mn-lt"/>
                <a:ea typeface="+mn-ea"/>
                <a:cs typeface="+mn-cs"/>
              </a:rPr>
              <a:t>: Learns how the baseline variables affect the overall outcome.</a:t>
            </a:r>
          </a:p>
          <a:p>
            <a:r>
              <a:rPr lang="en-US" sz="1200" b="1" u="none" strike="noStrike" kern="1200" dirty="0">
                <a:solidFill>
                  <a:schemeClr val="tx1"/>
                </a:solidFill>
                <a:effectLst/>
                <a:latin typeface="+mn-lt"/>
                <a:ea typeface="+mn-ea"/>
                <a:cs typeface="+mn-cs"/>
              </a:rPr>
              <a:t>Treatment Effect Tree Ensemble (\(\tau \))</a:t>
            </a:r>
            <a:r>
              <a:rPr lang="en-US" sz="1200" b="0" u="none" strike="noStrike" kern="1200" dirty="0">
                <a:solidFill>
                  <a:schemeClr val="tx1"/>
                </a:solidFill>
                <a:effectLst/>
                <a:latin typeface="+mn-lt"/>
                <a:ea typeface="+mn-ea"/>
                <a:cs typeface="+mn-cs"/>
              </a:rPr>
              <a:t>: Learns how the treatment effect varies across different subgroups of covariates.</a:t>
            </a:r>
          </a:p>
          <a:p>
            <a:r>
              <a:rPr lang="en-US" sz="1200" b="0" u="none" strike="noStrike" kern="1200" dirty="0">
                <a:solidFill>
                  <a:schemeClr val="tx1"/>
                </a:solidFill>
                <a:effectLst/>
                <a:latin typeface="+mn-lt"/>
                <a:ea typeface="+mn-ea"/>
                <a:cs typeface="+mn-cs"/>
              </a:rPr>
              <a:t>By enforcing separate Bayesian priors, the model can apply stricter regularization to the treatment effect, allowing the model to shrink estimates towards a homogeneous effect if data is sparse.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4"/>
              </a:rPr>
              <a:t>3</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5. Markov Chain Monte Carlo (MCMC) Sampling</a:t>
            </a:r>
          </a:p>
          <a:p>
            <a:r>
              <a:rPr lang="en-US" sz="1200" b="0" u="none" strike="noStrike" kern="1200" dirty="0">
                <a:solidFill>
                  <a:schemeClr val="tx1"/>
                </a:solidFill>
                <a:effectLst/>
                <a:latin typeface="+mn-lt"/>
                <a:ea typeface="+mn-ea"/>
                <a:cs typeface="+mn-cs"/>
              </a:rPr>
              <a:t>BCF uses an MCMC algorithm (specifically, </a:t>
            </a:r>
            <a:r>
              <a:rPr lang="en-US" sz="1200" b="0" u="none" strike="noStrike" kern="1200" dirty="0" err="1">
                <a:solidFill>
                  <a:schemeClr val="tx1"/>
                </a:solidFill>
                <a:effectLst/>
                <a:latin typeface="+mn-lt"/>
                <a:ea typeface="+mn-ea"/>
                <a:cs typeface="+mn-cs"/>
              </a:rPr>
              <a:t>blockwise</a:t>
            </a:r>
            <a:r>
              <a:rPr lang="en-US" sz="1200" b="0" u="none" strike="noStrike" kern="1200" dirty="0">
                <a:solidFill>
                  <a:schemeClr val="tx1"/>
                </a:solidFill>
                <a:effectLst/>
                <a:latin typeface="+mn-lt"/>
                <a:ea typeface="+mn-ea"/>
                <a:cs typeface="+mn-cs"/>
              </a:rPr>
              <a:t> Bayesian </a:t>
            </a:r>
            <a:r>
              <a:rPr lang="en-US" sz="1200" b="0" u="none" strike="noStrike" kern="1200" dirty="0" err="1">
                <a:solidFill>
                  <a:schemeClr val="tx1"/>
                </a:solidFill>
                <a:effectLst/>
                <a:latin typeface="+mn-lt"/>
                <a:ea typeface="+mn-ea"/>
                <a:cs typeface="+mn-cs"/>
              </a:rPr>
              <a:t>backfitting</a:t>
            </a:r>
            <a:r>
              <a:rPr lang="en-US" sz="1200" b="0" u="none" strike="noStrike" kern="1200" dirty="0">
                <a:solidFill>
                  <a:schemeClr val="tx1"/>
                </a:solidFill>
                <a:effectLst/>
                <a:latin typeface="+mn-lt"/>
                <a:ea typeface="+mn-ea"/>
                <a:cs typeface="+mn-cs"/>
              </a:rPr>
              <a:t>) to estimate the parameters iteratively: [</a:t>
            </a:r>
            <a:r>
              <a:rPr lang="en-US" sz="1200" b="0" u="none" strike="noStrike" kern="1200" dirty="0">
                <a:solidFill>
                  <a:schemeClr val="tx1"/>
                </a:solidFill>
                <a:effectLst/>
                <a:latin typeface="+mn-lt"/>
                <a:ea typeface="+mn-ea"/>
                <a:cs typeface="+mn-cs"/>
                <a:hlinkClick r:id="rId9"/>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5"/>
              </a:rPr>
              <a:t>3</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Step A</a:t>
            </a:r>
            <a:r>
              <a:rPr lang="en-US" sz="1200" b="0" u="none" strike="noStrike" kern="1200" dirty="0">
                <a:solidFill>
                  <a:schemeClr val="tx1"/>
                </a:solidFill>
                <a:effectLst/>
                <a:latin typeface="+mn-lt"/>
                <a:ea typeface="+mn-ea"/>
                <a:cs typeface="+mn-cs"/>
              </a:rPr>
              <a:t>: The algorithm updates the tree structures and leaf parameters for the prognostic forest (\(\mu \)) by holding the treatment effect forest (\(\tau \)) constant.</a:t>
            </a:r>
          </a:p>
          <a:p>
            <a:r>
              <a:rPr lang="en-US" sz="1200" b="1" u="none" strike="noStrike" kern="1200" dirty="0">
                <a:solidFill>
                  <a:schemeClr val="tx1"/>
                </a:solidFill>
                <a:effectLst/>
                <a:latin typeface="+mn-lt"/>
                <a:ea typeface="+mn-ea"/>
                <a:cs typeface="+mn-cs"/>
              </a:rPr>
              <a:t>Step B</a:t>
            </a:r>
            <a:r>
              <a:rPr lang="en-US" sz="1200" b="0" u="none" strike="noStrike" kern="1200" dirty="0">
                <a:solidFill>
                  <a:schemeClr val="tx1"/>
                </a:solidFill>
                <a:effectLst/>
                <a:latin typeface="+mn-lt"/>
                <a:ea typeface="+mn-ea"/>
                <a:cs typeface="+mn-cs"/>
              </a:rPr>
              <a:t>: It then updates the trees for the treatment effect forest (\(\tau \)) while holding the prognostic forest (\(\mu \)) constant.</a:t>
            </a:r>
          </a:p>
          <a:p>
            <a:r>
              <a:rPr lang="en-US" sz="1200" b="0" u="none" strike="noStrike" kern="1200" dirty="0">
                <a:solidFill>
                  <a:schemeClr val="tx1"/>
                </a:solidFill>
                <a:effectLst/>
                <a:latin typeface="+mn-lt"/>
                <a:ea typeface="+mn-ea"/>
                <a:cs typeface="+mn-cs"/>
              </a:rPr>
              <a:t>This iterative </a:t>
            </a:r>
            <a:r>
              <a:rPr lang="en-US" sz="1200" b="0" u="none" strike="noStrike" kern="1200" dirty="0" err="1">
                <a:solidFill>
                  <a:schemeClr val="tx1"/>
                </a:solidFill>
                <a:effectLst/>
                <a:latin typeface="+mn-lt"/>
                <a:ea typeface="+mn-ea"/>
                <a:cs typeface="+mn-cs"/>
              </a:rPr>
              <a:t>backfitting</a:t>
            </a:r>
            <a:r>
              <a:rPr lang="en-US" sz="1200" b="0" u="none" strike="noStrike" kern="1200" dirty="0">
                <a:solidFill>
                  <a:schemeClr val="tx1"/>
                </a:solidFill>
                <a:effectLst/>
                <a:latin typeface="+mn-lt"/>
                <a:ea typeface="+mn-ea"/>
                <a:cs typeface="+mn-cs"/>
              </a:rPr>
              <a:t> process generates thousands of posterior draws of the trees, which together construct the model and its uncertainty. [</a:t>
            </a:r>
            <a:r>
              <a:rPr lang="en-US" sz="1200" b="0" u="none" strike="noStrike" kern="1200" dirty="0">
                <a:solidFill>
                  <a:schemeClr val="tx1"/>
                </a:solidFill>
                <a:effectLst/>
                <a:latin typeface="+mn-lt"/>
                <a:ea typeface="+mn-ea"/>
                <a:cs typeface="+mn-cs"/>
                <a:hlinkClick r:id="rId16"/>
              </a:rPr>
              <a:t>1</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6. Posterior Inference and Uncertainty Quantification</a:t>
            </a:r>
          </a:p>
          <a:p>
            <a:r>
              <a:rPr lang="en-US" sz="1200" b="0" u="none" strike="noStrike" kern="1200" dirty="0">
                <a:solidFill>
                  <a:schemeClr val="tx1"/>
                </a:solidFill>
                <a:effectLst/>
                <a:latin typeface="+mn-lt"/>
                <a:ea typeface="+mn-ea"/>
                <a:cs typeface="+mn-cs"/>
              </a:rPr>
              <a:t>Instead of outputting a single point estimate, BCF yields a full posterior distribution for the causal effect. [</a:t>
            </a:r>
            <a:r>
              <a:rPr lang="en-US" sz="1200" b="0" u="none" strike="noStrike" kern="1200" dirty="0">
                <a:solidFill>
                  <a:schemeClr val="tx1"/>
                </a:solidFill>
                <a:effectLst/>
                <a:latin typeface="+mn-lt"/>
                <a:ea typeface="+mn-ea"/>
                <a:cs typeface="+mn-cs"/>
                <a:hlinkClick r:id="rId5"/>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7"/>
              </a:rPr>
              <a:t>2</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You can extract the Conditional Average Treatment Effect (CATE) for any individual \(</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by taking the average of the posterior draws of \(\tau(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Because it outputs a distribution, you can easily calculate </a:t>
            </a:r>
            <a:r>
              <a:rPr lang="en-US" sz="1200" b="1" u="none" strike="noStrike" kern="1200" dirty="0">
                <a:solidFill>
                  <a:schemeClr val="tx1"/>
                </a:solidFill>
                <a:effectLst/>
                <a:latin typeface="+mn-lt"/>
                <a:ea typeface="+mn-ea"/>
                <a:cs typeface="+mn-cs"/>
              </a:rPr>
              <a:t>credible intervals</a:t>
            </a:r>
            <a:r>
              <a:rPr lang="en-US" sz="1200" b="0" u="none" strike="noStrike" kern="1200" dirty="0">
                <a:solidFill>
                  <a:schemeClr val="tx1"/>
                </a:solidFill>
                <a:effectLst/>
                <a:latin typeface="+mn-lt"/>
                <a:ea typeface="+mn-ea"/>
                <a:cs typeface="+mn-cs"/>
              </a:rPr>
              <a:t> (e.g., 95% intervals) to quantify uncertainty natively. [</a:t>
            </a:r>
            <a:r>
              <a:rPr lang="en-US" sz="1200" b="0" u="none" strike="noStrike" kern="1200" dirty="0">
                <a:solidFill>
                  <a:schemeClr val="tx1"/>
                </a:solidFill>
                <a:effectLst/>
                <a:latin typeface="+mn-lt"/>
                <a:ea typeface="+mn-ea"/>
                <a:cs typeface="+mn-cs"/>
                <a:hlinkClick r:id="rId8"/>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8"/>
              </a:rPr>
              <a:t>4</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5</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If you are planning to implement this, let me know:</a:t>
            </a:r>
          </a:p>
          <a:p>
            <a:r>
              <a:rPr lang="en-US" sz="1200" b="0" u="none" strike="noStrike" kern="1200" dirty="0">
                <a:solidFill>
                  <a:schemeClr val="tx1"/>
                </a:solidFill>
                <a:effectLst/>
                <a:latin typeface="+mn-lt"/>
                <a:ea typeface="+mn-ea"/>
                <a:cs typeface="+mn-cs"/>
              </a:rPr>
              <a:t>What </a:t>
            </a:r>
            <a:r>
              <a:rPr lang="en-US" sz="1200" b="1" u="none" strike="noStrike" kern="1200" dirty="0">
                <a:solidFill>
                  <a:schemeClr val="tx1"/>
                </a:solidFill>
                <a:effectLst/>
                <a:latin typeface="+mn-lt"/>
                <a:ea typeface="+mn-ea"/>
                <a:cs typeface="+mn-cs"/>
              </a:rPr>
              <a:t>software or language</a:t>
            </a:r>
            <a:r>
              <a:rPr lang="en-US" sz="1200" b="0" u="none" strike="noStrike" kern="1200" dirty="0">
                <a:solidFill>
                  <a:schemeClr val="tx1"/>
                </a:solidFill>
                <a:effectLst/>
                <a:latin typeface="+mn-lt"/>
                <a:ea typeface="+mn-ea"/>
                <a:cs typeface="+mn-cs"/>
              </a:rPr>
              <a:t> you are using (e.g., R's </a:t>
            </a:r>
            <a:r>
              <a:rPr lang="en-US" sz="1200" b="0" u="none" strike="noStrike" kern="1200" dirty="0" err="1">
                <a:solidFill>
                  <a:schemeClr val="tx1"/>
                </a:solidFill>
                <a:effectLst/>
                <a:latin typeface="+mn-lt"/>
                <a:ea typeface="+mn-ea"/>
                <a:cs typeface="+mn-cs"/>
              </a:rPr>
              <a:t>bcf</a:t>
            </a:r>
            <a:r>
              <a:rPr lang="en-US" sz="1200" b="0" u="none" strike="noStrike" kern="1200" dirty="0">
                <a:solidFill>
                  <a:schemeClr val="tx1"/>
                </a:solidFill>
                <a:effectLst/>
                <a:latin typeface="+mn-lt"/>
                <a:ea typeface="+mn-ea"/>
                <a:cs typeface="+mn-cs"/>
              </a:rPr>
              <a:t> package or Python's </a:t>
            </a:r>
            <a:r>
              <a:rPr lang="en-US" sz="1200" b="0" u="none" strike="noStrike" kern="1200" dirty="0" err="1">
                <a:solidFill>
                  <a:schemeClr val="tx1"/>
                </a:solidFill>
                <a:effectLst/>
                <a:latin typeface="+mn-lt"/>
                <a:ea typeface="+mn-ea"/>
                <a:cs typeface="+mn-cs"/>
              </a:rPr>
              <a:t>stochtree</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Whether your treatment is </a:t>
            </a:r>
            <a:r>
              <a:rPr lang="en-US" sz="1200" b="1" u="none" strike="noStrike" kern="1200" dirty="0">
                <a:solidFill>
                  <a:schemeClr val="tx1"/>
                </a:solidFill>
                <a:effectLst/>
                <a:latin typeface="+mn-lt"/>
                <a:ea typeface="+mn-ea"/>
                <a:cs typeface="+mn-cs"/>
              </a:rPr>
              <a:t>binary or continuous</a:t>
            </a:r>
            <a:endParaRPr lang="en-US" sz="1200" b="0" u="none" strike="noStrike" kern="1200" dirty="0">
              <a:solidFill>
                <a:schemeClr val="tx1"/>
              </a:solidFill>
              <a:effectLst/>
              <a:latin typeface="+mn-lt"/>
              <a:ea typeface="+mn-ea"/>
              <a:cs typeface="+mn-cs"/>
            </a:endParaRPr>
          </a:p>
          <a:p>
            <a:r>
              <a:rPr lang="en-US" sz="1200" b="0" u="none" strike="noStrike" kern="1200" dirty="0">
                <a:solidFill>
                  <a:schemeClr val="tx1"/>
                </a:solidFill>
                <a:effectLst/>
                <a:latin typeface="+mn-lt"/>
                <a:ea typeface="+mn-ea"/>
                <a:cs typeface="+mn-cs"/>
              </a:rPr>
              <a:t>If you want to know how to </a:t>
            </a:r>
            <a:r>
              <a:rPr lang="en-US" sz="1200" b="1" u="none" strike="noStrike" kern="1200" dirty="0">
                <a:solidFill>
                  <a:schemeClr val="tx1"/>
                </a:solidFill>
                <a:effectLst/>
                <a:latin typeface="+mn-lt"/>
                <a:ea typeface="+mn-ea"/>
                <a:cs typeface="+mn-cs"/>
              </a:rPr>
              <a:t>interpret the outputted CATE</a:t>
            </a:r>
            <a:endParaRPr lang="en-US" sz="1200" b="0" u="none" strike="noStrike" kern="1200" dirty="0">
              <a:solidFill>
                <a:schemeClr val="tx1"/>
              </a:solidFill>
              <a:effectLst/>
              <a:latin typeface="+mn-lt"/>
              <a:ea typeface="+mn-ea"/>
              <a:cs typeface="+mn-cs"/>
            </a:endParaRPr>
          </a:p>
          <a:p>
            <a:r>
              <a:rPr lang="en-US" sz="1200" b="0" u="none" strike="noStrike" kern="1200" dirty="0">
                <a:solidFill>
                  <a:schemeClr val="tx1"/>
                </a:solidFill>
                <a:effectLst/>
                <a:latin typeface="+mn-lt"/>
                <a:ea typeface="+mn-ea"/>
                <a:cs typeface="+mn-cs"/>
              </a:rPr>
              <a:t>I can give you the specific code or analysis steps tailored to your environment.</a:t>
            </a:r>
          </a:p>
          <a:p>
            <a:pPr>
              <a:defRPr/>
            </a:pPr>
            <a:endParaRPr lang="de-DE" dirty="0"/>
          </a:p>
        </p:txBody>
      </p:sp>
      <p:sp>
        <p:nvSpPr>
          <p:cNvPr id="1416629939" name="Foliennummernplatzhalt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057F9-B2ED-4B9D-B0F2-D3AD44C3FAB4}" type="slidenum">
              <a:rPr kumimoji="0" lang="de-DE"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87610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28984289" name="Folienbildplatzhalter 1"/>
          <p:cNvSpPr>
            <a:spLocks noGrp="1" noRot="1" noChangeAspect="1"/>
          </p:cNvSpPr>
          <p:nvPr>
            <p:ph type="sldImg"/>
          </p:nvPr>
        </p:nvSpPr>
        <p:spPr bwMode="auto"/>
      </p:sp>
      <p:sp>
        <p:nvSpPr>
          <p:cNvPr id="1667454889" name="Notizenplatzhalter 2"/>
          <p:cNvSpPr>
            <a:spLocks noGrp="1"/>
          </p:cNvSpPr>
          <p:nvPr>
            <p:ph type="body" idx="1"/>
          </p:nvPr>
        </p:nvSpPr>
        <p:spPr bwMode="auto"/>
        <p:txBody>
          <a:bodyPr/>
          <a:lstStyle/>
          <a:p>
            <a:r>
              <a:rPr lang="en-US" sz="1200" b="0" u="none" strike="noStrike" kern="1200" dirty="0">
                <a:solidFill>
                  <a:schemeClr val="tx1"/>
                </a:solidFill>
                <a:effectLst/>
                <a:latin typeface="+mn-lt"/>
                <a:ea typeface="+mn-ea"/>
                <a:cs typeface="+mn-cs"/>
              </a:rPr>
              <a:t>A </a:t>
            </a:r>
            <a:r>
              <a:rPr lang="en-US" sz="1200" b="1" u="none" strike="noStrike" kern="1200" dirty="0">
                <a:solidFill>
                  <a:schemeClr val="tx1"/>
                </a:solidFill>
                <a:effectLst/>
                <a:latin typeface="+mn-lt"/>
                <a:ea typeface="+mn-ea"/>
                <a:cs typeface="+mn-cs"/>
              </a:rPr>
              <a:t>Bayesian Causal Forest (BCF)</a:t>
            </a:r>
            <a:r>
              <a:rPr lang="en-US" sz="1200" b="0" u="none" strike="noStrike" kern="1200" dirty="0">
                <a:solidFill>
                  <a:schemeClr val="tx1"/>
                </a:solidFill>
                <a:effectLst/>
                <a:latin typeface="+mn-lt"/>
                <a:ea typeface="+mn-ea"/>
                <a:cs typeface="+mn-cs"/>
              </a:rPr>
              <a:t> model is a machine learning method used to estimate </a:t>
            </a:r>
            <a:r>
              <a:rPr lang="en-US" sz="1200" b="1" u="none" strike="noStrike" kern="1200" dirty="0">
                <a:solidFill>
                  <a:schemeClr val="tx1"/>
                </a:solidFill>
                <a:effectLst/>
                <a:latin typeface="+mn-lt"/>
                <a:ea typeface="+mn-ea"/>
                <a:cs typeface="+mn-cs"/>
              </a:rPr>
              <a:t>Heterogeneous Treatment Effects</a:t>
            </a:r>
            <a:r>
              <a:rPr lang="en-US" sz="1200" b="0" u="none" strike="noStrike" kern="1200" dirty="0">
                <a:solidFill>
                  <a:schemeClr val="tx1"/>
                </a:solidFill>
                <a:effectLst/>
                <a:latin typeface="+mn-lt"/>
                <a:ea typeface="+mn-ea"/>
                <a:cs typeface="+mn-cs"/>
              </a:rPr>
              <a:t> (HTE) from observational or experimental data. It separates the baseline outcome prediction from the causal effect itself, preventing bias and providing rigorous uncertainty estimates.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3</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6"/>
              </a:rPr>
              <a:t>4</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7"/>
              </a:rPr>
              <a:t>5</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Here is the step-by-step breakdown of how the BCF model works:</a:t>
            </a:r>
          </a:p>
          <a:p>
            <a:r>
              <a:rPr lang="en-US" sz="1200" b="1" u="none" strike="noStrike" kern="1200" dirty="0">
                <a:solidFill>
                  <a:schemeClr val="tx1"/>
                </a:solidFill>
                <a:effectLst/>
                <a:latin typeface="+mn-lt"/>
                <a:ea typeface="+mn-ea"/>
                <a:cs typeface="+mn-cs"/>
              </a:rPr>
              <a:t>1. Model Formulation and Decomposition</a:t>
            </a:r>
          </a:p>
          <a:p>
            <a:r>
              <a:rPr lang="en-US" sz="1200" b="0" u="none" strike="noStrike" kern="1200" dirty="0">
                <a:solidFill>
                  <a:schemeClr val="tx1"/>
                </a:solidFill>
                <a:effectLst/>
                <a:latin typeface="+mn-lt"/>
                <a:ea typeface="+mn-ea"/>
                <a:cs typeface="+mn-cs"/>
              </a:rPr>
              <a:t>BCF starts by splitting the observed outcome (\(Y_{</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for individual (\(</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into two distinct, additive parts:</a:t>
            </a:r>
            <a:br>
              <a:rPr lang="en-US" sz="1200" b="0" u="none" strike="noStrike" kern="1200" dirty="0">
                <a:solidFill>
                  <a:schemeClr val="tx1"/>
                </a:solidFill>
                <a:effectLst/>
                <a:latin typeface="+mn-lt"/>
                <a:ea typeface="+mn-ea"/>
                <a:cs typeface="+mn-cs"/>
              </a:rPr>
            </a:br>
            <a:r>
              <a:rPr lang="en-US" sz="1200" b="0" u="none" strike="noStrike" kern="1200" dirty="0">
                <a:solidFill>
                  <a:schemeClr val="tx1"/>
                </a:solidFill>
                <a:effectLst/>
                <a:latin typeface="+mn-lt"/>
                <a:ea typeface="+mn-ea"/>
                <a:cs typeface="+mn-cs"/>
              </a:rPr>
              <a:t>\(</a:t>
            </a:r>
            <a:r>
              <a:rPr lang="en-US" sz="1200" b="0" u="none" strike="noStrike" kern="1200" dirty="0" err="1">
                <a:solidFill>
                  <a:schemeClr val="tx1"/>
                </a:solidFill>
                <a:effectLst/>
                <a:latin typeface="+mn-lt"/>
                <a:ea typeface="+mn-ea"/>
                <a:cs typeface="+mn-cs"/>
              </a:rPr>
              <a:t>Y_i</a:t>
            </a:r>
            <a:r>
              <a:rPr lang="en-US" sz="1200" b="0" u="none" strike="noStrike" kern="1200" dirty="0">
                <a:solidFill>
                  <a:schemeClr val="tx1"/>
                </a:solidFill>
                <a:effectLst/>
                <a:latin typeface="+mn-lt"/>
                <a:ea typeface="+mn-ea"/>
                <a:cs typeface="+mn-cs"/>
              </a:rPr>
              <a:t> = \mu(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 \tau(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cdot</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W_i</a:t>
            </a:r>
            <a:r>
              <a:rPr lang="en-US" sz="1200" b="0" u="none" strike="noStrike" kern="1200" dirty="0">
                <a:solidFill>
                  <a:schemeClr val="tx1"/>
                </a:solidFill>
                <a:effectLst/>
                <a:latin typeface="+mn-lt"/>
                <a:ea typeface="+mn-ea"/>
                <a:cs typeface="+mn-cs"/>
              </a:rPr>
              <a:t> + \</a:t>
            </a:r>
            <a:r>
              <a:rPr lang="en-US" sz="1200" b="0" u="none" strike="noStrike" kern="1200" dirty="0" err="1">
                <a:solidFill>
                  <a:schemeClr val="tx1"/>
                </a:solidFill>
                <a:effectLst/>
                <a:latin typeface="+mn-lt"/>
                <a:ea typeface="+mn-ea"/>
                <a:cs typeface="+mn-cs"/>
              </a:rPr>
              <a:t>epsilon_i</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\(Y_{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observed outcome.</a:t>
            </a:r>
          </a:p>
          <a:p>
            <a:r>
              <a:rPr lang="en-US" sz="1200" b="1" u="none" strike="noStrike" kern="1200" dirty="0">
                <a:solidFill>
                  <a:schemeClr val="tx1"/>
                </a:solidFill>
                <a:effectLst/>
                <a:latin typeface="+mn-lt"/>
                <a:ea typeface="+mn-ea"/>
                <a:cs typeface="+mn-cs"/>
              </a:rPr>
              <a:t>\(X_{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vector of baseline covariates (control variables).</a:t>
            </a:r>
          </a:p>
          <a:p>
            <a:r>
              <a:rPr lang="en-US" sz="1200" b="1" u="none" strike="noStrike" kern="1200" dirty="0">
                <a:solidFill>
                  <a:schemeClr val="tx1"/>
                </a:solidFill>
                <a:effectLst/>
                <a:latin typeface="+mn-lt"/>
                <a:ea typeface="+mn-ea"/>
                <a:cs typeface="+mn-cs"/>
              </a:rPr>
              <a:t>\(W_{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treatment assignment indicator (\(1\) for treated, \(0\) for control).</a:t>
            </a:r>
          </a:p>
          <a:p>
            <a:r>
              <a:rPr lang="en-US" sz="1200" b="1" u="none" strike="noStrike" kern="1200" dirty="0">
                <a:solidFill>
                  <a:schemeClr val="tx1"/>
                </a:solidFill>
                <a:effectLst/>
                <a:latin typeface="+mn-lt"/>
                <a:ea typeface="+mn-ea"/>
                <a:cs typeface="+mn-cs"/>
              </a:rPr>
              <a:t>\(\mu(</a:t>
            </a:r>
            <a:r>
              <a:rPr lang="en-US" sz="1200" b="1" u="none" strike="noStrike" kern="1200" dirty="0" err="1">
                <a:solidFill>
                  <a:schemeClr val="tx1"/>
                </a:solidFill>
                <a:effectLst/>
                <a:latin typeface="+mn-lt"/>
                <a:ea typeface="+mn-ea"/>
                <a:cs typeface="+mn-cs"/>
              </a:rPr>
              <a:t>X_i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a:t>
            </a:r>
            <a:r>
              <a:rPr lang="en-US" sz="1200" b="0" i="1" u="none" strike="noStrike" kern="1200" dirty="0">
                <a:solidFill>
                  <a:schemeClr val="tx1"/>
                </a:solidFill>
                <a:effectLst/>
                <a:latin typeface="+mn-lt"/>
                <a:ea typeface="+mn-ea"/>
                <a:cs typeface="+mn-cs"/>
              </a:rPr>
              <a:t>prognostic function</a:t>
            </a:r>
            <a:r>
              <a:rPr lang="en-US" sz="1200" b="0" u="none" strike="noStrike" kern="1200" dirty="0">
                <a:solidFill>
                  <a:schemeClr val="tx1"/>
                </a:solidFill>
                <a:effectLst/>
                <a:latin typeface="+mn-lt"/>
                <a:ea typeface="+mn-ea"/>
                <a:cs typeface="+mn-cs"/>
              </a:rPr>
              <a:t> (baseline outcome for untreated individuals).</a:t>
            </a:r>
          </a:p>
          <a:p>
            <a:r>
              <a:rPr lang="en-US" sz="1200" b="1" u="none" strike="noStrike" kern="1200" dirty="0">
                <a:solidFill>
                  <a:schemeClr val="tx1"/>
                </a:solidFill>
                <a:effectLst/>
                <a:latin typeface="+mn-lt"/>
                <a:ea typeface="+mn-ea"/>
                <a:cs typeface="+mn-cs"/>
              </a:rPr>
              <a:t>\(\tau(</a:t>
            </a:r>
            <a:r>
              <a:rPr lang="en-US" sz="1200" b="1" u="none" strike="noStrike" kern="1200" dirty="0" err="1">
                <a:solidFill>
                  <a:schemeClr val="tx1"/>
                </a:solidFill>
                <a:effectLst/>
                <a:latin typeface="+mn-lt"/>
                <a:ea typeface="+mn-ea"/>
                <a:cs typeface="+mn-cs"/>
              </a:rPr>
              <a:t>X_i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a:t>
            </a:r>
            <a:r>
              <a:rPr lang="en-US" sz="1200" b="0" i="1" u="none" strike="noStrike" kern="1200" dirty="0">
                <a:solidFill>
                  <a:schemeClr val="tx1"/>
                </a:solidFill>
                <a:effectLst/>
                <a:latin typeface="+mn-lt"/>
                <a:ea typeface="+mn-ea"/>
                <a:cs typeface="+mn-cs"/>
              </a:rPr>
              <a:t>treatment effect function</a:t>
            </a:r>
            <a:r>
              <a:rPr lang="en-US" sz="1200" b="0" u="none" strike="noStrike" kern="1200" dirty="0">
                <a:solidFill>
                  <a:schemeClr val="tx1"/>
                </a:solidFill>
                <a:effectLst/>
                <a:latin typeface="+mn-lt"/>
                <a:ea typeface="+mn-ea"/>
                <a:cs typeface="+mn-cs"/>
              </a:rPr>
              <a:t> (Conditional Average Treatment Effect - CATE).</a:t>
            </a:r>
          </a:p>
          <a:p>
            <a:r>
              <a:rPr lang="en-US" sz="1200" b="1" u="none" strike="noStrike" kern="1200" dirty="0">
                <a:solidFill>
                  <a:schemeClr val="tx1"/>
                </a:solidFill>
                <a:effectLst/>
                <a:latin typeface="+mn-lt"/>
                <a:ea typeface="+mn-ea"/>
                <a:cs typeface="+mn-cs"/>
              </a:rPr>
              <a:t>\(\epsilon 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Normally distributed random error term (\(N(0, \sigma^2)\)). [</a:t>
            </a:r>
            <a:r>
              <a:rPr lang="en-US" sz="1200" b="0" u="none" strike="noStrike" kern="1200" dirty="0">
                <a:solidFill>
                  <a:schemeClr val="tx1"/>
                </a:solidFill>
                <a:effectLst/>
                <a:latin typeface="+mn-lt"/>
                <a:ea typeface="+mn-ea"/>
                <a:cs typeface="+mn-cs"/>
                <a:hlinkClick r:id="rId9"/>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0"/>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1"/>
              </a:rPr>
              <a:t>3</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4</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5</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2. Propensity Score Estimation</a:t>
            </a:r>
          </a:p>
          <a:p>
            <a:r>
              <a:rPr lang="en-US" sz="1200" b="0" u="none" strike="noStrike" kern="1200" dirty="0">
                <a:solidFill>
                  <a:schemeClr val="tx1"/>
                </a:solidFill>
                <a:effectLst/>
                <a:latin typeface="+mn-lt"/>
                <a:ea typeface="+mn-ea"/>
                <a:cs typeface="+mn-cs"/>
              </a:rPr>
              <a:t>Before fitting the tree ensembles, BCF usually requires an estimate of the </a:t>
            </a:r>
            <a:r>
              <a:rPr lang="en-US" sz="1200" b="1" u="none" strike="noStrike" kern="1200" dirty="0">
                <a:solidFill>
                  <a:schemeClr val="tx1"/>
                </a:solidFill>
                <a:effectLst/>
                <a:latin typeface="+mn-lt"/>
                <a:ea typeface="+mn-ea"/>
                <a:cs typeface="+mn-cs"/>
              </a:rPr>
              <a:t>propensity score</a:t>
            </a:r>
            <a:r>
              <a:rPr lang="en-US" sz="1200" b="0" u="none" strike="noStrike" kern="1200" dirty="0">
                <a:solidFill>
                  <a:schemeClr val="tx1"/>
                </a:solidFill>
                <a:effectLst/>
                <a:latin typeface="+mn-lt"/>
                <a:ea typeface="+mn-ea"/>
                <a:cs typeface="+mn-cs"/>
              </a:rPr>
              <a:t>, \(\hat{\pi}(</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which is the probability that an individual receives the treatment based on their covariates (\(X_{</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3</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This is typically calculated using a separate model (such as logistic regression or a random forest) prior to running the main BCF algorithm. [</a:t>
            </a:r>
            <a:r>
              <a:rPr lang="en-US" sz="1200" b="0" u="none" strike="noStrike" kern="1200" dirty="0">
                <a:solidFill>
                  <a:schemeClr val="tx1"/>
                </a:solidFill>
                <a:effectLst/>
                <a:latin typeface="+mn-lt"/>
                <a:ea typeface="+mn-ea"/>
                <a:cs typeface="+mn-cs"/>
                <a:hlinkClick r:id="rId12"/>
              </a:rPr>
              <a:t>1</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3. Incorporating the Propensity Score into the Baseline</a:t>
            </a:r>
          </a:p>
          <a:p>
            <a:r>
              <a:rPr lang="en-US" sz="1200" b="0" u="none" strike="noStrike" kern="1200" dirty="0">
                <a:solidFill>
                  <a:schemeClr val="tx1"/>
                </a:solidFill>
                <a:effectLst/>
                <a:latin typeface="+mn-lt"/>
                <a:ea typeface="+mn-ea"/>
                <a:cs typeface="+mn-cs"/>
              </a:rPr>
              <a:t>Unlike traditional Bayesian Additive Regression Trees (BART), BCF implicitly includes the estimated propensity score as a covariate in the prognostic function \(\mu(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\hat{\pi}_</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9"/>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2</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This step acts as a powerful confounding control, ensuring that differences in baseline characteristics between treatment groups are properly adjusted, thus preventing regularization-induced bias.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4. Separate Tree Ensembles (BART Priors)</a:t>
            </a:r>
          </a:p>
          <a:p>
            <a:r>
              <a:rPr lang="en-US" sz="1200" b="0" u="none" strike="noStrike" kern="1200" dirty="0">
                <a:solidFill>
                  <a:schemeClr val="tx1"/>
                </a:solidFill>
                <a:effectLst/>
                <a:latin typeface="+mn-lt"/>
                <a:ea typeface="+mn-ea"/>
                <a:cs typeface="+mn-cs"/>
              </a:rPr>
              <a:t>BCF fits separate </a:t>
            </a:r>
            <a:r>
              <a:rPr lang="en-US" sz="1200" b="1" u="none" strike="noStrike" kern="1200" dirty="0">
                <a:solidFill>
                  <a:schemeClr val="tx1"/>
                </a:solidFill>
                <a:effectLst/>
                <a:latin typeface="+mn-lt"/>
                <a:ea typeface="+mn-ea"/>
                <a:cs typeface="+mn-cs"/>
              </a:rPr>
              <a:t>BART</a:t>
            </a:r>
            <a:r>
              <a:rPr lang="en-US" sz="1200" b="0" u="none" strike="noStrike" kern="1200" dirty="0">
                <a:solidFill>
                  <a:schemeClr val="tx1"/>
                </a:solidFill>
                <a:effectLst/>
                <a:latin typeface="+mn-lt"/>
                <a:ea typeface="+mn-ea"/>
                <a:cs typeface="+mn-cs"/>
              </a:rPr>
              <a:t> (Bayesian Additive Regression Trees) ensembles for both the prognostic function (\(\mu \)) and the treatment effect function (\(\tau \)): [</a:t>
            </a:r>
            <a:r>
              <a:rPr lang="en-US" sz="1200" b="0" u="none" strike="noStrike" kern="1200" dirty="0">
                <a:solidFill>
                  <a:schemeClr val="tx1"/>
                </a:solidFill>
                <a:effectLst/>
                <a:latin typeface="+mn-lt"/>
                <a:ea typeface="+mn-ea"/>
                <a:cs typeface="+mn-cs"/>
                <a:hlinkClick r:id="rId1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3</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4</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Prognostic Tree Ensemble (\(\mu \))</a:t>
            </a:r>
            <a:r>
              <a:rPr lang="en-US" sz="1200" b="0" u="none" strike="noStrike" kern="1200" dirty="0">
                <a:solidFill>
                  <a:schemeClr val="tx1"/>
                </a:solidFill>
                <a:effectLst/>
                <a:latin typeface="+mn-lt"/>
                <a:ea typeface="+mn-ea"/>
                <a:cs typeface="+mn-cs"/>
              </a:rPr>
              <a:t>: Learns how the baseline variables affect the overall outcome.</a:t>
            </a:r>
          </a:p>
          <a:p>
            <a:r>
              <a:rPr lang="en-US" sz="1200" b="1" u="none" strike="noStrike" kern="1200" dirty="0">
                <a:solidFill>
                  <a:schemeClr val="tx1"/>
                </a:solidFill>
                <a:effectLst/>
                <a:latin typeface="+mn-lt"/>
                <a:ea typeface="+mn-ea"/>
                <a:cs typeface="+mn-cs"/>
              </a:rPr>
              <a:t>Treatment Effect Tree Ensemble (\(\tau \))</a:t>
            </a:r>
            <a:r>
              <a:rPr lang="en-US" sz="1200" b="0" u="none" strike="noStrike" kern="1200" dirty="0">
                <a:solidFill>
                  <a:schemeClr val="tx1"/>
                </a:solidFill>
                <a:effectLst/>
                <a:latin typeface="+mn-lt"/>
                <a:ea typeface="+mn-ea"/>
                <a:cs typeface="+mn-cs"/>
              </a:rPr>
              <a:t>: Learns how the treatment effect varies across different subgroups of covariates.</a:t>
            </a:r>
          </a:p>
          <a:p>
            <a:r>
              <a:rPr lang="en-US" sz="1200" b="0" u="none" strike="noStrike" kern="1200" dirty="0">
                <a:solidFill>
                  <a:schemeClr val="tx1"/>
                </a:solidFill>
                <a:effectLst/>
                <a:latin typeface="+mn-lt"/>
                <a:ea typeface="+mn-ea"/>
                <a:cs typeface="+mn-cs"/>
              </a:rPr>
              <a:t>By enforcing separate Bayesian priors, the model can apply stricter regularization to the treatment effect, allowing the model to shrink estimates towards a homogeneous effect if data is sparse.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4"/>
              </a:rPr>
              <a:t>3</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5. Markov Chain Monte Carlo (MCMC) Sampling</a:t>
            </a:r>
          </a:p>
          <a:p>
            <a:r>
              <a:rPr lang="en-US" sz="1200" b="0" u="none" strike="noStrike" kern="1200" dirty="0">
                <a:solidFill>
                  <a:schemeClr val="tx1"/>
                </a:solidFill>
                <a:effectLst/>
                <a:latin typeface="+mn-lt"/>
                <a:ea typeface="+mn-ea"/>
                <a:cs typeface="+mn-cs"/>
              </a:rPr>
              <a:t>BCF uses an MCMC algorithm (specifically, </a:t>
            </a:r>
            <a:r>
              <a:rPr lang="en-US" sz="1200" b="0" u="none" strike="noStrike" kern="1200" dirty="0" err="1">
                <a:solidFill>
                  <a:schemeClr val="tx1"/>
                </a:solidFill>
                <a:effectLst/>
                <a:latin typeface="+mn-lt"/>
                <a:ea typeface="+mn-ea"/>
                <a:cs typeface="+mn-cs"/>
              </a:rPr>
              <a:t>blockwise</a:t>
            </a:r>
            <a:r>
              <a:rPr lang="en-US" sz="1200" b="0" u="none" strike="noStrike" kern="1200" dirty="0">
                <a:solidFill>
                  <a:schemeClr val="tx1"/>
                </a:solidFill>
                <a:effectLst/>
                <a:latin typeface="+mn-lt"/>
                <a:ea typeface="+mn-ea"/>
                <a:cs typeface="+mn-cs"/>
              </a:rPr>
              <a:t> Bayesian </a:t>
            </a:r>
            <a:r>
              <a:rPr lang="en-US" sz="1200" b="0" u="none" strike="noStrike" kern="1200" dirty="0" err="1">
                <a:solidFill>
                  <a:schemeClr val="tx1"/>
                </a:solidFill>
                <a:effectLst/>
                <a:latin typeface="+mn-lt"/>
                <a:ea typeface="+mn-ea"/>
                <a:cs typeface="+mn-cs"/>
              </a:rPr>
              <a:t>backfitting</a:t>
            </a:r>
            <a:r>
              <a:rPr lang="en-US" sz="1200" b="0" u="none" strike="noStrike" kern="1200" dirty="0">
                <a:solidFill>
                  <a:schemeClr val="tx1"/>
                </a:solidFill>
                <a:effectLst/>
                <a:latin typeface="+mn-lt"/>
                <a:ea typeface="+mn-ea"/>
                <a:cs typeface="+mn-cs"/>
              </a:rPr>
              <a:t>) to estimate the parameters iteratively: [</a:t>
            </a:r>
            <a:r>
              <a:rPr lang="en-US" sz="1200" b="0" u="none" strike="noStrike" kern="1200" dirty="0">
                <a:solidFill>
                  <a:schemeClr val="tx1"/>
                </a:solidFill>
                <a:effectLst/>
                <a:latin typeface="+mn-lt"/>
                <a:ea typeface="+mn-ea"/>
                <a:cs typeface="+mn-cs"/>
                <a:hlinkClick r:id="rId9"/>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5"/>
              </a:rPr>
              <a:t>3</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Step A</a:t>
            </a:r>
            <a:r>
              <a:rPr lang="en-US" sz="1200" b="0" u="none" strike="noStrike" kern="1200" dirty="0">
                <a:solidFill>
                  <a:schemeClr val="tx1"/>
                </a:solidFill>
                <a:effectLst/>
                <a:latin typeface="+mn-lt"/>
                <a:ea typeface="+mn-ea"/>
                <a:cs typeface="+mn-cs"/>
              </a:rPr>
              <a:t>: The algorithm updates the tree structures and leaf parameters for the prognostic forest (\(\mu \)) by holding the treatment effect forest (\(\tau \)) constant.</a:t>
            </a:r>
          </a:p>
          <a:p>
            <a:r>
              <a:rPr lang="en-US" sz="1200" b="1" u="none" strike="noStrike" kern="1200" dirty="0">
                <a:solidFill>
                  <a:schemeClr val="tx1"/>
                </a:solidFill>
                <a:effectLst/>
                <a:latin typeface="+mn-lt"/>
                <a:ea typeface="+mn-ea"/>
                <a:cs typeface="+mn-cs"/>
              </a:rPr>
              <a:t>Step B</a:t>
            </a:r>
            <a:r>
              <a:rPr lang="en-US" sz="1200" b="0" u="none" strike="noStrike" kern="1200" dirty="0">
                <a:solidFill>
                  <a:schemeClr val="tx1"/>
                </a:solidFill>
                <a:effectLst/>
                <a:latin typeface="+mn-lt"/>
                <a:ea typeface="+mn-ea"/>
                <a:cs typeface="+mn-cs"/>
              </a:rPr>
              <a:t>: It then updates the trees for the treatment effect forest (\(\tau \)) while holding the prognostic forest (\(\mu \)) constant.</a:t>
            </a:r>
          </a:p>
          <a:p>
            <a:r>
              <a:rPr lang="en-US" sz="1200" b="0" u="none" strike="noStrike" kern="1200" dirty="0">
                <a:solidFill>
                  <a:schemeClr val="tx1"/>
                </a:solidFill>
                <a:effectLst/>
                <a:latin typeface="+mn-lt"/>
                <a:ea typeface="+mn-ea"/>
                <a:cs typeface="+mn-cs"/>
              </a:rPr>
              <a:t>This iterative </a:t>
            </a:r>
            <a:r>
              <a:rPr lang="en-US" sz="1200" b="0" u="none" strike="noStrike" kern="1200" dirty="0" err="1">
                <a:solidFill>
                  <a:schemeClr val="tx1"/>
                </a:solidFill>
                <a:effectLst/>
                <a:latin typeface="+mn-lt"/>
                <a:ea typeface="+mn-ea"/>
                <a:cs typeface="+mn-cs"/>
              </a:rPr>
              <a:t>backfitting</a:t>
            </a:r>
            <a:r>
              <a:rPr lang="en-US" sz="1200" b="0" u="none" strike="noStrike" kern="1200" dirty="0">
                <a:solidFill>
                  <a:schemeClr val="tx1"/>
                </a:solidFill>
                <a:effectLst/>
                <a:latin typeface="+mn-lt"/>
                <a:ea typeface="+mn-ea"/>
                <a:cs typeface="+mn-cs"/>
              </a:rPr>
              <a:t> process generates thousands of posterior draws of the trees, which together construct the model and its uncertainty. [</a:t>
            </a:r>
            <a:r>
              <a:rPr lang="en-US" sz="1200" b="0" u="none" strike="noStrike" kern="1200" dirty="0">
                <a:solidFill>
                  <a:schemeClr val="tx1"/>
                </a:solidFill>
                <a:effectLst/>
                <a:latin typeface="+mn-lt"/>
                <a:ea typeface="+mn-ea"/>
                <a:cs typeface="+mn-cs"/>
                <a:hlinkClick r:id="rId16"/>
              </a:rPr>
              <a:t>1</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6. Posterior Inference and Uncertainty Quantification</a:t>
            </a:r>
          </a:p>
          <a:p>
            <a:r>
              <a:rPr lang="en-US" sz="1200" b="0" u="none" strike="noStrike" kern="1200" dirty="0">
                <a:solidFill>
                  <a:schemeClr val="tx1"/>
                </a:solidFill>
                <a:effectLst/>
                <a:latin typeface="+mn-lt"/>
                <a:ea typeface="+mn-ea"/>
                <a:cs typeface="+mn-cs"/>
              </a:rPr>
              <a:t>Instead of outputting a single point estimate, BCF yields a full posterior distribution for the causal effect. [</a:t>
            </a:r>
            <a:r>
              <a:rPr lang="en-US" sz="1200" b="0" u="none" strike="noStrike" kern="1200" dirty="0">
                <a:solidFill>
                  <a:schemeClr val="tx1"/>
                </a:solidFill>
                <a:effectLst/>
                <a:latin typeface="+mn-lt"/>
                <a:ea typeface="+mn-ea"/>
                <a:cs typeface="+mn-cs"/>
                <a:hlinkClick r:id="rId5"/>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7"/>
              </a:rPr>
              <a:t>2</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You can extract the Conditional Average Treatment Effect (CATE) for any individual \(</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by taking the average of the posterior draws of \(\tau(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Because it outputs a distribution, you can easily calculate </a:t>
            </a:r>
            <a:r>
              <a:rPr lang="en-US" sz="1200" b="1" u="none" strike="noStrike" kern="1200" dirty="0">
                <a:solidFill>
                  <a:schemeClr val="tx1"/>
                </a:solidFill>
                <a:effectLst/>
                <a:latin typeface="+mn-lt"/>
                <a:ea typeface="+mn-ea"/>
                <a:cs typeface="+mn-cs"/>
              </a:rPr>
              <a:t>credible intervals</a:t>
            </a:r>
            <a:r>
              <a:rPr lang="en-US" sz="1200" b="0" u="none" strike="noStrike" kern="1200" dirty="0">
                <a:solidFill>
                  <a:schemeClr val="tx1"/>
                </a:solidFill>
                <a:effectLst/>
                <a:latin typeface="+mn-lt"/>
                <a:ea typeface="+mn-ea"/>
                <a:cs typeface="+mn-cs"/>
              </a:rPr>
              <a:t> (e.g., 95% intervals) to quantify uncertainty natively. [</a:t>
            </a:r>
            <a:r>
              <a:rPr lang="en-US" sz="1200" b="0" u="none" strike="noStrike" kern="1200" dirty="0">
                <a:solidFill>
                  <a:schemeClr val="tx1"/>
                </a:solidFill>
                <a:effectLst/>
                <a:latin typeface="+mn-lt"/>
                <a:ea typeface="+mn-ea"/>
                <a:cs typeface="+mn-cs"/>
                <a:hlinkClick r:id="rId8"/>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8"/>
              </a:rPr>
              <a:t>4</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5</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If you are planning to implement this, let me know:</a:t>
            </a:r>
          </a:p>
          <a:p>
            <a:r>
              <a:rPr lang="en-US" sz="1200" b="0" u="none" strike="noStrike" kern="1200" dirty="0">
                <a:solidFill>
                  <a:schemeClr val="tx1"/>
                </a:solidFill>
                <a:effectLst/>
                <a:latin typeface="+mn-lt"/>
                <a:ea typeface="+mn-ea"/>
                <a:cs typeface="+mn-cs"/>
              </a:rPr>
              <a:t>What </a:t>
            </a:r>
            <a:r>
              <a:rPr lang="en-US" sz="1200" b="1" u="none" strike="noStrike" kern="1200" dirty="0">
                <a:solidFill>
                  <a:schemeClr val="tx1"/>
                </a:solidFill>
                <a:effectLst/>
                <a:latin typeface="+mn-lt"/>
                <a:ea typeface="+mn-ea"/>
                <a:cs typeface="+mn-cs"/>
              </a:rPr>
              <a:t>software or language</a:t>
            </a:r>
            <a:r>
              <a:rPr lang="en-US" sz="1200" b="0" u="none" strike="noStrike" kern="1200" dirty="0">
                <a:solidFill>
                  <a:schemeClr val="tx1"/>
                </a:solidFill>
                <a:effectLst/>
                <a:latin typeface="+mn-lt"/>
                <a:ea typeface="+mn-ea"/>
                <a:cs typeface="+mn-cs"/>
              </a:rPr>
              <a:t> you are using (e.g., R's </a:t>
            </a:r>
            <a:r>
              <a:rPr lang="en-US" sz="1200" b="0" u="none" strike="noStrike" kern="1200" dirty="0" err="1">
                <a:solidFill>
                  <a:schemeClr val="tx1"/>
                </a:solidFill>
                <a:effectLst/>
                <a:latin typeface="+mn-lt"/>
                <a:ea typeface="+mn-ea"/>
                <a:cs typeface="+mn-cs"/>
              </a:rPr>
              <a:t>bcf</a:t>
            </a:r>
            <a:r>
              <a:rPr lang="en-US" sz="1200" b="0" u="none" strike="noStrike" kern="1200" dirty="0">
                <a:solidFill>
                  <a:schemeClr val="tx1"/>
                </a:solidFill>
                <a:effectLst/>
                <a:latin typeface="+mn-lt"/>
                <a:ea typeface="+mn-ea"/>
                <a:cs typeface="+mn-cs"/>
              </a:rPr>
              <a:t> package or Python's </a:t>
            </a:r>
            <a:r>
              <a:rPr lang="en-US" sz="1200" b="0" u="none" strike="noStrike" kern="1200" dirty="0" err="1">
                <a:solidFill>
                  <a:schemeClr val="tx1"/>
                </a:solidFill>
                <a:effectLst/>
                <a:latin typeface="+mn-lt"/>
                <a:ea typeface="+mn-ea"/>
                <a:cs typeface="+mn-cs"/>
              </a:rPr>
              <a:t>stochtree</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Whether your treatment is </a:t>
            </a:r>
            <a:r>
              <a:rPr lang="en-US" sz="1200" b="1" u="none" strike="noStrike" kern="1200" dirty="0">
                <a:solidFill>
                  <a:schemeClr val="tx1"/>
                </a:solidFill>
                <a:effectLst/>
                <a:latin typeface="+mn-lt"/>
                <a:ea typeface="+mn-ea"/>
                <a:cs typeface="+mn-cs"/>
              </a:rPr>
              <a:t>binary or continuous</a:t>
            </a:r>
            <a:endParaRPr lang="en-US" sz="1200" b="0" u="none" strike="noStrike" kern="1200" dirty="0">
              <a:solidFill>
                <a:schemeClr val="tx1"/>
              </a:solidFill>
              <a:effectLst/>
              <a:latin typeface="+mn-lt"/>
              <a:ea typeface="+mn-ea"/>
              <a:cs typeface="+mn-cs"/>
            </a:endParaRPr>
          </a:p>
          <a:p>
            <a:r>
              <a:rPr lang="en-US" sz="1200" b="0" u="none" strike="noStrike" kern="1200" dirty="0">
                <a:solidFill>
                  <a:schemeClr val="tx1"/>
                </a:solidFill>
                <a:effectLst/>
                <a:latin typeface="+mn-lt"/>
                <a:ea typeface="+mn-ea"/>
                <a:cs typeface="+mn-cs"/>
              </a:rPr>
              <a:t>If you want to know how to </a:t>
            </a:r>
            <a:r>
              <a:rPr lang="en-US" sz="1200" b="1" u="none" strike="noStrike" kern="1200" dirty="0">
                <a:solidFill>
                  <a:schemeClr val="tx1"/>
                </a:solidFill>
                <a:effectLst/>
                <a:latin typeface="+mn-lt"/>
                <a:ea typeface="+mn-ea"/>
                <a:cs typeface="+mn-cs"/>
              </a:rPr>
              <a:t>interpret the outputted CATE</a:t>
            </a:r>
            <a:endParaRPr lang="en-US" sz="1200" b="0" u="none" strike="noStrike" kern="1200" dirty="0">
              <a:solidFill>
                <a:schemeClr val="tx1"/>
              </a:solidFill>
              <a:effectLst/>
              <a:latin typeface="+mn-lt"/>
              <a:ea typeface="+mn-ea"/>
              <a:cs typeface="+mn-cs"/>
            </a:endParaRPr>
          </a:p>
          <a:p>
            <a:r>
              <a:rPr lang="en-US" sz="1200" b="0" u="none" strike="noStrike" kern="1200" dirty="0">
                <a:solidFill>
                  <a:schemeClr val="tx1"/>
                </a:solidFill>
                <a:effectLst/>
                <a:latin typeface="+mn-lt"/>
                <a:ea typeface="+mn-ea"/>
                <a:cs typeface="+mn-cs"/>
              </a:rPr>
              <a:t>I can give you the specific code or analysis steps tailored to your environment.</a:t>
            </a:r>
          </a:p>
          <a:p>
            <a:pPr>
              <a:defRPr/>
            </a:pPr>
            <a:endParaRPr lang="de-DE" dirty="0"/>
          </a:p>
        </p:txBody>
      </p:sp>
      <p:sp>
        <p:nvSpPr>
          <p:cNvPr id="1416629939" name="Foliennummernplatzhalt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057F9-B2ED-4B9D-B0F2-D3AD44C3FAB4}" type="slidenum">
              <a:rPr kumimoji="0" lang="de-DE"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977563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28984289" name="Folienbildplatzhalter 1"/>
          <p:cNvSpPr>
            <a:spLocks noGrp="1" noRot="1" noChangeAspect="1"/>
          </p:cNvSpPr>
          <p:nvPr>
            <p:ph type="sldImg"/>
          </p:nvPr>
        </p:nvSpPr>
        <p:spPr bwMode="auto"/>
      </p:sp>
      <p:sp>
        <p:nvSpPr>
          <p:cNvPr id="1667454889" name="Notizenplatzhalter 2"/>
          <p:cNvSpPr>
            <a:spLocks noGrp="1"/>
          </p:cNvSpPr>
          <p:nvPr>
            <p:ph type="body" idx="1"/>
          </p:nvPr>
        </p:nvSpPr>
        <p:spPr bwMode="auto"/>
        <p:txBody>
          <a:bodyPr/>
          <a:lstStyle/>
          <a:p>
            <a:r>
              <a:rPr lang="en-US" sz="1200" b="0" u="none" strike="noStrike" kern="1200" dirty="0">
                <a:solidFill>
                  <a:schemeClr val="tx1"/>
                </a:solidFill>
                <a:effectLst/>
                <a:latin typeface="+mn-lt"/>
                <a:ea typeface="+mn-ea"/>
                <a:cs typeface="+mn-cs"/>
              </a:rPr>
              <a:t>Yes, it`s just a linear model of the treatment effect eventually!</a:t>
            </a:r>
          </a:p>
          <a:p>
            <a:endParaRPr lang="en-US" sz="1200" b="0" u="none" strike="noStrike" kern="1200" dirty="0">
              <a:solidFill>
                <a:schemeClr val="tx1"/>
              </a:solidFill>
              <a:effectLst/>
              <a:latin typeface="+mn-lt"/>
              <a:ea typeface="+mn-ea"/>
              <a:cs typeface="+mn-cs"/>
            </a:endParaRPr>
          </a:p>
          <a:p>
            <a:r>
              <a:rPr lang="en-US" sz="1200" b="0" u="none" strike="noStrike" kern="1200" dirty="0">
                <a:solidFill>
                  <a:schemeClr val="tx1"/>
                </a:solidFill>
                <a:effectLst/>
                <a:latin typeface="+mn-lt"/>
                <a:ea typeface="+mn-ea"/>
                <a:cs typeface="+mn-cs"/>
              </a:rPr>
              <a:t>A </a:t>
            </a:r>
            <a:r>
              <a:rPr lang="en-US" sz="1200" b="1" u="none" strike="noStrike" kern="1200" dirty="0">
                <a:solidFill>
                  <a:schemeClr val="tx1"/>
                </a:solidFill>
                <a:effectLst/>
                <a:latin typeface="+mn-lt"/>
                <a:ea typeface="+mn-ea"/>
                <a:cs typeface="+mn-cs"/>
              </a:rPr>
              <a:t>Bayesian Causal Forest (BCF)</a:t>
            </a:r>
            <a:r>
              <a:rPr lang="en-US" sz="1200" b="0" u="none" strike="noStrike" kern="1200" dirty="0">
                <a:solidFill>
                  <a:schemeClr val="tx1"/>
                </a:solidFill>
                <a:effectLst/>
                <a:latin typeface="+mn-lt"/>
                <a:ea typeface="+mn-ea"/>
                <a:cs typeface="+mn-cs"/>
              </a:rPr>
              <a:t> model is a machine learning method used to estimate </a:t>
            </a:r>
            <a:r>
              <a:rPr lang="en-US" sz="1200" b="1" u="none" strike="noStrike" kern="1200" dirty="0">
                <a:solidFill>
                  <a:schemeClr val="tx1"/>
                </a:solidFill>
                <a:effectLst/>
                <a:latin typeface="+mn-lt"/>
                <a:ea typeface="+mn-ea"/>
                <a:cs typeface="+mn-cs"/>
              </a:rPr>
              <a:t>Heterogeneous Treatment Effects</a:t>
            </a:r>
            <a:r>
              <a:rPr lang="en-US" sz="1200" b="0" u="none" strike="noStrike" kern="1200" dirty="0">
                <a:solidFill>
                  <a:schemeClr val="tx1"/>
                </a:solidFill>
                <a:effectLst/>
                <a:latin typeface="+mn-lt"/>
                <a:ea typeface="+mn-ea"/>
                <a:cs typeface="+mn-cs"/>
              </a:rPr>
              <a:t> (HTE) from observational or experimental data. It separates the baseline outcome prediction from the causal effect itself, preventing bias and providing rigorous uncertainty estimates.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3</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6"/>
              </a:rPr>
              <a:t>4</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7"/>
              </a:rPr>
              <a:t>5</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Here is the step-by-step breakdown of how the BCF model works:</a:t>
            </a:r>
          </a:p>
          <a:p>
            <a:r>
              <a:rPr lang="en-US" sz="1200" b="1" u="none" strike="noStrike" kern="1200" dirty="0">
                <a:solidFill>
                  <a:schemeClr val="tx1"/>
                </a:solidFill>
                <a:effectLst/>
                <a:latin typeface="+mn-lt"/>
                <a:ea typeface="+mn-ea"/>
                <a:cs typeface="+mn-cs"/>
              </a:rPr>
              <a:t>1. Model Formulation and Decomposition</a:t>
            </a:r>
          </a:p>
          <a:p>
            <a:r>
              <a:rPr lang="en-US" sz="1200" b="0" u="none" strike="noStrike" kern="1200" dirty="0">
                <a:solidFill>
                  <a:schemeClr val="tx1"/>
                </a:solidFill>
                <a:effectLst/>
                <a:latin typeface="+mn-lt"/>
                <a:ea typeface="+mn-ea"/>
                <a:cs typeface="+mn-cs"/>
              </a:rPr>
              <a:t>BCF starts by splitting the observed outcome (\(Y_{</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for individual (\(</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into two distinct, additive parts:</a:t>
            </a:r>
            <a:br>
              <a:rPr lang="en-US" sz="1200" b="0" u="none" strike="noStrike" kern="1200" dirty="0">
                <a:solidFill>
                  <a:schemeClr val="tx1"/>
                </a:solidFill>
                <a:effectLst/>
                <a:latin typeface="+mn-lt"/>
                <a:ea typeface="+mn-ea"/>
                <a:cs typeface="+mn-cs"/>
              </a:rPr>
            </a:br>
            <a:r>
              <a:rPr lang="en-US" sz="1200" b="0" u="none" strike="noStrike" kern="1200" dirty="0">
                <a:solidFill>
                  <a:schemeClr val="tx1"/>
                </a:solidFill>
                <a:effectLst/>
                <a:latin typeface="+mn-lt"/>
                <a:ea typeface="+mn-ea"/>
                <a:cs typeface="+mn-cs"/>
              </a:rPr>
              <a:t>\(</a:t>
            </a:r>
            <a:r>
              <a:rPr lang="en-US" sz="1200" b="0" u="none" strike="noStrike" kern="1200" dirty="0" err="1">
                <a:solidFill>
                  <a:schemeClr val="tx1"/>
                </a:solidFill>
                <a:effectLst/>
                <a:latin typeface="+mn-lt"/>
                <a:ea typeface="+mn-ea"/>
                <a:cs typeface="+mn-cs"/>
              </a:rPr>
              <a:t>Y_i</a:t>
            </a:r>
            <a:r>
              <a:rPr lang="en-US" sz="1200" b="0" u="none" strike="noStrike" kern="1200" dirty="0">
                <a:solidFill>
                  <a:schemeClr val="tx1"/>
                </a:solidFill>
                <a:effectLst/>
                <a:latin typeface="+mn-lt"/>
                <a:ea typeface="+mn-ea"/>
                <a:cs typeface="+mn-cs"/>
              </a:rPr>
              <a:t> = \mu(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 \tau(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cdot</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W_i</a:t>
            </a:r>
            <a:r>
              <a:rPr lang="en-US" sz="1200" b="0" u="none" strike="noStrike" kern="1200" dirty="0">
                <a:solidFill>
                  <a:schemeClr val="tx1"/>
                </a:solidFill>
                <a:effectLst/>
                <a:latin typeface="+mn-lt"/>
                <a:ea typeface="+mn-ea"/>
                <a:cs typeface="+mn-cs"/>
              </a:rPr>
              <a:t> + \</a:t>
            </a:r>
            <a:r>
              <a:rPr lang="en-US" sz="1200" b="0" u="none" strike="noStrike" kern="1200" dirty="0" err="1">
                <a:solidFill>
                  <a:schemeClr val="tx1"/>
                </a:solidFill>
                <a:effectLst/>
                <a:latin typeface="+mn-lt"/>
                <a:ea typeface="+mn-ea"/>
                <a:cs typeface="+mn-cs"/>
              </a:rPr>
              <a:t>epsilon_i</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\(Y_{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observed outcome.</a:t>
            </a:r>
          </a:p>
          <a:p>
            <a:r>
              <a:rPr lang="en-US" sz="1200" b="1" u="none" strike="noStrike" kern="1200" dirty="0">
                <a:solidFill>
                  <a:schemeClr val="tx1"/>
                </a:solidFill>
                <a:effectLst/>
                <a:latin typeface="+mn-lt"/>
                <a:ea typeface="+mn-ea"/>
                <a:cs typeface="+mn-cs"/>
              </a:rPr>
              <a:t>\(X_{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vector of baseline covariates (control variables).</a:t>
            </a:r>
          </a:p>
          <a:p>
            <a:r>
              <a:rPr lang="en-US" sz="1200" b="1" u="none" strike="noStrike" kern="1200" dirty="0">
                <a:solidFill>
                  <a:schemeClr val="tx1"/>
                </a:solidFill>
                <a:effectLst/>
                <a:latin typeface="+mn-lt"/>
                <a:ea typeface="+mn-ea"/>
                <a:cs typeface="+mn-cs"/>
              </a:rPr>
              <a:t>\(W_{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treatment assignment indicator (\(1\) for treated, \(0\) for control).</a:t>
            </a:r>
          </a:p>
          <a:p>
            <a:r>
              <a:rPr lang="en-US" sz="1200" b="1" u="none" strike="noStrike" kern="1200" dirty="0">
                <a:solidFill>
                  <a:schemeClr val="tx1"/>
                </a:solidFill>
                <a:effectLst/>
                <a:latin typeface="+mn-lt"/>
                <a:ea typeface="+mn-ea"/>
                <a:cs typeface="+mn-cs"/>
              </a:rPr>
              <a:t>\(\mu(</a:t>
            </a:r>
            <a:r>
              <a:rPr lang="en-US" sz="1200" b="1" u="none" strike="noStrike" kern="1200" dirty="0" err="1">
                <a:solidFill>
                  <a:schemeClr val="tx1"/>
                </a:solidFill>
                <a:effectLst/>
                <a:latin typeface="+mn-lt"/>
                <a:ea typeface="+mn-ea"/>
                <a:cs typeface="+mn-cs"/>
              </a:rPr>
              <a:t>X_i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a:t>
            </a:r>
            <a:r>
              <a:rPr lang="en-US" sz="1200" b="0" i="1" u="none" strike="noStrike" kern="1200" dirty="0">
                <a:solidFill>
                  <a:schemeClr val="tx1"/>
                </a:solidFill>
                <a:effectLst/>
                <a:latin typeface="+mn-lt"/>
                <a:ea typeface="+mn-ea"/>
                <a:cs typeface="+mn-cs"/>
              </a:rPr>
              <a:t>prognostic function</a:t>
            </a:r>
            <a:r>
              <a:rPr lang="en-US" sz="1200" b="0" u="none" strike="noStrike" kern="1200" dirty="0">
                <a:solidFill>
                  <a:schemeClr val="tx1"/>
                </a:solidFill>
                <a:effectLst/>
                <a:latin typeface="+mn-lt"/>
                <a:ea typeface="+mn-ea"/>
                <a:cs typeface="+mn-cs"/>
              </a:rPr>
              <a:t> (baseline outcome for untreated individuals).</a:t>
            </a:r>
          </a:p>
          <a:p>
            <a:r>
              <a:rPr lang="en-US" sz="1200" b="1" u="none" strike="noStrike" kern="1200" dirty="0">
                <a:solidFill>
                  <a:schemeClr val="tx1"/>
                </a:solidFill>
                <a:effectLst/>
                <a:latin typeface="+mn-lt"/>
                <a:ea typeface="+mn-ea"/>
                <a:cs typeface="+mn-cs"/>
              </a:rPr>
              <a:t>\(\tau(</a:t>
            </a:r>
            <a:r>
              <a:rPr lang="en-US" sz="1200" b="1" u="none" strike="noStrike" kern="1200" dirty="0" err="1">
                <a:solidFill>
                  <a:schemeClr val="tx1"/>
                </a:solidFill>
                <a:effectLst/>
                <a:latin typeface="+mn-lt"/>
                <a:ea typeface="+mn-ea"/>
                <a:cs typeface="+mn-cs"/>
              </a:rPr>
              <a:t>X_i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a:t>
            </a:r>
            <a:r>
              <a:rPr lang="en-US" sz="1200" b="0" i="1" u="none" strike="noStrike" kern="1200" dirty="0">
                <a:solidFill>
                  <a:schemeClr val="tx1"/>
                </a:solidFill>
                <a:effectLst/>
                <a:latin typeface="+mn-lt"/>
                <a:ea typeface="+mn-ea"/>
                <a:cs typeface="+mn-cs"/>
              </a:rPr>
              <a:t>treatment effect function</a:t>
            </a:r>
            <a:r>
              <a:rPr lang="en-US" sz="1200" b="0" u="none" strike="noStrike" kern="1200" dirty="0">
                <a:solidFill>
                  <a:schemeClr val="tx1"/>
                </a:solidFill>
                <a:effectLst/>
                <a:latin typeface="+mn-lt"/>
                <a:ea typeface="+mn-ea"/>
                <a:cs typeface="+mn-cs"/>
              </a:rPr>
              <a:t> (Conditional Average Treatment Effect - CATE).</a:t>
            </a:r>
          </a:p>
          <a:p>
            <a:r>
              <a:rPr lang="en-US" sz="1200" b="1" u="none" strike="noStrike" kern="1200" dirty="0">
                <a:solidFill>
                  <a:schemeClr val="tx1"/>
                </a:solidFill>
                <a:effectLst/>
                <a:latin typeface="+mn-lt"/>
                <a:ea typeface="+mn-ea"/>
                <a:cs typeface="+mn-cs"/>
              </a:rPr>
              <a:t>\(\epsilon 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Normally distributed random error term (\(N(0, \sigma^2)\)). [</a:t>
            </a:r>
            <a:r>
              <a:rPr lang="en-US" sz="1200" b="0" u="none" strike="noStrike" kern="1200" dirty="0">
                <a:solidFill>
                  <a:schemeClr val="tx1"/>
                </a:solidFill>
                <a:effectLst/>
                <a:latin typeface="+mn-lt"/>
                <a:ea typeface="+mn-ea"/>
                <a:cs typeface="+mn-cs"/>
                <a:hlinkClick r:id="rId9"/>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0"/>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1"/>
              </a:rPr>
              <a:t>3</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4</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5</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2. Propensity Score Estimation</a:t>
            </a:r>
          </a:p>
          <a:p>
            <a:r>
              <a:rPr lang="en-US" sz="1200" b="0" u="none" strike="noStrike" kern="1200" dirty="0">
                <a:solidFill>
                  <a:schemeClr val="tx1"/>
                </a:solidFill>
                <a:effectLst/>
                <a:latin typeface="+mn-lt"/>
                <a:ea typeface="+mn-ea"/>
                <a:cs typeface="+mn-cs"/>
              </a:rPr>
              <a:t>Before fitting the tree ensembles, BCF usually requires an estimate of the </a:t>
            </a:r>
            <a:r>
              <a:rPr lang="en-US" sz="1200" b="1" u="none" strike="noStrike" kern="1200" dirty="0">
                <a:solidFill>
                  <a:schemeClr val="tx1"/>
                </a:solidFill>
                <a:effectLst/>
                <a:latin typeface="+mn-lt"/>
                <a:ea typeface="+mn-ea"/>
                <a:cs typeface="+mn-cs"/>
              </a:rPr>
              <a:t>propensity score</a:t>
            </a:r>
            <a:r>
              <a:rPr lang="en-US" sz="1200" b="0" u="none" strike="noStrike" kern="1200" dirty="0">
                <a:solidFill>
                  <a:schemeClr val="tx1"/>
                </a:solidFill>
                <a:effectLst/>
                <a:latin typeface="+mn-lt"/>
                <a:ea typeface="+mn-ea"/>
                <a:cs typeface="+mn-cs"/>
              </a:rPr>
              <a:t>, \(\hat{\pi}(</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which is the probability that an individual receives the treatment based on their covariates (\(X_{</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3</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This is typically calculated using a separate model (such as logistic regression or a random forest) prior to running the main BCF algorithm. [</a:t>
            </a:r>
            <a:r>
              <a:rPr lang="en-US" sz="1200" b="0" u="none" strike="noStrike" kern="1200" dirty="0">
                <a:solidFill>
                  <a:schemeClr val="tx1"/>
                </a:solidFill>
                <a:effectLst/>
                <a:latin typeface="+mn-lt"/>
                <a:ea typeface="+mn-ea"/>
                <a:cs typeface="+mn-cs"/>
                <a:hlinkClick r:id="rId12"/>
              </a:rPr>
              <a:t>1</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3. Incorporating the Propensity Score into the Baseline</a:t>
            </a:r>
          </a:p>
          <a:p>
            <a:r>
              <a:rPr lang="en-US" sz="1200" b="0" u="none" strike="noStrike" kern="1200" dirty="0">
                <a:solidFill>
                  <a:schemeClr val="tx1"/>
                </a:solidFill>
                <a:effectLst/>
                <a:latin typeface="+mn-lt"/>
                <a:ea typeface="+mn-ea"/>
                <a:cs typeface="+mn-cs"/>
              </a:rPr>
              <a:t>Unlike traditional Bayesian Additive Regression Trees (BART), BCF implicitly includes the estimated propensity score as a covariate in the prognostic function \(\mu(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\hat{\pi}_</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9"/>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2</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This step acts as a powerful confounding control, ensuring that differences in baseline characteristics between treatment groups are properly adjusted, thus preventing regularization-induced bias.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4. Separate Tree Ensembles (BART Priors)</a:t>
            </a:r>
          </a:p>
          <a:p>
            <a:r>
              <a:rPr lang="en-US" sz="1200" b="0" u="none" strike="noStrike" kern="1200" dirty="0">
                <a:solidFill>
                  <a:schemeClr val="tx1"/>
                </a:solidFill>
                <a:effectLst/>
                <a:latin typeface="+mn-lt"/>
                <a:ea typeface="+mn-ea"/>
                <a:cs typeface="+mn-cs"/>
              </a:rPr>
              <a:t>BCF fits separate </a:t>
            </a:r>
            <a:r>
              <a:rPr lang="en-US" sz="1200" b="1" u="none" strike="noStrike" kern="1200" dirty="0">
                <a:solidFill>
                  <a:schemeClr val="tx1"/>
                </a:solidFill>
                <a:effectLst/>
                <a:latin typeface="+mn-lt"/>
                <a:ea typeface="+mn-ea"/>
                <a:cs typeface="+mn-cs"/>
              </a:rPr>
              <a:t>BART</a:t>
            </a:r>
            <a:r>
              <a:rPr lang="en-US" sz="1200" b="0" u="none" strike="noStrike" kern="1200" dirty="0">
                <a:solidFill>
                  <a:schemeClr val="tx1"/>
                </a:solidFill>
                <a:effectLst/>
                <a:latin typeface="+mn-lt"/>
                <a:ea typeface="+mn-ea"/>
                <a:cs typeface="+mn-cs"/>
              </a:rPr>
              <a:t> (Bayesian Additive Regression Trees) ensembles for both the prognostic function (\(\mu \)) and the treatment effect function (\(\tau \)): [</a:t>
            </a:r>
            <a:r>
              <a:rPr lang="en-US" sz="1200" b="0" u="none" strike="noStrike" kern="1200" dirty="0">
                <a:solidFill>
                  <a:schemeClr val="tx1"/>
                </a:solidFill>
                <a:effectLst/>
                <a:latin typeface="+mn-lt"/>
                <a:ea typeface="+mn-ea"/>
                <a:cs typeface="+mn-cs"/>
                <a:hlinkClick r:id="rId1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3</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4</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Prognostic Tree Ensemble (\(\mu \))</a:t>
            </a:r>
            <a:r>
              <a:rPr lang="en-US" sz="1200" b="0" u="none" strike="noStrike" kern="1200" dirty="0">
                <a:solidFill>
                  <a:schemeClr val="tx1"/>
                </a:solidFill>
                <a:effectLst/>
                <a:latin typeface="+mn-lt"/>
                <a:ea typeface="+mn-ea"/>
                <a:cs typeface="+mn-cs"/>
              </a:rPr>
              <a:t>: Learns how the baseline variables affect the overall outcome.</a:t>
            </a:r>
          </a:p>
          <a:p>
            <a:r>
              <a:rPr lang="en-US" sz="1200" b="1" u="none" strike="noStrike" kern="1200" dirty="0">
                <a:solidFill>
                  <a:schemeClr val="tx1"/>
                </a:solidFill>
                <a:effectLst/>
                <a:latin typeface="+mn-lt"/>
                <a:ea typeface="+mn-ea"/>
                <a:cs typeface="+mn-cs"/>
              </a:rPr>
              <a:t>Treatment Effect Tree Ensemble (\(\tau \))</a:t>
            </a:r>
            <a:r>
              <a:rPr lang="en-US" sz="1200" b="0" u="none" strike="noStrike" kern="1200" dirty="0">
                <a:solidFill>
                  <a:schemeClr val="tx1"/>
                </a:solidFill>
                <a:effectLst/>
                <a:latin typeface="+mn-lt"/>
                <a:ea typeface="+mn-ea"/>
                <a:cs typeface="+mn-cs"/>
              </a:rPr>
              <a:t>: Learns how the treatment effect varies across different subgroups of covariates.</a:t>
            </a:r>
          </a:p>
          <a:p>
            <a:r>
              <a:rPr lang="en-US" sz="1200" b="0" u="none" strike="noStrike" kern="1200" dirty="0">
                <a:solidFill>
                  <a:schemeClr val="tx1"/>
                </a:solidFill>
                <a:effectLst/>
                <a:latin typeface="+mn-lt"/>
                <a:ea typeface="+mn-ea"/>
                <a:cs typeface="+mn-cs"/>
              </a:rPr>
              <a:t>By enforcing separate Bayesian priors, the model can apply stricter regularization to the treatment effect, allowing the model to shrink estimates towards a homogeneous effect if data is sparse.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4"/>
              </a:rPr>
              <a:t>3</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5. Markov Chain Monte Carlo (MCMC) Sampling</a:t>
            </a:r>
          </a:p>
          <a:p>
            <a:r>
              <a:rPr lang="en-US" sz="1200" b="0" u="none" strike="noStrike" kern="1200" dirty="0">
                <a:solidFill>
                  <a:schemeClr val="tx1"/>
                </a:solidFill>
                <a:effectLst/>
                <a:latin typeface="+mn-lt"/>
                <a:ea typeface="+mn-ea"/>
                <a:cs typeface="+mn-cs"/>
              </a:rPr>
              <a:t>BCF uses an MCMC algorithm (specifically, </a:t>
            </a:r>
            <a:r>
              <a:rPr lang="en-US" sz="1200" b="0" u="none" strike="noStrike" kern="1200" dirty="0" err="1">
                <a:solidFill>
                  <a:schemeClr val="tx1"/>
                </a:solidFill>
                <a:effectLst/>
                <a:latin typeface="+mn-lt"/>
                <a:ea typeface="+mn-ea"/>
                <a:cs typeface="+mn-cs"/>
              </a:rPr>
              <a:t>blockwise</a:t>
            </a:r>
            <a:r>
              <a:rPr lang="en-US" sz="1200" b="0" u="none" strike="noStrike" kern="1200" dirty="0">
                <a:solidFill>
                  <a:schemeClr val="tx1"/>
                </a:solidFill>
                <a:effectLst/>
                <a:latin typeface="+mn-lt"/>
                <a:ea typeface="+mn-ea"/>
                <a:cs typeface="+mn-cs"/>
              </a:rPr>
              <a:t> Bayesian </a:t>
            </a:r>
            <a:r>
              <a:rPr lang="en-US" sz="1200" b="0" u="none" strike="noStrike" kern="1200" dirty="0" err="1">
                <a:solidFill>
                  <a:schemeClr val="tx1"/>
                </a:solidFill>
                <a:effectLst/>
                <a:latin typeface="+mn-lt"/>
                <a:ea typeface="+mn-ea"/>
                <a:cs typeface="+mn-cs"/>
              </a:rPr>
              <a:t>backfitting</a:t>
            </a:r>
            <a:r>
              <a:rPr lang="en-US" sz="1200" b="0" u="none" strike="noStrike" kern="1200" dirty="0">
                <a:solidFill>
                  <a:schemeClr val="tx1"/>
                </a:solidFill>
                <a:effectLst/>
                <a:latin typeface="+mn-lt"/>
                <a:ea typeface="+mn-ea"/>
                <a:cs typeface="+mn-cs"/>
              </a:rPr>
              <a:t>) to estimate the parameters iteratively: [</a:t>
            </a:r>
            <a:r>
              <a:rPr lang="en-US" sz="1200" b="0" u="none" strike="noStrike" kern="1200" dirty="0">
                <a:solidFill>
                  <a:schemeClr val="tx1"/>
                </a:solidFill>
                <a:effectLst/>
                <a:latin typeface="+mn-lt"/>
                <a:ea typeface="+mn-ea"/>
                <a:cs typeface="+mn-cs"/>
                <a:hlinkClick r:id="rId9"/>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5"/>
              </a:rPr>
              <a:t>3</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Step A</a:t>
            </a:r>
            <a:r>
              <a:rPr lang="en-US" sz="1200" b="0" u="none" strike="noStrike" kern="1200" dirty="0">
                <a:solidFill>
                  <a:schemeClr val="tx1"/>
                </a:solidFill>
                <a:effectLst/>
                <a:latin typeface="+mn-lt"/>
                <a:ea typeface="+mn-ea"/>
                <a:cs typeface="+mn-cs"/>
              </a:rPr>
              <a:t>: The algorithm updates the tree structures and leaf parameters for the prognostic forest (\(\mu \)) by holding the treatment effect forest (\(\tau \)) constant.</a:t>
            </a:r>
          </a:p>
          <a:p>
            <a:r>
              <a:rPr lang="en-US" sz="1200" b="1" u="none" strike="noStrike" kern="1200" dirty="0">
                <a:solidFill>
                  <a:schemeClr val="tx1"/>
                </a:solidFill>
                <a:effectLst/>
                <a:latin typeface="+mn-lt"/>
                <a:ea typeface="+mn-ea"/>
                <a:cs typeface="+mn-cs"/>
              </a:rPr>
              <a:t>Step B</a:t>
            </a:r>
            <a:r>
              <a:rPr lang="en-US" sz="1200" b="0" u="none" strike="noStrike" kern="1200" dirty="0">
                <a:solidFill>
                  <a:schemeClr val="tx1"/>
                </a:solidFill>
                <a:effectLst/>
                <a:latin typeface="+mn-lt"/>
                <a:ea typeface="+mn-ea"/>
                <a:cs typeface="+mn-cs"/>
              </a:rPr>
              <a:t>: It then updates the trees for the treatment effect forest (\(\tau \)) while holding the prognostic forest (\(\mu \)) constant.</a:t>
            </a:r>
          </a:p>
          <a:p>
            <a:r>
              <a:rPr lang="en-US" sz="1200" b="0" u="none" strike="noStrike" kern="1200" dirty="0">
                <a:solidFill>
                  <a:schemeClr val="tx1"/>
                </a:solidFill>
                <a:effectLst/>
                <a:latin typeface="+mn-lt"/>
                <a:ea typeface="+mn-ea"/>
                <a:cs typeface="+mn-cs"/>
              </a:rPr>
              <a:t>This iterative </a:t>
            </a:r>
            <a:r>
              <a:rPr lang="en-US" sz="1200" b="0" u="none" strike="noStrike" kern="1200" dirty="0" err="1">
                <a:solidFill>
                  <a:schemeClr val="tx1"/>
                </a:solidFill>
                <a:effectLst/>
                <a:latin typeface="+mn-lt"/>
                <a:ea typeface="+mn-ea"/>
                <a:cs typeface="+mn-cs"/>
              </a:rPr>
              <a:t>backfitting</a:t>
            </a:r>
            <a:r>
              <a:rPr lang="en-US" sz="1200" b="0" u="none" strike="noStrike" kern="1200" dirty="0">
                <a:solidFill>
                  <a:schemeClr val="tx1"/>
                </a:solidFill>
                <a:effectLst/>
                <a:latin typeface="+mn-lt"/>
                <a:ea typeface="+mn-ea"/>
                <a:cs typeface="+mn-cs"/>
              </a:rPr>
              <a:t> process generates thousands of posterior draws of the trees, which together construct the model and its uncertainty. [</a:t>
            </a:r>
            <a:r>
              <a:rPr lang="en-US" sz="1200" b="0" u="none" strike="noStrike" kern="1200" dirty="0">
                <a:solidFill>
                  <a:schemeClr val="tx1"/>
                </a:solidFill>
                <a:effectLst/>
                <a:latin typeface="+mn-lt"/>
                <a:ea typeface="+mn-ea"/>
                <a:cs typeface="+mn-cs"/>
                <a:hlinkClick r:id="rId16"/>
              </a:rPr>
              <a:t>1</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6. Posterior Inference and Uncertainty Quantification</a:t>
            </a:r>
          </a:p>
          <a:p>
            <a:r>
              <a:rPr lang="en-US" sz="1200" b="0" u="none" strike="noStrike" kern="1200" dirty="0">
                <a:solidFill>
                  <a:schemeClr val="tx1"/>
                </a:solidFill>
                <a:effectLst/>
                <a:latin typeface="+mn-lt"/>
                <a:ea typeface="+mn-ea"/>
                <a:cs typeface="+mn-cs"/>
              </a:rPr>
              <a:t>Instead of outputting a single point estimate, BCF yields a full posterior distribution for the causal effect. [</a:t>
            </a:r>
            <a:r>
              <a:rPr lang="en-US" sz="1200" b="0" u="none" strike="noStrike" kern="1200" dirty="0">
                <a:solidFill>
                  <a:schemeClr val="tx1"/>
                </a:solidFill>
                <a:effectLst/>
                <a:latin typeface="+mn-lt"/>
                <a:ea typeface="+mn-ea"/>
                <a:cs typeface="+mn-cs"/>
                <a:hlinkClick r:id="rId5"/>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7"/>
              </a:rPr>
              <a:t>2</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You can extract the Conditional Average Treatment Effect (CATE) for any individual \(</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by taking the average of the posterior draws of \(\tau(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Because it outputs a distribution, you can easily calculate </a:t>
            </a:r>
            <a:r>
              <a:rPr lang="en-US" sz="1200" b="1" u="none" strike="noStrike" kern="1200" dirty="0">
                <a:solidFill>
                  <a:schemeClr val="tx1"/>
                </a:solidFill>
                <a:effectLst/>
                <a:latin typeface="+mn-lt"/>
                <a:ea typeface="+mn-ea"/>
                <a:cs typeface="+mn-cs"/>
              </a:rPr>
              <a:t>credible intervals</a:t>
            </a:r>
            <a:r>
              <a:rPr lang="en-US" sz="1200" b="0" u="none" strike="noStrike" kern="1200" dirty="0">
                <a:solidFill>
                  <a:schemeClr val="tx1"/>
                </a:solidFill>
                <a:effectLst/>
                <a:latin typeface="+mn-lt"/>
                <a:ea typeface="+mn-ea"/>
                <a:cs typeface="+mn-cs"/>
              </a:rPr>
              <a:t> (e.g., 95% intervals) to quantify uncertainty natively. [</a:t>
            </a:r>
            <a:r>
              <a:rPr lang="en-US" sz="1200" b="0" u="none" strike="noStrike" kern="1200" dirty="0">
                <a:solidFill>
                  <a:schemeClr val="tx1"/>
                </a:solidFill>
                <a:effectLst/>
                <a:latin typeface="+mn-lt"/>
                <a:ea typeface="+mn-ea"/>
                <a:cs typeface="+mn-cs"/>
                <a:hlinkClick r:id="rId8"/>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8"/>
              </a:rPr>
              <a:t>4</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5</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If you are planning to implement this, let me know:</a:t>
            </a:r>
          </a:p>
          <a:p>
            <a:r>
              <a:rPr lang="en-US" sz="1200" b="0" u="none" strike="noStrike" kern="1200" dirty="0">
                <a:solidFill>
                  <a:schemeClr val="tx1"/>
                </a:solidFill>
                <a:effectLst/>
                <a:latin typeface="+mn-lt"/>
                <a:ea typeface="+mn-ea"/>
                <a:cs typeface="+mn-cs"/>
              </a:rPr>
              <a:t>What </a:t>
            </a:r>
            <a:r>
              <a:rPr lang="en-US" sz="1200" b="1" u="none" strike="noStrike" kern="1200" dirty="0">
                <a:solidFill>
                  <a:schemeClr val="tx1"/>
                </a:solidFill>
                <a:effectLst/>
                <a:latin typeface="+mn-lt"/>
                <a:ea typeface="+mn-ea"/>
                <a:cs typeface="+mn-cs"/>
              </a:rPr>
              <a:t>software or language</a:t>
            </a:r>
            <a:r>
              <a:rPr lang="en-US" sz="1200" b="0" u="none" strike="noStrike" kern="1200" dirty="0">
                <a:solidFill>
                  <a:schemeClr val="tx1"/>
                </a:solidFill>
                <a:effectLst/>
                <a:latin typeface="+mn-lt"/>
                <a:ea typeface="+mn-ea"/>
                <a:cs typeface="+mn-cs"/>
              </a:rPr>
              <a:t> you are using (e.g., R's </a:t>
            </a:r>
            <a:r>
              <a:rPr lang="en-US" sz="1200" b="0" u="none" strike="noStrike" kern="1200" dirty="0" err="1">
                <a:solidFill>
                  <a:schemeClr val="tx1"/>
                </a:solidFill>
                <a:effectLst/>
                <a:latin typeface="+mn-lt"/>
                <a:ea typeface="+mn-ea"/>
                <a:cs typeface="+mn-cs"/>
              </a:rPr>
              <a:t>bcf</a:t>
            </a:r>
            <a:r>
              <a:rPr lang="en-US" sz="1200" b="0" u="none" strike="noStrike" kern="1200" dirty="0">
                <a:solidFill>
                  <a:schemeClr val="tx1"/>
                </a:solidFill>
                <a:effectLst/>
                <a:latin typeface="+mn-lt"/>
                <a:ea typeface="+mn-ea"/>
                <a:cs typeface="+mn-cs"/>
              </a:rPr>
              <a:t> package or Python's </a:t>
            </a:r>
            <a:r>
              <a:rPr lang="en-US" sz="1200" b="0" u="none" strike="noStrike" kern="1200" dirty="0" err="1">
                <a:solidFill>
                  <a:schemeClr val="tx1"/>
                </a:solidFill>
                <a:effectLst/>
                <a:latin typeface="+mn-lt"/>
                <a:ea typeface="+mn-ea"/>
                <a:cs typeface="+mn-cs"/>
              </a:rPr>
              <a:t>stochtree</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Whether your treatment is </a:t>
            </a:r>
            <a:r>
              <a:rPr lang="en-US" sz="1200" b="1" u="none" strike="noStrike" kern="1200" dirty="0">
                <a:solidFill>
                  <a:schemeClr val="tx1"/>
                </a:solidFill>
                <a:effectLst/>
                <a:latin typeface="+mn-lt"/>
                <a:ea typeface="+mn-ea"/>
                <a:cs typeface="+mn-cs"/>
              </a:rPr>
              <a:t>binary or continuous</a:t>
            </a:r>
            <a:endParaRPr lang="en-US" sz="1200" b="0" u="none" strike="noStrike" kern="1200" dirty="0">
              <a:solidFill>
                <a:schemeClr val="tx1"/>
              </a:solidFill>
              <a:effectLst/>
              <a:latin typeface="+mn-lt"/>
              <a:ea typeface="+mn-ea"/>
              <a:cs typeface="+mn-cs"/>
            </a:endParaRPr>
          </a:p>
          <a:p>
            <a:r>
              <a:rPr lang="en-US" sz="1200" b="0" u="none" strike="noStrike" kern="1200" dirty="0">
                <a:solidFill>
                  <a:schemeClr val="tx1"/>
                </a:solidFill>
                <a:effectLst/>
                <a:latin typeface="+mn-lt"/>
                <a:ea typeface="+mn-ea"/>
                <a:cs typeface="+mn-cs"/>
              </a:rPr>
              <a:t>If you want to know how to </a:t>
            </a:r>
            <a:r>
              <a:rPr lang="en-US" sz="1200" b="1" u="none" strike="noStrike" kern="1200" dirty="0">
                <a:solidFill>
                  <a:schemeClr val="tx1"/>
                </a:solidFill>
                <a:effectLst/>
                <a:latin typeface="+mn-lt"/>
                <a:ea typeface="+mn-ea"/>
                <a:cs typeface="+mn-cs"/>
              </a:rPr>
              <a:t>interpret the outputted CATE</a:t>
            </a:r>
            <a:endParaRPr lang="en-US" sz="1200" b="0" u="none" strike="noStrike" kern="1200" dirty="0">
              <a:solidFill>
                <a:schemeClr val="tx1"/>
              </a:solidFill>
              <a:effectLst/>
              <a:latin typeface="+mn-lt"/>
              <a:ea typeface="+mn-ea"/>
              <a:cs typeface="+mn-cs"/>
            </a:endParaRPr>
          </a:p>
          <a:p>
            <a:r>
              <a:rPr lang="en-US" sz="1200" b="0" u="none" strike="noStrike" kern="1200" dirty="0">
                <a:solidFill>
                  <a:schemeClr val="tx1"/>
                </a:solidFill>
                <a:effectLst/>
                <a:latin typeface="+mn-lt"/>
                <a:ea typeface="+mn-ea"/>
                <a:cs typeface="+mn-cs"/>
              </a:rPr>
              <a:t>I can give you the specific code or analysis steps tailored to your environment.</a:t>
            </a:r>
          </a:p>
          <a:p>
            <a:pPr>
              <a:defRPr/>
            </a:pPr>
            <a:endParaRPr lang="de-DE" dirty="0"/>
          </a:p>
        </p:txBody>
      </p:sp>
      <p:sp>
        <p:nvSpPr>
          <p:cNvPr id="1416629939" name="Foliennummernplatzhalt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057F9-B2ED-4B9D-B0F2-D3AD44C3FAB4}" type="slidenum">
              <a:rPr kumimoji="0" lang="de-DE"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818680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Next </a:t>
            </a:r>
            <a:r>
              <a:rPr lang="de-DE" dirty="0" err="1"/>
              <a:t>step</a:t>
            </a:r>
            <a:r>
              <a:rPr lang="de-DE" dirty="0"/>
              <a:t>:</a:t>
            </a:r>
          </a:p>
          <a:p>
            <a:r>
              <a:rPr lang="de-DE" dirty="0"/>
              <a:t>Show </a:t>
            </a:r>
            <a:r>
              <a:rPr lang="de-DE" dirty="0" err="1"/>
              <a:t>the</a:t>
            </a:r>
            <a:r>
              <a:rPr lang="de-DE" dirty="0"/>
              <a:t> </a:t>
            </a:r>
            <a:r>
              <a:rPr lang="de-DE" dirty="0" err="1"/>
              <a:t>four</a:t>
            </a:r>
            <a:r>
              <a:rPr lang="de-DE" dirty="0"/>
              <a:t> </a:t>
            </a:r>
            <a:r>
              <a:rPr lang="de-DE" dirty="0" err="1"/>
              <a:t>main</a:t>
            </a:r>
            <a:r>
              <a:rPr lang="de-DE" dirty="0"/>
              <a:t> </a:t>
            </a:r>
            <a:r>
              <a:rPr lang="de-DE" dirty="0" err="1"/>
              <a:t>applications</a:t>
            </a:r>
            <a:r>
              <a:rPr lang="de-DE" dirty="0"/>
              <a:t> </a:t>
            </a:r>
            <a:r>
              <a:rPr lang="de-DE" dirty="0" err="1"/>
              <a:t>of</a:t>
            </a:r>
            <a:r>
              <a:rPr lang="de-DE" dirty="0"/>
              <a:t> CML </a:t>
            </a:r>
            <a:r>
              <a:rPr lang="de-DE" dirty="0" err="1"/>
              <a:t>for</a:t>
            </a:r>
            <a:r>
              <a:rPr lang="de-DE" dirty="0"/>
              <a:t> </a:t>
            </a:r>
            <a:r>
              <a:rPr lang="de-DE" dirty="0" err="1"/>
              <a:t>causal</a:t>
            </a:r>
            <a:r>
              <a:rPr lang="de-DE" dirty="0"/>
              <a:t> </a:t>
            </a:r>
            <a:r>
              <a:rPr lang="de-DE" dirty="0" err="1"/>
              <a:t>inference</a:t>
            </a:r>
            <a:r>
              <a:rPr lang="de-DE" dirty="0"/>
              <a:t>:</a:t>
            </a:r>
          </a:p>
          <a:p>
            <a:pPr marL="171450" indent="-171450">
              <a:buFontTx/>
              <a:buChar char="-"/>
            </a:pPr>
            <a:r>
              <a:rPr lang="de-DE" dirty="0"/>
              <a:t>Double/</a:t>
            </a:r>
            <a:r>
              <a:rPr lang="de-DE" dirty="0" err="1"/>
              <a:t>debiased</a:t>
            </a:r>
            <a:r>
              <a:rPr lang="de-DE" dirty="0"/>
              <a:t> ML (Hamburg CML podcast ML </a:t>
            </a:r>
            <a:r>
              <a:rPr lang="de-DE" dirty="0" err="1"/>
              <a:t>researcher</a:t>
            </a:r>
            <a:r>
              <a:rPr lang="de-DE" dirty="0"/>
              <a:t>, CML </a:t>
            </a:r>
            <a:r>
              <a:rPr lang="de-DE" dirty="0" err="1"/>
              <a:t>book</a:t>
            </a:r>
            <a:r>
              <a:rPr lang="de-DE" dirty="0"/>
              <a:t>…)</a:t>
            </a:r>
          </a:p>
          <a:p>
            <a:pPr marL="171450" indent="-171450">
              <a:buFontTx/>
              <a:buChar char="-"/>
            </a:pPr>
            <a:r>
              <a:rPr lang="de-DE" dirty="0" err="1"/>
              <a:t>Heterogeneous</a:t>
            </a:r>
            <a:r>
              <a:rPr lang="de-DE" dirty="0"/>
              <a:t> </a:t>
            </a:r>
            <a:r>
              <a:rPr lang="de-DE" dirty="0" err="1"/>
              <a:t>treatment</a:t>
            </a:r>
            <a:r>
              <a:rPr lang="de-DE" dirty="0"/>
              <a:t> </a:t>
            </a:r>
            <a:r>
              <a:rPr lang="de-DE" dirty="0" err="1"/>
              <a:t>effects</a:t>
            </a:r>
            <a:r>
              <a:rPr lang="de-DE" dirty="0"/>
              <a:t> (</a:t>
            </a:r>
            <a:r>
              <a:rPr lang="de-DE" dirty="0" err="1"/>
              <a:t>treatment</a:t>
            </a:r>
            <a:r>
              <a:rPr lang="de-DE" dirty="0"/>
              <a:t> </a:t>
            </a:r>
            <a:r>
              <a:rPr lang="de-DE" dirty="0" err="1"/>
              <a:t>outcome</a:t>
            </a:r>
            <a:r>
              <a:rPr lang="de-DE" dirty="0"/>
              <a:t> </a:t>
            </a:r>
            <a:r>
              <a:rPr lang="de-DE" dirty="0" err="1"/>
              <a:t>prediction</a:t>
            </a:r>
            <a:r>
              <a:rPr lang="de-DE" dirty="0"/>
              <a:t>; CATEs/GATEs/I </a:t>
            </a:r>
            <a:r>
              <a:rPr lang="de-DE" dirty="0" err="1"/>
              <a:t>ates</a:t>
            </a:r>
            <a:r>
              <a:rPr lang="de-DE" dirty="0"/>
              <a:t> .etc. … (Feuerriegel et al., 2024)</a:t>
            </a:r>
          </a:p>
          <a:p>
            <a:pPr marL="171450" indent="-171450">
              <a:buFontTx/>
              <a:buChar char="-"/>
            </a:pPr>
            <a:r>
              <a:rPr lang="de-DE" dirty="0" err="1"/>
              <a:t>Causal</a:t>
            </a:r>
            <a:r>
              <a:rPr lang="de-DE" dirty="0"/>
              <a:t> </a:t>
            </a:r>
            <a:r>
              <a:rPr lang="de-DE" dirty="0" err="1"/>
              <a:t>discovery</a:t>
            </a:r>
            <a:r>
              <a:rPr lang="de-DE" dirty="0"/>
              <a:t> (</a:t>
            </a:r>
            <a:r>
              <a:rPr lang="de-DE" dirty="0" err="1"/>
              <a:t>learning</a:t>
            </a:r>
            <a:r>
              <a:rPr lang="de-DE" dirty="0"/>
              <a:t>) (</a:t>
            </a:r>
            <a:r>
              <a:rPr lang="de-DE" dirty="0" err="1"/>
              <a:t>Psych</a:t>
            </a:r>
            <a:r>
              <a:rPr lang="de-DE" dirty="0"/>
              <a:t> Methods </a:t>
            </a:r>
            <a:r>
              <a:rPr lang="de-DE" dirty="0" err="1"/>
              <a:t>thingie</a:t>
            </a:r>
            <a:r>
              <a:rPr lang="de-DE" dirty="0"/>
              <a:t>…)</a:t>
            </a:r>
          </a:p>
          <a:p>
            <a:pPr marL="171450" indent="-171450">
              <a:buFontTx/>
              <a:buChar char="-"/>
            </a:pPr>
            <a:r>
              <a:rPr lang="de-DE" dirty="0" err="1"/>
              <a:t>Cherhoznukov</a:t>
            </a:r>
            <a:r>
              <a:rPr lang="de-DE" dirty="0"/>
              <a:t> et al., 2024 </a:t>
            </a:r>
            <a:r>
              <a:rPr lang="de-DE" dirty="0" err="1"/>
              <a:t>as</a:t>
            </a:r>
            <a:r>
              <a:rPr lang="de-DE" dirty="0"/>
              <a:t> </a:t>
            </a:r>
            <a:r>
              <a:rPr lang="de-DE" dirty="0" err="1"/>
              <a:t>the</a:t>
            </a:r>
            <a:r>
              <a:rPr lang="de-DE" dirty="0"/>
              <a:t> </a:t>
            </a:r>
            <a:r>
              <a:rPr lang="de-DE" dirty="0" err="1"/>
              <a:t>go-to</a:t>
            </a:r>
            <a:r>
              <a:rPr lang="de-DE" dirty="0"/>
              <a:t> </a:t>
            </a:r>
            <a:r>
              <a:rPr lang="de-DE" dirty="0" err="1"/>
              <a:t>for</a:t>
            </a:r>
            <a:r>
              <a:rPr lang="de-DE" dirty="0"/>
              <a:t> </a:t>
            </a:r>
            <a:r>
              <a:rPr lang="de-DE" dirty="0" err="1"/>
              <a:t>everything</a:t>
            </a:r>
            <a:r>
              <a:rPr lang="de-DE" dirty="0"/>
              <a:t> + Podcast :)</a:t>
            </a:r>
          </a:p>
        </p:txBody>
      </p:sp>
      <p:sp>
        <p:nvSpPr>
          <p:cNvPr id="4" name="Foliennummernplatzhalter 3"/>
          <p:cNvSpPr>
            <a:spLocks noGrp="1"/>
          </p:cNvSpPr>
          <p:nvPr>
            <p:ph type="sldNum" sz="quarter" idx="5"/>
          </p:nvPr>
        </p:nvSpPr>
        <p:spPr/>
        <p:txBody>
          <a:bodyPr/>
          <a:lstStyle/>
          <a:p>
            <a:fld id="{BBE877DA-6631-45DD-A8ED-B21393C9203F}" type="slidenum">
              <a:rPr lang="de-DE" smtClean="0"/>
              <a:t>12</a:t>
            </a:fld>
            <a:endParaRPr lang="de-DE"/>
          </a:p>
        </p:txBody>
      </p:sp>
    </p:spTree>
    <p:extLst>
      <p:ext uri="{BB962C8B-B14F-4D97-AF65-F5344CB8AC3E}">
        <p14:creationId xmlns:p14="http://schemas.microsoft.com/office/powerpoint/2010/main" val="26459526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Next </a:t>
            </a:r>
            <a:r>
              <a:rPr lang="de-DE" dirty="0" err="1"/>
              <a:t>step</a:t>
            </a:r>
            <a:r>
              <a:rPr lang="de-DE" dirty="0"/>
              <a:t>:</a:t>
            </a:r>
          </a:p>
          <a:p>
            <a:r>
              <a:rPr lang="de-DE" dirty="0"/>
              <a:t>Show </a:t>
            </a:r>
            <a:r>
              <a:rPr lang="de-DE" dirty="0" err="1"/>
              <a:t>the</a:t>
            </a:r>
            <a:r>
              <a:rPr lang="de-DE" dirty="0"/>
              <a:t> </a:t>
            </a:r>
            <a:r>
              <a:rPr lang="de-DE" dirty="0" err="1"/>
              <a:t>four</a:t>
            </a:r>
            <a:r>
              <a:rPr lang="de-DE" dirty="0"/>
              <a:t> </a:t>
            </a:r>
            <a:r>
              <a:rPr lang="de-DE" dirty="0" err="1"/>
              <a:t>main</a:t>
            </a:r>
            <a:r>
              <a:rPr lang="de-DE" dirty="0"/>
              <a:t> </a:t>
            </a:r>
            <a:r>
              <a:rPr lang="de-DE" dirty="0" err="1"/>
              <a:t>applications</a:t>
            </a:r>
            <a:r>
              <a:rPr lang="de-DE" dirty="0"/>
              <a:t> </a:t>
            </a:r>
            <a:r>
              <a:rPr lang="de-DE" dirty="0" err="1"/>
              <a:t>of</a:t>
            </a:r>
            <a:r>
              <a:rPr lang="de-DE" dirty="0"/>
              <a:t> CML </a:t>
            </a:r>
            <a:r>
              <a:rPr lang="de-DE" dirty="0" err="1"/>
              <a:t>for</a:t>
            </a:r>
            <a:r>
              <a:rPr lang="de-DE" dirty="0"/>
              <a:t> </a:t>
            </a:r>
            <a:r>
              <a:rPr lang="de-DE" dirty="0" err="1"/>
              <a:t>causal</a:t>
            </a:r>
            <a:r>
              <a:rPr lang="de-DE" dirty="0"/>
              <a:t> </a:t>
            </a:r>
            <a:r>
              <a:rPr lang="de-DE" dirty="0" err="1"/>
              <a:t>inference</a:t>
            </a:r>
            <a:r>
              <a:rPr lang="de-DE" dirty="0"/>
              <a:t>:</a:t>
            </a:r>
          </a:p>
          <a:p>
            <a:pPr marL="171450" indent="-171450">
              <a:buFontTx/>
              <a:buChar char="-"/>
            </a:pPr>
            <a:r>
              <a:rPr lang="de-DE" dirty="0"/>
              <a:t>Double/</a:t>
            </a:r>
            <a:r>
              <a:rPr lang="de-DE" dirty="0" err="1"/>
              <a:t>debiased</a:t>
            </a:r>
            <a:r>
              <a:rPr lang="de-DE" dirty="0"/>
              <a:t> ML (Hamburg CML podcast ML </a:t>
            </a:r>
            <a:r>
              <a:rPr lang="de-DE" dirty="0" err="1"/>
              <a:t>researcher</a:t>
            </a:r>
            <a:r>
              <a:rPr lang="de-DE" dirty="0"/>
              <a:t>, CML </a:t>
            </a:r>
            <a:r>
              <a:rPr lang="de-DE" dirty="0" err="1"/>
              <a:t>book</a:t>
            </a:r>
            <a:r>
              <a:rPr lang="de-DE" dirty="0"/>
              <a:t>…)</a:t>
            </a:r>
          </a:p>
          <a:p>
            <a:pPr marL="171450" indent="-171450">
              <a:buFontTx/>
              <a:buChar char="-"/>
            </a:pPr>
            <a:r>
              <a:rPr lang="de-DE" dirty="0" err="1"/>
              <a:t>Heterogeneous</a:t>
            </a:r>
            <a:r>
              <a:rPr lang="de-DE" dirty="0"/>
              <a:t> </a:t>
            </a:r>
            <a:r>
              <a:rPr lang="de-DE" dirty="0" err="1"/>
              <a:t>treatment</a:t>
            </a:r>
            <a:r>
              <a:rPr lang="de-DE" dirty="0"/>
              <a:t> </a:t>
            </a:r>
            <a:r>
              <a:rPr lang="de-DE" dirty="0" err="1"/>
              <a:t>effects</a:t>
            </a:r>
            <a:r>
              <a:rPr lang="de-DE" dirty="0"/>
              <a:t> (</a:t>
            </a:r>
            <a:r>
              <a:rPr lang="de-DE" dirty="0" err="1"/>
              <a:t>treatment</a:t>
            </a:r>
            <a:r>
              <a:rPr lang="de-DE" dirty="0"/>
              <a:t> </a:t>
            </a:r>
            <a:r>
              <a:rPr lang="de-DE" dirty="0" err="1"/>
              <a:t>outcome</a:t>
            </a:r>
            <a:r>
              <a:rPr lang="de-DE" dirty="0"/>
              <a:t> </a:t>
            </a:r>
            <a:r>
              <a:rPr lang="de-DE" dirty="0" err="1"/>
              <a:t>prediction</a:t>
            </a:r>
            <a:r>
              <a:rPr lang="de-DE" dirty="0"/>
              <a:t>; CATEs/GATEs/I </a:t>
            </a:r>
            <a:r>
              <a:rPr lang="de-DE" dirty="0" err="1"/>
              <a:t>ates</a:t>
            </a:r>
            <a:r>
              <a:rPr lang="de-DE" dirty="0"/>
              <a:t> .etc. … (Feuerriegel et al., 2024)</a:t>
            </a:r>
          </a:p>
          <a:p>
            <a:pPr marL="171450" indent="-171450">
              <a:buFontTx/>
              <a:buChar char="-"/>
            </a:pPr>
            <a:r>
              <a:rPr lang="de-DE" dirty="0" err="1"/>
              <a:t>Causal</a:t>
            </a:r>
            <a:r>
              <a:rPr lang="de-DE" dirty="0"/>
              <a:t> </a:t>
            </a:r>
            <a:r>
              <a:rPr lang="de-DE" dirty="0" err="1"/>
              <a:t>discovery</a:t>
            </a:r>
            <a:r>
              <a:rPr lang="de-DE" dirty="0"/>
              <a:t> (</a:t>
            </a:r>
            <a:r>
              <a:rPr lang="de-DE" dirty="0" err="1"/>
              <a:t>learning</a:t>
            </a:r>
            <a:r>
              <a:rPr lang="de-DE" dirty="0"/>
              <a:t>) (</a:t>
            </a:r>
            <a:r>
              <a:rPr lang="de-DE" dirty="0" err="1"/>
              <a:t>Psych</a:t>
            </a:r>
            <a:r>
              <a:rPr lang="de-DE" dirty="0"/>
              <a:t> Methods </a:t>
            </a:r>
            <a:r>
              <a:rPr lang="de-DE" dirty="0" err="1"/>
              <a:t>thingie</a:t>
            </a:r>
            <a:r>
              <a:rPr lang="de-DE" dirty="0"/>
              <a:t>…)</a:t>
            </a:r>
          </a:p>
          <a:p>
            <a:pPr marL="171450" indent="-171450">
              <a:buFontTx/>
              <a:buChar char="-"/>
            </a:pPr>
            <a:r>
              <a:rPr lang="de-DE" dirty="0" err="1"/>
              <a:t>Cherhoznukov</a:t>
            </a:r>
            <a:r>
              <a:rPr lang="de-DE" dirty="0"/>
              <a:t> et al., 2024 </a:t>
            </a:r>
            <a:r>
              <a:rPr lang="de-DE" dirty="0" err="1"/>
              <a:t>as</a:t>
            </a:r>
            <a:r>
              <a:rPr lang="de-DE" dirty="0"/>
              <a:t> </a:t>
            </a:r>
            <a:r>
              <a:rPr lang="de-DE" dirty="0" err="1"/>
              <a:t>the</a:t>
            </a:r>
            <a:r>
              <a:rPr lang="de-DE" dirty="0"/>
              <a:t> </a:t>
            </a:r>
            <a:r>
              <a:rPr lang="de-DE" dirty="0" err="1"/>
              <a:t>go-to</a:t>
            </a:r>
            <a:r>
              <a:rPr lang="de-DE" dirty="0"/>
              <a:t> </a:t>
            </a:r>
            <a:r>
              <a:rPr lang="de-DE" dirty="0" err="1"/>
              <a:t>for</a:t>
            </a:r>
            <a:r>
              <a:rPr lang="de-DE" dirty="0"/>
              <a:t> </a:t>
            </a:r>
            <a:r>
              <a:rPr lang="de-DE" dirty="0" err="1"/>
              <a:t>everything</a:t>
            </a:r>
            <a:r>
              <a:rPr lang="de-DE" dirty="0"/>
              <a:t> + Podcast :)</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E877DA-6631-45DD-A8ED-B21393C9203F}"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87307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28984289" name="Folienbildplatzhalter 1"/>
          <p:cNvSpPr>
            <a:spLocks noGrp="1" noRot="1" noChangeAspect="1"/>
          </p:cNvSpPr>
          <p:nvPr>
            <p:ph type="sldImg"/>
          </p:nvPr>
        </p:nvSpPr>
        <p:spPr bwMode="auto"/>
      </p:sp>
      <p:sp>
        <p:nvSpPr>
          <p:cNvPr id="1667454889" name="Notizenplatzhalter 2"/>
          <p:cNvSpPr>
            <a:spLocks noGrp="1"/>
          </p:cNvSpPr>
          <p:nvPr>
            <p:ph type="body" idx="1"/>
          </p:nvPr>
        </p:nvSpPr>
        <p:spPr bwMode="auto"/>
        <p:txBody>
          <a:bodyPr/>
          <a:lstStyle/>
          <a:p>
            <a:r>
              <a:rPr lang="en-US" sz="1200" b="0" u="none" strike="noStrike" kern="1200" dirty="0">
                <a:solidFill>
                  <a:schemeClr val="tx1"/>
                </a:solidFill>
                <a:effectLst/>
                <a:latin typeface="+mn-lt"/>
                <a:ea typeface="+mn-ea"/>
                <a:cs typeface="+mn-cs"/>
              </a:rPr>
              <a:t>A </a:t>
            </a:r>
            <a:r>
              <a:rPr lang="en-US" sz="1200" b="1" u="none" strike="noStrike" kern="1200" dirty="0">
                <a:solidFill>
                  <a:schemeClr val="tx1"/>
                </a:solidFill>
                <a:effectLst/>
                <a:latin typeface="+mn-lt"/>
                <a:ea typeface="+mn-ea"/>
                <a:cs typeface="+mn-cs"/>
              </a:rPr>
              <a:t>Bayesian Causal Forest (BCF)</a:t>
            </a:r>
            <a:r>
              <a:rPr lang="en-US" sz="1200" b="0" u="none" strike="noStrike" kern="1200" dirty="0">
                <a:solidFill>
                  <a:schemeClr val="tx1"/>
                </a:solidFill>
                <a:effectLst/>
                <a:latin typeface="+mn-lt"/>
                <a:ea typeface="+mn-ea"/>
                <a:cs typeface="+mn-cs"/>
              </a:rPr>
              <a:t> model is a machine learning method used to estimate </a:t>
            </a:r>
            <a:r>
              <a:rPr lang="en-US" sz="1200" b="1" u="none" strike="noStrike" kern="1200" dirty="0">
                <a:solidFill>
                  <a:schemeClr val="tx1"/>
                </a:solidFill>
                <a:effectLst/>
                <a:latin typeface="+mn-lt"/>
                <a:ea typeface="+mn-ea"/>
                <a:cs typeface="+mn-cs"/>
              </a:rPr>
              <a:t>Heterogeneous Treatment Effects</a:t>
            </a:r>
            <a:r>
              <a:rPr lang="en-US" sz="1200" b="0" u="none" strike="noStrike" kern="1200" dirty="0">
                <a:solidFill>
                  <a:schemeClr val="tx1"/>
                </a:solidFill>
                <a:effectLst/>
                <a:latin typeface="+mn-lt"/>
                <a:ea typeface="+mn-ea"/>
                <a:cs typeface="+mn-cs"/>
              </a:rPr>
              <a:t> (HTE) from observational or experimental data. It separates the baseline outcome prediction from the causal effect itself, preventing bias and providing rigorous uncertainty estimates.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3</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6"/>
              </a:rPr>
              <a:t>4</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7"/>
              </a:rPr>
              <a:t>5</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Here is the step-by-step breakdown of how the BCF model works:</a:t>
            </a:r>
          </a:p>
          <a:p>
            <a:r>
              <a:rPr lang="en-US" sz="1200" b="1" u="none" strike="noStrike" kern="1200" dirty="0">
                <a:solidFill>
                  <a:schemeClr val="tx1"/>
                </a:solidFill>
                <a:effectLst/>
                <a:latin typeface="+mn-lt"/>
                <a:ea typeface="+mn-ea"/>
                <a:cs typeface="+mn-cs"/>
              </a:rPr>
              <a:t>1. Model Formulation and Decomposition</a:t>
            </a:r>
          </a:p>
          <a:p>
            <a:r>
              <a:rPr lang="en-US" sz="1200" b="0" u="none" strike="noStrike" kern="1200" dirty="0">
                <a:solidFill>
                  <a:schemeClr val="tx1"/>
                </a:solidFill>
                <a:effectLst/>
                <a:latin typeface="+mn-lt"/>
                <a:ea typeface="+mn-ea"/>
                <a:cs typeface="+mn-cs"/>
              </a:rPr>
              <a:t>BCF starts by splitting the observed outcome (\(Y_{</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for individual (\(</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into two distinct, additive parts:</a:t>
            </a:r>
            <a:br>
              <a:rPr lang="en-US" sz="1200" b="0" u="none" strike="noStrike" kern="1200" dirty="0">
                <a:solidFill>
                  <a:schemeClr val="tx1"/>
                </a:solidFill>
                <a:effectLst/>
                <a:latin typeface="+mn-lt"/>
                <a:ea typeface="+mn-ea"/>
                <a:cs typeface="+mn-cs"/>
              </a:rPr>
            </a:br>
            <a:r>
              <a:rPr lang="en-US" sz="1200" b="0" u="none" strike="noStrike" kern="1200" dirty="0">
                <a:solidFill>
                  <a:schemeClr val="tx1"/>
                </a:solidFill>
                <a:effectLst/>
                <a:latin typeface="+mn-lt"/>
                <a:ea typeface="+mn-ea"/>
                <a:cs typeface="+mn-cs"/>
              </a:rPr>
              <a:t>\(</a:t>
            </a:r>
            <a:r>
              <a:rPr lang="en-US" sz="1200" b="0" u="none" strike="noStrike" kern="1200" dirty="0" err="1">
                <a:solidFill>
                  <a:schemeClr val="tx1"/>
                </a:solidFill>
                <a:effectLst/>
                <a:latin typeface="+mn-lt"/>
                <a:ea typeface="+mn-ea"/>
                <a:cs typeface="+mn-cs"/>
              </a:rPr>
              <a:t>Y_i</a:t>
            </a:r>
            <a:r>
              <a:rPr lang="en-US" sz="1200" b="0" u="none" strike="noStrike" kern="1200" dirty="0">
                <a:solidFill>
                  <a:schemeClr val="tx1"/>
                </a:solidFill>
                <a:effectLst/>
                <a:latin typeface="+mn-lt"/>
                <a:ea typeface="+mn-ea"/>
                <a:cs typeface="+mn-cs"/>
              </a:rPr>
              <a:t> = \mu(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 \tau(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cdot</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W_i</a:t>
            </a:r>
            <a:r>
              <a:rPr lang="en-US" sz="1200" b="0" u="none" strike="noStrike" kern="1200" dirty="0">
                <a:solidFill>
                  <a:schemeClr val="tx1"/>
                </a:solidFill>
                <a:effectLst/>
                <a:latin typeface="+mn-lt"/>
                <a:ea typeface="+mn-ea"/>
                <a:cs typeface="+mn-cs"/>
              </a:rPr>
              <a:t> + \</a:t>
            </a:r>
            <a:r>
              <a:rPr lang="en-US" sz="1200" b="0" u="none" strike="noStrike" kern="1200" dirty="0" err="1">
                <a:solidFill>
                  <a:schemeClr val="tx1"/>
                </a:solidFill>
                <a:effectLst/>
                <a:latin typeface="+mn-lt"/>
                <a:ea typeface="+mn-ea"/>
                <a:cs typeface="+mn-cs"/>
              </a:rPr>
              <a:t>epsilon_i</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\(Y_{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observed outcome.</a:t>
            </a:r>
          </a:p>
          <a:p>
            <a:r>
              <a:rPr lang="en-US" sz="1200" b="1" u="none" strike="noStrike" kern="1200" dirty="0">
                <a:solidFill>
                  <a:schemeClr val="tx1"/>
                </a:solidFill>
                <a:effectLst/>
                <a:latin typeface="+mn-lt"/>
                <a:ea typeface="+mn-ea"/>
                <a:cs typeface="+mn-cs"/>
              </a:rPr>
              <a:t>\(X_{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vector of baseline covariates (control variables).</a:t>
            </a:r>
          </a:p>
          <a:p>
            <a:r>
              <a:rPr lang="en-US" sz="1200" b="1" u="none" strike="noStrike" kern="1200" dirty="0">
                <a:solidFill>
                  <a:schemeClr val="tx1"/>
                </a:solidFill>
                <a:effectLst/>
                <a:latin typeface="+mn-lt"/>
                <a:ea typeface="+mn-ea"/>
                <a:cs typeface="+mn-cs"/>
              </a:rPr>
              <a:t>\(W_{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treatment assignment indicator (\(1\) for treated, \(0\) for control).</a:t>
            </a:r>
          </a:p>
          <a:p>
            <a:r>
              <a:rPr lang="en-US" sz="1200" b="1" u="none" strike="noStrike" kern="1200" dirty="0">
                <a:solidFill>
                  <a:schemeClr val="tx1"/>
                </a:solidFill>
                <a:effectLst/>
                <a:latin typeface="+mn-lt"/>
                <a:ea typeface="+mn-ea"/>
                <a:cs typeface="+mn-cs"/>
              </a:rPr>
              <a:t>\(\mu(</a:t>
            </a:r>
            <a:r>
              <a:rPr lang="en-US" sz="1200" b="1" u="none" strike="noStrike" kern="1200" dirty="0" err="1">
                <a:solidFill>
                  <a:schemeClr val="tx1"/>
                </a:solidFill>
                <a:effectLst/>
                <a:latin typeface="+mn-lt"/>
                <a:ea typeface="+mn-ea"/>
                <a:cs typeface="+mn-cs"/>
              </a:rPr>
              <a:t>X_i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a:t>
            </a:r>
            <a:r>
              <a:rPr lang="en-US" sz="1200" b="0" i="1" u="none" strike="noStrike" kern="1200" dirty="0">
                <a:solidFill>
                  <a:schemeClr val="tx1"/>
                </a:solidFill>
                <a:effectLst/>
                <a:latin typeface="+mn-lt"/>
                <a:ea typeface="+mn-ea"/>
                <a:cs typeface="+mn-cs"/>
              </a:rPr>
              <a:t>prognostic function</a:t>
            </a:r>
            <a:r>
              <a:rPr lang="en-US" sz="1200" b="0" u="none" strike="noStrike" kern="1200" dirty="0">
                <a:solidFill>
                  <a:schemeClr val="tx1"/>
                </a:solidFill>
                <a:effectLst/>
                <a:latin typeface="+mn-lt"/>
                <a:ea typeface="+mn-ea"/>
                <a:cs typeface="+mn-cs"/>
              </a:rPr>
              <a:t> (baseline outcome for untreated individuals).</a:t>
            </a:r>
          </a:p>
          <a:p>
            <a:r>
              <a:rPr lang="en-US" sz="1200" b="1" u="none" strike="noStrike" kern="1200" dirty="0">
                <a:solidFill>
                  <a:schemeClr val="tx1"/>
                </a:solidFill>
                <a:effectLst/>
                <a:latin typeface="+mn-lt"/>
                <a:ea typeface="+mn-ea"/>
                <a:cs typeface="+mn-cs"/>
              </a:rPr>
              <a:t>\(\tau(</a:t>
            </a:r>
            <a:r>
              <a:rPr lang="en-US" sz="1200" b="1" u="none" strike="noStrike" kern="1200" dirty="0" err="1">
                <a:solidFill>
                  <a:schemeClr val="tx1"/>
                </a:solidFill>
                <a:effectLst/>
                <a:latin typeface="+mn-lt"/>
                <a:ea typeface="+mn-ea"/>
                <a:cs typeface="+mn-cs"/>
              </a:rPr>
              <a:t>X_i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a:t>
            </a:r>
            <a:r>
              <a:rPr lang="en-US" sz="1200" b="0" i="1" u="none" strike="noStrike" kern="1200" dirty="0">
                <a:solidFill>
                  <a:schemeClr val="tx1"/>
                </a:solidFill>
                <a:effectLst/>
                <a:latin typeface="+mn-lt"/>
                <a:ea typeface="+mn-ea"/>
                <a:cs typeface="+mn-cs"/>
              </a:rPr>
              <a:t>treatment effect function</a:t>
            </a:r>
            <a:r>
              <a:rPr lang="en-US" sz="1200" b="0" u="none" strike="noStrike" kern="1200" dirty="0">
                <a:solidFill>
                  <a:schemeClr val="tx1"/>
                </a:solidFill>
                <a:effectLst/>
                <a:latin typeface="+mn-lt"/>
                <a:ea typeface="+mn-ea"/>
                <a:cs typeface="+mn-cs"/>
              </a:rPr>
              <a:t> (Conditional Average Treatment Effect - CATE).</a:t>
            </a:r>
          </a:p>
          <a:p>
            <a:r>
              <a:rPr lang="en-US" sz="1200" b="1" u="none" strike="noStrike" kern="1200" dirty="0">
                <a:solidFill>
                  <a:schemeClr val="tx1"/>
                </a:solidFill>
                <a:effectLst/>
                <a:latin typeface="+mn-lt"/>
                <a:ea typeface="+mn-ea"/>
                <a:cs typeface="+mn-cs"/>
              </a:rPr>
              <a:t>\(\epsilon 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Normally distributed random error term (\(N(0, \sigma^2)\)). [</a:t>
            </a:r>
            <a:r>
              <a:rPr lang="en-US" sz="1200" b="0" u="none" strike="noStrike" kern="1200" dirty="0">
                <a:solidFill>
                  <a:schemeClr val="tx1"/>
                </a:solidFill>
                <a:effectLst/>
                <a:latin typeface="+mn-lt"/>
                <a:ea typeface="+mn-ea"/>
                <a:cs typeface="+mn-cs"/>
                <a:hlinkClick r:id="rId9"/>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0"/>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1"/>
              </a:rPr>
              <a:t>3</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4</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5</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2. Propensity Score Estimation</a:t>
            </a:r>
          </a:p>
          <a:p>
            <a:r>
              <a:rPr lang="en-US" sz="1200" b="0" u="none" strike="noStrike" kern="1200" dirty="0">
                <a:solidFill>
                  <a:schemeClr val="tx1"/>
                </a:solidFill>
                <a:effectLst/>
                <a:latin typeface="+mn-lt"/>
                <a:ea typeface="+mn-ea"/>
                <a:cs typeface="+mn-cs"/>
              </a:rPr>
              <a:t>Before fitting the tree ensembles, BCF usually requires an estimate of the </a:t>
            </a:r>
            <a:r>
              <a:rPr lang="en-US" sz="1200" b="1" u="none" strike="noStrike" kern="1200" dirty="0">
                <a:solidFill>
                  <a:schemeClr val="tx1"/>
                </a:solidFill>
                <a:effectLst/>
                <a:latin typeface="+mn-lt"/>
                <a:ea typeface="+mn-ea"/>
                <a:cs typeface="+mn-cs"/>
              </a:rPr>
              <a:t>propensity score</a:t>
            </a:r>
            <a:r>
              <a:rPr lang="en-US" sz="1200" b="0" u="none" strike="noStrike" kern="1200" dirty="0">
                <a:solidFill>
                  <a:schemeClr val="tx1"/>
                </a:solidFill>
                <a:effectLst/>
                <a:latin typeface="+mn-lt"/>
                <a:ea typeface="+mn-ea"/>
                <a:cs typeface="+mn-cs"/>
              </a:rPr>
              <a:t>, \(\hat{\pi}(</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which is the probability that an individual receives the treatment based on their covariates (\(X_{</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3</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This is typically calculated using a separate model (such as logistic regression or a random forest) prior to running the main BCF algorithm. [</a:t>
            </a:r>
            <a:r>
              <a:rPr lang="en-US" sz="1200" b="0" u="none" strike="noStrike" kern="1200" dirty="0">
                <a:solidFill>
                  <a:schemeClr val="tx1"/>
                </a:solidFill>
                <a:effectLst/>
                <a:latin typeface="+mn-lt"/>
                <a:ea typeface="+mn-ea"/>
                <a:cs typeface="+mn-cs"/>
                <a:hlinkClick r:id="rId12"/>
              </a:rPr>
              <a:t>1</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3. Incorporating the Propensity Score into the Baseline</a:t>
            </a:r>
          </a:p>
          <a:p>
            <a:r>
              <a:rPr lang="en-US" sz="1200" b="0" u="none" strike="noStrike" kern="1200" dirty="0">
                <a:solidFill>
                  <a:schemeClr val="tx1"/>
                </a:solidFill>
                <a:effectLst/>
                <a:latin typeface="+mn-lt"/>
                <a:ea typeface="+mn-ea"/>
                <a:cs typeface="+mn-cs"/>
              </a:rPr>
              <a:t>Unlike traditional Bayesian Additive Regression Trees (BART), BCF implicitly includes the estimated propensity score as a covariate in the prognostic function \(\mu(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\hat{\pi}_</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9"/>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2</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This step acts as a powerful confounding control, ensuring that differences in baseline characteristics between treatment groups are properly adjusted, thus preventing regularization-induced bias.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4. Separate Tree Ensembles (BART Priors)</a:t>
            </a:r>
          </a:p>
          <a:p>
            <a:r>
              <a:rPr lang="en-US" sz="1200" b="0" u="none" strike="noStrike" kern="1200" dirty="0">
                <a:solidFill>
                  <a:schemeClr val="tx1"/>
                </a:solidFill>
                <a:effectLst/>
                <a:latin typeface="+mn-lt"/>
                <a:ea typeface="+mn-ea"/>
                <a:cs typeface="+mn-cs"/>
              </a:rPr>
              <a:t>BCF fits separate </a:t>
            </a:r>
            <a:r>
              <a:rPr lang="en-US" sz="1200" b="1" u="none" strike="noStrike" kern="1200" dirty="0">
                <a:solidFill>
                  <a:schemeClr val="tx1"/>
                </a:solidFill>
                <a:effectLst/>
                <a:latin typeface="+mn-lt"/>
                <a:ea typeface="+mn-ea"/>
                <a:cs typeface="+mn-cs"/>
              </a:rPr>
              <a:t>BART</a:t>
            </a:r>
            <a:r>
              <a:rPr lang="en-US" sz="1200" b="0" u="none" strike="noStrike" kern="1200" dirty="0">
                <a:solidFill>
                  <a:schemeClr val="tx1"/>
                </a:solidFill>
                <a:effectLst/>
                <a:latin typeface="+mn-lt"/>
                <a:ea typeface="+mn-ea"/>
                <a:cs typeface="+mn-cs"/>
              </a:rPr>
              <a:t> (Bayesian Additive Regression Trees) ensembles for both the prognostic function (\(\mu \)) and the treatment effect function (\(\tau \)): [</a:t>
            </a:r>
            <a:r>
              <a:rPr lang="en-US" sz="1200" b="0" u="none" strike="noStrike" kern="1200" dirty="0">
                <a:solidFill>
                  <a:schemeClr val="tx1"/>
                </a:solidFill>
                <a:effectLst/>
                <a:latin typeface="+mn-lt"/>
                <a:ea typeface="+mn-ea"/>
                <a:cs typeface="+mn-cs"/>
                <a:hlinkClick r:id="rId1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3</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4</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Prognostic Tree Ensemble (\(\mu \))</a:t>
            </a:r>
            <a:r>
              <a:rPr lang="en-US" sz="1200" b="0" u="none" strike="noStrike" kern="1200" dirty="0">
                <a:solidFill>
                  <a:schemeClr val="tx1"/>
                </a:solidFill>
                <a:effectLst/>
                <a:latin typeface="+mn-lt"/>
                <a:ea typeface="+mn-ea"/>
                <a:cs typeface="+mn-cs"/>
              </a:rPr>
              <a:t>: Learns how the baseline variables affect the overall outcome.</a:t>
            </a:r>
          </a:p>
          <a:p>
            <a:r>
              <a:rPr lang="en-US" sz="1200" b="1" u="none" strike="noStrike" kern="1200" dirty="0">
                <a:solidFill>
                  <a:schemeClr val="tx1"/>
                </a:solidFill>
                <a:effectLst/>
                <a:latin typeface="+mn-lt"/>
                <a:ea typeface="+mn-ea"/>
                <a:cs typeface="+mn-cs"/>
              </a:rPr>
              <a:t>Treatment Effect Tree Ensemble (\(\tau \))</a:t>
            </a:r>
            <a:r>
              <a:rPr lang="en-US" sz="1200" b="0" u="none" strike="noStrike" kern="1200" dirty="0">
                <a:solidFill>
                  <a:schemeClr val="tx1"/>
                </a:solidFill>
                <a:effectLst/>
                <a:latin typeface="+mn-lt"/>
                <a:ea typeface="+mn-ea"/>
                <a:cs typeface="+mn-cs"/>
              </a:rPr>
              <a:t>: Learns how the treatment effect varies across different subgroups of covariates.</a:t>
            </a:r>
          </a:p>
          <a:p>
            <a:r>
              <a:rPr lang="en-US" sz="1200" b="0" u="none" strike="noStrike" kern="1200" dirty="0">
                <a:solidFill>
                  <a:schemeClr val="tx1"/>
                </a:solidFill>
                <a:effectLst/>
                <a:latin typeface="+mn-lt"/>
                <a:ea typeface="+mn-ea"/>
                <a:cs typeface="+mn-cs"/>
              </a:rPr>
              <a:t>By enforcing separate Bayesian priors, the model can apply stricter regularization to the treatment effect, allowing the model to shrink estimates towards a homogeneous effect if data is sparse.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4"/>
              </a:rPr>
              <a:t>3</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5. Markov Chain Monte Carlo (MCMC) Sampling</a:t>
            </a:r>
          </a:p>
          <a:p>
            <a:r>
              <a:rPr lang="en-US" sz="1200" b="0" u="none" strike="noStrike" kern="1200" dirty="0">
                <a:solidFill>
                  <a:schemeClr val="tx1"/>
                </a:solidFill>
                <a:effectLst/>
                <a:latin typeface="+mn-lt"/>
                <a:ea typeface="+mn-ea"/>
                <a:cs typeface="+mn-cs"/>
              </a:rPr>
              <a:t>BCF uses an MCMC algorithm (specifically, </a:t>
            </a:r>
            <a:r>
              <a:rPr lang="en-US" sz="1200" b="0" u="none" strike="noStrike" kern="1200" dirty="0" err="1">
                <a:solidFill>
                  <a:schemeClr val="tx1"/>
                </a:solidFill>
                <a:effectLst/>
                <a:latin typeface="+mn-lt"/>
                <a:ea typeface="+mn-ea"/>
                <a:cs typeface="+mn-cs"/>
              </a:rPr>
              <a:t>blockwise</a:t>
            </a:r>
            <a:r>
              <a:rPr lang="en-US" sz="1200" b="0" u="none" strike="noStrike" kern="1200" dirty="0">
                <a:solidFill>
                  <a:schemeClr val="tx1"/>
                </a:solidFill>
                <a:effectLst/>
                <a:latin typeface="+mn-lt"/>
                <a:ea typeface="+mn-ea"/>
                <a:cs typeface="+mn-cs"/>
              </a:rPr>
              <a:t> Bayesian </a:t>
            </a:r>
            <a:r>
              <a:rPr lang="en-US" sz="1200" b="0" u="none" strike="noStrike" kern="1200" dirty="0" err="1">
                <a:solidFill>
                  <a:schemeClr val="tx1"/>
                </a:solidFill>
                <a:effectLst/>
                <a:latin typeface="+mn-lt"/>
                <a:ea typeface="+mn-ea"/>
                <a:cs typeface="+mn-cs"/>
              </a:rPr>
              <a:t>backfitting</a:t>
            </a:r>
            <a:r>
              <a:rPr lang="en-US" sz="1200" b="0" u="none" strike="noStrike" kern="1200" dirty="0">
                <a:solidFill>
                  <a:schemeClr val="tx1"/>
                </a:solidFill>
                <a:effectLst/>
                <a:latin typeface="+mn-lt"/>
                <a:ea typeface="+mn-ea"/>
                <a:cs typeface="+mn-cs"/>
              </a:rPr>
              <a:t>) to estimate the parameters iteratively: [</a:t>
            </a:r>
            <a:r>
              <a:rPr lang="en-US" sz="1200" b="0" u="none" strike="noStrike" kern="1200" dirty="0">
                <a:solidFill>
                  <a:schemeClr val="tx1"/>
                </a:solidFill>
                <a:effectLst/>
                <a:latin typeface="+mn-lt"/>
                <a:ea typeface="+mn-ea"/>
                <a:cs typeface="+mn-cs"/>
                <a:hlinkClick r:id="rId9"/>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5"/>
              </a:rPr>
              <a:t>3</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Step A</a:t>
            </a:r>
            <a:r>
              <a:rPr lang="en-US" sz="1200" b="0" u="none" strike="noStrike" kern="1200" dirty="0">
                <a:solidFill>
                  <a:schemeClr val="tx1"/>
                </a:solidFill>
                <a:effectLst/>
                <a:latin typeface="+mn-lt"/>
                <a:ea typeface="+mn-ea"/>
                <a:cs typeface="+mn-cs"/>
              </a:rPr>
              <a:t>: The algorithm updates the tree structures and leaf parameters for the prognostic forest (\(\mu \)) by holding the treatment effect forest (\(\tau \)) constant.</a:t>
            </a:r>
          </a:p>
          <a:p>
            <a:r>
              <a:rPr lang="en-US" sz="1200" b="1" u="none" strike="noStrike" kern="1200" dirty="0">
                <a:solidFill>
                  <a:schemeClr val="tx1"/>
                </a:solidFill>
                <a:effectLst/>
                <a:latin typeface="+mn-lt"/>
                <a:ea typeface="+mn-ea"/>
                <a:cs typeface="+mn-cs"/>
              </a:rPr>
              <a:t>Step B</a:t>
            </a:r>
            <a:r>
              <a:rPr lang="en-US" sz="1200" b="0" u="none" strike="noStrike" kern="1200" dirty="0">
                <a:solidFill>
                  <a:schemeClr val="tx1"/>
                </a:solidFill>
                <a:effectLst/>
                <a:latin typeface="+mn-lt"/>
                <a:ea typeface="+mn-ea"/>
                <a:cs typeface="+mn-cs"/>
              </a:rPr>
              <a:t>: It then updates the trees for the treatment effect forest (\(\tau \)) while holding the prognostic forest (\(\mu \)) constant.</a:t>
            </a:r>
          </a:p>
          <a:p>
            <a:r>
              <a:rPr lang="en-US" sz="1200" b="0" u="none" strike="noStrike" kern="1200" dirty="0">
                <a:solidFill>
                  <a:schemeClr val="tx1"/>
                </a:solidFill>
                <a:effectLst/>
                <a:latin typeface="+mn-lt"/>
                <a:ea typeface="+mn-ea"/>
                <a:cs typeface="+mn-cs"/>
              </a:rPr>
              <a:t>This iterative </a:t>
            </a:r>
            <a:r>
              <a:rPr lang="en-US" sz="1200" b="0" u="none" strike="noStrike" kern="1200" dirty="0" err="1">
                <a:solidFill>
                  <a:schemeClr val="tx1"/>
                </a:solidFill>
                <a:effectLst/>
                <a:latin typeface="+mn-lt"/>
                <a:ea typeface="+mn-ea"/>
                <a:cs typeface="+mn-cs"/>
              </a:rPr>
              <a:t>backfitting</a:t>
            </a:r>
            <a:r>
              <a:rPr lang="en-US" sz="1200" b="0" u="none" strike="noStrike" kern="1200" dirty="0">
                <a:solidFill>
                  <a:schemeClr val="tx1"/>
                </a:solidFill>
                <a:effectLst/>
                <a:latin typeface="+mn-lt"/>
                <a:ea typeface="+mn-ea"/>
                <a:cs typeface="+mn-cs"/>
              </a:rPr>
              <a:t> process generates thousands of posterior draws of the trees, which together construct the model and its uncertainty. [</a:t>
            </a:r>
            <a:r>
              <a:rPr lang="en-US" sz="1200" b="0" u="none" strike="noStrike" kern="1200" dirty="0">
                <a:solidFill>
                  <a:schemeClr val="tx1"/>
                </a:solidFill>
                <a:effectLst/>
                <a:latin typeface="+mn-lt"/>
                <a:ea typeface="+mn-ea"/>
                <a:cs typeface="+mn-cs"/>
                <a:hlinkClick r:id="rId16"/>
              </a:rPr>
              <a:t>1</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6. Posterior Inference and Uncertainty Quantification</a:t>
            </a:r>
          </a:p>
          <a:p>
            <a:r>
              <a:rPr lang="en-US" sz="1200" b="0" u="none" strike="noStrike" kern="1200" dirty="0">
                <a:solidFill>
                  <a:schemeClr val="tx1"/>
                </a:solidFill>
                <a:effectLst/>
                <a:latin typeface="+mn-lt"/>
                <a:ea typeface="+mn-ea"/>
                <a:cs typeface="+mn-cs"/>
              </a:rPr>
              <a:t>Instead of outputting a single point estimate, BCF yields a full posterior distribution for the causal effect. [</a:t>
            </a:r>
            <a:r>
              <a:rPr lang="en-US" sz="1200" b="0" u="none" strike="noStrike" kern="1200" dirty="0">
                <a:solidFill>
                  <a:schemeClr val="tx1"/>
                </a:solidFill>
                <a:effectLst/>
                <a:latin typeface="+mn-lt"/>
                <a:ea typeface="+mn-ea"/>
                <a:cs typeface="+mn-cs"/>
                <a:hlinkClick r:id="rId5"/>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7"/>
              </a:rPr>
              <a:t>2</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You can extract the Conditional Average Treatment Effect (CATE) for any individual \(</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by taking the average of the posterior draws of \(\tau(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Because it outputs a distribution, you can easily calculate </a:t>
            </a:r>
            <a:r>
              <a:rPr lang="en-US" sz="1200" b="1" u="none" strike="noStrike" kern="1200" dirty="0">
                <a:solidFill>
                  <a:schemeClr val="tx1"/>
                </a:solidFill>
                <a:effectLst/>
                <a:latin typeface="+mn-lt"/>
                <a:ea typeface="+mn-ea"/>
                <a:cs typeface="+mn-cs"/>
              </a:rPr>
              <a:t>credible intervals</a:t>
            </a:r>
            <a:r>
              <a:rPr lang="en-US" sz="1200" b="0" u="none" strike="noStrike" kern="1200" dirty="0">
                <a:solidFill>
                  <a:schemeClr val="tx1"/>
                </a:solidFill>
                <a:effectLst/>
                <a:latin typeface="+mn-lt"/>
                <a:ea typeface="+mn-ea"/>
                <a:cs typeface="+mn-cs"/>
              </a:rPr>
              <a:t> (e.g., 95% intervals) to quantify uncertainty natively. [</a:t>
            </a:r>
            <a:r>
              <a:rPr lang="en-US" sz="1200" b="0" u="none" strike="noStrike" kern="1200" dirty="0">
                <a:solidFill>
                  <a:schemeClr val="tx1"/>
                </a:solidFill>
                <a:effectLst/>
                <a:latin typeface="+mn-lt"/>
                <a:ea typeface="+mn-ea"/>
                <a:cs typeface="+mn-cs"/>
                <a:hlinkClick r:id="rId8"/>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8"/>
              </a:rPr>
              <a:t>4</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5</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If you are planning to implement this, let me know:</a:t>
            </a:r>
          </a:p>
          <a:p>
            <a:r>
              <a:rPr lang="en-US" sz="1200" b="0" u="none" strike="noStrike" kern="1200" dirty="0">
                <a:solidFill>
                  <a:schemeClr val="tx1"/>
                </a:solidFill>
                <a:effectLst/>
                <a:latin typeface="+mn-lt"/>
                <a:ea typeface="+mn-ea"/>
                <a:cs typeface="+mn-cs"/>
              </a:rPr>
              <a:t>What </a:t>
            </a:r>
            <a:r>
              <a:rPr lang="en-US" sz="1200" b="1" u="none" strike="noStrike" kern="1200" dirty="0">
                <a:solidFill>
                  <a:schemeClr val="tx1"/>
                </a:solidFill>
                <a:effectLst/>
                <a:latin typeface="+mn-lt"/>
                <a:ea typeface="+mn-ea"/>
                <a:cs typeface="+mn-cs"/>
              </a:rPr>
              <a:t>software or language</a:t>
            </a:r>
            <a:r>
              <a:rPr lang="en-US" sz="1200" b="0" u="none" strike="noStrike" kern="1200" dirty="0">
                <a:solidFill>
                  <a:schemeClr val="tx1"/>
                </a:solidFill>
                <a:effectLst/>
                <a:latin typeface="+mn-lt"/>
                <a:ea typeface="+mn-ea"/>
                <a:cs typeface="+mn-cs"/>
              </a:rPr>
              <a:t> you are using (e.g., R's </a:t>
            </a:r>
            <a:r>
              <a:rPr lang="en-US" sz="1200" b="0" u="none" strike="noStrike" kern="1200" dirty="0" err="1">
                <a:solidFill>
                  <a:schemeClr val="tx1"/>
                </a:solidFill>
                <a:effectLst/>
                <a:latin typeface="+mn-lt"/>
                <a:ea typeface="+mn-ea"/>
                <a:cs typeface="+mn-cs"/>
              </a:rPr>
              <a:t>bcf</a:t>
            </a:r>
            <a:r>
              <a:rPr lang="en-US" sz="1200" b="0" u="none" strike="noStrike" kern="1200" dirty="0">
                <a:solidFill>
                  <a:schemeClr val="tx1"/>
                </a:solidFill>
                <a:effectLst/>
                <a:latin typeface="+mn-lt"/>
                <a:ea typeface="+mn-ea"/>
                <a:cs typeface="+mn-cs"/>
              </a:rPr>
              <a:t> package or Python's </a:t>
            </a:r>
            <a:r>
              <a:rPr lang="en-US" sz="1200" b="0" u="none" strike="noStrike" kern="1200" dirty="0" err="1">
                <a:solidFill>
                  <a:schemeClr val="tx1"/>
                </a:solidFill>
                <a:effectLst/>
                <a:latin typeface="+mn-lt"/>
                <a:ea typeface="+mn-ea"/>
                <a:cs typeface="+mn-cs"/>
              </a:rPr>
              <a:t>stochtree</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Whether your treatment is </a:t>
            </a:r>
            <a:r>
              <a:rPr lang="en-US" sz="1200" b="1" u="none" strike="noStrike" kern="1200" dirty="0">
                <a:solidFill>
                  <a:schemeClr val="tx1"/>
                </a:solidFill>
                <a:effectLst/>
                <a:latin typeface="+mn-lt"/>
                <a:ea typeface="+mn-ea"/>
                <a:cs typeface="+mn-cs"/>
              </a:rPr>
              <a:t>binary or continuous</a:t>
            </a:r>
            <a:endParaRPr lang="en-US" sz="1200" b="0" u="none" strike="noStrike" kern="1200" dirty="0">
              <a:solidFill>
                <a:schemeClr val="tx1"/>
              </a:solidFill>
              <a:effectLst/>
              <a:latin typeface="+mn-lt"/>
              <a:ea typeface="+mn-ea"/>
              <a:cs typeface="+mn-cs"/>
            </a:endParaRPr>
          </a:p>
          <a:p>
            <a:r>
              <a:rPr lang="en-US" sz="1200" b="0" u="none" strike="noStrike" kern="1200" dirty="0">
                <a:solidFill>
                  <a:schemeClr val="tx1"/>
                </a:solidFill>
                <a:effectLst/>
                <a:latin typeface="+mn-lt"/>
                <a:ea typeface="+mn-ea"/>
                <a:cs typeface="+mn-cs"/>
              </a:rPr>
              <a:t>If you want to know how to </a:t>
            </a:r>
            <a:r>
              <a:rPr lang="en-US" sz="1200" b="1" u="none" strike="noStrike" kern="1200" dirty="0">
                <a:solidFill>
                  <a:schemeClr val="tx1"/>
                </a:solidFill>
                <a:effectLst/>
                <a:latin typeface="+mn-lt"/>
                <a:ea typeface="+mn-ea"/>
                <a:cs typeface="+mn-cs"/>
              </a:rPr>
              <a:t>interpret the outputted CATE</a:t>
            </a:r>
            <a:endParaRPr lang="en-US" sz="1200" b="0" u="none" strike="noStrike" kern="1200" dirty="0">
              <a:solidFill>
                <a:schemeClr val="tx1"/>
              </a:solidFill>
              <a:effectLst/>
              <a:latin typeface="+mn-lt"/>
              <a:ea typeface="+mn-ea"/>
              <a:cs typeface="+mn-cs"/>
            </a:endParaRPr>
          </a:p>
          <a:p>
            <a:r>
              <a:rPr lang="en-US" sz="1200" b="0" u="none" strike="noStrike" kern="1200" dirty="0">
                <a:solidFill>
                  <a:schemeClr val="tx1"/>
                </a:solidFill>
                <a:effectLst/>
                <a:latin typeface="+mn-lt"/>
                <a:ea typeface="+mn-ea"/>
                <a:cs typeface="+mn-cs"/>
              </a:rPr>
              <a:t>I can give you the specific code or analysis steps tailored to your environment.</a:t>
            </a:r>
          </a:p>
          <a:p>
            <a:pPr>
              <a:defRPr/>
            </a:pPr>
            <a:endParaRPr lang="de-DE" dirty="0"/>
          </a:p>
        </p:txBody>
      </p:sp>
      <p:sp>
        <p:nvSpPr>
          <p:cNvPr id="1416629939" name="Foliennummernplatzhalt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057F9-B2ED-4B9D-B0F2-D3AD44C3FAB4}" type="slidenum">
              <a:rPr kumimoji="0" lang="de-DE"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344239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28984289" name="Folienbildplatzhalter 1"/>
          <p:cNvSpPr>
            <a:spLocks noGrp="1" noRot="1" noChangeAspect="1"/>
          </p:cNvSpPr>
          <p:nvPr>
            <p:ph type="sldImg"/>
          </p:nvPr>
        </p:nvSpPr>
        <p:spPr bwMode="auto"/>
      </p:sp>
      <p:sp>
        <p:nvSpPr>
          <p:cNvPr id="1667454889" name="Notizenplatzhalter 2"/>
          <p:cNvSpPr>
            <a:spLocks noGrp="1"/>
          </p:cNvSpPr>
          <p:nvPr>
            <p:ph type="body" idx="1"/>
          </p:nvPr>
        </p:nvSpPr>
        <p:spPr bwMode="auto"/>
        <p:txBody>
          <a:bodyPr/>
          <a:lstStyle/>
          <a:p>
            <a:r>
              <a:rPr lang="en-US" sz="1200" b="0" u="none" strike="noStrike" kern="1200" dirty="0">
                <a:solidFill>
                  <a:schemeClr val="tx1"/>
                </a:solidFill>
                <a:effectLst/>
                <a:latin typeface="+mn-lt"/>
                <a:ea typeface="+mn-ea"/>
                <a:cs typeface="+mn-cs"/>
              </a:rPr>
              <a:t>A </a:t>
            </a:r>
            <a:r>
              <a:rPr lang="en-US" sz="1200" b="1" u="none" strike="noStrike" kern="1200" dirty="0">
                <a:solidFill>
                  <a:schemeClr val="tx1"/>
                </a:solidFill>
                <a:effectLst/>
                <a:latin typeface="+mn-lt"/>
                <a:ea typeface="+mn-ea"/>
                <a:cs typeface="+mn-cs"/>
              </a:rPr>
              <a:t>Bayesian Causal Forest (BCF)</a:t>
            </a:r>
            <a:r>
              <a:rPr lang="en-US" sz="1200" b="0" u="none" strike="noStrike" kern="1200" dirty="0">
                <a:solidFill>
                  <a:schemeClr val="tx1"/>
                </a:solidFill>
                <a:effectLst/>
                <a:latin typeface="+mn-lt"/>
                <a:ea typeface="+mn-ea"/>
                <a:cs typeface="+mn-cs"/>
              </a:rPr>
              <a:t> model is a machine learning method used to estimate </a:t>
            </a:r>
            <a:r>
              <a:rPr lang="en-US" sz="1200" b="1" u="none" strike="noStrike" kern="1200" dirty="0">
                <a:solidFill>
                  <a:schemeClr val="tx1"/>
                </a:solidFill>
                <a:effectLst/>
                <a:latin typeface="+mn-lt"/>
                <a:ea typeface="+mn-ea"/>
                <a:cs typeface="+mn-cs"/>
              </a:rPr>
              <a:t>Heterogeneous Treatment Effects</a:t>
            </a:r>
            <a:r>
              <a:rPr lang="en-US" sz="1200" b="0" u="none" strike="noStrike" kern="1200" dirty="0">
                <a:solidFill>
                  <a:schemeClr val="tx1"/>
                </a:solidFill>
                <a:effectLst/>
                <a:latin typeface="+mn-lt"/>
                <a:ea typeface="+mn-ea"/>
                <a:cs typeface="+mn-cs"/>
              </a:rPr>
              <a:t> (HTE) from observational or experimental data. It separates the baseline outcome prediction from the causal effect itself, preventing bias and providing rigorous uncertainty estimates.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3</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6"/>
              </a:rPr>
              <a:t>4</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7"/>
              </a:rPr>
              <a:t>5</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Here is the step-by-step breakdown of how the BCF model works:</a:t>
            </a:r>
          </a:p>
          <a:p>
            <a:r>
              <a:rPr lang="en-US" sz="1200" b="1" u="none" strike="noStrike" kern="1200" dirty="0">
                <a:solidFill>
                  <a:schemeClr val="tx1"/>
                </a:solidFill>
                <a:effectLst/>
                <a:latin typeface="+mn-lt"/>
                <a:ea typeface="+mn-ea"/>
                <a:cs typeface="+mn-cs"/>
              </a:rPr>
              <a:t>1. Model Formulation and Decomposition</a:t>
            </a:r>
          </a:p>
          <a:p>
            <a:r>
              <a:rPr lang="en-US" sz="1200" b="0" u="none" strike="noStrike" kern="1200" dirty="0">
                <a:solidFill>
                  <a:schemeClr val="tx1"/>
                </a:solidFill>
                <a:effectLst/>
                <a:latin typeface="+mn-lt"/>
                <a:ea typeface="+mn-ea"/>
                <a:cs typeface="+mn-cs"/>
              </a:rPr>
              <a:t>BCF starts by splitting the observed outcome (\(Y_{</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for individual (\(</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into two distinct, additive parts:</a:t>
            </a:r>
            <a:br>
              <a:rPr lang="en-US" sz="1200" b="0" u="none" strike="noStrike" kern="1200" dirty="0">
                <a:solidFill>
                  <a:schemeClr val="tx1"/>
                </a:solidFill>
                <a:effectLst/>
                <a:latin typeface="+mn-lt"/>
                <a:ea typeface="+mn-ea"/>
                <a:cs typeface="+mn-cs"/>
              </a:rPr>
            </a:br>
            <a:r>
              <a:rPr lang="en-US" sz="1200" b="0" u="none" strike="noStrike" kern="1200" dirty="0">
                <a:solidFill>
                  <a:schemeClr val="tx1"/>
                </a:solidFill>
                <a:effectLst/>
                <a:latin typeface="+mn-lt"/>
                <a:ea typeface="+mn-ea"/>
                <a:cs typeface="+mn-cs"/>
              </a:rPr>
              <a:t>\(</a:t>
            </a:r>
            <a:r>
              <a:rPr lang="en-US" sz="1200" b="0" u="none" strike="noStrike" kern="1200" dirty="0" err="1">
                <a:solidFill>
                  <a:schemeClr val="tx1"/>
                </a:solidFill>
                <a:effectLst/>
                <a:latin typeface="+mn-lt"/>
                <a:ea typeface="+mn-ea"/>
                <a:cs typeface="+mn-cs"/>
              </a:rPr>
              <a:t>Y_i</a:t>
            </a:r>
            <a:r>
              <a:rPr lang="en-US" sz="1200" b="0" u="none" strike="noStrike" kern="1200" dirty="0">
                <a:solidFill>
                  <a:schemeClr val="tx1"/>
                </a:solidFill>
                <a:effectLst/>
                <a:latin typeface="+mn-lt"/>
                <a:ea typeface="+mn-ea"/>
                <a:cs typeface="+mn-cs"/>
              </a:rPr>
              <a:t> = \mu(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 \tau(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cdot</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W_i</a:t>
            </a:r>
            <a:r>
              <a:rPr lang="en-US" sz="1200" b="0" u="none" strike="noStrike" kern="1200" dirty="0">
                <a:solidFill>
                  <a:schemeClr val="tx1"/>
                </a:solidFill>
                <a:effectLst/>
                <a:latin typeface="+mn-lt"/>
                <a:ea typeface="+mn-ea"/>
                <a:cs typeface="+mn-cs"/>
              </a:rPr>
              <a:t> + \</a:t>
            </a:r>
            <a:r>
              <a:rPr lang="en-US" sz="1200" b="0" u="none" strike="noStrike" kern="1200" dirty="0" err="1">
                <a:solidFill>
                  <a:schemeClr val="tx1"/>
                </a:solidFill>
                <a:effectLst/>
                <a:latin typeface="+mn-lt"/>
                <a:ea typeface="+mn-ea"/>
                <a:cs typeface="+mn-cs"/>
              </a:rPr>
              <a:t>epsilon_i</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\(Y_{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observed outcome.</a:t>
            </a:r>
          </a:p>
          <a:p>
            <a:r>
              <a:rPr lang="en-US" sz="1200" b="1" u="none" strike="noStrike" kern="1200" dirty="0">
                <a:solidFill>
                  <a:schemeClr val="tx1"/>
                </a:solidFill>
                <a:effectLst/>
                <a:latin typeface="+mn-lt"/>
                <a:ea typeface="+mn-ea"/>
                <a:cs typeface="+mn-cs"/>
              </a:rPr>
              <a:t>\(X_{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vector of baseline covariates (control variables).</a:t>
            </a:r>
          </a:p>
          <a:p>
            <a:r>
              <a:rPr lang="en-US" sz="1200" b="1" u="none" strike="noStrike" kern="1200" dirty="0">
                <a:solidFill>
                  <a:schemeClr val="tx1"/>
                </a:solidFill>
                <a:effectLst/>
                <a:latin typeface="+mn-lt"/>
                <a:ea typeface="+mn-ea"/>
                <a:cs typeface="+mn-cs"/>
              </a:rPr>
              <a:t>\(W_{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treatment assignment indicator (\(1\) for treated, \(0\) for control).</a:t>
            </a:r>
          </a:p>
          <a:p>
            <a:r>
              <a:rPr lang="en-US" sz="1200" b="1" u="none" strike="noStrike" kern="1200" dirty="0">
                <a:solidFill>
                  <a:schemeClr val="tx1"/>
                </a:solidFill>
                <a:effectLst/>
                <a:latin typeface="+mn-lt"/>
                <a:ea typeface="+mn-ea"/>
                <a:cs typeface="+mn-cs"/>
              </a:rPr>
              <a:t>\(\mu(</a:t>
            </a:r>
            <a:r>
              <a:rPr lang="en-US" sz="1200" b="1" u="none" strike="noStrike" kern="1200" dirty="0" err="1">
                <a:solidFill>
                  <a:schemeClr val="tx1"/>
                </a:solidFill>
                <a:effectLst/>
                <a:latin typeface="+mn-lt"/>
                <a:ea typeface="+mn-ea"/>
                <a:cs typeface="+mn-cs"/>
              </a:rPr>
              <a:t>X_i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a:t>
            </a:r>
            <a:r>
              <a:rPr lang="en-US" sz="1200" b="0" i="1" u="none" strike="noStrike" kern="1200" dirty="0">
                <a:solidFill>
                  <a:schemeClr val="tx1"/>
                </a:solidFill>
                <a:effectLst/>
                <a:latin typeface="+mn-lt"/>
                <a:ea typeface="+mn-ea"/>
                <a:cs typeface="+mn-cs"/>
              </a:rPr>
              <a:t>prognostic function</a:t>
            </a:r>
            <a:r>
              <a:rPr lang="en-US" sz="1200" b="0" u="none" strike="noStrike" kern="1200" dirty="0">
                <a:solidFill>
                  <a:schemeClr val="tx1"/>
                </a:solidFill>
                <a:effectLst/>
                <a:latin typeface="+mn-lt"/>
                <a:ea typeface="+mn-ea"/>
                <a:cs typeface="+mn-cs"/>
              </a:rPr>
              <a:t> (baseline outcome for untreated individuals).</a:t>
            </a:r>
          </a:p>
          <a:p>
            <a:r>
              <a:rPr lang="en-US" sz="1200" b="1" u="none" strike="noStrike" kern="1200" dirty="0">
                <a:solidFill>
                  <a:schemeClr val="tx1"/>
                </a:solidFill>
                <a:effectLst/>
                <a:latin typeface="+mn-lt"/>
                <a:ea typeface="+mn-ea"/>
                <a:cs typeface="+mn-cs"/>
              </a:rPr>
              <a:t>\(\tau(</a:t>
            </a:r>
            <a:r>
              <a:rPr lang="en-US" sz="1200" b="1" u="none" strike="noStrike" kern="1200" dirty="0" err="1">
                <a:solidFill>
                  <a:schemeClr val="tx1"/>
                </a:solidFill>
                <a:effectLst/>
                <a:latin typeface="+mn-lt"/>
                <a:ea typeface="+mn-ea"/>
                <a:cs typeface="+mn-cs"/>
              </a:rPr>
              <a:t>X_i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a:t>
            </a:r>
            <a:r>
              <a:rPr lang="en-US" sz="1200" b="0" i="1" u="none" strike="noStrike" kern="1200" dirty="0">
                <a:solidFill>
                  <a:schemeClr val="tx1"/>
                </a:solidFill>
                <a:effectLst/>
                <a:latin typeface="+mn-lt"/>
                <a:ea typeface="+mn-ea"/>
                <a:cs typeface="+mn-cs"/>
              </a:rPr>
              <a:t>treatment effect function</a:t>
            </a:r>
            <a:r>
              <a:rPr lang="en-US" sz="1200" b="0" u="none" strike="noStrike" kern="1200" dirty="0">
                <a:solidFill>
                  <a:schemeClr val="tx1"/>
                </a:solidFill>
                <a:effectLst/>
                <a:latin typeface="+mn-lt"/>
                <a:ea typeface="+mn-ea"/>
                <a:cs typeface="+mn-cs"/>
              </a:rPr>
              <a:t> (Conditional Average Treatment Effect - CATE).</a:t>
            </a:r>
          </a:p>
          <a:p>
            <a:r>
              <a:rPr lang="en-US" sz="1200" b="1" u="none" strike="noStrike" kern="1200" dirty="0">
                <a:solidFill>
                  <a:schemeClr val="tx1"/>
                </a:solidFill>
                <a:effectLst/>
                <a:latin typeface="+mn-lt"/>
                <a:ea typeface="+mn-ea"/>
                <a:cs typeface="+mn-cs"/>
              </a:rPr>
              <a:t>\(\epsilon 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Normally distributed random error term (\(N(0, \sigma^2)\)). [</a:t>
            </a:r>
            <a:r>
              <a:rPr lang="en-US" sz="1200" b="0" u="none" strike="noStrike" kern="1200" dirty="0">
                <a:solidFill>
                  <a:schemeClr val="tx1"/>
                </a:solidFill>
                <a:effectLst/>
                <a:latin typeface="+mn-lt"/>
                <a:ea typeface="+mn-ea"/>
                <a:cs typeface="+mn-cs"/>
                <a:hlinkClick r:id="rId9"/>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0"/>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1"/>
              </a:rPr>
              <a:t>3</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4</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5</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2. Propensity Score Estimation</a:t>
            </a:r>
          </a:p>
          <a:p>
            <a:r>
              <a:rPr lang="en-US" sz="1200" b="0" u="none" strike="noStrike" kern="1200" dirty="0">
                <a:solidFill>
                  <a:schemeClr val="tx1"/>
                </a:solidFill>
                <a:effectLst/>
                <a:latin typeface="+mn-lt"/>
                <a:ea typeface="+mn-ea"/>
                <a:cs typeface="+mn-cs"/>
              </a:rPr>
              <a:t>Before fitting the tree ensembles, BCF usually requires an estimate of the </a:t>
            </a:r>
            <a:r>
              <a:rPr lang="en-US" sz="1200" b="1" u="none" strike="noStrike" kern="1200" dirty="0">
                <a:solidFill>
                  <a:schemeClr val="tx1"/>
                </a:solidFill>
                <a:effectLst/>
                <a:latin typeface="+mn-lt"/>
                <a:ea typeface="+mn-ea"/>
                <a:cs typeface="+mn-cs"/>
              </a:rPr>
              <a:t>propensity score</a:t>
            </a:r>
            <a:r>
              <a:rPr lang="en-US" sz="1200" b="0" u="none" strike="noStrike" kern="1200" dirty="0">
                <a:solidFill>
                  <a:schemeClr val="tx1"/>
                </a:solidFill>
                <a:effectLst/>
                <a:latin typeface="+mn-lt"/>
                <a:ea typeface="+mn-ea"/>
                <a:cs typeface="+mn-cs"/>
              </a:rPr>
              <a:t>, \(\hat{\pi}(</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which is the probability that an individual receives the treatment based on their covariates (\(X_{</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3</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This is typically calculated using a separate model (such as logistic regression or a random forest) prior to running the main BCF algorithm. [</a:t>
            </a:r>
            <a:r>
              <a:rPr lang="en-US" sz="1200" b="0" u="none" strike="noStrike" kern="1200" dirty="0">
                <a:solidFill>
                  <a:schemeClr val="tx1"/>
                </a:solidFill>
                <a:effectLst/>
                <a:latin typeface="+mn-lt"/>
                <a:ea typeface="+mn-ea"/>
                <a:cs typeface="+mn-cs"/>
                <a:hlinkClick r:id="rId12"/>
              </a:rPr>
              <a:t>1</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3. Incorporating the Propensity Score into the Baseline</a:t>
            </a:r>
          </a:p>
          <a:p>
            <a:r>
              <a:rPr lang="en-US" sz="1200" b="0" u="none" strike="noStrike" kern="1200" dirty="0">
                <a:solidFill>
                  <a:schemeClr val="tx1"/>
                </a:solidFill>
                <a:effectLst/>
                <a:latin typeface="+mn-lt"/>
                <a:ea typeface="+mn-ea"/>
                <a:cs typeface="+mn-cs"/>
              </a:rPr>
              <a:t>Unlike traditional Bayesian Additive Regression Trees (BART), BCF implicitly includes the estimated propensity score as a covariate in the prognostic function \(\mu(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\hat{\pi}_</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9"/>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2</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This step acts as a powerful confounding control, ensuring that differences in baseline characteristics between treatment groups are properly adjusted, thus preventing regularization-induced bias.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4. Separate Tree Ensembles (BART Priors)</a:t>
            </a:r>
          </a:p>
          <a:p>
            <a:r>
              <a:rPr lang="en-US" sz="1200" b="0" u="none" strike="noStrike" kern="1200" dirty="0">
                <a:solidFill>
                  <a:schemeClr val="tx1"/>
                </a:solidFill>
                <a:effectLst/>
                <a:latin typeface="+mn-lt"/>
                <a:ea typeface="+mn-ea"/>
                <a:cs typeface="+mn-cs"/>
              </a:rPr>
              <a:t>BCF fits separate </a:t>
            </a:r>
            <a:r>
              <a:rPr lang="en-US" sz="1200" b="1" u="none" strike="noStrike" kern="1200" dirty="0">
                <a:solidFill>
                  <a:schemeClr val="tx1"/>
                </a:solidFill>
                <a:effectLst/>
                <a:latin typeface="+mn-lt"/>
                <a:ea typeface="+mn-ea"/>
                <a:cs typeface="+mn-cs"/>
              </a:rPr>
              <a:t>BART</a:t>
            </a:r>
            <a:r>
              <a:rPr lang="en-US" sz="1200" b="0" u="none" strike="noStrike" kern="1200" dirty="0">
                <a:solidFill>
                  <a:schemeClr val="tx1"/>
                </a:solidFill>
                <a:effectLst/>
                <a:latin typeface="+mn-lt"/>
                <a:ea typeface="+mn-ea"/>
                <a:cs typeface="+mn-cs"/>
              </a:rPr>
              <a:t> (Bayesian Additive Regression Trees) ensembles for both the prognostic function (\(\mu \)) and the treatment effect function (\(\tau \)): [</a:t>
            </a:r>
            <a:r>
              <a:rPr lang="en-US" sz="1200" b="0" u="none" strike="noStrike" kern="1200" dirty="0">
                <a:solidFill>
                  <a:schemeClr val="tx1"/>
                </a:solidFill>
                <a:effectLst/>
                <a:latin typeface="+mn-lt"/>
                <a:ea typeface="+mn-ea"/>
                <a:cs typeface="+mn-cs"/>
                <a:hlinkClick r:id="rId1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3</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4</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Prognostic Tree Ensemble (\(\mu \))</a:t>
            </a:r>
            <a:r>
              <a:rPr lang="en-US" sz="1200" b="0" u="none" strike="noStrike" kern="1200" dirty="0">
                <a:solidFill>
                  <a:schemeClr val="tx1"/>
                </a:solidFill>
                <a:effectLst/>
                <a:latin typeface="+mn-lt"/>
                <a:ea typeface="+mn-ea"/>
                <a:cs typeface="+mn-cs"/>
              </a:rPr>
              <a:t>: Learns how the baseline variables affect the overall outcome.</a:t>
            </a:r>
          </a:p>
          <a:p>
            <a:r>
              <a:rPr lang="en-US" sz="1200" b="1" u="none" strike="noStrike" kern="1200" dirty="0">
                <a:solidFill>
                  <a:schemeClr val="tx1"/>
                </a:solidFill>
                <a:effectLst/>
                <a:latin typeface="+mn-lt"/>
                <a:ea typeface="+mn-ea"/>
                <a:cs typeface="+mn-cs"/>
              </a:rPr>
              <a:t>Treatment Effect Tree Ensemble (\(\tau \))</a:t>
            </a:r>
            <a:r>
              <a:rPr lang="en-US" sz="1200" b="0" u="none" strike="noStrike" kern="1200" dirty="0">
                <a:solidFill>
                  <a:schemeClr val="tx1"/>
                </a:solidFill>
                <a:effectLst/>
                <a:latin typeface="+mn-lt"/>
                <a:ea typeface="+mn-ea"/>
                <a:cs typeface="+mn-cs"/>
              </a:rPr>
              <a:t>: Learns how the treatment effect varies across different subgroups of covariates.</a:t>
            </a:r>
          </a:p>
          <a:p>
            <a:r>
              <a:rPr lang="en-US" sz="1200" b="0" u="none" strike="noStrike" kern="1200" dirty="0">
                <a:solidFill>
                  <a:schemeClr val="tx1"/>
                </a:solidFill>
                <a:effectLst/>
                <a:latin typeface="+mn-lt"/>
                <a:ea typeface="+mn-ea"/>
                <a:cs typeface="+mn-cs"/>
              </a:rPr>
              <a:t>By enforcing separate Bayesian priors, the model can apply stricter regularization to the treatment effect, allowing the model to shrink estimates towards a homogeneous effect if data is sparse.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4"/>
              </a:rPr>
              <a:t>3</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5. Markov Chain Monte Carlo (MCMC) Sampling</a:t>
            </a:r>
          </a:p>
          <a:p>
            <a:r>
              <a:rPr lang="en-US" sz="1200" b="0" u="none" strike="noStrike" kern="1200" dirty="0">
                <a:solidFill>
                  <a:schemeClr val="tx1"/>
                </a:solidFill>
                <a:effectLst/>
                <a:latin typeface="+mn-lt"/>
                <a:ea typeface="+mn-ea"/>
                <a:cs typeface="+mn-cs"/>
              </a:rPr>
              <a:t>BCF uses an MCMC algorithm (specifically, </a:t>
            </a:r>
            <a:r>
              <a:rPr lang="en-US" sz="1200" b="0" u="none" strike="noStrike" kern="1200" dirty="0" err="1">
                <a:solidFill>
                  <a:schemeClr val="tx1"/>
                </a:solidFill>
                <a:effectLst/>
                <a:latin typeface="+mn-lt"/>
                <a:ea typeface="+mn-ea"/>
                <a:cs typeface="+mn-cs"/>
              </a:rPr>
              <a:t>blockwise</a:t>
            </a:r>
            <a:r>
              <a:rPr lang="en-US" sz="1200" b="0" u="none" strike="noStrike" kern="1200" dirty="0">
                <a:solidFill>
                  <a:schemeClr val="tx1"/>
                </a:solidFill>
                <a:effectLst/>
                <a:latin typeface="+mn-lt"/>
                <a:ea typeface="+mn-ea"/>
                <a:cs typeface="+mn-cs"/>
              </a:rPr>
              <a:t> Bayesian </a:t>
            </a:r>
            <a:r>
              <a:rPr lang="en-US" sz="1200" b="0" u="none" strike="noStrike" kern="1200" dirty="0" err="1">
                <a:solidFill>
                  <a:schemeClr val="tx1"/>
                </a:solidFill>
                <a:effectLst/>
                <a:latin typeface="+mn-lt"/>
                <a:ea typeface="+mn-ea"/>
                <a:cs typeface="+mn-cs"/>
              </a:rPr>
              <a:t>backfitting</a:t>
            </a:r>
            <a:r>
              <a:rPr lang="en-US" sz="1200" b="0" u="none" strike="noStrike" kern="1200" dirty="0">
                <a:solidFill>
                  <a:schemeClr val="tx1"/>
                </a:solidFill>
                <a:effectLst/>
                <a:latin typeface="+mn-lt"/>
                <a:ea typeface="+mn-ea"/>
                <a:cs typeface="+mn-cs"/>
              </a:rPr>
              <a:t>) to estimate the parameters iteratively: [</a:t>
            </a:r>
            <a:r>
              <a:rPr lang="en-US" sz="1200" b="0" u="none" strike="noStrike" kern="1200" dirty="0">
                <a:solidFill>
                  <a:schemeClr val="tx1"/>
                </a:solidFill>
                <a:effectLst/>
                <a:latin typeface="+mn-lt"/>
                <a:ea typeface="+mn-ea"/>
                <a:cs typeface="+mn-cs"/>
                <a:hlinkClick r:id="rId9"/>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5"/>
              </a:rPr>
              <a:t>3</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Step A</a:t>
            </a:r>
            <a:r>
              <a:rPr lang="en-US" sz="1200" b="0" u="none" strike="noStrike" kern="1200" dirty="0">
                <a:solidFill>
                  <a:schemeClr val="tx1"/>
                </a:solidFill>
                <a:effectLst/>
                <a:latin typeface="+mn-lt"/>
                <a:ea typeface="+mn-ea"/>
                <a:cs typeface="+mn-cs"/>
              </a:rPr>
              <a:t>: The algorithm updates the tree structures and leaf parameters for the prognostic forest (\(\mu \)) by holding the treatment effect forest (\(\tau \)) constant.</a:t>
            </a:r>
          </a:p>
          <a:p>
            <a:r>
              <a:rPr lang="en-US" sz="1200" b="1" u="none" strike="noStrike" kern="1200" dirty="0">
                <a:solidFill>
                  <a:schemeClr val="tx1"/>
                </a:solidFill>
                <a:effectLst/>
                <a:latin typeface="+mn-lt"/>
                <a:ea typeface="+mn-ea"/>
                <a:cs typeface="+mn-cs"/>
              </a:rPr>
              <a:t>Step B</a:t>
            </a:r>
            <a:r>
              <a:rPr lang="en-US" sz="1200" b="0" u="none" strike="noStrike" kern="1200" dirty="0">
                <a:solidFill>
                  <a:schemeClr val="tx1"/>
                </a:solidFill>
                <a:effectLst/>
                <a:latin typeface="+mn-lt"/>
                <a:ea typeface="+mn-ea"/>
                <a:cs typeface="+mn-cs"/>
              </a:rPr>
              <a:t>: It then updates the trees for the treatment effect forest (\(\tau \)) while holding the prognostic forest (\(\mu \)) constant.</a:t>
            </a:r>
          </a:p>
          <a:p>
            <a:r>
              <a:rPr lang="en-US" sz="1200" b="0" u="none" strike="noStrike" kern="1200" dirty="0">
                <a:solidFill>
                  <a:schemeClr val="tx1"/>
                </a:solidFill>
                <a:effectLst/>
                <a:latin typeface="+mn-lt"/>
                <a:ea typeface="+mn-ea"/>
                <a:cs typeface="+mn-cs"/>
              </a:rPr>
              <a:t>This iterative </a:t>
            </a:r>
            <a:r>
              <a:rPr lang="en-US" sz="1200" b="0" u="none" strike="noStrike" kern="1200" dirty="0" err="1">
                <a:solidFill>
                  <a:schemeClr val="tx1"/>
                </a:solidFill>
                <a:effectLst/>
                <a:latin typeface="+mn-lt"/>
                <a:ea typeface="+mn-ea"/>
                <a:cs typeface="+mn-cs"/>
              </a:rPr>
              <a:t>backfitting</a:t>
            </a:r>
            <a:r>
              <a:rPr lang="en-US" sz="1200" b="0" u="none" strike="noStrike" kern="1200" dirty="0">
                <a:solidFill>
                  <a:schemeClr val="tx1"/>
                </a:solidFill>
                <a:effectLst/>
                <a:latin typeface="+mn-lt"/>
                <a:ea typeface="+mn-ea"/>
                <a:cs typeface="+mn-cs"/>
              </a:rPr>
              <a:t> process generates thousands of posterior draws of the trees, which together construct the model and its uncertainty. [</a:t>
            </a:r>
            <a:r>
              <a:rPr lang="en-US" sz="1200" b="0" u="none" strike="noStrike" kern="1200" dirty="0">
                <a:solidFill>
                  <a:schemeClr val="tx1"/>
                </a:solidFill>
                <a:effectLst/>
                <a:latin typeface="+mn-lt"/>
                <a:ea typeface="+mn-ea"/>
                <a:cs typeface="+mn-cs"/>
                <a:hlinkClick r:id="rId16"/>
              </a:rPr>
              <a:t>1</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6. Posterior Inference and Uncertainty Quantification</a:t>
            </a:r>
          </a:p>
          <a:p>
            <a:r>
              <a:rPr lang="en-US" sz="1200" b="0" u="none" strike="noStrike" kern="1200" dirty="0">
                <a:solidFill>
                  <a:schemeClr val="tx1"/>
                </a:solidFill>
                <a:effectLst/>
                <a:latin typeface="+mn-lt"/>
                <a:ea typeface="+mn-ea"/>
                <a:cs typeface="+mn-cs"/>
              </a:rPr>
              <a:t>Instead of outputting a single point estimate, BCF yields a full posterior distribution for the causal effect. [</a:t>
            </a:r>
            <a:r>
              <a:rPr lang="en-US" sz="1200" b="0" u="none" strike="noStrike" kern="1200" dirty="0">
                <a:solidFill>
                  <a:schemeClr val="tx1"/>
                </a:solidFill>
                <a:effectLst/>
                <a:latin typeface="+mn-lt"/>
                <a:ea typeface="+mn-ea"/>
                <a:cs typeface="+mn-cs"/>
                <a:hlinkClick r:id="rId5"/>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7"/>
              </a:rPr>
              <a:t>2</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You can extract the Conditional Average Treatment Effect (CATE) for any individual \(</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by taking the average of the posterior draws of \(\tau(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Because it outputs a distribution, you can easily calculate </a:t>
            </a:r>
            <a:r>
              <a:rPr lang="en-US" sz="1200" b="1" u="none" strike="noStrike" kern="1200" dirty="0">
                <a:solidFill>
                  <a:schemeClr val="tx1"/>
                </a:solidFill>
                <a:effectLst/>
                <a:latin typeface="+mn-lt"/>
                <a:ea typeface="+mn-ea"/>
                <a:cs typeface="+mn-cs"/>
              </a:rPr>
              <a:t>credible intervals</a:t>
            </a:r>
            <a:r>
              <a:rPr lang="en-US" sz="1200" b="0" u="none" strike="noStrike" kern="1200" dirty="0">
                <a:solidFill>
                  <a:schemeClr val="tx1"/>
                </a:solidFill>
                <a:effectLst/>
                <a:latin typeface="+mn-lt"/>
                <a:ea typeface="+mn-ea"/>
                <a:cs typeface="+mn-cs"/>
              </a:rPr>
              <a:t> (e.g., 95% intervals) to quantify uncertainty natively. [</a:t>
            </a:r>
            <a:r>
              <a:rPr lang="en-US" sz="1200" b="0" u="none" strike="noStrike" kern="1200" dirty="0">
                <a:solidFill>
                  <a:schemeClr val="tx1"/>
                </a:solidFill>
                <a:effectLst/>
                <a:latin typeface="+mn-lt"/>
                <a:ea typeface="+mn-ea"/>
                <a:cs typeface="+mn-cs"/>
                <a:hlinkClick r:id="rId8"/>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8"/>
              </a:rPr>
              <a:t>4</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5</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If you are planning to implement this, let me know:</a:t>
            </a:r>
          </a:p>
          <a:p>
            <a:r>
              <a:rPr lang="en-US" sz="1200" b="0" u="none" strike="noStrike" kern="1200" dirty="0">
                <a:solidFill>
                  <a:schemeClr val="tx1"/>
                </a:solidFill>
                <a:effectLst/>
                <a:latin typeface="+mn-lt"/>
                <a:ea typeface="+mn-ea"/>
                <a:cs typeface="+mn-cs"/>
              </a:rPr>
              <a:t>What </a:t>
            </a:r>
            <a:r>
              <a:rPr lang="en-US" sz="1200" b="1" u="none" strike="noStrike" kern="1200" dirty="0">
                <a:solidFill>
                  <a:schemeClr val="tx1"/>
                </a:solidFill>
                <a:effectLst/>
                <a:latin typeface="+mn-lt"/>
                <a:ea typeface="+mn-ea"/>
                <a:cs typeface="+mn-cs"/>
              </a:rPr>
              <a:t>software or language</a:t>
            </a:r>
            <a:r>
              <a:rPr lang="en-US" sz="1200" b="0" u="none" strike="noStrike" kern="1200" dirty="0">
                <a:solidFill>
                  <a:schemeClr val="tx1"/>
                </a:solidFill>
                <a:effectLst/>
                <a:latin typeface="+mn-lt"/>
                <a:ea typeface="+mn-ea"/>
                <a:cs typeface="+mn-cs"/>
              </a:rPr>
              <a:t> you are using (e.g., R's </a:t>
            </a:r>
            <a:r>
              <a:rPr lang="en-US" sz="1200" b="0" u="none" strike="noStrike" kern="1200" dirty="0" err="1">
                <a:solidFill>
                  <a:schemeClr val="tx1"/>
                </a:solidFill>
                <a:effectLst/>
                <a:latin typeface="+mn-lt"/>
                <a:ea typeface="+mn-ea"/>
                <a:cs typeface="+mn-cs"/>
              </a:rPr>
              <a:t>bcf</a:t>
            </a:r>
            <a:r>
              <a:rPr lang="en-US" sz="1200" b="0" u="none" strike="noStrike" kern="1200" dirty="0">
                <a:solidFill>
                  <a:schemeClr val="tx1"/>
                </a:solidFill>
                <a:effectLst/>
                <a:latin typeface="+mn-lt"/>
                <a:ea typeface="+mn-ea"/>
                <a:cs typeface="+mn-cs"/>
              </a:rPr>
              <a:t> package or Python's </a:t>
            </a:r>
            <a:r>
              <a:rPr lang="en-US" sz="1200" b="0" u="none" strike="noStrike" kern="1200" dirty="0" err="1">
                <a:solidFill>
                  <a:schemeClr val="tx1"/>
                </a:solidFill>
                <a:effectLst/>
                <a:latin typeface="+mn-lt"/>
                <a:ea typeface="+mn-ea"/>
                <a:cs typeface="+mn-cs"/>
              </a:rPr>
              <a:t>stochtree</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Whether your treatment is </a:t>
            </a:r>
            <a:r>
              <a:rPr lang="en-US" sz="1200" b="1" u="none" strike="noStrike" kern="1200" dirty="0">
                <a:solidFill>
                  <a:schemeClr val="tx1"/>
                </a:solidFill>
                <a:effectLst/>
                <a:latin typeface="+mn-lt"/>
                <a:ea typeface="+mn-ea"/>
                <a:cs typeface="+mn-cs"/>
              </a:rPr>
              <a:t>binary or continuous</a:t>
            </a:r>
            <a:endParaRPr lang="en-US" sz="1200" b="0" u="none" strike="noStrike" kern="1200" dirty="0">
              <a:solidFill>
                <a:schemeClr val="tx1"/>
              </a:solidFill>
              <a:effectLst/>
              <a:latin typeface="+mn-lt"/>
              <a:ea typeface="+mn-ea"/>
              <a:cs typeface="+mn-cs"/>
            </a:endParaRPr>
          </a:p>
          <a:p>
            <a:r>
              <a:rPr lang="en-US" sz="1200" b="0" u="none" strike="noStrike" kern="1200" dirty="0">
                <a:solidFill>
                  <a:schemeClr val="tx1"/>
                </a:solidFill>
                <a:effectLst/>
                <a:latin typeface="+mn-lt"/>
                <a:ea typeface="+mn-ea"/>
                <a:cs typeface="+mn-cs"/>
              </a:rPr>
              <a:t>If you want to know how to </a:t>
            </a:r>
            <a:r>
              <a:rPr lang="en-US" sz="1200" b="1" u="none" strike="noStrike" kern="1200" dirty="0">
                <a:solidFill>
                  <a:schemeClr val="tx1"/>
                </a:solidFill>
                <a:effectLst/>
                <a:latin typeface="+mn-lt"/>
                <a:ea typeface="+mn-ea"/>
                <a:cs typeface="+mn-cs"/>
              </a:rPr>
              <a:t>interpret the outputted CATE</a:t>
            </a:r>
            <a:endParaRPr lang="en-US" sz="1200" b="0" u="none" strike="noStrike" kern="1200" dirty="0">
              <a:solidFill>
                <a:schemeClr val="tx1"/>
              </a:solidFill>
              <a:effectLst/>
              <a:latin typeface="+mn-lt"/>
              <a:ea typeface="+mn-ea"/>
              <a:cs typeface="+mn-cs"/>
            </a:endParaRPr>
          </a:p>
          <a:p>
            <a:r>
              <a:rPr lang="en-US" sz="1200" b="0" u="none" strike="noStrike" kern="1200" dirty="0">
                <a:solidFill>
                  <a:schemeClr val="tx1"/>
                </a:solidFill>
                <a:effectLst/>
                <a:latin typeface="+mn-lt"/>
                <a:ea typeface="+mn-ea"/>
                <a:cs typeface="+mn-cs"/>
              </a:rPr>
              <a:t>I can give you the specific code or analysis steps tailored to your environment.</a:t>
            </a:r>
          </a:p>
          <a:p>
            <a:pPr>
              <a:defRPr/>
            </a:pPr>
            <a:endParaRPr lang="de-DE" dirty="0"/>
          </a:p>
        </p:txBody>
      </p:sp>
      <p:sp>
        <p:nvSpPr>
          <p:cNvPr id="1416629939" name="Foliennummernplatzhalt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057F9-B2ED-4B9D-B0F2-D3AD44C3FAB4}" type="slidenum">
              <a:rPr kumimoji="0" lang="de-DE"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196239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28984289" name="Folienbildplatzhalter 1"/>
          <p:cNvSpPr>
            <a:spLocks noGrp="1" noRot="1" noChangeAspect="1"/>
          </p:cNvSpPr>
          <p:nvPr>
            <p:ph type="sldImg"/>
          </p:nvPr>
        </p:nvSpPr>
        <p:spPr bwMode="auto"/>
      </p:sp>
      <p:sp>
        <p:nvSpPr>
          <p:cNvPr id="1667454889" name="Notizenplatzhalter 2"/>
          <p:cNvSpPr>
            <a:spLocks noGrp="1"/>
          </p:cNvSpPr>
          <p:nvPr>
            <p:ph type="body" idx="1"/>
          </p:nvPr>
        </p:nvSpPr>
        <p:spPr bwMode="auto"/>
        <p:txBody>
          <a:bodyPr/>
          <a:lstStyle/>
          <a:p>
            <a:r>
              <a:rPr lang="en-US" sz="1200" b="0" u="none" strike="noStrike" kern="1200" dirty="0">
                <a:solidFill>
                  <a:schemeClr val="tx1"/>
                </a:solidFill>
                <a:effectLst/>
                <a:latin typeface="+mn-lt"/>
                <a:ea typeface="+mn-ea"/>
                <a:cs typeface="+mn-cs"/>
              </a:rPr>
              <a:t>Up next:</a:t>
            </a:r>
          </a:p>
          <a:p>
            <a:pPr marL="171450" indent="-171450">
              <a:buFontTx/>
              <a:buChar char="-"/>
            </a:pPr>
            <a:r>
              <a:rPr lang="en-US" sz="1200" b="0" u="none" strike="noStrike" kern="1200" dirty="0">
                <a:solidFill>
                  <a:schemeClr val="tx1"/>
                </a:solidFill>
                <a:effectLst/>
                <a:latin typeface="+mn-lt"/>
                <a:ea typeface="+mn-ea"/>
                <a:cs typeface="+mn-cs"/>
              </a:rPr>
              <a:t>Show what BCF and related stuff (debiased, discovery) can(not) do</a:t>
            </a:r>
          </a:p>
          <a:p>
            <a:pPr marL="171450" indent="-171450">
              <a:buFontTx/>
              <a:buChar char="-"/>
            </a:pPr>
            <a:r>
              <a:rPr lang="en-US" sz="1200" b="0" u="none" strike="noStrike" kern="1200" dirty="0">
                <a:solidFill>
                  <a:schemeClr val="tx1"/>
                </a:solidFill>
                <a:effectLst/>
                <a:latin typeface="+mn-lt"/>
                <a:ea typeface="+mn-ea"/>
                <a:cs typeface="+mn-cs"/>
              </a:rPr>
              <a:t>Go back to example: Now we know that the identifiability issue is the same (causal sufficiency), let`s look into the example: See that they made mistakes.</a:t>
            </a:r>
          </a:p>
          <a:p>
            <a:pPr marL="171450" indent="-171450">
              <a:buFontTx/>
              <a:buChar char="-"/>
            </a:pPr>
            <a:r>
              <a:rPr lang="en-US" sz="1200" b="0" u="none" strike="noStrike" kern="1200" dirty="0">
                <a:solidFill>
                  <a:schemeClr val="tx1"/>
                </a:solidFill>
                <a:effectLst/>
                <a:latin typeface="+mn-lt"/>
                <a:ea typeface="+mn-ea"/>
                <a:cs typeface="+mn-cs"/>
              </a:rPr>
              <a:t>Conclusions: It does not help with causal sufficiency</a:t>
            </a:r>
          </a:p>
          <a:p>
            <a:pPr marL="171450" indent="-171450">
              <a:buFontTx/>
              <a:buChar char="-"/>
            </a:pPr>
            <a:r>
              <a:rPr lang="en-US" sz="1200" b="0" u="none" strike="noStrike" kern="1200" dirty="0">
                <a:solidFill>
                  <a:schemeClr val="tx1"/>
                </a:solidFill>
                <a:effectLst/>
                <a:latin typeface="+mn-lt"/>
                <a:ea typeface="+mn-ea"/>
                <a:cs typeface="+mn-cs"/>
              </a:rPr>
              <a:t>It helps with identification of the correct model (with data points in the 10,000s)</a:t>
            </a:r>
          </a:p>
          <a:p>
            <a:pPr marL="171450" indent="-171450">
              <a:buFontTx/>
              <a:buChar char="-"/>
            </a:pPr>
            <a:r>
              <a:rPr lang="en-US" sz="1200" b="0" u="none" strike="noStrike" kern="1200" dirty="0">
                <a:solidFill>
                  <a:schemeClr val="tx1"/>
                </a:solidFill>
                <a:effectLst/>
                <a:latin typeface="+mn-lt"/>
                <a:ea typeface="+mn-ea"/>
                <a:cs typeface="+mn-cs"/>
              </a:rPr>
              <a:t>Hypothesis 1: Portraying a study as using CML as a tool that allows identifying causal effects increases the change that readers </a:t>
            </a:r>
            <a:r>
              <a:rPr lang="en-US" sz="1200" b="0" u="none" strike="noStrike" kern="1200" dirty="0" err="1">
                <a:solidFill>
                  <a:schemeClr val="tx1"/>
                </a:solidFill>
                <a:effectLst/>
                <a:latin typeface="+mn-lt"/>
                <a:ea typeface="+mn-ea"/>
                <a:cs typeface="+mn-cs"/>
              </a:rPr>
              <a:t>ausblenden</a:t>
            </a:r>
            <a:r>
              <a:rPr lang="en-US" sz="1200" b="0" u="none" strike="noStrike" kern="1200" dirty="0">
                <a:solidFill>
                  <a:schemeClr val="tx1"/>
                </a:solidFill>
                <a:effectLst/>
                <a:latin typeface="+mn-lt"/>
                <a:ea typeface="+mn-ea"/>
                <a:cs typeface="+mn-cs"/>
              </a:rPr>
              <a:t> the necessary preconditions for causal inference (dependent on how aware they are of them?)</a:t>
            </a:r>
          </a:p>
          <a:p>
            <a:pPr marL="171450" indent="-171450">
              <a:buFontTx/>
              <a:buChar char="-"/>
            </a:pPr>
            <a:r>
              <a:rPr lang="en-US" sz="1200" b="0" u="none" strike="noStrike" kern="1200" dirty="0">
                <a:solidFill>
                  <a:schemeClr val="tx1"/>
                </a:solidFill>
                <a:effectLst/>
                <a:latin typeface="+mn-lt"/>
                <a:ea typeface="+mn-ea"/>
                <a:cs typeface="+mn-cs"/>
              </a:rPr>
              <a:t>Hypothesis 2: The same for moderation effects? Observed moderation misinterpreted as causal moderation? &lt;- Overlooked?</a:t>
            </a:r>
          </a:p>
          <a:p>
            <a:pPr marL="171450" indent="-171450">
              <a:buFontTx/>
              <a:buChar char="-"/>
            </a:pPr>
            <a:r>
              <a:rPr lang="en-US" sz="1200" b="0" u="none" strike="noStrike" kern="1200" dirty="0">
                <a:solidFill>
                  <a:schemeClr val="tx1"/>
                </a:solidFill>
                <a:effectLst/>
                <a:latin typeface="+mn-lt"/>
                <a:ea typeface="+mn-ea"/>
                <a:cs typeface="+mn-cs"/>
              </a:rPr>
              <a:t>Hypothesis 3: CML provides affordances regarding </a:t>
            </a:r>
            <a:r>
              <a:rPr lang="en-US" sz="1200" b="1" u="none" strike="noStrike" kern="1200" dirty="0">
                <a:solidFill>
                  <a:schemeClr val="tx1"/>
                </a:solidFill>
                <a:effectLst/>
                <a:latin typeface="+mn-lt"/>
                <a:ea typeface="+mn-ea"/>
                <a:cs typeface="+mn-cs"/>
              </a:rPr>
              <a:t>model identification</a:t>
            </a:r>
            <a:r>
              <a:rPr lang="en-US" sz="1200" b="0" u="none" strike="noStrike" kern="1200" dirty="0">
                <a:solidFill>
                  <a:schemeClr val="tx1"/>
                </a:solidFill>
                <a:effectLst/>
                <a:latin typeface="+mn-lt"/>
                <a:ea typeface="+mn-ea"/>
                <a:cs typeface="+mn-cs"/>
              </a:rPr>
              <a:t> that </a:t>
            </a:r>
            <a:r>
              <a:rPr lang="en-US" sz="1200" b="0" i="1" u="none" strike="noStrike" kern="1200" dirty="0">
                <a:solidFill>
                  <a:schemeClr val="tx1"/>
                </a:solidFill>
                <a:effectLst/>
                <a:latin typeface="+mn-lt"/>
                <a:ea typeface="+mn-ea"/>
                <a:cs typeface="+mn-cs"/>
              </a:rPr>
              <a:t>are </a:t>
            </a:r>
            <a:r>
              <a:rPr lang="en-US" sz="1200" b="0" u="none" strike="noStrike" kern="1200" dirty="0">
                <a:solidFill>
                  <a:schemeClr val="tx1"/>
                </a:solidFill>
                <a:effectLst/>
                <a:latin typeface="+mn-lt"/>
                <a:ea typeface="+mn-ea"/>
                <a:cs typeface="+mn-cs"/>
              </a:rPr>
              <a:t>currently overlooked (or disregarded) in applied research (such as soc or psych)</a:t>
            </a:r>
          </a:p>
          <a:p>
            <a:pPr marL="171450" indent="-171450">
              <a:buFontTx/>
              <a:buChar char="-"/>
            </a:pPr>
            <a:endParaRPr lang="en-US" sz="1200" b="0" u="none" strike="noStrike" kern="1200" dirty="0">
              <a:solidFill>
                <a:schemeClr val="tx1"/>
              </a:solidFill>
              <a:effectLst/>
              <a:latin typeface="+mn-lt"/>
              <a:ea typeface="+mn-ea"/>
              <a:cs typeface="+mn-cs"/>
            </a:endParaRPr>
          </a:p>
          <a:p>
            <a:pPr marL="171450" indent="-171450">
              <a:buFontTx/>
              <a:buChar char="-"/>
            </a:pPr>
            <a:r>
              <a:rPr lang="en-US" sz="1200" b="0" u="none" strike="noStrike" kern="1200" dirty="0">
                <a:solidFill>
                  <a:schemeClr val="tx1"/>
                </a:solidFill>
                <a:effectLst/>
                <a:latin typeface="+mn-lt"/>
                <a:ea typeface="+mn-ea"/>
                <a:cs typeface="+mn-cs"/>
              </a:rPr>
              <a:t>Implications:</a:t>
            </a:r>
          </a:p>
          <a:p>
            <a:pPr marL="171450" indent="-171450">
              <a:buFontTx/>
              <a:buChar char="-"/>
            </a:pPr>
            <a:endParaRPr lang="en-US" sz="1200" b="0" u="none" strike="noStrike" kern="1200" dirty="0">
              <a:solidFill>
                <a:schemeClr val="tx1"/>
              </a:solidFill>
              <a:effectLst/>
              <a:latin typeface="+mn-lt"/>
              <a:ea typeface="+mn-ea"/>
              <a:cs typeface="+mn-cs"/>
            </a:endParaRPr>
          </a:p>
          <a:p>
            <a:pPr marL="171450" indent="-171450">
              <a:buFontTx/>
              <a:buChar char="-"/>
            </a:pPr>
            <a:endParaRPr lang="en-US" sz="1200" b="0" u="none" strike="noStrike" kern="1200" dirty="0">
              <a:solidFill>
                <a:schemeClr val="tx1"/>
              </a:solidFill>
              <a:effectLst/>
              <a:latin typeface="+mn-lt"/>
              <a:ea typeface="+mn-ea"/>
              <a:cs typeface="+mn-cs"/>
            </a:endParaRPr>
          </a:p>
          <a:p>
            <a:pPr marL="171450" indent="-171450">
              <a:buFontTx/>
              <a:buChar char="-"/>
            </a:pPr>
            <a:endParaRPr lang="en-US" sz="1200" b="0" u="none" strike="noStrike" kern="1200" dirty="0">
              <a:solidFill>
                <a:schemeClr val="tx1"/>
              </a:solidFill>
              <a:effectLst/>
              <a:latin typeface="+mn-lt"/>
              <a:ea typeface="+mn-ea"/>
              <a:cs typeface="+mn-cs"/>
            </a:endParaRPr>
          </a:p>
          <a:p>
            <a:endParaRPr lang="en-US" sz="1200" b="0" u="none" strike="noStrike" kern="1200" dirty="0">
              <a:solidFill>
                <a:schemeClr val="tx1"/>
              </a:solidFill>
              <a:effectLst/>
              <a:latin typeface="+mn-lt"/>
              <a:ea typeface="+mn-ea"/>
              <a:cs typeface="+mn-cs"/>
            </a:endParaRPr>
          </a:p>
          <a:p>
            <a:r>
              <a:rPr lang="en-US" sz="1200" b="0" u="none" strike="noStrike" kern="1200" dirty="0">
                <a:solidFill>
                  <a:schemeClr val="tx1"/>
                </a:solidFill>
                <a:effectLst/>
                <a:latin typeface="+mn-lt"/>
                <a:ea typeface="+mn-ea"/>
                <a:cs typeface="+mn-cs"/>
              </a:rPr>
              <a:t>A </a:t>
            </a:r>
            <a:r>
              <a:rPr lang="en-US" sz="1200" b="1" u="none" strike="noStrike" kern="1200" dirty="0">
                <a:solidFill>
                  <a:schemeClr val="tx1"/>
                </a:solidFill>
                <a:effectLst/>
                <a:latin typeface="+mn-lt"/>
                <a:ea typeface="+mn-ea"/>
                <a:cs typeface="+mn-cs"/>
              </a:rPr>
              <a:t>Bayesian Causal Forest (BCF)</a:t>
            </a:r>
            <a:r>
              <a:rPr lang="en-US" sz="1200" b="0" u="none" strike="noStrike" kern="1200" dirty="0">
                <a:solidFill>
                  <a:schemeClr val="tx1"/>
                </a:solidFill>
                <a:effectLst/>
                <a:latin typeface="+mn-lt"/>
                <a:ea typeface="+mn-ea"/>
                <a:cs typeface="+mn-cs"/>
              </a:rPr>
              <a:t> model is a machine learning method used to estimate </a:t>
            </a:r>
            <a:r>
              <a:rPr lang="en-US" sz="1200" b="1" u="none" strike="noStrike" kern="1200" dirty="0">
                <a:solidFill>
                  <a:schemeClr val="tx1"/>
                </a:solidFill>
                <a:effectLst/>
                <a:latin typeface="+mn-lt"/>
                <a:ea typeface="+mn-ea"/>
                <a:cs typeface="+mn-cs"/>
              </a:rPr>
              <a:t>Heterogeneous Treatment Effects</a:t>
            </a:r>
            <a:r>
              <a:rPr lang="en-US" sz="1200" b="0" u="none" strike="noStrike" kern="1200" dirty="0">
                <a:solidFill>
                  <a:schemeClr val="tx1"/>
                </a:solidFill>
                <a:effectLst/>
                <a:latin typeface="+mn-lt"/>
                <a:ea typeface="+mn-ea"/>
                <a:cs typeface="+mn-cs"/>
              </a:rPr>
              <a:t> (HTE) from observational or experimental data. It separates the baseline outcome prediction from the causal effect itself, preventing bias and providing rigorous uncertainty estimates.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3</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6"/>
              </a:rPr>
              <a:t>4</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7"/>
              </a:rPr>
              <a:t>5</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Here is the step-by-step breakdown of how the BCF model works:</a:t>
            </a:r>
          </a:p>
          <a:p>
            <a:r>
              <a:rPr lang="en-US" sz="1200" b="1" u="none" strike="noStrike" kern="1200" dirty="0">
                <a:solidFill>
                  <a:schemeClr val="tx1"/>
                </a:solidFill>
                <a:effectLst/>
                <a:latin typeface="+mn-lt"/>
                <a:ea typeface="+mn-ea"/>
                <a:cs typeface="+mn-cs"/>
              </a:rPr>
              <a:t>1. Model Formulation and Decomposition</a:t>
            </a:r>
          </a:p>
          <a:p>
            <a:r>
              <a:rPr lang="en-US" sz="1200" b="0" u="none" strike="noStrike" kern="1200" dirty="0">
                <a:solidFill>
                  <a:schemeClr val="tx1"/>
                </a:solidFill>
                <a:effectLst/>
                <a:latin typeface="+mn-lt"/>
                <a:ea typeface="+mn-ea"/>
                <a:cs typeface="+mn-cs"/>
              </a:rPr>
              <a:t>BCF starts by splitting the observed outcome (\(Y_{</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for individual (\(</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into two distinct, additive parts:</a:t>
            </a:r>
            <a:br>
              <a:rPr lang="en-US" sz="1200" b="0" u="none" strike="noStrike" kern="1200" dirty="0">
                <a:solidFill>
                  <a:schemeClr val="tx1"/>
                </a:solidFill>
                <a:effectLst/>
                <a:latin typeface="+mn-lt"/>
                <a:ea typeface="+mn-ea"/>
                <a:cs typeface="+mn-cs"/>
              </a:rPr>
            </a:br>
            <a:r>
              <a:rPr lang="en-US" sz="1200" b="0" u="none" strike="noStrike" kern="1200" dirty="0">
                <a:solidFill>
                  <a:schemeClr val="tx1"/>
                </a:solidFill>
                <a:effectLst/>
                <a:latin typeface="+mn-lt"/>
                <a:ea typeface="+mn-ea"/>
                <a:cs typeface="+mn-cs"/>
              </a:rPr>
              <a:t>\(</a:t>
            </a:r>
            <a:r>
              <a:rPr lang="en-US" sz="1200" b="0" u="none" strike="noStrike" kern="1200" dirty="0" err="1">
                <a:solidFill>
                  <a:schemeClr val="tx1"/>
                </a:solidFill>
                <a:effectLst/>
                <a:latin typeface="+mn-lt"/>
                <a:ea typeface="+mn-ea"/>
                <a:cs typeface="+mn-cs"/>
              </a:rPr>
              <a:t>Y_i</a:t>
            </a:r>
            <a:r>
              <a:rPr lang="en-US" sz="1200" b="0" u="none" strike="noStrike" kern="1200" dirty="0">
                <a:solidFill>
                  <a:schemeClr val="tx1"/>
                </a:solidFill>
                <a:effectLst/>
                <a:latin typeface="+mn-lt"/>
                <a:ea typeface="+mn-ea"/>
                <a:cs typeface="+mn-cs"/>
              </a:rPr>
              <a:t> = \mu(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 \tau(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cdot</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W_i</a:t>
            </a:r>
            <a:r>
              <a:rPr lang="en-US" sz="1200" b="0" u="none" strike="noStrike" kern="1200" dirty="0">
                <a:solidFill>
                  <a:schemeClr val="tx1"/>
                </a:solidFill>
                <a:effectLst/>
                <a:latin typeface="+mn-lt"/>
                <a:ea typeface="+mn-ea"/>
                <a:cs typeface="+mn-cs"/>
              </a:rPr>
              <a:t> + \</a:t>
            </a:r>
            <a:r>
              <a:rPr lang="en-US" sz="1200" b="0" u="none" strike="noStrike" kern="1200" dirty="0" err="1">
                <a:solidFill>
                  <a:schemeClr val="tx1"/>
                </a:solidFill>
                <a:effectLst/>
                <a:latin typeface="+mn-lt"/>
                <a:ea typeface="+mn-ea"/>
                <a:cs typeface="+mn-cs"/>
              </a:rPr>
              <a:t>epsilon_i</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\(Y_{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observed outcome.</a:t>
            </a:r>
          </a:p>
          <a:p>
            <a:r>
              <a:rPr lang="en-US" sz="1200" b="1" u="none" strike="noStrike" kern="1200" dirty="0">
                <a:solidFill>
                  <a:schemeClr val="tx1"/>
                </a:solidFill>
                <a:effectLst/>
                <a:latin typeface="+mn-lt"/>
                <a:ea typeface="+mn-ea"/>
                <a:cs typeface="+mn-cs"/>
              </a:rPr>
              <a:t>\(X_{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vector of baseline covariates (control variables).</a:t>
            </a:r>
          </a:p>
          <a:p>
            <a:r>
              <a:rPr lang="en-US" sz="1200" b="1" u="none" strike="noStrike" kern="1200" dirty="0">
                <a:solidFill>
                  <a:schemeClr val="tx1"/>
                </a:solidFill>
                <a:effectLst/>
                <a:latin typeface="+mn-lt"/>
                <a:ea typeface="+mn-ea"/>
                <a:cs typeface="+mn-cs"/>
              </a:rPr>
              <a:t>\(W_{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treatment assignment indicator (\(1\) for treated, \(0\) for control).</a:t>
            </a:r>
          </a:p>
          <a:p>
            <a:r>
              <a:rPr lang="en-US" sz="1200" b="1" u="none" strike="noStrike" kern="1200" dirty="0">
                <a:solidFill>
                  <a:schemeClr val="tx1"/>
                </a:solidFill>
                <a:effectLst/>
                <a:latin typeface="+mn-lt"/>
                <a:ea typeface="+mn-ea"/>
                <a:cs typeface="+mn-cs"/>
              </a:rPr>
              <a:t>\(\mu(</a:t>
            </a:r>
            <a:r>
              <a:rPr lang="en-US" sz="1200" b="1" u="none" strike="noStrike" kern="1200" dirty="0" err="1">
                <a:solidFill>
                  <a:schemeClr val="tx1"/>
                </a:solidFill>
                <a:effectLst/>
                <a:latin typeface="+mn-lt"/>
                <a:ea typeface="+mn-ea"/>
                <a:cs typeface="+mn-cs"/>
              </a:rPr>
              <a:t>X_i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a:t>
            </a:r>
            <a:r>
              <a:rPr lang="en-US" sz="1200" b="0" i="1" u="none" strike="noStrike" kern="1200" dirty="0">
                <a:solidFill>
                  <a:schemeClr val="tx1"/>
                </a:solidFill>
                <a:effectLst/>
                <a:latin typeface="+mn-lt"/>
                <a:ea typeface="+mn-ea"/>
                <a:cs typeface="+mn-cs"/>
              </a:rPr>
              <a:t>prognostic function</a:t>
            </a:r>
            <a:r>
              <a:rPr lang="en-US" sz="1200" b="0" u="none" strike="noStrike" kern="1200" dirty="0">
                <a:solidFill>
                  <a:schemeClr val="tx1"/>
                </a:solidFill>
                <a:effectLst/>
                <a:latin typeface="+mn-lt"/>
                <a:ea typeface="+mn-ea"/>
                <a:cs typeface="+mn-cs"/>
              </a:rPr>
              <a:t> (baseline outcome for untreated individuals).</a:t>
            </a:r>
          </a:p>
          <a:p>
            <a:r>
              <a:rPr lang="en-US" sz="1200" b="1" u="none" strike="noStrike" kern="1200" dirty="0">
                <a:solidFill>
                  <a:schemeClr val="tx1"/>
                </a:solidFill>
                <a:effectLst/>
                <a:latin typeface="+mn-lt"/>
                <a:ea typeface="+mn-ea"/>
                <a:cs typeface="+mn-cs"/>
              </a:rPr>
              <a:t>\(\tau(</a:t>
            </a:r>
            <a:r>
              <a:rPr lang="en-US" sz="1200" b="1" u="none" strike="noStrike" kern="1200" dirty="0" err="1">
                <a:solidFill>
                  <a:schemeClr val="tx1"/>
                </a:solidFill>
                <a:effectLst/>
                <a:latin typeface="+mn-lt"/>
                <a:ea typeface="+mn-ea"/>
                <a:cs typeface="+mn-cs"/>
              </a:rPr>
              <a:t>X_i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a:t>
            </a:r>
            <a:r>
              <a:rPr lang="en-US" sz="1200" b="0" i="1" u="none" strike="noStrike" kern="1200" dirty="0">
                <a:solidFill>
                  <a:schemeClr val="tx1"/>
                </a:solidFill>
                <a:effectLst/>
                <a:latin typeface="+mn-lt"/>
                <a:ea typeface="+mn-ea"/>
                <a:cs typeface="+mn-cs"/>
              </a:rPr>
              <a:t>treatment effect function</a:t>
            </a:r>
            <a:r>
              <a:rPr lang="en-US" sz="1200" b="0" u="none" strike="noStrike" kern="1200" dirty="0">
                <a:solidFill>
                  <a:schemeClr val="tx1"/>
                </a:solidFill>
                <a:effectLst/>
                <a:latin typeface="+mn-lt"/>
                <a:ea typeface="+mn-ea"/>
                <a:cs typeface="+mn-cs"/>
              </a:rPr>
              <a:t> (Conditional Average Treatment Effect - CATE).</a:t>
            </a:r>
          </a:p>
          <a:p>
            <a:r>
              <a:rPr lang="en-US" sz="1200" b="1" u="none" strike="noStrike" kern="1200" dirty="0">
                <a:solidFill>
                  <a:schemeClr val="tx1"/>
                </a:solidFill>
                <a:effectLst/>
                <a:latin typeface="+mn-lt"/>
                <a:ea typeface="+mn-ea"/>
                <a:cs typeface="+mn-cs"/>
              </a:rPr>
              <a:t>\(\epsilon 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Normally distributed random error term (\(N(0, \sigma^2)\)). [</a:t>
            </a:r>
            <a:r>
              <a:rPr lang="en-US" sz="1200" b="0" u="none" strike="noStrike" kern="1200" dirty="0">
                <a:solidFill>
                  <a:schemeClr val="tx1"/>
                </a:solidFill>
                <a:effectLst/>
                <a:latin typeface="+mn-lt"/>
                <a:ea typeface="+mn-ea"/>
                <a:cs typeface="+mn-cs"/>
                <a:hlinkClick r:id="rId9"/>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0"/>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1"/>
              </a:rPr>
              <a:t>3</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4</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5</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2. Propensity Score Estimation</a:t>
            </a:r>
          </a:p>
          <a:p>
            <a:r>
              <a:rPr lang="en-US" sz="1200" b="0" u="none" strike="noStrike" kern="1200" dirty="0">
                <a:solidFill>
                  <a:schemeClr val="tx1"/>
                </a:solidFill>
                <a:effectLst/>
                <a:latin typeface="+mn-lt"/>
                <a:ea typeface="+mn-ea"/>
                <a:cs typeface="+mn-cs"/>
              </a:rPr>
              <a:t>Before fitting the tree ensembles, BCF usually requires an estimate of the </a:t>
            </a:r>
            <a:r>
              <a:rPr lang="en-US" sz="1200" b="1" u="none" strike="noStrike" kern="1200" dirty="0">
                <a:solidFill>
                  <a:schemeClr val="tx1"/>
                </a:solidFill>
                <a:effectLst/>
                <a:latin typeface="+mn-lt"/>
                <a:ea typeface="+mn-ea"/>
                <a:cs typeface="+mn-cs"/>
              </a:rPr>
              <a:t>propensity score</a:t>
            </a:r>
            <a:r>
              <a:rPr lang="en-US" sz="1200" b="0" u="none" strike="noStrike" kern="1200" dirty="0">
                <a:solidFill>
                  <a:schemeClr val="tx1"/>
                </a:solidFill>
                <a:effectLst/>
                <a:latin typeface="+mn-lt"/>
                <a:ea typeface="+mn-ea"/>
                <a:cs typeface="+mn-cs"/>
              </a:rPr>
              <a:t>, \(\hat{\pi}(</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which is the probability that an individual receives the treatment based on their covariates (\(X_{</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3</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This is typically calculated using a separate model (such as logistic regression or a random forest) prior to running the main BCF algorithm. [</a:t>
            </a:r>
            <a:r>
              <a:rPr lang="en-US" sz="1200" b="0" u="none" strike="noStrike" kern="1200" dirty="0">
                <a:solidFill>
                  <a:schemeClr val="tx1"/>
                </a:solidFill>
                <a:effectLst/>
                <a:latin typeface="+mn-lt"/>
                <a:ea typeface="+mn-ea"/>
                <a:cs typeface="+mn-cs"/>
                <a:hlinkClick r:id="rId12"/>
              </a:rPr>
              <a:t>1</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3. Incorporating the Propensity Score into the Baseline</a:t>
            </a:r>
          </a:p>
          <a:p>
            <a:r>
              <a:rPr lang="en-US" sz="1200" b="0" u="none" strike="noStrike" kern="1200" dirty="0">
                <a:solidFill>
                  <a:schemeClr val="tx1"/>
                </a:solidFill>
                <a:effectLst/>
                <a:latin typeface="+mn-lt"/>
                <a:ea typeface="+mn-ea"/>
                <a:cs typeface="+mn-cs"/>
              </a:rPr>
              <a:t>Unlike traditional Bayesian Additive Regression Trees (BART), BCF implicitly includes the estimated propensity score as a covariate in the prognostic function \(\mu(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\hat{\pi}_</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9"/>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2</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This step acts as a powerful confounding control, ensuring that differences in baseline characteristics between treatment groups are properly adjusted, thus preventing regularization-induced bias.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4. Separate Tree Ensembles (BART Priors)</a:t>
            </a:r>
          </a:p>
          <a:p>
            <a:r>
              <a:rPr lang="en-US" sz="1200" b="0" u="none" strike="noStrike" kern="1200" dirty="0">
                <a:solidFill>
                  <a:schemeClr val="tx1"/>
                </a:solidFill>
                <a:effectLst/>
                <a:latin typeface="+mn-lt"/>
                <a:ea typeface="+mn-ea"/>
                <a:cs typeface="+mn-cs"/>
              </a:rPr>
              <a:t>BCF fits separate </a:t>
            </a:r>
            <a:r>
              <a:rPr lang="en-US" sz="1200" b="1" u="none" strike="noStrike" kern="1200" dirty="0">
                <a:solidFill>
                  <a:schemeClr val="tx1"/>
                </a:solidFill>
                <a:effectLst/>
                <a:latin typeface="+mn-lt"/>
                <a:ea typeface="+mn-ea"/>
                <a:cs typeface="+mn-cs"/>
              </a:rPr>
              <a:t>BART</a:t>
            </a:r>
            <a:r>
              <a:rPr lang="en-US" sz="1200" b="0" u="none" strike="noStrike" kern="1200" dirty="0">
                <a:solidFill>
                  <a:schemeClr val="tx1"/>
                </a:solidFill>
                <a:effectLst/>
                <a:latin typeface="+mn-lt"/>
                <a:ea typeface="+mn-ea"/>
                <a:cs typeface="+mn-cs"/>
              </a:rPr>
              <a:t> (Bayesian Additive Regression Trees) ensembles for both the prognostic function (\(\mu \)) and the treatment effect function (\(\tau \)): [</a:t>
            </a:r>
            <a:r>
              <a:rPr lang="en-US" sz="1200" b="0" u="none" strike="noStrike" kern="1200" dirty="0">
                <a:solidFill>
                  <a:schemeClr val="tx1"/>
                </a:solidFill>
                <a:effectLst/>
                <a:latin typeface="+mn-lt"/>
                <a:ea typeface="+mn-ea"/>
                <a:cs typeface="+mn-cs"/>
                <a:hlinkClick r:id="rId1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3</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4</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Prognostic Tree Ensemble (\(\mu \))</a:t>
            </a:r>
            <a:r>
              <a:rPr lang="en-US" sz="1200" b="0" u="none" strike="noStrike" kern="1200" dirty="0">
                <a:solidFill>
                  <a:schemeClr val="tx1"/>
                </a:solidFill>
                <a:effectLst/>
                <a:latin typeface="+mn-lt"/>
                <a:ea typeface="+mn-ea"/>
                <a:cs typeface="+mn-cs"/>
              </a:rPr>
              <a:t>: Learns how the baseline variables affect the overall outcome.</a:t>
            </a:r>
          </a:p>
          <a:p>
            <a:r>
              <a:rPr lang="en-US" sz="1200" b="1" u="none" strike="noStrike" kern="1200" dirty="0">
                <a:solidFill>
                  <a:schemeClr val="tx1"/>
                </a:solidFill>
                <a:effectLst/>
                <a:latin typeface="+mn-lt"/>
                <a:ea typeface="+mn-ea"/>
                <a:cs typeface="+mn-cs"/>
              </a:rPr>
              <a:t>Treatment Effect Tree Ensemble (\(\tau \))</a:t>
            </a:r>
            <a:r>
              <a:rPr lang="en-US" sz="1200" b="0" u="none" strike="noStrike" kern="1200" dirty="0">
                <a:solidFill>
                  <a:schemeClr val="tx1"/>
                </a:solidFill>
                <a:effectLst/>
                <a:latin typeface="+mn-lt"/>
                <a:ea typeface="+mn-ea"/>
                <a:cs typeface="+mn-cs"/>
              </a:rPr>
              <a:t>: Learns how the treatment effect varies across different subgroups of covariates.</a:t>
            </a:r>
          </a:p>
          <a:p>
            <a:r>
              <a:rPr lang="en-US" sz="1200" b="0" u="none" strike="noStrike" kern="1200" dirty="0">
                <a:solidFill>
                  <a:schemeClr val="tx1"/>
                </a:solidFill>
                <a:effectLst/>
                <a:latin typeface="+mn-lt"/>
                <a:ea typeface="+mn-ea"/>
                <a:cs typeface="+mn-cs"/>
              </a:rPr>
              <a:t>By enforcing separate Bayesian priors, the model can apply stricter regularization to the treatment effect, allowing the model to shrink estimates towards a homogeneous effect if data is sparse.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4"/>
              </a:rPr>
              <a:t>3</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5. Markov Chain Monte Carlo (MCMC) Sampling</a:t>
            </a:r>
          </a:p>
          <a:p>
            <a:r>
              <a:rPr lang="en-US" sz="1200" b="0" u="none" strike="noStrike" kern="1200" dirty="0">
                <a:solidFill>
                  <a:schemeClr val="tx1"/>
                </a:solidFill>
                <a:effectLst/>
                <a:latin typeface="+mn-lt"/>
                <a:ea typeface="+mn-ea"/>
                <a:cs typeface="+mn-cs"/>
              </a:rPr>
              <a:t>BCF uses an MCMC algorithm (specifically, </a:t>
            </a:r>
            <a:r>
              <a:rPr lang="en-US" sz="1200" b="0" u="none" strike="noStrike" kern="1200" dirty="0" err="1">
                <a:solidFill>
                  <a:schemeClr val="tx1"/>
                </a:solidFill>
                <a:effectLst/>
                <a:latin typeface="+mn-lt"/>
                <a:ea typeface="+mn-ea"/>
                <a:cs typeface="+mn-cs"/>
              </a:rPr>
              <a:t>blockwise</a:t>
            </a:r>
            <a:r>
              <a:rPr lang="en-US" sz="1200" b="0" u="none" strike="noStrike" kern="1200" dirty="0">
                <a:solidFill>
                  <a:schemeClr val="tx1"/>
                </a:solidFill>
                <a:effectLst/>
                <a:latin typeface="+mn-lt"/>
                <a:ea typeface="+mn-ea"/>
                <a:cs typeface="+mn-cs"/>
              </a:rPr>
              <a:t> Bayesian </a:t>
            </a:r>
            <a:r>
              <a:rPr lang="en-US" sz="1200" b="0" u="none" strike="noStrike" kern="1200" dirty="0" err="1">
                <a:solidFill>
                  <a:schemeClr val="tx1"/>
                </a:solidFill>
                <a:effectLst/>
                <a:latin typeface="+mn-lt"/>
                <a:ea typeface="+mn-ea"/>
                <a:cs typeface="+mn-cs"/>
              </a:rPr>
              <a:t>backfitting</a:t>
            </a:r>
            <a:r>
              <a:rPr lang="en-US" sz="1200" b="0" u="none" strike="noStrike" kern="1200" dirty="0">
                <a:solidFill>
                  <a:schemeClr val="tx1"/>
                </a:solidFill>
                <a:effectLst/>
                <a:latin typeface="+mn-lt"/>
                <a:ea typeface="+mn-ea"/>
                <a:cs typeface="+mn-cs"/>
              </a:rPr>
              <a:t>) to estimate the parameters iteratively: [</a:t>
            </a:r>
            <a:r>
              <a:rPr lang="en-US" sz="1200" b="0" u="none" strike="noStrike" kern="1200" dirty="0">
                <a:solidFill>
                  <a:schemeClr val="tx1"/>
                </a:solidFill>
                <a:effectLst/>
                <a:latin typeface="+mn-lt"/>
                <a:ea typeface="+mn-ea"/>
                <a:cs typeface="+mn-cs"/>
                <a:hlinkClick r:id="rId9"/>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5"/>
              </a:rPr>
              <a:t>3</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Step A</a:t>
            </a:r>
            <a:r>
              <a:rPr lang="en-US" sz="1200" b="0" u="none" strike="noStrike" kern="1200" dirty="0">
                <a:solidFill>
                  <a:schemeClr val="tx1"/>
                </a:solidFill>
                <a:effectLst/>
                <a:latin typeface="+mn-lt"/>
                <a:ea typeface="+mn-ea"/>
                <a:cs typeface="+mn-cs"/>
              </a:rPr>
              <a:t>: The algorithm updates the tree structures and leaf parameters for the prognostic forest (\(\mu \)) by holding the treatment effect forest (\(\tau \)) constant.</a:t>
            </a:r>
          </a:p>
          <a:p>
            <a:r>
              <a:rPr lang="en-US" sz="1200" b="1" u="none" strike="noStrike" kern="1200" dirty="0">
                <a:solidFill>
                  <a:schemeClr val="tx1"/>
                </a:solidFill>
                <a:effectLst/>
                <a:latin typeface="+mn-lt"/>
                <a:ea typeface="+mn-ea"/>
                <a:cs typeface="+mn-cs"/>
              </a:rPr>
              <a:t>Step B</a:t>
            </a:r>
            <a:r>
              <a:rPr lang="en-US" sz="1200" b="0" u="none" strike="noStrike" kern="1200" dirty="0">
                <a:solidFill>
                  <a:schemeClr val="tx1"/>
                </a:solidFill>
                <a:effectLst/>
                <a:latin typeface="+mn-lt"/>
                <a:ea typeface="+mn-ea"/>
                <a:cs typeface="+mn-cs"/>
              </a:rPr>
              <a:t>: It then updates the trees for the treatment effect forest (\(\tau \)) while holding the prognostic forest (\(\mu \)) constant.</a:t>
            </a:r>
          </a:p>
          <a:p>
            <a:r>
              <a:rPr lang="en-US" sz="1200" b="0" u="none" strike="noStrike" kern="1200" dirty="0">
                <a:solidFill>
                  <a:schemeClr val="tx1"/>
                </a:solidFill>
                <a:effectLst/>
                <a:latin typeface="+mn-lt"/>
                <a:ea typeface="+mn-ea"/>
                <a:cs typeface="+mn-cs"/>
              </a:rPr>
              <a:t>This iterative </a:t>
            </a:r>
            <a:r>
              <a:rPr lang="en-US" sz="1200" b="0" u="none" strike="noStrike" kern="1200" dirty="0" err="1">
                <a:solidFill>
                  <a:schemeClr val="tx1"/>
                </a:solidFill>
                <a:effectLst/>
                <a:latin typeface="+mn-lt"/>
                <a:ea typeface="+mn-ea"/>
                <a:cs typeface="+mn-cs"/>
              </a:rPr>
              <a:t>backfitting</a:t>
            </a:r>
            <a:r>
              <a:rPr lang="en-US" sz="1200" b="0" u="none" strike="noStrike" kern="1200" dirty="0">
                <a:solidFill>
                  <a:schemeClr val="tx1"/>
                </a:solidFill>
                <a:effectLst/>
                <a:latin typeface="+mn-lt"/>
                <a:ea typeface="+mn-ea"/>
                <a:cs typeface="+mn-cs"/>
              </a:rPr>
              <a:t> process generates thousands of posterior draws of the trees, which together construct the model and its uncertainty. [</a:t>
            </a:r>
            <a:r>
              <a:rPr lang="en-US" sz="1200" b="0" u="none" strike="noStrike" kern="1200" dirty="0">
                <a:solidFill>
                  <a:schemeClr val="tx1"/>
                </a:solidFill>
                <a:effectLst/>
                <a:latin typeface="+mn-lt"/>
                <a:ea typeface="+mn-ea"/>
                <a:cs typeface="+mn-cs"/>
                <a:hlinkClick r:id="rId16"/>
              </a:rPr>
              <a:t>1</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6. Posterior Inference and Uncertainty Quantification</a:t>
            </a:r>
          </a:p>
          <a:p>
            <a:r>
              <a:rPr lang="en-US" sz="1200" b="0" u="none" strike="noStrike" kern="1200" dirty="0">
                <a:solidFill>
                  <a:schemeClr val="tx1"/>
                </a:solidFill>
                <a:effectLst/>
                <a:latin typeface="+mn-lt"/>
                <a:ea typeface="+mn-ea"/>
                <a:cs typeface="+mn-cs"/>
              </a:rPr>
              <a:t>Instead of outputting a single point estimate, BCF yields a full posterior distribution for the causal effect. [</a:t>
            </a:r>
            <a:r>
              <a:rPr lang="en-US" sz="1200" b="0" u="none" strike="noStrike" kern="1200" dirty="0">
                <a:solidFill>
                  <a:schemeClr val="tx1"/>
                </a:solidFill>
                <a:effectLst/>
                <a:latin typeface="+mn-lt"/>
                <a:ea typeface="+mn-ea"/>
                <a:cs typeface="+mn-cs"/>
                <a:hlinkClick r:id="rId5"/>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7"/>
              </a:rPr>
              <a:t>2</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You can extract the Conditional Average Treatment Effect (CATE) for any individual \(</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by taking the average of the posterior draws of \(\tau(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Because it outputs a distribution, you can easily calculate </a:t>
            </a:r>
            <a:r>
              <a:rPr lang="en-US" sz="1200" b="1" u="none" strike="noStrike" kern="1200" dirty="0">
                <a:solidFill>
                  <a:schemeClr val="tx1"/>
                </a:solidFill>
                <a:effectLst/>
                <a:latin typeface="+mn-lt"/>
                <a:ea typeface="+mn-ea"/>
                <a:cs typeface="+mn-cs"/>
              </a:rPr>
              <a:t>credible intervals</a:t>
            </a:r>
            <a:r>
              <a:rPr lang="en-US" sz="1200" b="0" u="none" strike="noStrike" kern="1200" dirty="0">
                <a:solidFill>
                  <a:schemeClr val="tx1"/>
                </a:solidFill>
                <a:effectLst/>
                <a:latin typeface="+mn-lt"/>
                <a:ea typeface="+mn-ea"/>
                <a:cs typeface="+mn-cs"/>
              </a:rPr>
              <a:t> (e.g., 95% intervals) to quantify uncertainty natively. [</a:t>
            </a:r>
            <a:r>
              <a:rPr lang="en-US" sz="1200" b="0" u="none" strike="noStrike" kern="1200" dirty="0">
                <a:solidFill>
                  <a:schemeClr val="tx1"/>
                </a:solidFill>
                <a:effectLst/>
                <a:latin typeface="+mn-lt"/>
                <a:ea typeface="+mn-ea"/>
                <a:cs typeface="+mn-cs"/>
                <a:hlinkClick r:id="rId8"/>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8"/>
              </a:rPr>
              <a:t>4</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5</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If you are planning to implement this, let me know:</a:t>
            </a:r>
          </a:p>
          <a:p>
            <a:r>
              <a:rPr lang="en-US" sz="1200" b="0" u="none" strike="noStrike" kern="1200" dirty="0">
                <a:solidFill>
                  <a:schemeClr val="tx1"/>
                </a:solidFill>
                <a:effectLst/>
                <a:latin typeface="+mn-lt"/>
                <a:ea typeface="+mn-ea"/>
                <a:cs typeface="+mn-cs"/>
              </a:rPr>
              <a:t>What </a:t>
            </a:r>
            <a:r>
              <a:rPr lang="en-US" sz="1200" b="1" u="none" strike="noStrike" kern="1200" dirty="0">
                <a:solidFill>
                  <a:schemeClr val="tx1"/>
                </a:solidFill>
                <a:effectLst/>
                <a:latin typeface="+mn-lt"/>
                <a:ea typeface="+mn-ea"/>
                <a:cs typeface="+mn-cs"/>
              </a:rPr>
              <a:t>software or language</a:t>
            </a:r>
            <a:r>
              <a:rPr lang="en-US" sz="1200" b="0" u="none" strike="noStrike" kern="1200" dirty="0">
                <a:solidFill>
                  <a:schemeClr val="tx1"/>
                </a:solidFill>
                <a:effectLst/>
                <a:latin typeface="+mn-lt"/>
                <a:ea typeface="+mn-ea"/>
                <a:cs typeface="+mn-cs"/>
              </a:rPr>
              <a:t> you are using (e.g., R's </a:t>
            </a:r>
            <a:r>
              <a:rPr lang="en-US" sz="1200" b="0" u="none" strike="noStrike" kern="1200" dirty="0" err="1">
                <a:solidFill>
                  <a:schemeClr val="tx1"/>
                </a:solidFill>
                <a:effectLst/>
                <a:latin typeface="+mn-lt"/>
                <a:ea typeface="+mn-ea"/>
                <a:cs typeface="+mn-cs"/>
              </a:rPr>
              <a:t>bcf</a:t>
            </a:r>
            <a:r>
              <a:rPr lang="en-US" sz="1200" b="0" u="none" strike="noStrike" kern="1200" dirty="0">
                <a:solidFill>
                  <a:schemeClr val="tx1"/>
                </a:solidFill>
                <a:effectLst/>
                <a:latin typeface="+mn-lt"/>
                <a:ea typeface="+mn-ea"/>
                <a:cs typeface="+mn-cs"/>
              </a:rPr>
              <a:t> package or Python's </a:t>
            </a:r>
            <a:r>
              <a:rPr lang="en-US" sz="1200" b="0" u="none" strike="noStrike" kern="1200" dirty="0" err="1">
                <a:solidFill>
                  <a:schemeClr val="tx1"/>
                </a:solidFill>
                <a:effectLst/>
                <a:latin typeface="+mn-lt"/>
                <a:ea typeface="+mn-ea"/>
                <a:cs typeface="+mn-cs"/>
              </a:rPr>
              <a:t>stochtree</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Whether your treatment is </a:t>
            </a:r>
            <a:r>
              <a:rPr lang="en-US" sz="1200" b="1" u="none" strike="noStrike" kern="1200" dirty="0">
                <a:solidFill>
                  <a:schemeClr val="tx1"/>
                </a:solidFill>
                <a:effectLst/>
                <a:latin typeface="+mn-lt"/>
                <a:ea typeface="+mn-ea"/>
                <a:cs typeface="+mn-cs"/>
              </a:rPr>
              <a:t>binary or continuous</a:t>
            </a:r>
            <a:endParaRPr lang="en-US" sz="1200" b="0" u="none" strike="noStrike" kern="1200" dirty="0">
              <a:solidFill>
                <a:schemeClr val="tx1"/>
              </a:solidFill>
              <a:effectLst/>
              <a:latin typeface="+mn-lt"/>
              <a:ea typeface="+mn-ea"/>
              <a:cs typeface="+mn-cs"/>
            </a:endParaRPr>
          </a:p>
          <a:p>
            <a:r>
              <a:rPr lang="en-US" sz="1200" b="0" u="none" strike="noStrike" kern="1200" dirty="0">
                <a:solidFill>
                  <a:schemeClr val="tx1"/>
                </a:solidFill>
                <a:effectLst/>
                <a:latin typeface="+mn-lt"/>
                <a:ea typeface="+mn-ea"/>
                <a:cs typeface="+mn-cs"/>
              </a:rPr>
              <a:t>If you want to know how to </a:t>
            </a:r>
            <a:r>
              <a:rPr lang="en-US" sz="1200" b="1" u="none" strike="noStrike" kern="1200" dirty="0">
                <a:solidFill>
                  <a:schemeClr val="tx1"/>
                </a:solidFill>
                <a:effectLst/>
                <a:latin typeface="+mn-lt"/>
                <a:ea typeface="+mn-ea"/>
                <a:cs typeface="+mn-cs"/>
              </a:rPr>
              <a:t>interpret the outputted CATE</a:t>
            </a:r>
            <a:endParaRPr lang="en-US" sz="1200" b="0" u="none" strike="noStrike" kern="1200" dirty="0">
              <a:solidFill>
                <a:schemeClr val="tx1"/>
              </a:solidFill>
              <a:effectLst/>
              <a:latin typeface="+mn-lt"/>
              <a:ea typeface="+mn-ea"/>
              <a:cs typeface="+mn-cs"/>
            </a:endParaRPr>
          </a:p>
          <a:p>
            <a:r>
              <a:rPr lang="en-US" sz="1200" b="0" u="none" strike="noStrike" kern="1200" dirty="0">
                <a:solidFill>
                  <a:schemeClr val="tx1"/>
                </a:solidFill>
                <a:effectLst/>
                <a:latin typeface="+mn-lt"/>
                <a:ea typeface="+mn-ea"/>
                <a:cs typeface="+mn-cs"/>
              </a:rPr>
              <a:t>I can give you the specific code or analysis steps tailored to your environment.</a:t>
            </a:r>
          </a:p>
          <a:p>
            <a:pPr>
              <a:defRPr/>
            </a:pPr>
            <a:endParaRPr lang="de-DE" dirty="0"/>
          </a:p>
        </p:txBody>
      </p:sp>
      <p:sp>
        <p:nvSpPr>
          <p:cNvPr id="1416629939" name="Foliennummernplatzhalt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057F9-B2ED-4B9D-B0F2-D3AD44C3FAB4}" type="slidenum">
              <a:rPr kumimoji="0" lang="de-DE"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30817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28984289" name="Folienbildplatzhalter 1"/>
          <p:cNvSpPr>
            <a:spLocks noGrp="1" noRot="1" noChangeAspect="1"/>
          </p:cNvSpPr>
          <p:nvPr>
            <p:ph type="sldImg"/>
          </p:nvPr>
        </p:nvSpPr>
        <p:spPr bwMode="auto"/>
      </p:sp>
      <p:sp>
        <p:nvSpPr>
          <p:cNvPr id="1667454889" name="Notizenplatzhalter 2"/>
          <p:cNvSpPr>
            <a:spLocks noGrp="1"/>
          </p:cNvSpPr>
          <p:nvPr>
            <p:ph type="body" idx="1"/>
          </p:nvPr>
        </p:nvSpPr>
        <p:spPr bwMode="auto"/>
        <p:txBody>
          <a:bodyPr/>
          <a:lstStyle/>
          <a:p>
            <a:r>
              <a:rPr lang="en-US" sz="1200" b="0" u="none" strike="noStrike" kern="1200" dirty="0">
                <a:solidFill>
                  <a:schemeClr val="tx1"/>
                </a:solidFill>
                <a:effectLst/>
                <a:latin typeface="+mn-lt"/>
                <a:ea typeface="+mn-ea"/>
                <a:cs typeface="+mn-cs"/>
              </a:rPr>
              <a:t>Divorce only makes people happier if they already have a new lover.</a:t>
            </a:r>
          </a:p>
          <a:p>
            <a:r>
              <a:rPr lang="en-US" sz="1200" b="0" u="none" strike="noStrike" kern="1200" dirty="0">
                <a:solidFill>
                  <a:schemeClr val="tx1"/>
                </a:solidFill>
                <a:effectLst/>
                <a:latin typeface="+mn-lt"/>
                <a:ea typeface="+mn-ea"/>
                <a:cs typeface="+mn-cs"/>
              </a:rPr>
              <a:t>- For people with a new lover, divorce may make them happier, bur organizing a new lover w</a:t>
            </a:r>
          </a:p>
          <a:p>
            <a:endParaRPr lang="en-US" sz="1200" b="0" u="none" strike="noStrike" kern="1200" dirty="0">
              <a:solidFill>
                <a:schemeClr val="tx1"/>
              </a:solidFill>
              <a:effectLst/>
              <a:latin typeface="+mn-lt"/>
              <a:ea typeface="+mn-ea"/>
              <a:cs typeface="+mn-cs"/>
            </a:endParaRPr>
          </a:p>
          <a:p>
            <a:r>
              <a:rPr lang="en-US" sz="1200" b="0" u="none" strike="noStrike" kern="1200" dirty="0">
                <a:solidFill>
                  <a:schemeClr val="tx1"/>
                </a:solidFill>
                <a:effectLst/>
                <a:latin typeface="+mn-lt"/>
                <a:ea typeface="+mn-ea"/>
                <a:cs typeface="+mn-cs"/>
              </a:rPr>
              <a:t>Up next:</a:t>
            </a:r>
          </a:p>
          <a:p>
            <a:pPr marL="171450" indent="-171450">
              <a:buFontTx/>
              <a:buChar char="-"/>
            </a:pPr>
            <a:r>
              <a:rPr lang="en-US" sz="1200" b="0" u="none" strike="noStrike" kern="1200" dirty="0">
                <a:solidFill>
                  <a:schemeClr val="tx1"/>
                </a:solidFill>
                <a:effectLst/>
                <a:latin typeface="+mn-lt"/>
                <a:ea typeface="+mn-ea"/>
                <a:cs typeface="+mn-cs"/>
              </a:rPr>
              <a:t>Show what BCF and related stuff (debiased, discovery) can(not) do</a:t>
            </a:r>
          </a:p>
          <a:p>
            <a:pPr marL="171450" indent="-171450">
              <a:buFontTx/>
              <a:buChar char="-"/>
            </a:pPr>
            <a:r>
              <a:rPr lang="en-US" sz="1200" b="0" u="none" strike="noStrike" kern="1200" dirty="0">
                <a:solidFill>
                  <a:schemeClr val="tx1"/>
                </a:solidFill>
                <a:effectLst/>
                <a:latin typeface="+mn-lt"/>
                <a:ea typeface="+mn-ea"/>
                <a:cs typeface="+mn-cs"/>
              </a:rPr>
              <a:t>Go back to example: Now we know that the identifiability issue is the same (causal sufficiency), let`s look into the example: See that they made mistakes.</a:t>
            </a:r>
          </a:p>
          <a:p>
            <a:pPr marL="171450" indent="-171450">
              <a:buFontTx/>
              <a:buChar char="-"/>
            </a:pPr>
            <a:r>
              <a:rPr lang="en-US" sz="1200" b="0" u="none" strike="noStrike" kern="1200" dirty="0">
                <a:solidFill>
                  <a:schemeClr val="tx1"/>
                </a:solidFill>
                <a:effectLst/>
                <a:latin typeface="+mn-lt"/>
                <a:ea typeface="+mn-ea"/>
                <a:cs typeface="+mn-cs"/>
              </a:rPr>
              <a:t>Conclusions: It does not help with causal sufficiency</a:t>
            </a:r>
          </a:p>
          <a:p>
            <a:pPr marL="171450" indent="-171450">
              <a:buFontTx/>
              <a:buChar char="-"/>
            </a:pPr>
            <a:r>
              <a:rPr lang="en-US" sz="1200" b="0" u="none" strike="noStrike" kern="1200" dirty="0">
                <a:solidFill>
                  <a:schemeClr val="tx1"/>
                </a:solidFill>
                <a:effectLst/>
                <a:latin typeface="+mn-lt"/>
                <a:ea typeface="+mn-ea"/>
                <a:cs typeface="+mn-cs"/>
              </a:rPr>
              <a:t>It helps with identification of the correct model (with data points in the 10,000s)</a:t>
            </a:r>
          </a:p>
          <a:p>
            <a:pPr marL="171450" indent="-171450">
              <a:buFontTx/>
              <a:buChar char="-"/>
            </a:pPr>
            <a:r>
              <a:rPr lang="en-US" sz="1200" b="0" u="none" strike="noStrike" kern="1200" dirty="0">
                <a:solidFill>
                  <a:schemeClr val="tx1"/>
                </a:solidFill>
                <a:effectLst/>
                <a:latin typeface="+mn-lt"/>
                <a:ea typeface="+mn-ea"/>
                <a:cs typeface="+mn-cs"/>
              </a:rPr>
              <a:t>Hypothesis 1: Portraying a study as using CML as a tool that allows identifying causal effects increases the change that readers </a:t>
            </a:r>
            <a:r>
              <a:rPr lang="en-US" sz="1200" b="0" u="none" strike="noStrike" kern="1200" dirty="0" err="1">
                <a:solidFill>
                  <a:schemeClr val="tx1"/>
                </a:solidFill>
                <a:effectLst/>
                <a:latin typeface="+mn-lt"/>
                <a:ea typeface="+mn-ea"/>
                <a:cs typeface="+mn-cs"/>
              </a:rPr>
              <a:t>ausblenden</a:t>
            </a:r>
            <a:r>
              <a:rPr lang="en-US" sz="1200" b="0" u="none" strike="noStrike" kern="1200" dirty="0">
                <a:solidFill>
                  <a:schemeClr val="tx1"/>
                </a:solidFill>
                <a:effectLst/>
                <a:latin typeface="+mn-lt"/>
                <a:ea typeface="+mn-ea"/>
                <a:cs typeface="+mn-cs"/>
              </a:rPr>
              <a:t> the necessary preconditions for causal inference (dependent on how aware they are of them?)</a:t>
            </a:r>
          </a:p>
          <a:p>
            <a:pPr marL="171450" indent="-171450">
              <a:buFontTx/>
              <a:buChar char="-"/>
            </a:pPr>
            <a:r>
              <a:rPr lang="en-US" sz="1200" b="0" u="none" strike="noStrike" kern="1200" dirty="0">
                <a:solidFill>
                  <a:schemeClr val="tx1"/>
                </a:solidFill>
                <a:effectLst/>
                <a:latin typeface="+mn-lt"/>
                <a:ea typeface="+mn-ea"/>
                <a:cs typeface="+mn-cs"/>
              </a:rPr>
              <a:t>Hypothesis 2: The same for moderation effects? Observed moderation misinterpreted as causal moderation? &lt;- Overlooked?</a:t>
            </a:r>
          </a:p>
          <a:p>
            <a:pPr marL="171450" indent="-171450">
              <a:buFontTx/>
              <a:buChar char="-"/>
            </a:pPr>
            <a:r>
              <a:rPr lang="en-US" sz="1200" b="0" u="none" strike="noStrike" kern="1200" dirty="0">
                <a:solidFill>
                  <a:schemeClr val="tx1"/>
                </a:solidFill>
                <a:effectLst/>
                <a:latin typeface="+mn-lt"/>
                <a:ea typeface="+mn-ea"/>
                <a:cs typeface="+mn-cs"/>
              </a:rPr>
              <a:t>Hypothesis 3: CML provides affordances regarding </a:t>
            </a:r>
            <a:r>
              <a:rPr lang="en-US" sz="1200" b="1" u="none" strike="noStrike" kern="1200" dirty="0">
                <a:solidFill>
                  <a:schemeClr val="tx1"/>
                </a:solidFill>
                <a:effectLst/>
                <a:latin typeface="+mn-lt"/>
                <a:ea typeface="+mn-ea"/>
                <a:cs typeface="+mn-cs"/>
              </a:rPr>
              <a:t>model identification</a:t>
            </a:r>
            <a:r>
              <a:rPr lang="en-US" sz="1200" b="0" u="none" strike="noStrike" kern="1200" dirty="0">
                <a:solidFill>
                  <a:schemeClr val="tx1"/>
                </a:solidFill>
                <a:effectLst/>
                <a:latin typeface="+mn-lt"/>
                <a:ea typeface="+mn-ea"/>
                <a:cs typeface="+mn-cs"/>
              </a:rPr>
              <a:t> that </a:t>
            </a:r>
            <a:r>
              <a:rPr lang="en-US" sz="1200" b="0" i="1" u="none" strike="noStrike" kern="1200" dirty="0">
                <a:solidFill>
                  <a:schemeClr val="tx1"/>
                </a:solidFill>
                <a:effectLst/>
                <a:latin typeface="+mn-lt"/>
                <a:ea typeface="+mn-ea"/>
                <a:cs typeface="+mn-cs"/>
              </a:rPr>
              <a:t>are </a:t>
            </a:r>
            <a:r>
              <a:rPr lang="en-US" sz="1200" b="0" u="none" strike="noStrike" kern="1200" dirty="0">
                <a:solidFill>
                  <a:schemeClr val="tx1"/>
                </a:solidFill>
                <a:effectLst/>
                <a:latin typeface="+mn-lt"/>
                <a:ea typeface="+mn-ea"/>
                <a:cs typeface="+mn-cs"/>
              </a:rPr>
              <a:t>currently overlooked (or disregarded) in applied research (such as soc or psych)</a:t>
            </a:r>
          </a:p>
          <a:p>
            <a:pPr marL="171450" indent="-171450">
              <a:buFontTx/>
              <a:buChar char="-"/>
            </a:pPr>
            <a:endParaRPr lang="en-US" sz="1200" b="0" u="none" strike="noStrike" kern="1200" dirty="0">
              <a:solidFill>
                <a:schemeClr val="tx1"/>
              </a:solidFill>
              <a:effectLst/>
              <a:latin typeface="+mn-lt"/>
              <a:ea typeface="+mn-ea"/>
              <a:cs typeface="+mn-cs"/>
            </a:endParaRPr>
          </a:p>
          <a:p>
            <a:pPr marL="171450" indent="-171450">
              <a:buFontTx/>
              <a:buChar char="-"/>
            </a:pPr>
            <a:r>
              <a:rPr lang="en-US" sz="1200" b="0" u="none" strike="noStrike" kern="1200" dirty="0">
                <a:solidFill>
                  <a:schemeClr val="tx1"/>
                </a:solidFill>
                <a:effectLst/>
                <a:latin typeface="+mn-lt"/>
                <a:ea typeface="+mn-ea"/>
                <a:cs typeface="+mn-cs"/>
              </a:rPr>
              <a:t>Implications:</a:t>
            </a:r>
          </a:p>
          <a:p>
            <a:pPr marL="171450" indent="-171450">
              <a:buFontTx/>
              <a:buChar char="-"/>
            </a:pPr>
            <a:endParaRPr lang="en-US" sz="1200" b="0" u="none" strike="noStrike" kern="1200" dirty="0">
              <a:solidFill>
                <a:schemeClr val="tx1"/>
              </a:solidFill>
              <a:effectLst/>
              <a:latin typeface="+mn-lt"/>
              <a:ea typeface="+mn-ea"/>
              <a:cs typeface="+mn-cs"/>
            </a:endParaRPr>
          </a:p>
          <a:p>
            <a:pPr marL="171450" indent="-171450">
              <a:buFontTx/>
              <a:buChar char="-"/>
            </a:pPr>
            <a:endParaRPr lang="en-US" sz="1200" b="0" u="none" strike="noStrike" kern="1200" dirty="0">
              <a:solidFill>
                <a:schemeClr val="tx1"/>
              </a:solidFill>
              <a:effectLst/>
              <a:latin typeface="+mn-lt"/>
              <a:ea typeface="+mn-ea"/>
              <a:cs typeface="+mn-cs"/>
            </a:endParaRPr>
          </a:p>
          <a:p>
            <a:pPr marL="171450" indent="-171450">
              <a:buFontTx/>
              <a:buChar char="-"/>
            </a:pPr>
            <a:endParaRPr lang="en-US" sz="1200" b="0" u="none" strike="noStrike" kern="1200" dirty="0">
              <a:solidFill>
                <a:schemeClr val="tx1"/>
              </a:solidFill>
              <a:effectLst/>
              <a:latin typeface="+mn-lt"/>
              <a:ea typeface="+mn-ea"/>
              <a:cs typeface="+mn-cs"/>
            </a:endParaRPr>
          </a:p>
          <a:p>
            <a:endParaRPr lang="en-US" sz="1200" b="0" u="none" strike="noStrike" kern="1200" dirty="0">
              <a:solidFill>
                <a:schemeClr val="tx1"/>
              </a:solidFill>
              <a:effectLst/>
              <a:latin typeface="+mn-lt"/>
              <a:ea typeface="+mn-ea"/>
              <a:cs typeface="+mn-cs"/>
            </a:endParaRPr>
          </a:p>
          <a:p>
            <a:r>
              <a:rPr lang="en-US" sz="1200" b="0" u="none" strike="noStrike" kern="1200" dirty="0">
                <a:solidFill>
                  <a:schemeClr val="tx1"/>
                </a:solidFill>
                <a:effectLst/>
                <a:latin typeface="+mn-lt"/>
                <a:ea typeface="+mn-ea"/>
                <a:cs typeface="+mn-cs"/>
              </a:rPr>
              <a:t>A </a:t>
            </a:r>
            <a:r>
              <a:rPr lang="en-US" sz="1200" b="1" u="none" strike="noStrike" kern="1200" dirty="0">
                <a:solidFill>
                  <a:schemeClr val="tx1"/>
                </a:solidFill>
                <a:effectLst/>
                <a:latin typeface="+mn-lt"/>
                <a:ea typeface="+mn-ea"/>
                <a:cs typeface="+mn-cs"/>
              </a:rPr>
              <a:t>Bayesian Causal Forest (BCF)</a:t>
            </a:r>
            <a:r>
              <a:rPr lang="en-US" sz="1200" b="0" u="none" strike="noStrike" kern="1200" dirty="0">
                <a:solidFill>
                  <a:schemeClr val="tx1"/>
                </a:solidFill>
                <a:effectLst/>
                <a:latin typeface="+mn-lt"/>
                <a:ea typeface="+mn-ea"/>
                <a:cs typeface="+mn-cs"/>
              </a:rPr>
              <a:t> model is a machine learning method used to estimate </a:t>
            </a:r>
            <a:r>
              <a:rPr lang="en-US" sz="1200" b="1" u="none" strike="noStrike" kern="1200" dirty="0">
                <a:solidFill>
                  <a:schemeClr val="tx1"/>
                </a:solidFill>
                <a:effectLst/>
                <a:latin typeface="+mn-lt"/>
                <a:ea typeface="+mn-ea"/>
                <a:cs typeface="+mn-cs"/>
              </a:rPr>
              <a:t>Heterogeneous Treatment Effects</a:t>
            </a:r>
            <a:r>
              <a:rPr lang="en-US" sz="1200" b="0" u="none" strike="noStrike" kern="1200" dirty="0">
                <a:solidFill>
                  <a:schemeClr val="tx1"/>
                </a:solidFill>
                <a:effectLst/>
                <a:latin typeface="+mn-lt"/>
                <a:ea typeface="+mn-ea"/>
                <a:cs typeface="+mn-cs"/>
              </a:rPr>
              <a:t> (HTE) from observational or experimental data. It separates the baseline outcome prediction from the causal effect itself, preventing bias and providing rigorous uncertainty estimates.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3</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6"/>
              </a:rPr>
              <a:t>4</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7"/>
              </a:rPr>
              <a:t>5</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Here is the step-by-step breakdown of how the BCF model works:</a:t>
            </a:r>
          </a:p>
          <a:p>
            <a:r>
              <a:rPr lang="en-US" sz="1200" b="1" u="none" strike="noStrike" kern="1200" dirty="0">
                <a:solidFill>
                  <a:schemeClr val="tx1"/>
                </a:solidFill>
                <a:effectLst/>
                <a:latin typeface="+mn-lt"/>
                <a:ea typeface="+mn-ea"/>
                <a:cs typeface="+mn-cs"/>
              </a:rPr>
              <a:t>1. Model Formulation and Decomposition</a:t>
            </a:r>
          </a:p>
          <a:p>
            <a:r>
              <a:rPr lang="en-US" sz="1200" b="0" u="none" strike="noStrike" kern="1200" dirty="0">
                <a:solidFill>
                  <a:schemeClr val="tx1"/>
                </a:solidFill>
                <a:effectLst/>
                <a:latin typeface="+mn-lt"/>
                <a:ea typeface="+mn-ea"/>
                <a:cs typeface="+mn-cs"/>
              </a:rPr>
              <a:t>BCF starts by splitting the observed outcome (\(Y_{</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for individual (\(</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into two distinct, additive parts:</a:t>
            </a:r>
            <a:br>
              <a:rPr lang="en-US" sz="1200" b="0" u="none" strike="noStrike" kern="1200" dirty="0">
                <a:solidFill>
                  <a:schemeClr val="tx1"/>
                </a:solidFill>
                <a:effectLst/>
                <a:latin typeface="+mn-lt"/>
                <a:ea typeface="+mn-ea"/>
                <a:cs typeface="+mn-cs"/>
              </a:rPr>
            </a:br>
            <a:r>
              <a:rPr lang="en-US" sz="1200" b="0" u="none" strike="noStrike" kern="1200" dirty="0">
                <a:solidFill>
                  <a:schemeClr val="tx1"/>
                </a:solidFill>
                <a:effectLst/>
                <a:latin typeface="+mn-lt"/>
                <a:ea typeface="+mn-ea"/>
                <a:cs typeface="+mn-cs"/>
              </a:rPr>
              <a:t>\(</a:t>
            </a:r>
            <a:r>
              <a:rPr lang="en-US" sz="1200" b="0" u="none" strike="noStrike" kern="1200" dirty="0" err="1">
                <a:solidFill>
                  <a:schemeClr val="tx1"/>
                </a:solidFill>
                <a:effectLst/>
                <a:latin typeface="+mn-lt"/>
                <a:ea typeface="+mn-ea"/>
                <a:cs typeface="+mn-cs"/>
              </a:rPr>
              <a:t>Y_i</a:t>
            </a:r>
            <a:r>
              <a:rPr lang="en-US" sz="1200" b="0" u="none" strike="noStrike" kern="1200" dirty="0">
                <a:solidFill>
                  <a:schemeClr val="tx1"/>
                </a:solidFill>
                <a:effectLst/>
                <a:latin typeface="+mn-lt"/>
                <a:ea typeface="+mn-ea"/>
                <a:cs typeface="+mn-cs"/>
              </a:rPr>
              <a:t> = \mu(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 \tau(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cdot</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W_i</a:t>
            </a:r>
            <a:r>
              <a:rPr lang="en-US" sz="1200" b="0" u="none" strike="noStrike" kern="1200" dirty="0">
                <a:solidFill>
                  <a:schemeClr val="tx1"/>
                </a:solidFill>
                <a:effectLst/>
                <a:latin typeface="+mn-lt"/>
                <a:ea typeface="+mn-ea"/>
                <a:cs typeface="+mn-cs"/>
              </a:rPr>
              <a:t> + \</a:t>
            </a:r>
            <a:r>
              <a:rPr lang="en-US" sz="1200" b="0" u="none" strike="noStrike" kern="1200" dirty="0" err="1">
                <a:solidFill>
                  <a:schemeClr val="tx1"/>
                </a:solidFill>
                <a:effectLst/>
                <a:latin typeface="+mn-lt"/>
                <a:ea typeface="+mn-ea"/>
                <a:cs typeface="+mn-cs"/>
              </a:rPr>
              <a:t>epsilon_i</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\(Y_{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observed outcome.</a:t>
            </a:r>
          </a:p>
          <a:p>
            <a:r>
              <a:rPr lang="en-US" sz="1200" b="1" u="none" strike="noStrike" kern="1200" dirty="0">
                <a:solidFill>
                  <a:schemeClr val="tx1"/>
                </a:solidFill>
                <a:effectLst/>
                <a:latin typeface="+mn-lt"/>
                <a:ea typeface="+mn-ea"/>
                <a:cs typeface="+mn-cs"/>
              </a:rPr>
              <a:t>\(X_{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vector of baseline covariates (control variables).</a:t>
            </a:r>
          </a:p>
          <a:p>
            <a:r>
              <a:rPr lang="en-US" sz="1200" b="1" u="none" strike="noStrike" kern="1200" dirty="0">
                <a:solidFill>
                  <a:schemeClr val="tx1"/>
                </a:solidFill>
                <a:effectLst/>
                <a:latin typeface="+mn-lt"/>
                <a:ea typeface="+mn-ea"/>
                <a:cs typeface="+mn-cs"/>
              </a:rPr>
              <a:t>\(W_{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treatment assignment indicator (\(1\) for treated, \(0\) for control).</a:t>
            </a:r>
          </a:p>
          <a:p>
            <a:r>
              <a:rPr lang="en-US" sz="1200" b="1" u="none" strike="noStrike" kern="1200" dirty="0">
                <a:solidFill>
                  <a:schemeClr val="tx1"/>
                </a:solidFill>
                <a:effectLst/>
                <a:latin typeface="+mn-lt"/>
                <a:ea typeface="+mn-ea"/>
                <a:cs typeface="+mn-cs"/>
              </a:rPr>
              <a:t>\(\mu(</a:t>
            </a:r>
            <a:r>
              <a:rPr lang="en-US" sz="1200" b="1" u="none" strike="noStrike" kern="1200" dirty="0" err="1">
                <a:solidFill>
                  <a:schemeClr val="tx1"/>
                </a:solidFill>
                <a:effectLst/>
                <a:latin typeface="+mn-lt"/>
                <a:ea typeface="+mn-ea"/>
                <a:cs typeface="+mn-cs"/>
              </a:rPr>
              <a:t>X_i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a:t>
            </a:r>
            <a:r>
              <a:rPr lang="en-US" sz="1200" b="0" i="1" u="none" strike="noStrike" kern="1200" dirty="0">
                <a:solidFill>
                  <a:schemeClr val="tx1"/>
                </a:solidFill>
                <a:effectLst/>
                <a:latin typeface="+mn-lt"/>
                <a:ea typeface="+mn-ea"/>
                <a:cs typeface="+mn-cs"/>
              </a:rPr>
              <a:t>prognostic function</a:t>
            </a:r>
            <a:r>
              <a:rPr lang="en-US" sz="1200" b="0" u="none" strike="noStrike" kern="1200" dirty="0">
                <a:solidFill>
                  <a:schemeClr val="tx1"/>
                </a:solidFill>
                <a:effectLst/>
                <a:latin typeface="+mn-lt"/>
                <a:ea typeface="+mn-ea"/>
                <a:cs typeface="+mn-cs"/>
              </a:rPr>
              <a:t> (baseline outcome for untreated individuals).</a:t>
            </a:r>
          </a:p>
          <a:p>
            <a:r>
              <a:rPr lang="en-US" sz="1200" b="1" u="none" strike="noStrike" kern="1200" dirty="0">
                <a:solidFill>
                  <a:schemeClr val="tx1"/>
                </a:solidFill>
                <a:effectLst/>
                <a:latin typeface="+mn-lt"/>
                <a:ea typeface="+mn-ea"/>
                <a:cs typeface="+mn-cs"/>
              </a:rPr>
              <a:t>\(\tau(</a:t>
            </a:r>
            <a:r>
              <a:rPr lang="en-US" sz="1200" b="1" u="none" strike="noStrike" kern="1200" dirty="0" err="1">
                <a:solidFill>
                  <a:schemeClr val="tx1"/>
                </a:solidFill>
                <a:effectLst/>
                <a:latin typeface="+mn-lt"/>
                <a:ea typeface="+mn-ea"/>
                <a:cs typeface="+mn-cs"/>
              </a:rPr>
              <a:t>X_i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a:t>
            </a:r>
            <a:r>
              <a:rPr lang="en-US" sz="1200" b="0" i="1" u="none" strike="noStrike" kern="1200" dirty="0">
                <a:solidFill>
                  <a:schemeClr val="tx1"/>
                </a:solidFill>
                <a:effectLst/>
                <a:latin typeface="+mn-lt"/>
                <a:ea typeface="+mn-ea"/>
                <a:cs typeface="+mn-cs"/>
              </a:rPr>
              <a:t>treatment effect function</a:t>
            </a:r>
            <a:r>
              <a:rPr lang="en-US" sz="1200" b="0" u="none" strike="noStrike" kern="1200" dirty="0">
                <a:solidFill>
                  <a:schemeClr val="tx1"/>
                </a:solidFill>
                <a:effectLst/>
                <a:latin typeface="+mn-lt"/>
                <a:ea typeface="+mn-ea"/>
                <a:cs typeface="+mn-cs"/>
              </a:rPr>
              <a:t> (Conditional Average Treatment Effect - CATE).</a:t>
            </a:r>
          </a:p>
          <a:p>
            <a:r>
              <a:rPr lang="en-US" sz="1200" b="1" u="none" strike="noStrike" kern="1200" dirty="0">
                <a:solidFill>
                  <a:schemeClr val="tx1"/>
                </a:solidFill>
                <a:effectLst/>
                <a:latin typeface="+mn-lt"/>
                <a:ea typeface="+mn-ea"/>
                <a:cs typeface="+mn-cs"/>
              </a:rPr>
              <a:t>\(\epsilon 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Normally distributed random error term (\(N(0, \sigma^2)\)). [</a:t>
            </a:r>
            <a:r>
              <a:rPr lang="en-US" sz="1200" b="0" u="none" strike="noStrike" kern="1200" dirty="0">
                <a:solidFill>
                  <a:schemeClr val="tx1"/>
                </a:solidFill>
                <a:effectLst/>
                <a:latin typeface="+mn-lt"/>
                <a:ea typeface="+mn-ea"/>
                <a:cs typeface="+mn-cs"/>
                <a:hlinkClick r:id="rId9"/>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0"/>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1"/>
              </a:rPr>
              <a:t>3</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4</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5</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2. Propensity Score Estimation</a:t>
            </a:r>
          </a:p>
          <a:p>
            <a:r>
              <a:rPr lang="en-US" sz="1200" b="0" u="none" strike="noStrike" kern="1200" dirty="0">
                <a:solidFill>
                  <a:schemeClr val="tx1"/>
                </a:solidFill>
                <a:effectLst/>
                <a:latin typeface="+mn-lt"/>
                <a:ea typeface="+mn-ea"/>
                <a:cs typeface="+mn-cs"/>
              </a:rPr>
              <a:t>Before fitting the tree ensembles, BCF usually requires an estimate of the </a:t>
            </a:r>
            <a:r>
              <a:rPr lang="en-US" sz="1200" b="1" u="none" strike="noStrike" kern="1200" dirty="0">
                <a:solidFill>
                  <a:schemeClr val="tx1"/>
                </a:solidFill>
                <a:effectLst/>
                <a:latin typeface="+mn-lt"/>
                <a:ea typeface="+mn-ea"/>
                <a:cs typeface="+mn-cs"/>
              </a:rPr>
              <a:t>propensity score</a:t>
            </a:r>
            <a:r>
              <a:rPr lang="en-US" sz="1200" b="0" u="none" strike="noStrike" kern="1200" dirty="0">
                <a:solidFill>
                  <a:schemeClr val="tx1"/>
                </a:solidFill>
                <a:effectLst/>
                <a:latin typeface="+mn-lt"/>
                <a:ea typeface="+mn-ea"/>
                <a:cs typeface="+mn-cs"/>
              </a:rPr>
              <a:t>, \(\hat{\pi}(</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which is the probability that an individual receives the treatment based on their covariates (\(X_{</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3</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This is typically calculated using a separate model (such as logistic regression or a random forest) prior to running the main BCF algorithm. [</a:t>
            </a:r>
            <a:r>
              <a:rPr lang="en-US" sz="1200" b="0" u="none" strike="noStrike" kern="1200" dirty="0">
                <a:solidFill>
                  <a:schemeClr val="tx1"/>
                </a:solidFill>
                <a:effectLst/>
                <a:latin typeface="+mn-lt"/>
                <a:ea typeface="+mn-ea"/>
                <a:cs typeface="+mn-cs"/>
                <a:hlinkClick r:id="rId12"/>
              </a:rPr>
              <a:t>1</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3. Incorporating the Propensity Score into the Baseline</a:t>
            </a:r>
          </a:p>
          <a:p>
            <a:r>
              <a:rPr lang="en-US" sz="1200" b="0" u="none" strike="noStrike" kern="1200" dirty="0">
                <a:solidFill>
                  <a:schemeClr val="tx1"/>
                </a:solidFill>
                <a:effectLst/>
                <a:latin typeface="+mn-lt"/>
                <a:ea typeface="+mn-ea"/>
                <a:cs typeface="+mn-cs"/>
              </a:rPr>
              <a:t>Unlike traditional Bayesian Additive Regression Trees (BART), BCF implicitly includes the estimated propensity score as a covariate in the prognostic function \(\mu(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\hat{\pi}_</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9"/>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2</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This step acts as a powerful confounding control, ensuring that differences in baseline characteristics between treatment groups are properly adjusted, thus preventing regularization-induced bias.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4. Separate Tree Ensembles (BART Priors)</a:t>
            </a:r>
          </a:p>
          <a:p>
            <a:r>
              <a:rPr lang="en-US" sz="1200" b="0" u="none" strike="noStrike" kern="1200" dirty="0">
                <a:solidFill>
                  <a:schemeClr val="tx1"/>
                </a:solidFill>
                <a:effectLst/>
                <a:latin typeface="+mn-lt"/>
                <a:ea typeface="+mn-ea"/>
                <a:cs typeface="+mn-cs"/>
              </a:rPr>
              <a:t>BCF fits separate </a:t>
            </a:r>
            <a:r>
              <a:rPr lang="en-US" sz="1200" b="1" u="none" strike="noStrike" kern="1200" dirty="0">
                <a:solidFill>
                  <a:schemeClr val="tx1"/>
                </a:solidFill>
                <a:effectLst/>
                <a:latin typeface="+mn-lt"/>
                <a:ea typeface="+mn-ea"/>
                <a:cs typeface="+mn-cs"/>
              </a:rPr>
              <a:t>BART</a:t>
            </a:r>
            <a:r>
              <a:rPr lang="en-US" sz="1200" b="0" u="none" strike="noStrike" kern="1200" dirty="0">
                <a:solidFill>
                  <a:schemeClr val="tx1"/>
                </a:solidFill>
                <a:effectLst/>
                <a:latin typeface="+mn-lt"/>
                <a:ea typeface="+mn-ea"/>
                <a:cs typeface="+mn-cs"/>
              </a:rPr>
              <a:t> (Bayesian Additive Regression Trees) ensembles for both the prognostic function (\(\mu \)) and the treatment effect function (\(\tau \)): [</a:t>
            </a:r>
            <a:r>
              <a:rPr lang="en-US" sz="1200" b="0" u="none" strike="noStrike" kern="1200" dirty="0">
                <a:solidFill>
                  <a:schemeClr val="tx1"/>
                </a:solidFill>
                <a:effectLst/>
                <a:latin typeface="+mn-lt"/>
                <a:ea typeface="+mn-ea"/>
                <a:cs typeface="+mn-cs"/>
                <a:hlinkClick r:id="rId1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3</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4</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Prognostic Tree Ensemble (\(\mu \))</a:t>
            </a:r>
            <a:r>
              <a:rPr lang="en-US" sz="1200" b="0" u="none" strike="noStrike" kern="1200" dirty="0">
                <a:solidFill>
                  <a:schemeClr val="tx1"/>
                </a:solidFill>
                <a:effectLst/>
                <a:latin typeface="+mn-lt"/>
                <a:ea typeface="+mn-ea"/>
                <a:cs typeface="+mn-cs"/>
              </a:rPr>
              <a:t>: Learns how the baseline variables affect the overall outcome.</a:t>
            </a:r>
          </a:p>
          <a:p>
            <a:r>
              <a:rPr lang="en-US" sz="1200" b="1" u="none" strike="noStrike" kern="1200" dirty="0">
                <a:solidFill>
                  <a:schemeClr val="tx1"/>
                </a:solidFill>
                <a:effectLst/>
                <a:latin typeface="+mn-lt"/>
                <a:ea typeface="+mn-ea"/>
                <a:cs typeface="+mn-cs"/>
              </a:rPr>
              <a:t>Treatment Effect Tree Ensemble (\(\tau \))</a:t>
            </a:r>
            <a:r>
              <a:rPr lang="en-US" sz="1200" b="0" u="none" strike="noStrike" kern="1200" dirty="0">
                <a:solidFill>
                  <a:schemeClr val="tx1"/>
                </a:solidFill>
                <a:effectLst/>
                <a:latin typeface="+mn-lt"/>
                <a:ea typeface="+mn-ea"/>
                <a:cs typeface="+mn-cs"/>
              </a:rPr>
              <a:t>: Learns how the treatment effect varies across different subgroups of covariates.</a:t>
            </a:r>
          </a:p>
          <a:p>
            <a:r>
              <a:rPr lang="en-US" sz="1200" b="0" u="none" strike="noStrike" kern="1200" dirty="0">
                <a:solidFill>
                  <a:schemeClr val="tx1"/>
                </a:solidFill>
                <a:effectLst/>
                <a:latin typeface="+mn-lt"/>
                <a:ea typeface="+mn-ea"/>
                <a:cs typeface="+mn-cs"/>
              </a:rPr>
              <a:t>By enforcing separate Bayesian priors, the model can apply stricter regularization to the treatment effect, allowing the model to shrink estimates towards a homogeneous effect if data is sparse.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4"/>
              </a:rPr>
              <a:t>3</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5. Markov Chain Monte Carlo (MCMC) Sampling</a:t>
            </a:r>
          </a:p>
          <a:p>
            <a:r>
              <a:rPr lang="en-US" sz="1200" b="0" u="none" strike="noStrike" kern="1200" dirty="0">
                <a:solidFill>
                  <a:schemeClr val="tx1"/>
                </a:solidFill>
                <a:effectLst/>
                <a:latin typeface="+mn-lt"/>
                <a:ea typeface="+mn-ea"/>
                <a:cs typeface="+mn-cs"/>
              </a:rPr>
              <a:t>BCF uses an MCMC algorithm (specifically, </a:t>
            </a:r>
            <a:r>
              <a:rPr lang="en-US" sz="1200" b="0" u="none" strike="noStrike" kern="1200" dirty="0" err="1">
                <a:solidFill>
                  <a:schemeClr val="tx1"/>
                </a:solidFill>
                <a:effectLst/>
                <a:latin typeface="+mn-lt"/>
                <a:ea typeface="+mn-ea"/>
                <a:cs typeface="+mn-cs"/>
              </a:rPr>
              <a:t>blockwise</a:t>
            </a:r>
            <a:r>
              <a:rPr lang="en-US" sz="1200" b="0" u="none" strike="noStrike" kern="1200" dirty="0">
                <a:solidFill>
                  <a:schemeClr val="tx1"/>
                </a:solidFill>
                <a:effectLst/>
                <a:latin typeface="+mn-lt"/>
                <a:ea typeface="+mn-ea"/>
                <a:cs typeface="+mn-cs"/>
              </a:rPr>
              <a:t> Bayesian </a:t>
            </a:r>
            <a:r>
              <a:rPr lang="en-US" sz="1200" b="0" u="none" strike="noStrike" kern="1200" dirty="0" err="1">
                <a:solidFill>
                  <a:schemeClr val="tx1"/>
                </a:solidFill>
                <a:effectLst/>
                <a:latin typeface="+mn-lt"/>
                <a:ea typeface="+mn-ea"/>
                <a:cs typeface="+mn-cs"/>
              </a:rPr>
              <a:t>backfitting</a:t>
            </a:r>
            <a:r>
              <a:rPr lang="en-US" sz="1200" b="0" u="none" strike="noStrike" kern="1200" dirty="0">
                <a:solidFill>
                  <a:schemeClr val="tx1"/>
                </a:solidFill>
                <a:effectLst/>
                <a:latin typeface="+mn-lt"/>
                <a:ea typeface="+mn-ea"/>
                <a:cs typeface="+mn-cs"/>
              </a:rPr>
              <a:t>) to estimate the parameters iteratively: [</a:t>
            </a:r>
            <a:r>
              <a:rPr lang="en-US" sz="1200" b="0" u="none" strike="noStrike" kern="1200" dirty="0">
                <a:solidFill>
                  <a:schemeClr val="tx1"/>
                </a:solidFill>
                <a:effectLst/>
                <a:latin typeface="+mn-lt"/>
                <a:ea typeface="+mn-ea"/>
                <a:cs typeface="+mn-cs"/>
                <a:hlinkClick r:id="rId9"/>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5"/>
              </a:rPr>
              <a:t>3</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Step A</a:t>
            </a:r>
            <a:r>
              <a:rPr lang="en-US" sz="1200" b="0" u="none" strike="noStrike" kern="1200" dirty="0">
                <a:solidFill>
                  <a:schemeClr val="tx1"/>
                </a:solidFill>
                <a:effectLst/>
                <a:latin typeface="+mn-lt"/>
                <a:ea typeface="+mn-ea"/>
                <a:cs typeface="+mn-cs"/>
              </a:rPr>
              <a:t>: The algorithm updates the tree structures and leaf parameters for the prognostic forest (\(\mu \)) by holding the treatment effect forest (\(\tau \)) constant.</a:t>
            </a:r>
          </a:p>
          <a:p>
            <a:r>
              <a:rPr lang="en-US" sz="1200" b="1" u="none" strike="noStrike" kern="1200" dirty="0">
                <a:solidFill>
                  <a:schemeClr val="tx1"/>
                </a:solidFill>
                <a:effectLst/>
                <a:latin typeface="+mn-lt"/>
                <a:ea typeface="+mn-ea"/>
                <a:cs typeface="+mn-cs"/>
              </a:rPr>
              <a:t>Step B</a:t>
            </a:r>
            <a:r>
              <a:rPr lang="en-US" sz="1200" b="0" u="none" strike="noStrike" kern="1200" dirty="0">
                <a:solidFill>
                  <a:schemeClr val="tx1"/>
                </a:solidFill>
                <a:effectLst/>
                <a:latin typeface="+mn-lt"/>
                <a:ea typeface="+mn-ea"/>
                <a:cs typeface="+mn-cs"/>
              </a:rPr>
              <a:t>: It then updates the trees for the treatment effect forest (\(\tau \)) while holding the prognostic forest (\(\mu \)) constant.</a:t>
            </a:r>
          </a:p>
          <a:p>
            <a:r>
              <a:rPr lang="en-US" sz="1200" b="0" u="none" strike="noStrike" kern="1200" dirty="0">
                <a:solidFill>
                  <a:schemeClr val="tx1"/>
                </a:solidFill>
                <a:effectLst/>
                <a:latin typeface="+mn-lt"/>
                <a:ea typeface="+mn-ea"/>
                <a:cs typeface="+mn-cs"/>
              </a:rPr>
              <a:t>This iterative </a:t>
            </a:r>
            <a:r>
              <a:rPr lang="en-US" sz="1200" b="0" u="none" strike="noStrike" kern="1200" dirty="0" err="1">
                <a:solidFill>
                  <a:schemeClr val="tx1"/>
                </a:solidFill>
                <a:effectLst/>
                <a:latin typeface="+mn-lt"/>
                <a:ea typeface="+mn-ea"/>
                <a:cs typeface="+mn-cs"/>
              </a:rPr>
              <a:t>backfitting</a:t>
            </a:r>
            <a:r>
              <a:rPr lang="en-US" sz="1200" b="0" u="none" strike="noStrike" kern="1200" dirty="0">
                <a:solidFill>
                  <a:schemeClr val="tx1"/>
                </a:solidFill>
                <a:effectLst/>
                <a:latin typeface="+mn-lt"/>
                <a:ea typeface="+mn-ea"/>
                <a:cs typeface="+mn-cs"/>
              </a:rPr>
              <a:t> process generates thousands of posterior draws of the trees, which together construct the model and its uncertainty. [</a:t>
            </a:r>
            <a:r>
              <a:rPr lang="en-US" sz="1200" b="0" u="none" strike="noStrike" kern="1200" dirty="0">
                <a:solidFill>
                  <a:schemeClr val="tx1"/>
                </a:solidFill>
                <a:effectLst/>
                <a:latin typeface="+mn-lt"/>
                <a:ea typeface="+mn-ea"/>
                <a:cs typeface="+mn-cs"/>
                <a:hlinkClick r:id="rId16"/>
              </a:rPr>
              <a:t>1</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6. Posterior Inference and Uncertainty Quantification</a:t>
            </a:r>
          </a:p>
          <a:p>
            <a:r>
              <a:rPr lang="en-US" sz="1200" b="0" u="none" strike="noStrike" kern="1200" dirty="0">
                <a:solidFill>
                  <a:schemeClr val="tx1"/>
                </a:solidFill>
                <a:effectLst/>
                <a:latin typeface="+mn-lt"/>
                <a:ea typeface="+mn-ea"/>
                <a:cs typeface="+mn-cs"/>
              </a:rPr>
              <a:t>Instead of outputting a single point estimate, BCF yields a full posterior distribution for the causal effect. [</a:t>
            </a:r>
            <a:r>
              <a:rPr lang="en-US" sz="1200" b="0" u="none" strike="noStrike" kern="1200" dirty="0">
                <a:solidFill>
                  <a:schemeClr val="tx1"/>
                </a:solidFill>
                <a:effectLst/>
                <a:latin typeface="+mn-lt"/>
                <a:ea typeface="+mn-ea"/>
                <a:cs typeface="+mn-cs"/>
                <a:hlinkClick r:id="rId5"/>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7"/>
              </a:rPr>
              <a:t>2</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You can extract the Conditional Average Treatment Effect (CATE) for any individual \(</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by taking the average of the posterior draws of \(\tau(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Because it outputs a distribution, you can easily calculate </a:t>
            </a:r>
            <a:r>
              <a:rPr lang="en-US" sz="1200" b="1" u="none" strike="noStrike" kern="1200" dirty="0">
                <a:solidFill>
                  <a:schemeClr val="tx1"/>
                </a:solidFill>
                <a:effectLst/>
                <a:latin typeface="+mn-lt"/>
                <a:ea typeface="+mn-ea"/>
                <a:cs typeface="+mn-cs"/>
              </a:rPr>
              <a:t>credible intervals</a:t>
            </a:r>
            <a:r>
              <a:rPr lang="en-US" sz="1200" b="0" u="none" strike="noStrike" kern="1200" dirty="0">
                <a:solidFill>
                  <a:schemeClr val="tx1"/>
                </a:solidFill>
                <a:effectLst/>
                <a:latin typeface="+mn-lt"/>
                <a:ea typeface="+mn-ea"/>
                <a:cs typeface="+mn-cs"/>
              </a:rPr>
              <a:t> (e.g., 95% intervals) to quantify uncertainty natively. [</a:t>
            </a:r>
            <a:r>
              <a:rPr lang="en-US" sz="1200" b="0" u="none" strike="noStrike" kern="1200" dirty="0">
                <a:solidFill>
                  <a:schemeClr val="tx1"/>
                </a:solidFill>
                <a:effectLst/>
                <a:latin typeface="+mn-lt"/>
                <a:ea typeface="+mn-ea"/>
                <a:cs typeface="+mn-cs"/>
                <a:hlinkClick r:id="rId8"/>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8"/>
              </a:rPr>
              <a:t>4</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5</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If you are planning to implement this, let me know:</a:t>
            </a:r>
          </a:p>
          <a:p>
            <a:r>
              <a:rPr lang="en-US" sz="1200" b="0" u="none" strike="noStrike" kern="1200" dirty="0">
                <a:solidFill>
                  <a:schemeClr val="tx1"/>
                </a:solidFill>
                <a:effectLst/>
                <a:latin typeface="+mn-lt"/>
                <a:ea typeface="+mn-ea"/>
                <a:cs typeface="+mn-cs"/>
              </a:rPr>
              <a:t>What </a:t>
            </a:r>
            <a:r>
              <a:rPr lang="en-US" sz="1200" b="1" u="none" strike="noStrike" kern="1200" dirty="0">
                <a:solidFill>
                  <a:schemeClr val="tx1"/>
                </a:solidFill>
                <a:effectLst/>
                <a:latin typeface="+mn-lt"/>
                <a:ea typeface="+mn-ea"/>
                <a:cs typeface="+mn-cs"/>
              </a:rPr>
              <a:t>software or language</a:t>
            </a:r>
            <a:r>
              <a:rPr lang="en-US" sz="1200" b="0" u="none" strike="noStrike" kern="1200" dirty="0">
                <a:solidFill>
                  <a:schemeClr val="tx1"/>
                </a:solidFill>
                <a:effectLst/>
                <a:latin typeface="+mn-lt"/>
                <a:ea typeface="+mn-ea"/>
                <a:cs typeface="+mn-cs"/>
              </a:rPr>
              <a:t> you are using (e.g., R's </a:t>
            </a:r>
            <a:r>
              <a:rPr lang="en-US" sz="1200" b="0" u="none" strike="noStrike" kern="1200" dirty="0" err="1">
                <a:solidFill>
                  <a:schemeClr val="tx1"/>
                </a:solidFill>
                <a:effectLst/>
                <a:latin typeface="+mn-lt"/>
                <a:ea typeface="+mn-ea"/>
                <a:cs typeface="+mn-cs"/>
              </a:rPr>
              <a:t>bcf</a:t>
            </a:r>
            <a:r>
              <a:rPr lang="en-US" sz="1200" b="0" u="none" strike="noStrike" kern="1200" dirty="0">
                <a:solidFill>
                  <a:schemeClr val="tx1"/>
                </a:solidFill>
                <a:effectLst/>
                <a:latin typeface="+mn-lt"/>
                <a:ea typeface="+mn-ea"/>
                <a:cs typeface="+mn-cs"/>
              </a:rPr>
              <a:t> package or Python's </a:t>
            </a:r>
            <a:r>
              <a:rPr lang="en-US" sz="1200" b="0" u="none" strike="noStrike" kern="1200" dirty="0" err="1">
                <a:solidFill>
                  <a:schemeClr val="tx1"/>
                </a:solidFill>
                <a:effectLst/>
                <a:latin typeface="+mn-lt"/>
                <a:ea typeface="+mn-ea"/>
                <a:cs typeface="+mn-cs"/>
              </a:rPr>
              <a:t>stochtree</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Whether your treatment is </a:t>
            </a:r>
            <a:r>
              <a:rPr lang="en-US" sz="1200" b="1" u="none" strike="noStrike" kern="1200" dirty="0">
                <a:solidFill>
                  <a:schemeClr val="tx1"/>
                </a:solidFill>
                <a:effectLst/>
                <a:latin typeface="+mn-lt"/>
                <a:ea typeface="+mn-ea"/>
                <a:cs typeface="+mn-cs"/>
              </a:rPr>
              <a:t>binary or continuous</a:t>
            </a:r>
            <a:endParaRPr lang="en-US" sz="1200" b="0" u="none" strike="noStrike" kern="1200" dirty="0">
              <a:solidFill>
                <a:schemeClr val="tx1"/>
              </a:solidFill>
              <a:effectLst/>
              <a:latin typeface="+mn-lt"/>
              <a:ea typeface="+mn-ea"/>
              <a:cs typeface="+mn-cs"/>
            </a:endParaRPr>
          </a:p>
          <a:p>
            <a:r>
              <a:rPr lang="en-US" sz="1200" b="0" u="none" strike="noStrike" kern="1200" dirty="0">
                <a:solidFill>
                  <a:schemeClr val="tx1"/>
                </a:solidFill>
                <a:effectLst/>
                <a:latin typeface="+mn-lt"/>
                <a:ea typeface="+mn-ea"/>
                <a:cs typeface="+mn-cs"/>
              </a:rPr>
              <a:t>If you want to know how to </a:t>
            </a:r>
            <a:r>
              <a:rPr lang="en-US" sz="1200" b="1" u="none" strike="noStrike" kern="1200" dirty="0">
                <a:solidFill>
                  <a:schemeClr val="tx1"/>
                </a:solidFill>
                <a:effectLst/>
                <a:latin typeface="+mn-lt"/>
                <a:ea typeface="+mn-ea"/>
                <a:cs typeface="+mn-cs"/>
              </a:rPr>
              <a:t>interpret the outputted CATE</a:t>
            </a:r>
            <a:endParaRPr lang="en-US" sz="1200" b="0" u="none" strike="noStrike" kern="1200" dirty="0">
              <a:solidFill>
                <a:schemeClr val="tx1"/>
              </a:solidFill>
              <a:effectLst/>
              <a:latin typeface="+mn-lt"/>
              <a:ea typeface="+mn-ea"/>
              <a:cs typeface="+mn-cs"/>
            </a:endParaRPr>
          </a:p>
          <a:p>
            <a:r>
              <a:rPr lang="en-US" sz="1200" b="0" u="none" strike="noStrike" kern="1200" dirty="0">
                <a:solidFill>
                  <a:schemeClr val="tx1"/>
                </a:solidFill>
                <a:effectLst/>
                <a:latin typeface="+mn-lt"/>
                <a:ea typeface="+mn-ea"/>
                <a:cs typeface="+mn-cs"/>
              </a:rPr>
              <a:t>I can give you the specific code or analysis steps tailored to your environment.</a:t>
            </a:r>
          </a:p>
          <a:p>
            <a:pPr>
              <a:defRPr/>
            </a:pPr>
            <a:endParaRPr lang="de-DE" dirty="0"/>
          </a:p>
        </p:txBody>
      </p:sp>
      <p:sp>
        <p:nvSpPr>
          <p:cNvPr id="1416629939" name="Foliennummernplatzhalt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057F9-B2ED-4B9D-B0F2-D3AD44C3FAB4}" type="slidenum">
              <a:rPr kumimoji="0" lang="de-DE"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82538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28984289" name="Folienbildplatzhalter 1"/>
          <p:cNvSpPr>
            <a:spLocks noGrp="1" noRot="1" noChangeAspect="1"/>
          </p:cNvSpPr>
          <p:nvPr>
            <p:ph type="sldImg"/>
          </p:nvPr>
        </p:nvSpPr>
        <p:spPr bwMode="auto"/>
      </p:sp>
      <p:sp>
        <p:nvSpPr>
          <p:cNvPr id="1667454889" name="Notizenplatzhalter 2"/>
          <p:cNvSpPr>
            <a:spLocks noGrp="1"/>
          </p:cNvSpPr>
          <p:nvPr>
            <p:ph type="body" idx="1"/>
          </p:nvPr>
        </p:nvSpPr>
        <p:spPr bwMode="auto"/>
        <p:txBody>
          <a:bodyPr/>
          <a:lstStyle/>
          <a:p>
            <a:r>
              <a:rPr lang="en-US" sz="1200" b="0" u="none" strike="noStrike" kern="1200" dirty="0">
                <a:solidFill>
                  <a:schemeClr val="tx1"/>
                </a:solidFill>
                <a:effectLst/>
                <a:latin typeface="+mn-lt"/>
                <a:ea typeface="+mn-ea"/>
                <a:cs typeface="+mn-cs"/>
              </a:rPr>
              <a:t>Up next:</a:t>
            </a:r>
          </a:p>
          <a:p>
            <a:pPr marL="171450" indent="-171450">
              <a:buFontTx/>
              <a:buChar char="-"/>
            </a:pPr>
            <a:r>
              <a:rPr lang="en-US" sz="1200" b="0" u="none" strike="noStrike" kern="1200" dirty="0">
                <a:solidFill>
                  <a:schemeClr val="tx1"/>
                </a:solidFill>
                <a:effectLst/>
                <a:latin typeface="+mn-lt"/>
                <a:ea typeface="+mn-ea"/>
                <a:cs typeface="+mn-cs"/>
              </a:rPr>
              <a:t>Show what BCF and related stuff (debiased, discovery) can(not) do</a:t>
            </a:r>
          </a:p>
          <a:p>
            <a:pPr marL="171450" indent="-171450">
              <a:buFontTx/>
              <a:buChar char="-"/>
            </a:pPr>
            <a:r>
              <a:rPr lang="en-US" sz="1200" b="0" u="none" strike="noStrike" kern="1200" dirty="0">
                <a:solidFill>
                  <a:schemeClr val="tx1"/>
                </a:solidFill>
                <a:effectLst/>
                <a:latin typeface="+mn-lt"/>
                <a:ea typeface="+mn-ea"/>
                <a:cs typeface="+mn-cs"/>
              </a:rPr>
              <a:t>Go back to example: Now we know that the identifiability issue is the same (causal sufficiency), let`s look into the example: See that they made mistakes.</a:t>
            </a:r>
          </a:p>
          <a:p>
            <a:pPr marL="171450" indent="-171450">
              <a:buFontTx/>
              <a:buChar char="-"/>
            </a:pPr>
            <a:r>
              <a:rPr lang="en-US" sz="1200" b="0" u="none" strike="noStrike" kern="1200" dirty="0">
                <a:solidFill>
                  <a:schemeClr val="tx1"/>
                </a:solidFill>
                <a:effectLst/>
                <a:latin typeface="+mn-lt"/>
                <a:ea typeface="+mn-ea"/>
                <a:cs typeface="+mn-cs"/>
              </a:rPr>
              <a:t>Conclusions: It does not help with causal sufficiency</a:t>
            </a:r>
          </a:p>
          <a:p>
            <a:pPr marL="171450" indent="-171450">
              <a:buFontTx/>
              <a:buChar char="-"/>
            </a:pPr>
            <a:r>
              <a:rPr lang="en-US" sz="1200" b="0" u="none" strike="noStrike" kern="1200" dirty="0">
                <a:solidFill>
                  <a:schemeClr val="tx1"/>
                </a:solidFill>
                <a:effectLst/>
                <a:latin typeface="+mn-lt"/>
                <a:ea typeface="+mn-ea"/>
                <a:cs typeface="+mn-cs"/>
              </a:rPr>
              <a:t>It helps with identification of the correct model (with data points in the 10,000s)</a:t>
            </a:r>
          </a:p>
          <a:p>
            <a:pPr marL="171450" indent="-171450">
              <a:buFontTx/>
              <a:buChar char="-"/>
            </a:pPr>
            <a:r>
              <a:rPr lang="en-US" sz="1200" b="0" u="none" strike="noStrike" kern="1200" dirty="0">
                <a:solidFill>
                  <a:schemeClr val="tx1"/>
                </a:solidFill>
                <a:effectLst/>
                <a:latin typeface="+mn-lt"/>
                <a:ea typeface="+mn-ea"/>
                <a:cs typeface="+mn-cs"/>
              </a:rPr>
              <a:t>Hypothesis 1: Portraying a study as using CML as a tool that allows identifying causal effects increases the change that readers </a:t>
            </a:r>
            <a:r>
              <a:rPr lang="en-US" sz="1200" b="0" u="none" strike="noStrike" kern="1200" dirty="0" err="1">
                <a:solidFill>
                  <a:schemeClr val="tx1"/>
                </a:solidFill>
                <a:effectLst/>
                <a:latin typeface="+mn-lt"/>
                <a:ea typeface="+mn-ea"/>
                <a:cs typeface="+mn-cs"/>
              </a:rPr>
              <a:t>ausblenden</a:t>
            </a:r>
            <a:r>
              <a:rPr lang="en-US" sz="1200" b="0" u="none" strike="noStrike" kern="1200" dirty="0">
                <a:solidFill>
                  <a:schemeClr val="tx1"/>
                </a:solidFill>
                <a:effectLst/>
                <a:latin typeface="+mn-lt"/>
                <a:ea typeface="+mn-ea"/>
                <a:cs typeface="+mn-cs"/>
              </a:rPr>
              <a:t> the necessary preconditions for causal inference (dependent on how aware they are of them?)</a:t>
            </a:r>
          </a:p>
          <a:p>
            <a:pPr marL="171450" indent="-171450">
              <a:buFontTx/>
              <a:buChar char="-"/>
            </a:pPr>
            <a:r>
              <a:rPr lang="en-US" sz="1200" b="0" u="none" strike="noStrike" kern="1200" dirty="0">
                <a:solidFill>
                  <a:schemeClr val="tx1"/>
                </a:solidFill>
                <a:effectLst/>
                <a:latin typeface="+mn-lt"/>
                <a:ea typeface="+mn-ea"/>
                <a:cs typeface="+mn-cs"/>
              </a:rPr>
              <a:t>Hypothesis 2: The same for moderation effects? Observed moderation misinterpreted as causal moderation? &lt;- Overlooked?</a:t>
            </a:r>
          </a:p>
          <a:p>
            <a:pPr marL="171450" indent="-171450">
              <a:buFontTx/>
              <a:buChar char="-"/>
            </a:pPr>
            <a:r>
              <a:rPr lang="en-US" sz="1200" b="0" u="none" strike="noStrike" kern="1200" dirty="0">
                <a:solidFill>
                  <a:schemeClr val="tx1"/>
                </a:solidFill>
                <a:effectLst/>
                <a:latin typeface="+mn-lt"/>
                <a:ea typeface="+mn-ea"/>
                <a:cs typeface="+mn-cs"/>
              </a:rPr>
              <a:t>Hypothesis 3: CML provides affordances regarding </a:t>
            </a:r>
            <a:r>
              <a:rPr lang="en-US" sz="1200" b="1" u="none" strike="noStrike" kern="1200" dirty="0">
                <a:solidFill>
                  <a:schemeClr val="tx1"/>
                </a:solidFill>
                <a:effectLst/>
                <a:latin typeface="+mn-lt"/>
                <a:ea typeface="+mn-ea"/>
                <a:cs typeface="+mn-cs"/>
              </a:rPr>
              <a:t>model identification</a:t>
            </a:r>
            <a:r>
              <a:rPr lang="en-US" sz="1200" b="0" u="none" strike="noStrike" kern="1200" dirty="0">
                <a:solidFill>
                  <a:schemeClr val="tx1"/>
                </a:solidFill>
                <a:effectLst/>
                <a:latin typeface="+mn-lt"/>
                <a:ea typeface="+mn-ea"/>
                <a:cs typeface="+mn-cs"/>
              </a:rPr>
              <a:t> that </a:t>
            </a:r>
            <a:r>
              <a:rPr lang="en-US" sz="1200" b="0" i="1" u="none" strike="noStrike" kern="1200" dirty="0">
                <a:solidFill>
                  <a:schemeClr val="tx1"/>
                </a:solidFill>
                <a:effectLst/>
                <a:latin typeface="+mn-lt"/>
                <a:ea typeface="+mn-ea"/>
                <a:cs typeface="+mn-cs"/>
              </a:rPr>
              <a:t>are </a:t>
            </a:r>
            <a:r>
              <a:rPr lang="en-US" sz="1200" b="0" u="none" strike="noStrike" kern="1200" dirty="0">
                <a:solidFill>
                  <a:schemeClr val="tx1"/>
                </a:solidFill>
                <a:effectLst/>
                <a:latin typeface="+mn-lt"/>
                <a:ea typeface="+mn-ea"/>
                <a:cs typeface="+mn-cs"/>
              </a:rPr>
              <a:t>currently overlooked (or disregarded) in applied research (such as soc or psych)</a:t>
            </a:r>
          </a:p>
          <a:p>
            <a:pPr marL="171450" indent="-171450">
              <a:buFontTx/>
              <a:buChar char="-"/>
            </a:pPr>
            <a:endParaRPr lang="en-US" sz="1200" b="0" u="none" strike="noStrike" kern="1200" dirty="0">
              <a:solidFill>
                <a:schemeClr val="tx1"/>
              </a:solidFill>
              <a:effectLst/>
              <a:latin typeface="+mn-lt"/>
              <a:ea typeface="+mn-ea"/>
              <a:cs typeface="+mn-cs"/>
            </a:endParaRPr>
          </a:p>
          <a:p>
            <a:pPr marL="171450" indent="-171450">
              <a:buFontTx/>
              <a:buChar char="-"/>
            </a:pPr>
            <a:r>
              <a:rPr lang="en-US" sz="1200" b="0" u="none" strike="noStrike" kern="1200" dirty="0">
                <a:solidFill>
                  <a:schemeClr val="tx1"/>
                </a:solidFill>
                <a:effectLst/>
                <a:latin typeface="+mn-lt"/>
                <a:ea typeface="+mn-ea"/>
                <a:cs typeface="+mn-cs"/>
              </a:rPr>
              <a:t>Implications:</a:t>
            </a:r>
          </a:p>
          <a:p>
            <a:pPr marL="171450" indent="-171450">
              <a:buFontTx/>
              <a:buChar char="-"/>
            </a:pPr>
            <a:endParaRPr lang="en-US" sz="1200" b="0" u="none" strike="noStrike" kern="1200" dirty="0">
              <a:solidFill>
                <a:schemeClr val="tx1"/>
              </a:solidFill>
              <a:effectLst/>
              <a:latin typeface="+mn-lt"/>
              <a:ea typeface="+mn-ea"/>
              <a:cs typeface="+mn-cs"/>
            </a:endParaRPr>
          </a:p>
          <a:p>
            <a:pPr marL="171450" indent="-171450">
              <a:buFontTx/>
              <a:buChar char="-"/>
            </a:pPr>
            <a:endParaRPr lang="en-US" sz="1200" b="0" u="none" strike="noStrike" kern="1200" dirty="0">
              <a:solidFill>
                <a:schemeClr val="tx1"/>
              </a:solidFill>
              <a:effectLst/>
              <a:latin typeface="+mn-lt"/>
              <a:ea typeface="+mn-ea"/>
              <a:cs typeface="+mn-cs"/>
            </a:endParaRPr>
          </a:p>
          <a:p>
            <a:pPr marL="171450" indent="-171450">
              <a:buFontTx/>
              <a:buChar char="-"/>
            </a:pPr>
            <a:endParaRPr lang="en-US" sz="1200" b="0" u="none" strike="noStrike" kern="1200" dirty="0">
              <a:solidFill>
                <a:schemeClr val="tx1"/>
              </a:solidFill>
              <a:effectLst/>
              <a:latin typeface="+mn-lt"/>
              <a:ea typeface="+mn-ea"/>
              <a:cs typeface="+mn-cs"/>
            </a:endParaRPr>
          </a:p>
          <a:p>
            <a:endParaRPr lang="en-US" sz="1200" b="0" u="none" strike="noStrike" kern="1200" dirty="0">
              <a:solidFill>
                <a:schemeClr val="tx1"/>
              </a:solidFill>
              <a:effectLst/>
              <a:latin typeface="+mn-lt"/>
              <a:ea typeface="+mn-ea"/>
              <a:cs typeface="+mn-cs"/>
            </a:endParaRPr>
          </a:p>
          <a:p>
            <a:r>
              <a:rPr lang="en-US" sz="1200" b="0" u="none" strike="noStrike" kern="1200" dirty="0">
                <a:solidFill>
                  <a:schemeClr val="tx1"/>
                </a:solidFill>
                <a:effectLst/>
                <a:latin typeface="+mn-lt"/>
                <a:ea typeface="+mn-ea"/>
                <a:cs typeface="+mn-cs"/>
              </a:rPr>
              <a:t>A </a:t>
            </a:r>
            <a:r>
              <a:rPr lang="en-US" sz="1200" b="1" u="none" strike="noStrike" kern="1200" dirty="0">
                <a:solidFill>
                  <a:schemeClr val="tx1"/>
                </a:solidFill>
                <a:effectLst/>
                <a:latin typeface="+mn-lt"/>
                <a:ea typeface="+mn-ea"/>
                <a:cs typeface="+mn-cs"/>
              </a:rPr>
              <a:t>Bayesian Causal Forest (BCF)</a:t>
            </a:r>
            <a:r>
              <a:rPr lang="en-US" sz="1200" b="0" u="none" strike="noStrike" kern="1200" dirty="0">
                <a:solidFill>
                  <a:schemeClr val="tx1"/>
                </a:solidFill>
                <a:effectLst/>
                <a:latin typeface="+mn-lt"/>
                <a:ea typeface="+mn-ea"/>
                <a:cs typeface="+mn-cs"/>
              </a:rPr>
              <a:t> model is a machine learning method used to estimate </a:t>
            </a:r>
            <a:r>
              <a:rPr lang="en-US" sz="1200" b="1" u="none" strike="noStrike" kern="1200" dirty="0">
                <a:solidFill>
                  <a:schemeClr val="tx1"/>
                </a:solidFill>
                <a:effectLst/>
                <a:latin typeface="+mn-lt"/>
                <a:ea typeface="+mn-ea"/>
                <a:cs typeface="+mn-cs"/>
              </a:rPr>
              <a:t>Heterogeneous Treatment Effects</a:t>
            </a:r>
            <a:r>
              <a:rPr lang="en-US" sz="1200" b="0" u="none" strike="noStrike" kern="1200" dirty="0">
                <a:solidFill>
                  <a:schemeClr val="tx1"/>
                </a:solidFill>
                <a:effectLst/>
                <a:latin typeface="+mn-lt"/>
                <a:ea typeface="+mn-ea"/>
                <a:cs typeface="+mn-cs"/>
              </a:rPr>
              <a:t> (HTE) from observational or experimental data. It separates the baseline outcome prediction from the causal effect itself, preventing bias and providing rigorous uncertainty estimates.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3</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6"/>
              </a:rPr>
              <a:t>4</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7"/>
              </a:rPr>
              <a:t>5</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Here is the step-by-step breakdown of how the BCF model works:</a:t>
            </a:r>
          </a:p>
          <a:p>
            <a:r>
              <a:rPr lang="en-US" sz="1200" b="1" u="none" strike="noStrike" kern="1200" dirty="0">
                <a:solidFill>
                  <a:schemeClr val="tx1"/>
                </a:solidFill>
                <a:effectLst/>
                <a:latin typeface="+mn-lt"/>
                <a:ea typeface="+mn-ea"/>
                <a:cs typeface="+mn-cs"/>
              </a:rPr>
              <a:t>1. Model Formulation and Decomposition</a:t>
            </a:r>
          </a:p>
          <a:p>
            <a:r>
              <a:rPr lang="en-US" sz="1200" b="0" u="none" strike="noStrike" kern="1200" dirty="0">
                <a:solidFill>
                  <a:schemeClr val="tx1"/>
                </a:solidFill>
                <a:effectLst/>
                <a:latin typeface="+mn-lt"/>
                <a:ea typeface="+mn-ea"/>
                <a:cs typeface="+mn-cs"/>
              </a:rPr>
              <a:t>BCF starts by splitting the observed outcome (\(Y_{</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for individual (\(</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into two distinct, additive parts:</a:t>
            </a:r>
            <a:br>
              <a:rPr lang="en-US" sz="1200" b="0" u="none" strike="noStrike" kern="1200" dirty="0">
                <a:solidFill>
                  <a:schemeClr val="tx1"/>
                </a:solidFill>
                <a:effectLst/>
                <a:latin typeface="+mn-lt"/>
                <a:ea typeface="+mn-ea"/>
                <a:cs typeface="+mn-cs"/>
              </a:rPr>
            </a:br>
            <a:r>
              <a:rPr lang="en-US" sz="1200" b="0" u="none" strike="noStrike" kern="1200" dirty="0">
                <a:solidFill>
                  <a:schemeClr val="tx1"/>
                </a:solidFill>
                <a:effectLst/>
                <a:latin typeface="+mn-lt"/>
                <a:ea typeface="+mn-ea"/>
                <a:cs typeface="+mn-cs"/>
              </a:rPr>
              <a:t>\(</a:t>
            </a:r>
            <a:r>
              <a:rPr lang="en-US" sz="1200" b="0" u="none" strike="noStrike" kern="1200" dirty="0" err="1">
                <a:solidFill>
                  <a:schemeClr val="tx1"/>
                </a:solidFill>
                <a:effectLst/>
                <a:latin typeface="+mn-lt"/>
                <a:ea typeface="+mn-ea"/>
                <a:cs typeface="+mn-cs"/>
              </a:rPr>
              <a:t>Y_i</a:t>
            </a:r>
            <a:r>
              <a:rPr lang="en-US" sz="1200" b="0" u="none" strike="noStrike" kern="1200" dirty="0">
                <a:solidFill>
                  <a:schemeClr val="tx1"/>
                </a:solidFill>
                <a:effectLst/>
                <a:latin typeface="+mn-lt"/>
                <a:ea typeface="+mn-ea"/>
                <a:cs typeface="+mn-cs"/>
              </a:rPr>
              <a:t> = \mu(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 \tau(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cdot</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W_i</a:t>
            </a:r>
            <a:r>
              <a:rPr lang="en-US" sz="1200" b="0" u="none" strike="noStrike" kern="1200" dirty="0">
                <a:solidFill>
                  <a:schemeClr val="tx1"/>
                </a:solidFill>
                <a:effectLst/>
                <a:latin typeface="+mn-lt"/>
                <a:ea typeface="+mn-ea"/>
                <a:cs typeface="+mn-cs"/>
              </a:rPr>
              <a:t> + \</a:t>
            </a:r>
            <a:r>
              <a:rPr lang="en-US" sz="1200" b="0" u="none" strike="noStrike" kern="1200" dirty="0" err="1">
                <a:solidFill>
                  <a:schemeClr val="tx1"/>
                </a:solidFill>
                <a:effectLst/>
                <a:latin typeface="+mn-lt"/>
                <a:ea typeface="+mn-ea"/>
                <a:cs typeface="+mn-cs"/>
              </a:rPr>
              <a:t>epsilon_i</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\(Y_{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observed outcome.</a:t>
            </a:r>
          </a:p>
          <a:p>
            <a:r>
              <a:rPr lang="en-US" sz="1200" b="1" u="none" strike="noStrike" kern="1200" dirty="0">
                <a:solidFill>
                  <a:schemeClr val="tx1"/>
                </a:solidFill>
                <a:effectLst/>
                <a:latin typeface="+mn-lt"/>
                <a:ea typeface="+mn-ea"/>
                <a:cs typeface="+mn-cs"/>
              </a:rPr>
              <a:t>\(X_{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vector of baseline covariates (control variables).</a:t>
            </a:r>
          </a:p>
          <a:p>
            <a:r>
              <a:rPr lang="en-US" sz="1200" b="1" u="none" strike="noStrike" kern="1200" dirty="0">
                <a:solidFill>
                  <a:schemeClr val="tx1"/>
                </a:solidFill>
                <a:effectLst/>
                <a:latin typeface="+mn-lt"/>
                <a:ea typeface="+mn-ea"/>
                <a:cs typeface="+mn-cs"/>
              </a:rPr>
              <a:t>\(W_{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treatment assignment indicator (\(1\) for treated, \(0\) for control).</a:t>
            </a:r>
          </a:p>
          <a:p>
            <a:r>
              <a:rPr lang="en-US" sz="1200" b="1" u="none" strike="noStrike" kern="1200" dirty="0">
                <a:solidFill>
                  <a:schemeClr val="tx1"/>
                </a:solidFill>
                <a:effectLst/>
                <a:latin typeface="+mn-lt"/>
                <a:ea typeface="+mn-ea"/>
                <a:cs typeface="+mn-cs"/>
              </a:rPr>
              <a:t>\(\mu(</a:t>
            </a:r>
            <a:r>
              <a:rPr lang="en-US" sz="1200" b="1" u="none" strike="noStrike" kern="1200" dirty="0" err="1">
                <a:solidFill>
                  <a:schemeClr val="tx1"/>
                </a:solidFill>
                <a:effectLst/>
                <a:latin typeface="+mn-lt"/>
                <a:ea typeface="+mn-ea"/>
                <a:cs typeface="+mn-cs"/>
              </a:rPr>
              <a:t>X_i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a:t>
            </a:r>
            <a:r>
              <a:rPr lang="en-US" sz="1200" b="0" i="1" u="none" strike="noStrike" kern="1200" dirty="0">
                <a:solidFill>
                  <a:schemeClr val="tx1"/>
                </a:solidFill>
                <a:effectLst/>
                <a:latin typeface="+mn-lt"/>
                <a:ea typeface="+mn-ea"/>
                <a:cs typeface="+mn-cs"/>
              </a:rPr>
              <a:t>prognostic function</a:t>
            </a:r>
            <a:r>
              <a:rPr lang="en-US" sz="1200" b="0" u="none" strike="noStrike" kern="1200" dirty="0">
                <a:solidFill>
                  <a:schemeClr val="tx1"/>
                </a:solidFill>
                <a:effectLst/>
                <a:latin typeface="+mn-lt"/>
                <a:ea typeface="+mn-ea"/>
                <a:cs typeface="+mn-cs"/>
              </a:rPr>
              <a:t> (baseline outcome for untreated individuals).</a:t>
            </a:r>
          </a:p>
          <a:p>
            <a:r>
              <a:rPr lang="en-US" sz="1200" b="1" u="none" strike="noStrike" kern="1200" dirty="0">
                <a:solidFill>
                  <a:schemeClr val="tx1"/>
                </a:solidFill>
                <a:effectLst/>
                <a:latin typeface="+mn-lt"/>
                <a:ea typeface="+mn-ea"/>
                <a:cs typeface="+mn-cs"/>
              </a:rPr>
              <a:t>\(\tau(</a:t>
            </a:r>
            <a:r>
              <a:rPr lang="en-US" sz="1200" b="1" u="none" strike="noStrike" kern="1200" dirty="0" err="1">
                <a:solidFill>
                  <a:schemeClr val="tx1"/>
                </a:solidFill>
                <a:effectLst/>
                <a:latin typeface="+mn-lt"/>
                <a:ea typeface="+mn-ea"/>
                <a:cs typeface="+mn-cs"/>
              </a:rPr>
              <a:t>X_i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a:t>
            </a:r>
            <a:r>
              <a:rPr lang="en-US" sz="1200" b="0" i="1" u="none" strike="noStrike" kern="1200" dirty="0">
                <a:solidFill>
                  <a:schemeClr val="tx1"/>
                </a:solidFill>
                <a:effectLst/>
                <a:latin typeface="+mn-lt"/>
                <a:ea typeface="+mn-ea"/>
                <a:cs typeface="+mn-cs"/>
              </a:rPr>
              <a:t>treatment effect function</a:t>
            </a:r>
            <a:r>
              <a:rPr lang="en-US" sz="1200" b="0" u="none" strike="noStrike" kern="1200" dirty="0">
                <a:solidFill>
                  <a:schemeClr val="tx1"/>
                </a:solidFill>
                <a:effectLst/>
                <a:latin typeface="+mn-lt"/>
                <a:ea typeface="+mn-ea"/>
                <a:cs typeface="+mn-cs"/>
              </a:rPr>
              <a:t> (Conditional Average Treatment Effect - CATE).</a:t>
            </a:r>
          </a:p>
          <a:p>
            <a:r>
              <a:rPr lang="en-US" sz="1200" b="1" u="none" strike="noStrike" kern="1200" dirty="0">
                <a:solidFill>
                  <a:schemeClr val="tx1"/>
                </a:solidFill>
                <a:effectLst/>
                <a:latin typeface="+mn-lt"/>
                <a:ea typeface="+mn-ea"/>
                <a:cs typeface="+mn-cs"/>
              </a:rPr>
              <a:t>\(\epsilon 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Normally distributed random error term (\(N(0, \sigma^2)\)). [</a:t>
            </a:r>
            <a:r>
              <a:rPr lang="en-US" sz="1200" b="0" u="none" strike="noStrike" kern="1200" dirty="0">
                <a:solidFill>
                  <a:schemeClr val="tx1"/>
                </a:solidFill>
                <a:effectLst/>
                <a:latin typeface="+mn-lt"/>
                <a:ea typeface="+mn-ea"/>
                <a:cs typeface="+mn-cs"/>
                <a:hlinkClick r:id="rId9"/>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0"/>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1"/>
              </a:rPr>
              <a:t>3</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4</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5</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2. Propensity Score Estimation</a:t>
            </a:r>
          </a:p>
          <a:p>
            <a:r>
              <a:rPr lang="en-US" sz="1200" b="0" u="none" strike="noStrike" kern="1200" dirty="0">
                <a:solidFill>
                  <a:schemeClr val="tx1"/>
                </a:solidFill>
                <a:effectLst/>
                <a:latin typeface="+mn-lt"/>
                <a:ea typeface="+mn-ea"/>
                <a:cs typeface="+mn-cs"/>
              </a:rPr>
              <a:t>Before fitting the tree ensembles, BCF usually requires an estimate of the </a:t>
            </a:r>
            <a:r>
              <a:rPr lang="en-US" sz="1200" b="1" u="none" strike="noStrike" kern="1200" dirty="0">
                <a:solidFill>
                  <a:schemeClr val="tx1"/>
                </a:solidFill>
                <a:effectLst/>
                <a:latin typeface="+mn-lt"/>
                <a:ea typeface="+mn-ea"/>
                <a:cs typeface="+mn-cs"/>
              </a:rPr>
              <a:t>propensity score</a:t>
            </a:r>
            <a:r>
              <a:rPr lang="en-US" sz="1200" b="0" u="none" strike="noStrike" kern="1200" dirty="0">
                <a:solidFill>
                  <a:schemeClr val="tx1"/>
                </a:solidFill>
                <a:effectLst/>
                <a:latin typeface="+mn-lt"/>
                <a:ea typeface="+mn-ea"/>
                <a:cs typeface="+mn-cs"/>
              </a:rPr>
              <a:t>, \(\hat{\pi}(</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which is the probability that an individual receives the treatment based on their covariates (\(X_{</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3</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This is typically calculated using a separate model (such as logistic regression or a random forest) prior to running the main BCF algorithm. [</a:t>
            </a:r>
            <a:r>
              <a:rPr lang="en-US" sz="1200" b="0" u="none" strike="noStrike" kern="1200" dirty="0">
                <a:solidFill>
                  <a:schemeClr val="tx1"/>
                </a:solidFill>
                <a:effectLst/>
                <a:latin typeface="+mn-lt"/>
                <a:ea typeface="+mn-ea"/>
                <a:cs typeface="+mn-cs"/>
                <a:hlinkClick r:id="rId12"/>
              </a:rPr>
              <a:t>1</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3. Incorporating the Propensity Score into the Baseline</a:t>
            </a:r>
          </a:p>
          <a:p>
            <a:r>
              <a:rPr lang="en-US" sz="1200" b="0" u="none" strike="noStrike" kern="1200" dirty="0">
                <a:solidFill>
                  <a:schemeClr val="tx1"/>
                </a:solidFill>
                <a:effectLst/>
                <a:latin typeface="+mn-lt"/>
                <a:ea typeface="+mn-ea"/>
                <a:cs typeface="+mn-cs"/>
              </a:rPr>
              <a:t>Unlike traditional Bayesian Additive Regression Trees (BART), BCF implicitly includes the estimated propensity score as a covariate in the prognostic function \(\mu(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\hat{\pi}_</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9"/>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2</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This step acts as a powerful confounding control, ensuring that differences in baseline characteristics between treatment groups are properly adjusted, thus preventing regularization-induced bias.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4. Separate Tree Ensembles (BART Priors)</a:t>
            </a:r>
          </a:p>
          <a:p>
            <a:r>
              <a:rPr lang="en-US" sz="1200" b="0" u="none" strike="noStrike" kern="1200" dirty="0">
                <a:solidFill>
                  <a:schemeClr val="tx1"/>
                </a:solidFill>
                <a:effectLst/>
                <a:latin typeface="+mn-lt"/>
                <a:ea typeface="+mn-ea"/>
                <a:cs typeface="+mn-cs"/>
              </a:rPr>
              <a:t>BCF fits separate </a:t>
            </a:r>
            <a:r>
              <a:rPr lang="en-US" sz="1200" b="1" u="none" strike="noStrike" kern="1200" dirty="0">
                <a:solidFill>
                  <a:schemeClr val="tx1"/>
                </a:solidFill>
                <a:effectLst/>
                <a:latin typeface="+mn-lt"/>
                <a:ea typeface="+mn-ea"/>
                <a:cs typeface="+mn-cs"/>
              </a:rPr>
              <a:t>BART</a:t>
            </a:r>
            <a:r>
              <a:rPr lang="en-US" sz="1200" b="0" u="none" strike="noStrike" kern="1200" dirty="0">
                <a:solidFill>
                  <a:schemeClr val="tx1"/>
                </a:solidFill>
                <a:effectLst/>
                <a:latin typeface="+mn-lt"/>
                <a:ea typeface="+mn-ea"/>
                <a:cs typeface="+mn-cs"/>
              </a:rPr>
              <a:t> (Bayesian Additive Regression Trees) ensembles for both the prognostic function (\(\mu \)) and the treatment effect function (\(\tau \)): [</a:t>
            </a:r>
            <a:r>
              <a:rPr lang="en-US" sz="1200" b="0" u="none" strike="noStrike" kern="1200" dirty="0">
                <a:solidFill>
                  <a:schemeClr val="tx1"/>
                </a:solidFill>
                <a:effectLst/>
                <a:latin typeface="+mn-lt"/>
                <a:ea typeface="+mn-ea"/>
                <a:cs typeface="+mn-cs"/>
                <a:hlinkClick r:id="rId1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3</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4</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Prognostic Tree Ensemble (\(\mu \))</a:t>
            </a:r>
            <a:r>
              <a:rPr lang="en-US" sz="1200" b="0" u="none" strike="noStrike" kern="1200" dirty="0">
                <a:solidFill>
                  <a:schemeClr val="tx1"/>
                </a:solidFill>
                <a:effectLst/>
                <a:latin typeface="+mn-lt"/>
                <a:ea typeface="+mn-ea"/>
                <a:cs typeface="+mn-cs"/>
              </a:rPr>
              <a:t>: Learns how the baseline variables affect the overall outcome.</a:t>
            </a:r>
          </a:p>
          <a:p>
            <a:r>
              <a:rPr lang="en-US" sz="1200" b="1" u="none" strike="noStrike" kern="1200" dirty="0">
                <a:solidFill>
                  <a:schemeClr val="tx1"/>
                </a:solidFill>
                <a:effectLst/>
                <a:latin typeface="+mn-lt"/>
                <a:ea typeface="+mn-ea"/>
                <a:cs typeface="+mn-cs"/>
              </a:rPr>
              <a:t>Treatment Effect Tree Ensemble (\(\tau \))</a:t>
            </a:r>
            <a:r>
              <a:rPr lang="en-US" sz="1200" b="0" u="none" strike="noStrike" kern="1200" dirty="0">
                <a:solidFill>
                  <a:schemeClr val="tx1"/>
                </a:solidFill>
                <a:effectLst/>
                <a:latin typeface="+mn-lt"/>
                <a:ea typeface="+mn-ea"/>
                <a:cs typeface="+mn-cs"/>
              </a:rPr>
              <a:t>: Learns how the treatment effect varies across different subgroups of covariates.</a:t>
            </a:r>
          </a:p>
          <a:p>
            <a:r>
              <a:rPr lang="en-US" sz="1200" b="0" u="none" strike="noStrike" kern="1200" dirty="0">
                <a:solidFill>
                  <a:schemeClr val="tx1"/>
                </a:solidFill>
                <a:effectLst/>
                <a:latin typeface="+mn-lt"/>
                <a:ea typeface="+mn-ea"/>
                <a:cs typeface="+mn-cs"/>
              </a:rPr>
              <a:t>By enforcing separate Bayesian priors, the model can apply stricter regularization to the treatment effect, allowing the model to shrink estimates towards a homogeneous effect if data is sparse.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4"/>
              </a:rPr>
              <a:t>3</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5. Markov Chain Monte Carlo (MCMC) Sampling</a:t>
            </a:r>
          </a:p>
          <a:p>
            <a:r>
              <a:rPr lang="en-US" sz="1200" b="0" u="none" strike="noStrike" kern="1200" dirty="0">
                <a:solidFill>
                  <a:schemeClr val="tx1"/>
                </a:solidFill>
                <a:effectLst/>
                <a:latin typeface="+mn-lt"/>
                <a:ea typeface="+mn-ea"/>
                <a:cs typeface="+mn-cs"/>
              </a:rPr>
              <a:t>BCF uses an MCMC algorithm (specifically, </a:t>
            </a:r>
            <a:r>
              <a:rPr lang="en-US" sz="1200" b="0" u="none" strike="noStrike" kern="1200" dirty="0" err="1">
                <a:solidFill>
                  <a:schemeClr val="tx1"/>
                </a:solidFill>
                <a:effectLst/>
                <a:latin typeface="+mn-lt"/>
                <a:ea typeface="+mn-ea"/>
                <a:cs typeface="+mn-cs"/>
              </a:rPr>
              <a:t>blockwise</a:t>
            </a:r>
            <a:r>
              <a:rPr lang="en-US" sz="1200" b="0" u="none" strike="noStrike" kern="1200" dirty="0">
                <a:solidFill>
                  <a:schemeClr val="tx1"/>
                </a:solidFill>
                <a:effectLst/>
                <a:latin typeface="+mn-lt"/>
                <a:ea typeface="+mn-ea"/>
                <a:cs typeface="+mn-cs"/>
              </a:rPr>
              <a:t> Bayesian </a:t>
            </a:r>
            <a:r>
              <a:rPr lang="en-US" sz="1200" b="0" u="none" strike="noStrike" kern="1200" dirty="0" err="1">
                <a:solidFill>
                  <a:schemeClr val="tx1"/>
                </a:solidFill>
                <a:effectLst/>
                <a:latin typeface="+mn-lt"/>
                <a:ea typeface="+mn-ea"/>
                <a:cs typeface="+mn-cs"/>
              </a:rPr>
              <a:t>backfitting</a:t>
            </a:r>
            <a:r>
              <a:rPr lang="en-US" sz="1200" b="0" u="none" strike="noStrike" kern="1200" dirty="0">
                <a:solidFill>
                  <a:schemeClr val="tx1"/>
                </a:solidFill>
                <a:effectLst/>
                <a:latin typeface="+mn-lt"/>
                <a:ea typeface="+mn-ea"/>
                <a:cs typeface="+mn-cs"/>
              </a:rPr>
              <a:t>) to estimate the parameters iteratively: [</a:t>
            </a:r>
            <a:r>
              <a:rPr lang="en-US" sz="1200" b="0" u="none" strike="noStrike" kern="1200" dirty="0">
                <a:solidFill>
                  <a:schemeClr val="tx1"/>
                </a:solidFill>
                <a:effectLst/>
                <a:latin typeface="+mn-lt"/>
                <a:ea typeface="+mn-ea"/>
                <a:cs typeface="+mn-cs"/>
                <a:hlinkClick r:id="rId9"/>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5"/>
              </a:rPr>
              <a:t>3</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Step A</a:t>
            </a:r>
            <a:r>
              <a:rPr lang="en-US" sz="1200" b="0" u="none" strike="noStrike" kern="1200" dirty="0">
                <a:solidFill>
                  <a:schemeClr val="tx1"/>
                </a:solidFill>
                <a:effectLst/>
                <a:latin typeface="+mn-lt"/>
                <a:ea typeface="+mn-ea"/>
                <a:cs typeface="+mn-cs"/>
              </a:rPr>
              <a:t>: The algorithm updates the tree structures and leaf parameters for the prognostic forest (\(\mu \)) by holding the treatment effect forest (\(\tau \)) constant.</a:t>
            </a:r>
          </a:p>
          <a:p>
            <a:r>
              <a:rPr lang="en-US" sz="1200" b="1" u="none" strike="noStrike" kern="1200" dirty="0">
                <a:solidFill>
                  <a:schemeClr val="tx1"/>
                </a:solidFill>
                <a:effectLst/>
                <a:latin typeface="+mn-lt"/>
                <a:ea typeface="+mn-ea"/>
                <a:cs typeface="+mn-cs"/>
              </a:rPr>
              <a:t>Step B</a:t>
            </a:r>
            <a:r>
              <a:rPr lang="en-US" sz="1200" b="0" u="none" strike="noStrike" kern="1200" dirty="0">
                <a:solidFill>
                  <a:schemeClr val="tx1"/>
                </a:solidFill>
                <a:effectLst/>
                <a:latin typeface="+mn-lt"/>
                <a:ea typeface="+mn-ea"/>
                <a:cs typeface="+mn-cs"/>
              </a:rPr>
              <a:t>: It then updates the trees for the treatment effect forest (\(\tau \)) while holding the prognostic forest (\(\mu \)) constant.</a:t>
            </a:r>
          </a:p>
          <a:p>
            <a:r>
              <a:rPr lang="en-US" sz="1200" b="0" u="none" strike="noStrike" kern="1200" dirty="0">
                <a:solidFill>
                  <a:schemeClr val="tx1"/>
                </a:solidFill>
                <a:effectLst/>
                <a:latin typeface="+mn-lt"/>
                <a:ea typeface="+mn-ea"/>
                <a:cs typeface="+mn-cs"/>
              </a:rPr>
              <a:t>This iterative </a:t>
            </a:r>
            <a:r>
              <a:rPr lang="en-US" sz="1200" b="0" u="none" strike="noStrike" kern="1200" dirty="0" err="1">
                <a:solidFill>
                  <a:schemeClr val="tx1"/>
                </a:solidFill>
                <a:effectLst/>
                <a:latin typeface="+mn-lt"/>
                <a:ea typeface="+mn-ea"/>
                <a:cs typeface="+mn-cs"/>
              </a:rPr>
              <a:t>backfitting</a:t>
            </a:r>
            <a:r>
              <a:rPr lang="en-US" sz="1200" b="0" u="none" strike="noStrike" kern="1200" dirty="0">
                <a:solidFill>
                  <a:schemeClr val="tx1"/>
                </a:solidFill>
                <a:effectLst/>
                <a:latin typeface="+mn-lt"/>
                <a:ea typeface="+mn-ea"/>
                <a:cs typeface="+mn-cs"/>
              </a:rPr>
              <a:t> process generates thousands of posterior draws of the trees, which together construct the model and its uncertainty. [</a:t>
            </a:r>
            <a:r>
              <a:rPr lang="en-US" sz="1200" b="0" u="none" strike="noStrike" kern="1200" dirty="0">
                <a:solidFill>
                  <a:schemeClr val="tx1"/>
                </a:solidFill>
                <a:effectLst/>
                <a:latin typeface="+mn-lt"/>
                <a:ea typeface="+mn-ea"/>
                <a:cs typeface="+mn-cs"/>
                <a:hlinkClick r:id="rId16"/>
              </a:rPr>
              <a:t>1</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6. Posterior Inference and Uncertainty Quantification</a:t>
            </a:r>
          </a:p>
          <a:p>
            <a:r>
              <a:rPr lang="en-US" sz="1200" b="0" u="none" strike="noStrike" kern="1200" dirty="0">
                <a:solidFill>
                  <a:schemeClr val="tx1"/>
                </a:solidFill>
                <a:effectLst/>
                <a:latin typeface="+mn-lt"/>
                <a:ea typeface="+mn-ea"/>
                <a:cs typeface="+mn-cs"/>
              </a:rPr>
              <a:t>Instead of outputting a single point estimate, BCF yields a full posterior distribution for the causal effect. [</a:t>
            </a:r>
            <a:r>
              <a:rPr lang="en-US" sz="1200" b="0" u="none" strike="noStrike" kern="1200" dirty="0">
                <a:solidFill>
                  <a:schemeClr val="tx1"/>
                </a:solidFill>
                <a:effectLst/>
                <a:latin typeface="+mn-lt"/>
                <a:ea typeface="+mn-ea"/>
                <a:cs typeface="+mn-cs"/>
                <a:hlinkClick r:id="rId5"/>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7"/>
              </a:rPr>
              <a:t>2</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You can extract the Conditional Average Treatment Effect (CATE) for any individual \(</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by taking the average of the posterior draws of \(\tau(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Because it outputs a distribution, you can easily calculate </a:t>
            </a:r>
            <a:r>
              <a:rPr lang="en-US" sz="1200" b="1" u="none" strike="noStrike" kern="1200" dirty="0">
                <a:solidFill>
                  <a:schemeClr val="tx1"/>
                </a:solidFill>
                <a:effectLst/>
                <a:latin typeface="+mn-lt"/>
                <a:ea typeface="+mn-ea"/>
                <a:cs typeface="+mn-cs"/>
              </a:rPr>
              <a:t>credible intervals</a:t>
            </a:r>
            <a:r>
              <a:rPr lang="en-US" sz="1200" b="0" u="none" strike="noStrike" kern="1200" dirty="0">
                <a:solidFill>
                  <a:schemeClr val="tx1"/>
                </a:solidFill>
                <a:effectLst/>
                <a:latin typeface="+mn-lt"/>
                <a:ea typeface="+mn-ea"/>
                <a:cs typeface="+mn-cs"/>
              </a:rPr>
              <a:t> (e.g., 95% intervals) to quantify uncertainty natively. [</a:t>
            </a:r>
            <a:r>
              <a:rPr lang="en-US" sz="1200" b="0" u="none" strike="noStrike" kern="1200" dirty="0">
                <a:solidFill>
                  <a:schemeClr val="tx1"/>
                </a:solidFill>
                <a:effectLst/>
                <a:latin typeface="+mn-lt"/>
                <a:ea typeface="+mn-ea"/>
                <a:cs typeface="+mn-cs"/>
                <a:hlinkClick r:id="rId8"/>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8"/>
              </a:rPr>
              <a:t>4</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5</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If you are planning to implement this, let me know:</a:t>
            </a:r>
          </a:p>
          <a:p>
            <a:r>
              <a:rPr lang="en-US" sz="1200" b="0" u="none" strike="noStrike" kern="1200" dirty="0">
                <a:solidFill>
                  <a:schemeClr val="tx1"/>
                </a:solidFill>
                <a:effectLst/>
                <a:latin typeface="+mn-lt"/>
                <a:ea typeface="+mn-ea"/>
                <a:cs typeface="+mn-cs"/>
              </a:rPr>
              <a:t>What </a:t>
            </a:r>
            <a:r>
              <a:rPr lang="en-US" sz="1200" b="1" u="none" strike="noStrike" kern="1200" dirty="0">
                <a:solidFill>
                  <a:schemeClr val="tx1"/>
                </a:solidFill>
                <a:effectLst/>
                <a:latin typeface="+mn-lt"/>
                <a:ea typeface="+mn-ea"/>
                <a:cs typeface="+mn-cs"/>
              </a:rPr>
              <a:t>software or language</a:t>
            </a:r>
            <a:r>
              <a:rPr lang="en-US" sz="1200" b="0" u="none" strike="noStrike" kern="1200" dirty="0">
                <a:solidFill>
                  <a:schemeClr val="tx1"/>
                </a:solidFill>
                <a:effectLst/>
                <a:latin typeface="+mn-lt"/>
                <a:ea typeface="+mn-ea"/>
                <a:cs typeface="+mn-cs"/>
              </a:rPr>
              <a:t> you are using (e.g., R's </a:t>
            </a:r>
            <a:r>
              <a:rPr lang="en-US" sz="1200" b="0" u="none" strike="noStrike" kern="1200" dirty="0" err="1">
                <a:solidFill>
                  <a:schemeClr val="tx1"/>
                </a:solidFill>
                <a:effectLst/>
                <a:latin typeface="+mn-lt"/>
                <a:ea typeface="+mn-ea"/>
                <a:cs typeface="+mn-cs"/>
              </a:rPr>
              <a:t>bcf</a:t>
            </a:r>
            <a:r>
              <a:rPr lang="en-US" sz="1200" b="0" u="none" strike="noStrike" kern="1200" dirty="0">
                <a:solidFill>
                  <a:schemeClr val="tx1"/>
                </a:solidFill>
                <a:effectLst/>
                <a:latin typeface="+mn-lt"/>
                <a:ea typeface="+mn-ea"/>
                <a:cs typeface="+mn-cs"/>
              </a:rPr>
              <a:t> package or Python's </a:t>
            </a:r>
            <a:r>
              <a:rPr lang="en-US" sz="1200" b="0" u="none" strike="noStrike" kern="1200" dirty="0" err="1">
                <a:solidFill>
                  <a:schemeClr val="tx1"/>
                </a:solidFill>
                <a:effectLst/>
                <a:latin typeface="+mn-lt"/>
                <a:ea typeface="+mn-ea"/>
                <a:cs typeface="+mn-cs"/>
              </a:rPr>
              <a:t>stochtree</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Whether your treatment is </a:t>
            </a:r>
            <a:r>
              <a:rPr lang="en-US" sz="1200" b="1" u="none" strike="noStrike" kern="1200" dirty="0">
                <a:solidFill>
                  <a:schemeClr val="tx1"/>
                </a:solidFill>
                <a:effectLst/>
                <a:latin typeface="+mn-lt"/>
                <a:ea typeface="+mn-ea"/>
                <a:cs typeface="+mn-cs"/>
              </a:rPr>
              <a:t>binary or continuous</a:t>
            </a:r>
            <a:endParaRPr lang="en-US" sz="1200" b="0" u="none" strike="noStrike" kern="1200" dirty="0">
              <a:solidFill>
                <a:schemeClr val="tx1"/>
              </a:solidFill>
              <a:effectLst/>
              <a:latin typeface="+mn-lt"/>
              <a:ea typeface="+mn-ea"/>
              <a:cs typeface="+mn-cs"/>
            </a:endParaRPr>
          </a:p>
          <a:p>
            <a:r>
              <a:rPr lang="en-US" sz="1200" b="0" u="none" strike="noStrike" kern="1200" dirty="0">
                <a:solidFill>
                  <a:schemeClr val="tx1"/>
                </a:solidFill>
                <a:effectLst/>
                <a:latin typeface="+mn-lt"/>
                <a:ea typeface="+mn-ea"/>
                <a:cs typeface="+mn-cs"/>
              </a:rPr>
              <a:t>If you want to know how to </a:t>
            </a:r>
            <a:r>
              <a:rPr lang="en-US" sz="1200" b="1" u="none" strike="noStrike" kern="1200" dirty="0">
                <a:solidFill>
                  <a:schemeClr val="tx1"/>
                </a:solidFill>
                <a:effectLst/>
                <a:latin typeface="+mn-lt"/>
                <a:ea typeface="+mn-ea"/>
                <a:cs typeface="+mn-cs"/>
              </a:rPr>
              <a:t>interpret the outputted CATE</a:t>
            </a:r>
            <a:endParaRPr lang="en-US" sz="1200" b="0" u="none" strike="noStrike" kern="1200" dirty="0">
              <a:solidFill>
                <a:schemeClr val="tx1"/>
              </a:solidFill>
              <a:effectLst/>
              <a:latin typeface="+mn-lt"/>
              <a:ea typeface="+mn-ea"/>
              <a:cs typeface="+mn-cs"/>
            </a:endParaRPr>
          </a:p>
          <a:p>
            <a:r>
              <a:rPr lang="en-US" sz="1200" b="0" u="none" strike="noStrike" kern="1200" dirty="0">
                <a:solidFill>
                  <a:schemeClr val="tx1"/>
                </a:solidFill>
                <a:effectLst/>
                <a:latin typeface="+mn-lt"/>
                <a:ea typeface="+mn-ea"/>
                <a:cs typeface="+mn-cs"/>
              </a:rPr>
              <a:t>I can give you the specific code or analysis steps tailored to your environment.</a:t>
            </a:r>
          </a:p>
          <a:p>
            <a:pPr>
              <a:defRPr/>
            </a:pPr>
            <a:endParaRPr lang="de-DE" dirty="0"/>
          </a:p>
        </p:txBody>
      </p:sp>
      <p:sp>
        <p:nvSpPr>
          <p:cNvPr id="1416629939" name="Foliennummernplatzhalt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057F9-B2ED-4B9D-B0F2-D3AD44C3FAB4}" type="slidenum">
              <a:rPr kumimoji="0" lang="de-DE"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177671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28984289" name="Folienbildplatzhalter 1"/>
          <p:cNvSpPr>
            <a:spLocks noGrp="1" noRot="1" noChangeAspect="1"/>
          </p:cNvSpPr>
          <p:nvPr>
            <p:ph type="sldImg"/>
          </p:nvPr>
        </p:nvSpPr>
        <p:spPr bwMode="auto"/>
      </p:sp>
      <p:sp>
        <p:nvSpPr>
          <p:cNvPr id="1667454889" name="Notizenplatzhalter 2"/>
          <p:cNvSpPr>
            <a:spLocks noGrp="1"/>
          </p:cNvSpPr>
          <p:nvPr>
            <p:ph type="body" idx="1"/>
          </p:nvPr>
        </p:nvSpPr>
        <p:spPr bwMode="auto"/>
        <p:txBody>
          <a:bodyPr/>
          <a:lstStyle/>
          <a:p>
            <a:r>
              <a:rPr lang="en-US" sz="1200" b="0" u="none" strike="noStrike" kern="1200" dirty="0">
                <a:solidFill>
                  <a:schemeClr val="tx1"/>
                </a:solidFill>
                <a:effectLst/>
                <a:latin typeface="+mn-lt"/>
                <a:ea typeface="+mn-ea"/>
                <a:cs typeface="+mn-cs"/>
              </a:rPr>
              <a:t>Up next:</a:t>
            </a:r>
          </a:p>
          <a:p>
            <a:pPr marL="171450" indent="-171450">
              <a:buFontTx/>
              <a:buChar char="-"/>
            </a:pPr>
            <a:r>
              <a:rPr lang="en-US" sz="1200" b="0" u="none" strike="noStrike" kern="1200" dirty="0">
                <a:solidFill>
                  <a:schemeClr val="tx1"/>
                </a:solidFill>
                <a:effectLst/>
                <a:latin typeface="+mn-lt"/>
                <a:ea typeface="+mn-ea"/>
                <a:cs typeface="+mn-cs"/>
              </a:rPr>
              <a:t>Show what BCF and related stuff (debiased, discovery) can(not) do</a:t>
            </a:r>
          </a:p>
          <a:p>
            <a:pPr marL="171450" indent="-171450">
              <a:buFontTx/>
              <a:buChar char="-"/>
            </a:pPr>
            <a:r>
              <a:rPr lang="en-US" sz="1200" b="0" u="none" strike="noStrike" kern="1200" dirty="0">
                <a:solidFill>
                  <a:schemeClr val="tx1"/>
                </a:solidFill>
                <a:effectLst/>
                <a:latin typeface="+mn-lt"/>
                <a:ea typeface="+mn-ea"/>
                <a:cs typeface="+mn-cs"/>
              </a:rPr>
              <a:t>Go back to example: Now we know that the identifiability issue is the same (causal sufficiency), let`s look into the example: See that they made mistakes.</a:t>
            </a:r>
          </a:p>
          <a:p>
            <a:pPr marL="171450" indent="-171450">
              <a:buFontTx/>
              <a:buChar char="-"/>
            </a:pPr>
            <a:r>
              <a:rPr lang="en-US" sz="1200" b="0" u="none" strike="noStrike" kern="1200" dirty="0">
                <a:solidFill>
                  <a:schemeClr val="tx1"/>
                </a:solidFill>
                <a:effectLst/>
                <a:latin typeface="+mn-lt"/>
                <a:ea typeface="+mn-ea"/>
                <a:cs typeface="+mn-cs"/>
              </a:rPr>
              <a:t>Conclusions: It does not help with causal sufficiency</a:t>
            </a:r>
          </a:p>
          <a:p>
            <a:pPr marL="171450" indent="-171450">
              <a:buFontTx/>
              <a:buChar char="-"/>
            </a:pPr>
            <a:r>
              <a:rPr lang="en-US" sz="1200" b="0" u="none" strike="noStrike" kern="1200" dirty="0">
                <a:solidFill>
                  <a:schemeClr val="tx1"/>
                </a:solidFill>
                <a:effectLst/>
                <a:latin typeface="+mn-lt"/>
                <a:ea typeface="+mn-ea"/>
                <a:cs typeface="+mn-cs"/>
              </a:rPr>
              <a:t>It helps with identification of the correct model (with data points in the 10,000s)</a:t>
            </a:r>
          </a:p>
          <a:p>
            <a:pPr marL="171450" indent="-171450">
              <a:buFontTx/>
              <a:buChar char="-"/>
            </a:pPr>
            <a:r>
              <a:rPr lang="en-US" sz="1200" b="0" u="none" strike="noStrike" kern="1200" dirty="0">
                <a:solidFill>
                  <a:schemeClr val="tx1"/>
                </a:solidFill>
                <a:effectLst/>
                <a:latin typeface="+mn-lt"/>
                <a:ea typeface="+mn-ea"/>
                <a:cs typeface="+mn-cs"/>
              </a:rPr>
              <a:t>Hypothesis 1: Portraying a study as using CML as a tool that allows identifying causal effects increases the change that readers </a:t>
            </a:r>
            <a:r>
              <a:rPr lang="en-US" sz="1200" b="0" u="none" strike="noStrike" kern="1200" dirty="0" err="1">
                <a:solidFill>
                  <a:schemeClr val="tx1"/>
                </a:solidFill>
                <a:effectLst/>
                <a:latin typeface="+mn-lt"/>
                <a:ea typeface="+mn-ea"/>
                <a:cs typeface="+mn-cs"/>
              </a:rPr>
              <a:t>ausblenden</a:t>
            </a:r>
            <a:r>
              <a:rPr lang="en-US" sz="1200" b="0" u="none" strike="noStrike" kern="1200" dirty="0">
                <a:solidFill>
                  <a:schemeClr val="tx1"/>
                </a:solidFill>
                <a:effectLst/>
                <a:latin typeface="+mn-lt"/>
                <a:ea typeface="+mn-ea"/>
                <a:cs typeface="+mn-cs"/>
              </a:rPr>
              <a:t> the necessary preconditions for causal inference (dependent on how aware they are of them?)</a:t>
            </a:r>
          </a:p>
          <a:p>
            <a:pPr marL="171450" indent="-171450">
              <a:buFontTx/>
              <a:buChar char="-"/>
            </a:pPr>
            <a:r>
              <a:rPr lang="en-US" sz="1200" b="0" u="none" strike="noStrike" kern="1200" dirty="0">
                <a:solidFill>
                  <a:schemeClr val="tx1"/>
                </a:solidFill>
                <a:effectLst/>
                <a:latin typeface="+mn-lt"/>
                <a:ea typeface="+mn-ea"/>
                <a:cs typeface="+mn-cs"/>
              </a:rPr>
              <a:t>Hypothesis 2: The same for moderation effects? Observed moderation misinterpreted as causal moderation? &lt;- Overlooked?</a:t>
            </a:r>
          </a:p>
          <a:p>
            <a:pPr marL="171450" indent="-171450">
              <a:buFontTx/>
              <a:buChar char="-"/>
            </a:pPr>
            <a:r>
              <a:rPr lang="en-US" sz="1200" b="0" u="none" strike="noStrike" kern="1200" dirty="0">
                <a:solidFill>
                  <a:schemeClr val="tx1"/>
                </a:solidFill>
                <a:effectLst/>
                <a:latin typeface="+mn-lt"/>
                <a:ea typeface="+mn-ea"/>
                <a:cs typeface="+mn-cs"/>
              </a:rPr>
              <a:t>Hypothesis 3: CML provides affordances regarding </a:t>
            </a:r>
            <a:r>
              <a:rPr lang="en-US" sz="1200" b="1" u="none" strike="noStrike" kern="1200" dirty="0">
                <a:solidFill>
                  <a:schemeClr val="tx1"/>
                </a:solidFill>
                <a:effectLst/>
                <a:latin typeface="+mn-lt"/>
                <a:ea typeface="+mn-ea"/>
                <a:cs typeface="+mn-cs"/>
              </a:rPr>
              <a:t>model identification</a:t>
            </a:r>
            <a:r>
              <a:rPr lang="en-US" sz="1200" b="0" u="none" strike="noStrike" kern="1200" dirty="0">
                <a:solidFill>
                  <a:schemeClr val="tx1"/>
                </a:solidFill>
                <a:effectLst/>
                <a:latin typeface="+mn-lt"/>
                <a:ea typeface="+mn-ea"/>
                <a:cs typeface="+mn-cs"/>
              </a:rPr>
              <a:t> that </a:t>
            </a:r>
            <a:r>
              <a:rPr lang="en-US" sz="1200" b="0" i="1" u="none" strike="noStrike" kern="1200" dirty="0">
                <a:solidFill>
                  <a:schemeClr val="tx1"/>
                </a:solidFill>
                <a:effectLst/>
                <a:latin typeface="+mn-lt"/>
                <a:ea typeface="+mn-ea"/>
                <a:cs typeface="+mn-cs"/>
              </a:rPr>
              <a:t>are </a:t>
            </a:r>
            <a:r>
              <a:rPr lang="en-US" sz="1200" b="0" u="none" strike="noStrike" kern="1200" dirty="0">
                <a:solidFill>
                  <a:schemeClr val="tx1"/>
                </a:solidFill>
                <a:effectLst/>
                <a:latin typeface="+mn-lt"/>
                <a:ea typeface="+mn-ea"/>
                <a:cs typeface="+mn-cs"/>
              </a:rPr>
              <a:t>currently overlooked (or disregarded) in applied research (such as soc or psych)</a:t>
            </a:r>
          </a:p>
          <a:p>
            <a:pPr marL="171450" indent="-171450">
              <a:buFontTx/>
              <a:buChar char="-"/>
            </a:pPr>
            <a:endParaRPr lang="en-US" sz="1200" b="0" u="none" strike="noStrike" kern="1200" dirty="0">
              <a:solidFill>
                <a:schemeClr val="tx1"/>
              </a:solidFill>
              <a:effectLst/>
              <a:latin typeface="+mn-lt"/>
              <a:ea typeface="+mn-ea"/>
              <a:cs typeface="+mn-cs"/>
            </a:endParaRPr>
          </a:p>
          <a:p>
            <a:pPr marL="171450" indent="-171450">
              <a:buFontTx/>
              <a:buChar char="-"/>
            </a:pPr>
            <a:r>
              <a:rPr lang="en-US" sz="1200" b="0" u="none" strike="noStrike" kern="1200" dirty="0">
                <a:solidFill>
                  <a:schemeClr val="tx1"/>
                </a:solidFill>
                <a:effectLst/>
                <a:latin typeface="+mn-lt"/>
                <a:ea typeface="+mn-ea"/>
                <a:cs typeface="+mn-cs"/>
              </a:rPr>
              <a:t>Implications:</a:t>
            </a:r>
          </a:p>
          <a:p>
            <a:pPr marL="171450" indent="-171450">
              <a:buFontTx/>
              <a:buChar char="-"/>
            </a:pPr>
            <a:endParaRPr lang="en-US" sz="1200" b="0" u="none" strike="noStrike" kern="1200" dirty="0">
              <a:solidFill>
                <a:schemeClr val="tx1"/>
              </a:solidFill>
              <a:effectLst/>
              <a:latin typeface="+mn-lt"/>
              <a:ea typeface="+mn-ea"/>
              <a:cs typeface="+mn-cs"/>
            </a:endParaRPr>
          </a:p>
          <a:p>
            <a:pPr marL="171450" indent="-171450">
              <a:buFontTx/>
              <a:buChar char="-"/>
            </a:pPr>
            <a:endParaRPr lang="en-US" sz="1200" b="0" u="none" strike="noStrike" kern="1200" dirty="0">
              <a:solidFill>
                <a:schemeClr val="tx1"/>
              </a:solidFill>
              <a:effectLst/>
              <a:latin typeface="+mn-lt"/>
              <a:ea typeface="+mn-ea"/>
              <a:cs typeface="+mn-cs"/>
            </a:endParaRPr>
          </a:p>
          <a:p>
            <a:pPr marL="171450" indent="-171450">
              <a:buFontTx/>
              <a:buChar char="-"/>
            </a:pPr>
            <a:endParaRPr lang="en-US" sz="1200" b="0" u="none" strike="noStrike" kern="1200" dirty="0">
              <a:solidFill>
                <a:schemeClr val="tx1"/>
              </a:solidFill>
              <a:effectLst/>
              <a:latin typeface="+mn-lt"/>
              <a:ea typeface="+mn-ea"/>
              <a:cs typeface="+mn-cs"/>
            </a:endParaRPr>
          </a:p>
          <a:p>
            <a:endParaRPr lang="en-US" sz="1200" b="0" u="none" strike="noStrike" kern="1200" dirty="0">
              <a:solidFill>
                <a:schemeClr val="tx1"/>
              </a:solidFill>
              <a:effectLst/>
              <a:latin typeface="+mn-lt"/>
              <a:ea typeface="+mn-ea"/>
              <a:cs typeface="+mn-cs"/>
            </a:endParaRPr>
          </a:p>
          <a:p>
            <a:r>
              <a:rPr lang="en-US" sz="1200" b="0" u="none" strike="noStrike" kern="1200" dirty="0">
                <a:solidFill>
                  <a:schemeClr val="tx1"/>
                </a:solidFill>
                <a:effectLst/>
                <a:latin typeface="+mn-lt"/>
                <a:ea typeface="+mn-ea"/>
                <a:cs typeface="+mn-cs"/>
              </a:rPr>
              <a:t>A </a:t>
            </a:r>
            <a:r>
              <a:rPr lang="en-US" sz="1200" b="1" u="none" strike="noStrike" kern="1200" dirty="0">
                <a:solidFill>
                  <a:schemeClr val="tx1"/>
                </a:solidFill>
                <a:effectLst/>
                <a:latin typeface="+mn-lt"/>
                <a:ea typeface="+mn-ea"/>
                <a:cs typeface="+mn-cs"/>
              </a:rPr>
              <a:t>Bayesian Causal Forest (BCF)</a:t>
            </a:r>
            <a:r>
              <a:rPr lang="en-US" sz="1200" b="0" u="none" strike="noStrike" kern="1200" dirty="0">
                <a:solidFill>
                  <a:schemeClr val="tx1"/>
                </a:solidFill>
                <a:effectLst/>
                <a:latin typeface="+mn-lt"/>
                <a:ea typeface="+mn-ea"/>
                <a:cs typeface="+mn-cs"/>
              </a:rPr>
              <a:t> model is a machine learning method used to estimate </a:t>
            </a:r>
            <a:r>
              <a:rPr lang="en-US" sz="1200" b="1" u="none" strike="noStrike" kern="1200" dirty="0">
                <a:solidFill>
                  <a:schemeClr val="tx1"/>
                </a:solidFill>
                <a:effectLst/>
                <a:latin typeface="+mn-lt"/>
                <a:ea typeface="+mn-ea"/>
                <a:cs typeface="+mn-cs"/>
              </a:rPr>
              <a:t>Heterogeneous Treatment Effects</a:t>
            </a:r>
            <a:r>
              <a:rPr lang="en-US" sz="1200" b="0" u="none" strike="noStrike" kern="1200" dirty="0">
                <a:solidFill>
                  <a:schemeClr val="tx1"/>
                </a:solidFill>
                <a:effectLst/>
                <a:latin typeface="+mn-lt"/>
                <a:ea typeface="+mn-ea"/>
                <a:cs typeface="+mn-cs"/>
              </a:rPr>
              <a:t> (HTE) from observational or experimental data. It separates the baseline outcome prediction from the causal effect itself, preventing bias and providing rigorous uncertainty estimates.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3</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6"/>
              </a:rPr>
              <a:t>4</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7"/>
              </a:rPr>
              <a:t>5</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Here is the step-by-step breakdown of how the BCF model works:</a:t>
            </a:r>
          </a:p>
          <a:p>
            <a:r>
              <a:rPr lang="en-US" sz="1200" b="1" u="none" strike="noStrike" kern="1200" dirty="0">
                <a:solidFill>
                  <a:schemeClr val="tx1"/>
                </a:solidFill>
                <a:effectLst/>
                <a:latin typeface="+mn-lt"/>
                <a:ea typeface="+mn-ea"/>
                <a:cs typeface="+mn-cs"/>
              </a:rPr>
              <a:t>1. Model Formulation and Decomposition</a:t>
            </a:r>
          </a:p>
          <a:p>
            <a:r>
              <a:rPr lang="en-US" sz="1200" b="0" u="none" strike="noStrike" kern="1200" dirty="0">
                <a:solidFill>
                  <a:schemeClr val="tx1"/>
                </a:solidFill>
                <a:effectLst/>
                <a:latin typeface="+mn-lt"/>
                <a:ea typeface="+mn-ea"/>
                <a:cs typeface="+mn-cs"/>
              </a:rPr>
              <a:t>BCF starts by splitting the observed outcome (\(Y_{</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for individual (\(</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into two distinct, additive parts:</a:t>
            </a:r>
            <a:br>
              <a:rPr lang="en-US" sz="1200" b="0" u="none" strike="noStrike" kern="1200" dirty="0">
                <a:solidFill>
                  <a:schemeClr val="tx1"/>
                </a:solidFill>
                <a:effectLst/>
                <a:latin typeface="+mn-lt"/>
                <a:ea typeface="+mn-ea"/>
                <a:cs typeface="+mn-cs"/>
              </a:rPr>
            </a:br>
            <a:r>
              <a:rPr lang="en-US" sz="1200" b="0" u="none" strike="noStrike" kern="1200" dirty="0">
                <a:solidFill>
                  <a:schemeClr val="tx1"/>
                </a:solidFill>
                <a:effectLst/>
                <a:latin typeface="+mn-lt"/>
                <a:ea typeface="+mn-ea"/>
                <a:cs typeface="+mn-cs"/>
              </a:rPr>
              <a:t>\(</a:t>
            </a:r>
            <a:r>
              <a:rPr lang="en-US" sz="1200" b="0" u="none" strike="noStrike" kern="1200" dirty="0" err="1">
                <a:solidFill>
                  <a:schemeClr val="tx1"/>
                </a:solidFill>
                <a:effectLst/>
                <a:latin typeface="+mn-lt"/>
                <a:ea typeface="+mn-ea"/>
                <a:cs typeface="+mn-cs"/>
              </a:rPr>
              <a:t>Y_i</a:t>
            </a:r>
            <a:r>
              <a:rPr lang="en-US" sz="1200" b="0" u="none" strike="noStrike" kern="1200" dirty="0">
                <a:solidFill>
                  <a:schemeClr val="tx1"/>
                </a:solidFill>
                <a:effectLst/>
                <a:latin typeface="+mn-lt"/>
                <a:ea typeface="+mn-ea"/>
                <a:cs typeface="+mn-cs"/>
              </a:rPr>
              <a:t> = \mu(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 \tau(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cdot</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W_i</a:t>
            </a:r>
            <a:r>
              <a:rPr lang="en-US" sz="1200" b="0" u="none" strike="noStrike" kern="1200" dirty="0">
                <a:solidFill>
                  <a:schemeClr val="tx1"/>
                </a:solidFill>
                <a:effectLst/>
                <a:latin typeface="+mn-lt"/>
                <a:ea typeface="+mn-ea"/>
                <a:cs typeface="+mn-cs"/>
              </a:rPr>
              <a:t> + \</a:t>
            </a:r>
            <a:r>
              <a:rPr lang="en-US" sz="1200" b="0" u="none" strike="noStrike" kern="1200" dirty="0" err="1">
                <a:solidFill>
                  <a:schemeClr val="tx1"/>
                </a:solidFill>
                <a:effectLst/>
                <a:latin typeface="+mn-lt"/>
                <a:ea typeface="+mn-ea"/>
                <a:cs typeface="+mn-cs"/>
              </a:rPr>
              <a:t>epsilon_i</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\(Y_{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observed outcome.</a:t>
            </a:r>
          </a:p>
          <a:p>
            <a:r>
              <a:rPr lang="en-US" sz="1200" b="1" u="none" strike="noStrike" kern="1200" dirty="0">
                <a:solidFill>
                  <a:schemeClr val="tx1"/>
                </a:solidFill>
                <a:effectLst/>
                <a:latin typeface="+mn-lt"/>
                <a:ea typeface="+mn-ea"/>
                <a:cs typeface="+mn-cs"/>
              </a:rPr>
              <a:t>\(X_{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vector of baseline covariates (control variables).</a:t>
            </a:r>
          </a:p>
          <a:p>
            <a:r>
              <a:rPr lang="en-US" sz="1200" b="1" u="none" strike="noStrike" kern="1200" dirty="0">
                <a:solidFill>
                  <a:schemeClr val="tx1"/>
                </a:solidFill>
                <a:effectLst/>
                <a:latin typeface="+mn-lt"/>
                <a:ea typeface="+mn-ea"/>
                <a:cs typeface="+mn-cs"/>
              </a:rPr>
              <a:t>\(W_{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treatment assignment indicator (\(1\) for treated, \(0\) for control).</a:t>
            </a:r>
          </a:p>
          <a:p>
            <a:r>
              <a:rPr lang="en-US" sz="1200" b="1" u="none" strike="noStrike" kern="1200" dirty="0">
                <a:solidFill>
                  <a:schemeClr val="tx1"/>
                </a:solidFill>
                <a:effectLst/>
                <a:latin typeface="+mn-lt"/>
                <a:ea typeface="+mn-ea"/>
                <a:cs typeface="+mn-cs"/>
              </a:rPr>
              <a:t>\(\mu(</a:t>
            </a:r>
            <a:r>
              <a:rPr lang="en-US" sz="1200" b="1" u="none" strike="noStrike" kern="1200" dirty="0" err="1">
                <a:solidFill>
                  <a:schemeClr val="tx1"/>
                </a:solidFill>
                <a:effectLst/>
                <a:latin typeface="+mn-lt"/>
                <a:ea typeface="+mn-ea"/>
                <a:cs typeface="+mn-cs"/>
              </a:rPr>
              <a:t>X_i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a:t>
            </a:r>
            <a:r>
              <a:rPr lang="en-US" sz="1200" b="0" i="1" u="none" strike="noStrike" kern="1200" dirty="0">
                <a:solidFill>
                  <a:schemeClr val="tx1"/>
                </a:solidFill>
                <a:effectLst/>
                <a:latin typeface="+mn-lt"/>
                <a:ea typeface="+mn-ea"/>
                <a:cs typeface="+mn-cs"/>
              </a:rPr>
              <a:t>prognostic function</a:t>
            </a:r>
            <a:r>
              <a:rPr lang="en-US" sz="1200" b="0" u="none" strike="noStrike" kern="1200" dirty="0">
                <a:solidFill>
                  <a:schemeClr val="tx1"/>
                </a:solidFill>
                <a:effectLst/>
                <a:latin typeface="+mn-lt"/>
                <a:ea typeface="+mn-ea"/>
                <a:cs typeface="+mn-cs"/>
              </a:rPr>
              <a:t> (baseline outcome for untreated individuals).</a:t>
            </a:r>
          </a:p>
          <a:p>
            <a:r>
              <a:rPr lang="en-US" sz="1200" b="1" u="none" strike="noStrike" kern="1200" dirty="0">
                <a:solidFill>
                  <a:schemeClr val="tx1"/>
                </a:solidFill>
                <a:effectLst/>
                <a:latin typeface="+mn-lt"/>
                <a:ea typeface="+mn-ea"/>
                <a:cs typeface="+mn-cs"/>
              </a:rPr>
              <a:t>\(\tau(</a:t>
            </a:r>
            <a:r>
              <a:rPr lang="en-US" sz="1200" b="1" u="none" strike="noStrike" kern="1200" dirty="0" err="1">
                <a:solidFill>
                  <a:schemeClr val="tx1"/>
                </a:solidFill>
                <a:effectLst/>
                <a:latin typeface="+mn-lt"/>
                <a:ea typeface="+mn-ea"/>
                <a:cs typeface="+mn-cs"/>
              </a:rPr>
              <a:t>X_i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a:t>
            </a:r>
            <a:r>
              <a:rPr lang="en-US" sz="1200" b="0" i="1" u="none" strike="noStrike" kern="1200" dirty="0">
                <a:solidFill>
                  <a:schemeClr val="tx1"/>
                </a:solidFill>
                <a:effectLst/>
                <a:latin typeface="+mn-lt"/>
                <a:ea typeface="+mn-ea"/>
                <a:cs typeface="+mn-cs"/>
              </a:rPr>
              <a:t>treatment effect function</a:t>
            </a:r>
            <a:r>
              <a:rPr lang="en-US" sz="1200" b="0" u="none" strike="noStrike" kern="1200" dirty="0">
                <a:solidFill>
                  <a:schemeClr val="tx1"/>
                </a:solidFill>
                <a:effectLst/>
                <a:latin typeface="+mn-lt"/>
                <a:ea typeface="+mn-ea"/>
                <a:cs typeface="+mn-cs"/>
              </a:rPr>
              <a:t> (Conditional Average Treatment Effect - CATE).</a:t>
            </a:r>
          </a:p>
          <a:p>
            <a:r>
              <a:rPr lang="en-US" sz="1200" b="1" u="none" strike="noStrike" kern="1200" dirty="0">
                <a:solidFill>
                  <a:schemeClr val="tx1"/>
                </a:solidFill>
                <a:effectLst/>
                <a:latin typeface="+mn-lt"/>
                <a:ea typeface="+mn-ea"/>
                <a:cs typeface="+mn-cs"/>
              </a:rPr>
              <a:t>\(\epsilon 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Normally distributed random error term (\(N(0, \sigma^2)\)). [</a:t>
            </a:r>
            <a:r>
              <a:rPr lang="en-US" sz="1200" b="0" u="none" strike="noStrike" kern="1200" dirty="0">
                <a:solidFill>
                  <a:schemeClr val="tx1"/>
                </a:solidFill>
                <a:effectLst/>
                <a:latin typeface="+mn-lt"/>
                <a:ea typeface="+mn-ea"/>
                <a:cs typeface="+mn-cs"/>
                <a:hlinkClick r:id="rId9"/>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0"/>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1"/>
              </a:rPr>
              <a:t>3</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4</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5</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2. Propensity Score Estimation</a:t>
            </a:r>
          </a:p>
          <a:p>
            <a:r>
              <a:rPr lang="en-US" sz="1200" b="0" u="none" strike="noStrike" kern="1200" dirty="0">
                <a:solidFill>
                  <a:schemeClr val="tx1"/>
                </a:solidFill>
                <a:effectLst/>
                <a:latin typeface="+mn-lt"/>
                <a:ea typeface="+mn-ea"/>
                <a:cs typeface="+mn-cs"/>
              </a:rPr>
              <a:t>Before fitting the tree ensembles, BCF usually requires an estimate of the </a:t>
            </a:r>
            <a:r>
              <a:rPr lang="en-US" sz="1200" b="1" u="none" strike="noStrike" kern="1200" dirty="0">
                <a:solidFill>
                  <a:schemeClr val="tx1"/>
                </a:solidFill>
                <a:effectLst/>
                <a:latin typeface="+mn-lt"/>
                <a:ea typeface="+mn-ea"/>
                <a:cs typeface="+mn-cs"/>
              </a:rPr>
              <a:t>propensity score</a:t>
            </a:r>
            <a:r>
              <a:rPr lang="en-US" sz="1200" b="0" u="none" strike="noStrike" kern="1200" dirty="0">
                <a:solidFill>
                  <a:schemeClr val="tx1"/>
                </a:solidFill>
                <a:effectLst/>
                <a:latin typeface="+mn-lt"/>
                <a:ea typeface="+mn-ea"/>
                <a:cs typeface="+mn-cs"/>
              </a:rPr>
              <a:t>, \(\hat{\pi}(</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which is the probability that an individual receives the treatment based on their covariates (\(X_{</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3</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This is typically calculated using a separate model (such as logistic regression or a random forest) prior to running the main BCF algorithm. [</a:t>
            </a:r>
            <a:r>
              <a:rPr lang="en-US" sz="1200" b="0" u="none" strike="noStrike" kern="1200" dirty="0">
                <a:solidFill>
                  <a:schemeClr val="tx1"/>
                </a:solidFill>
                <a:effectLst/>
                <a:latin typeface="+mn-lt"/>
                <a:ea typeface="+mn-ea"/>
                <a:cs typeface="+mn-cs"/>
                <a:hlinkClick r:id="rId12"/>
              </a:rPr>
              <a:t>1</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3. Incorporating the Propensity Score into the Baseline</a:t>
            </a:r>
          </a:p>
          <a:p>
            <a:r>
              <a:rPr lang="en-US" sz="1200" b="0" u="none" strike="noStrike" kern="1200" dirty="0">
                <a:solidFill>
                  <a:schemeClr val="tx1"/>
                </a:solidFill>
                <a:effectLst/>
                <a:latin typeface="+mn-lt"/>
                <a:ea typeface="+mn-ea"/>
                <a:cs typeface="+mn-cs"/>
              </a:rPr>
              <a:t>Unlike traditional Bayesian Additive Regression Trees (BART), BCF implicitly includes the estimated propensity score as a covariate in the prognostic function \(\mu(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\hat{\pi}_</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9"/>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2</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This step acts as a powerful confounding control, ensuring that differences in baseline characteristics between treatment groups are properly adjusted, thus preventing regularization-induced bias.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4. Separate Tree Ensembles (BART Priors)</a:t>
            </a:r>
          </a:p>
          <a:p>
            <a:r>
              <a:rPr lang="en-US" sz="1200" b="0" u="none" strike="noStrike" kern="1200" dirty="0">
                <a:solidFill>
                  <a:schemeClr val="tx1"/>
                </a:solidFill>
                <a:effectLst/>
                <a:latin typeface="+mn-lt"/>
                <a:ea typeface="+mn-ea"/>
                <a:cs typeface="+mn-cs"/>
              </a:rPr>
              <a:t>BCF fits separate </a:t>
            </a:r>
            <a:r>
              <a:rPr lang="en-US" sz="1200" b="1" u="none" strike="noStrike" kern="1200" dirty="0">
                <a:solidFill>
                  <a:schemeClr val="tx1"/>
                </a:solidFill>
                <a:effectLst/>
                <a:latin typeface="+mn-lt"/>
                <a:ea typeface="+mn-ea"/>
                <a:cs typeface="+mn-cs"/>
              </a:rPr>
              <a:t>BART</a:t>
            </a:r>
            <a:r>
              <a:rPr lang="en-US" sz="1200" b="0" u="none" strike="noStrike" kern="1200" dirty="0">
                <a:solidFill>
                  <a:schemeClr val="tx1"/>
                </a:solidFill>
                <a:effectLst/>
                <a:latin typeface="+mn-lt"/>
                <a:ea typeface="+mn-ea"/>
                <a:cs typeface="+mn-cs"/>
              </a:rPr>
              <a:t> (Bayesian Additive Regression Trees) ensembles for both the prognostic function (\(\mu \)) and the treatment effect function (\(\tau \)): [</a:t>
            </a:r>
            <a:r>
              <a:rPr lang="en-US" sz="1200" b="0" u="none" strike="noStrike" kern="1200" dirty="0">
                <a:solidFill>
                  <a:schemeClr val="tx1"/>
                </a:solidFill>
                <a:effectLst/>
                <a:latin typeface="+mn-lt"/>
                <a:ea typeface="+mn-ea"/>
                <a:cs typeface="+mn-cs"/>
                <a:hlinkClick r:id="rId1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3</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4</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Prognostic Tree Ensemble (\(\mu \))</a:t>
            </a:r>
            <a:r>
              <a:rPr lang="en-US" sz="1200" b="0" u="none" strike="noStrike" kern="1200" dirty="0">
                <a:solidFill>
                  <a:schemeClr val="tx1"/>
                </a:solidFill>
                <a:effectLst/>
                <a:latin typeface="+mn-lt"/>
                <a:ea typeface="+mn-ea"/>
                <a:cs typeface="+mn-cs"/>
              </a:rPr>
              <a:t>: Learns how the baseline variables affect the overall outcome.</a:t>
            </a:r>
          </a:p>
          <a:p>
            <a:r>
              <a:rPr lang="en-US" sz="1200" b="1" u="none" strike="noStrike" kern="1200" dirty="0">
                <a:solidFill>
                  <a:schemeClr val="tx1"/>
                </a:solidFill>
                <a:effectLst/>
                <a:latin typeface="+mn-lt"/>
                <a:ea typeface="+mn-ea"/>
                <a:cs typeface="+mn-cs"/>
              </a:rPr>
              <a:t>Treatment Effect Tree Ensemble (\(\tau \))</a:t>
            </a:r>
            <a:r>
              <a:rPr lang="en-US" sz="1200" b="0" u="none" strike="noStrike" kern="1200" dirty="0">
                <a:solidFill>
                  <a:schemeClr val="tx1"/>
                </a:solidFill>
                <a:effectLst/>
                <a:latin typeface="+mn-lt"/>
                <a:ea typeface="+mn-ea"/>
                <a:cs typeface="+mn-cs"/>
              </a:rPr>
              <a:t>: Learns how the treatment effect varies across different subgroups of covariates.</a:t>
            </a:r>
          </a:p>
          <a:p>
            <a:r>
              <a:rPr lang="en-US" sz="1200" b="0" u="none" strike="noStrike" kern="1200" dirty="0">
                <a:solidFill>
                  <a:schemeClr val="tx1"/>
                </a:solidFill>
                <a:effectLst/>
                <a:latin typeface="+mn-lt"/>
                <a:ea typeface="+mn-ea"/>
                <a:cs typeface="+mn-cs"/>
              </a:rPr>
              <a:t>By enforcing separate Bayesian priors, the model can apply stricter regularization to the treatment effect, allowing the model to shrink estimates towards a homogeneous effect if data is sparse.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4"/>
              </a:rPr>
              <a:t>3</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5. Markov Chain Monte Carlo (MCMC) Sampling</a:t>
            </a:r>
          </a:p>
          <a:p>
            <a:r>
              <a:rPr lang="en-US" sz="1200" b="0" u="none" strike="noStrike" kern="1200" dirty="0">
                <a:solidFill>
                  <a:schemeClr val="tx1"/>
                </a:solidFill>
                <a:effectLst/>
                <a:latin typeface="+mn-lt"/>
                <a:ea typeface="+mn-ea"/>
                <a:cs typeface="+mn-cs"/>
              </a:rPr>
              <a:t>BCF uses an MCMC algorithm (specifically, </a:t>
            </a:r>
            <a:r>
              <a:rPr lang="en-US" sz="1200" b="0" u="none" strike="noStrike" kern="1200" dirty="0" err="1">
                <a:solidFill>
                  <a:schemeClr val="tx1"/>
                </a:solidFill>
                <a:effectLst/>
                <a:latin typeface="+mn-lt"/>
                <a:ea typeface="+mn-ea"/>
                <a:cs typeface="+mn-cs"/>
              </a:rPr>
              <a:t>blockwise</a:t>
            </a:r>
            <a:r>
              <a:rPr lang="en-US" sz="1200" b="0" u="none" strike="noStrike" kern="1200" dirty="0">
                <a:solidFill>
                  <a:schemeClr val="tx1"/>
                </a:solidFill>
                <a:effectLst/>
                <a:latin typeface="+mn-lt"/>
                <a:ea typeface="+mn-ea"/>
                <a:cs typeface="+mn-cs"/>
              </a:rPr>
              <a:t> Bayesian </a:t>
            </a:r>
            <a:r>
              <a:rPr lang="en-US" sz="1200" b="0" u="none" strike="noStrike" kern="1200" dirty="0" err="1">
                <a:solidFill>
                  <a:schemeClr val="tx1"/>
                </a:solidFill>
                <a:effectLst/>
                <a:latin typeface="+mn-lt"/>
                <a:ea typeface="+mn-ea"/>
                <a:cs typeface="+mn-cs"/>
              </a:rPr>
              <a:t>backfitting</a:t>
            </a:r>
            <a:r>
              <a:rPr lang="en-US" sz="1200" b="0" u="none" strike="noStrike" kern="1200" dirty="0">
                <a:solidFill>
                  <a:schemeClr val="tx1"/>
                </a:solidFill>
                <a:effectLst/>
                <a:latin typeface="+mn-lt"/>
                <a:ea typeface="+mn-ea"/>
                <a:cs typeface="+mn-cs"/>
              </a:rPr>
              <a:t>) to estimate the parameters iteratively: [</a:t>
            </a:r>
            <a:r>
              <a:rPr lang="en-US" sz="1200" b="0" u="none" strike="noStrike" kern="1200" dirty="0">
                <a:solidFill>
                  <a:schemeClr val="tx1"/>
                </a:solidFill>
                <a:effectLst/>
                <a:latin typeface="+mn-lt"/>
                <a:ea typeface="+mn-ea"/>
                <a:cs typeface="+mn-cs"/>
                <a:hlinkClick r:id="rId9"/>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5"/>
              </a:rPr>
              <a:t>3</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Step A</a:t>
            </a:r>
            <a:r>
              <a:rPr lang="en-US" sz="1200" b="0" u="none" strike="noStrike" kern="1200" dirty="0">
                <a:solidFill>
                  <a:schemeClr val="tx1"/>
                </a:solidFill>
                <a:effectLst/>
                <a:latin typeface="+mn-lt"/>
                <a:ea typeface="+mn-ea"/>
                <a:cs typeface="+mn-cs"/>
              </a:rPr>
              <a:t>: The algorithm updates the tree structures and leaf parameters for the prognostic forest (\(\mu \)) by holding the treatment effect forest (\(\tau \)) constant.</a:t>
            </a:r>
          </a:p>
          <a:p>
            <a:r>
              <a:rPr lang="en-US" sz="1200" b="1" u="none" strike="noStrike" kern="1200" dirty="0">
                <a:solidFill>
                  <a:schemeClr val="tx1"/>
                </a:solidFill>
                <a:effectLst/>
                <a:latin typeface="+mn-lt"/>
                <a:ea typeface="+mn-ea"/>
                <a:cs typeface="+mn-cs"/>
              </a:rPr>
              <a:t>Step B</a:t>
            </a:r>
            <a:r>
              <a:rPr lang="en-US" sz="1200" b="0" u="none" strike="noStrike" kern="1200" dirty="0">
                <a:solidFill>
                  <a:schemeClr val="tx1"/>
                </a:solidFill>
                <a:effectLst/>
                <a:latin typeface="+mn-lt"/>
                <a:ea typeface="+mn-ea"/>
                <a:cs typeface="+mn-cs"/>
              </a:rPr>
              <a:t>: It then updates the trees for the treatment effect forest (\(\tau \)) while holding the prognostic forest (\(\mu \)) constant.</a:t>
            </a:r>
          </a:p>
          <a:p>
            <a:r>
              <a:rPr lang="en-US" sz="1200" b="0" u="none" strike="noStrike" kern="1200" dirty="0">
                <a:solidFill>
                  <a:schemeClr val="tx1"/>
                </a:solidFill>
                <a:effectLst/>
                <a:latin typeface="+mn-lt"/>
                <a:ea typeface="+mn-ea"/>
                <a:cs typeface="+mn-cs"/>
              </a:rPr>
              <a:t>This iterative </a:t>
            </a:r>
            <a:r>
              <a:rPr lang="en-US" sz="1200" b="0" u="none" strike="noStrike" kern="1200" dirty="0" err="1">
                <a:solidFill>
                  <a:schemeClr val="tx1"/>
                </a:solidFill>
                <a:effectLst/>
                <a:latin typeface="+mn-lt"/>
                <a:ea typeface="+mn-ea"/>
                <a:cs typeface="+mn-cs"/>
              </a:rPr>
              <a:t>backfitting</a:t>
            </a:r>
            <a:r>
              <a:rPr lang="en-US" sz="1200" b="0" u="none" strike="noStrike" kern="1200" dirty="0">
                <a:solidFill>
                  <a:schemeClr val="tx1"/>
                </a:solidFill>
                <a:effectLst/>
                <a:latin typeface="+mn-lt"/>
                <a:ea typeface="+mn-ea"/>
                <a:cs typeface="+mn-cs"/>
              </a:rPr>
              <a:t> process generates thousands of posterior draws of the trees, which together construct the model and its uncertainty. [</a:t>
            </a:r>
            <a:r>
              <a:rPr lang="en-US" sz="1200" b="0" u="none" strike="noStrike" kern="1200" dirty="0">
                <a:solidFill>
                  <a:schemeClr val="tx1"/>
                </a:solidFill>
                <a:effectLst/>
                <a:latin typeface="+mn-lt"/>
                <a:ea typeface="+mn-ea"/>
                <a:cs typeface="+mn-cs"/>
                <a:hlinkClick r:id="rId16"/>
              </a:rPr>
              <a:t>1</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6. Posterior Inference and Uncertainty Quantification</a:t>
            </a:r>
          </a:p>
          <a:p>
            <a:r>
              <a:rPr lang="en-US" sz="1200" b="0" u="none" strike="noStrike" kern="1200" dirty="0">
                <a:solidFill>
                  <a:schemeClr val="tx1"/>
                </a:solidFill>
                <a:effectLst/>
                <a:latin typeface="+mn-lt"/>
                <a:ea typeface="+mn-ea"/>
                <a:cs typeface="+mn-cs"/>
              </a:rPr>
              <a:t>Instead of outputting a single point estimate, BCF yields a full posterior distribution for the causal effect. [</a:t>
            </a:r>
            <a:r>
              <a:rPr lang="en-US" sz="1200" b="0" u="none" strike="noStrike" kern="1200" dirty="0">
                <a:solidFill>
                  <a:schemeClr val="tx1"/>
                </a:solidFill>
                <a:effectLst/>
                <a:latin typeface="+mn-lt"/>
                <a:ea typeface="+mn-ea"/>
                <a:cs typeface="+mn-cs"/>
                <a:hlinkClick r:id="rId5"/>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7"/>
              </a:rPr>
              <a:t>2</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You can extract the Conditional Average Treatment Effect (CATE) for any individual \(</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by taking the average of the posterior draws of \(\tau(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Because it outputs a distribution, you can easily calculate </a:t>
            </a:r>
            <a:r>
              <a:rPr lang="en-US" sz="1200" b="1" u="none" strike="noStrike" kern="1200" dirty="0">
                <a:solidFill>
                  <a:schemeClr val="tx1"/>
                </a:solidFill>
                <a:effectLst/>
                <a:latin typeface="+mn-lt"/>
                <a:ea typeface="+mn-ea"/>
                <a:cs typeface="+mn-cs"/>
              </a:rPr>
              <a:t>credible intervals</a:t>
            </a:r>
            <a:r>
              <a:rPr lang="en-US" sz="1200" b="0" u="none" strike="noStrike" kern="1200" dirty="0">
                <a:solidFill>
                  <a:schemeClr val="tx1"/>
                </a:solidFill>
                <a:effectLst/>
                <a:latin typeface="+mn-lt"/>
                <a:ea typeface="+mn-ea"/>
                <a:cs typeface="+mn-cs"/>
              </a:rPr>
              <a:t> (e.g., 95% intervals) to quantify uncertainty natively. [</a:t>
            </a:r>
            <a:r>
              <a:rPr lang="en-US" sz="1200" b="0" u="none" strike="noStrike" kern="1200" dirty="0">
                <a:solidFill>
                  <a:schemeClr val="tx1"/>
                </a:solidFill>
                <a:effectLst/>
                <a:latin typeface="+mn-lt"/>
                <a:ea typeface="+mn-ea"/>
                <a:cs typeface="+mn-cs"/>
                <a:hlinkClick r:id="rId8"/>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8"/>
              </a:rPr>
              <a:t>4</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5</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If you are planning to implement this, let me know:</a:t>
            </a:r>
          </a:p>
          <a:p>
            <a:r>
              <a:rPr lang="en-US" sz="1200" b="0" u="none" strike="noStrike" kern="1200" dirty="0">
                <a:solidFill>
                  <a:schemeClr val="tx1"/>
                </a:solidFill>
                <a:effectLst/>
                <a:latin typeface="+mn-lt"/>
                <a:ea typeface="+mn-ea"/>
                <a:cs typeface="+mn-cs"/>
              </a:rPr>
              <a:t>What </a:t>
            </a:r>
            <a:r>
              <a:rPr lang="en-US" sz="1200" b="1" u="none" strike="noStrike" kern="1200" dirty="0">
                <a:solidFill>
                  <a:schemeClr val="tx1"/>
                </a:solidFill>
                <a:effectLst/>
                <a:latin typeface="+mn-lt"/>
                <a:ea typeface="+mn-ea"/>
                <a:cs typeface="+mn-cs"/>
              </a:rPr>
              <a:t>software or language</a:t>
            </a:r>
            <a:r>
              <a:rPr lang="en-US" sz="1200" b="0" u="none" strike="noStrike" kern="1200" dirty="0">
                <a:solidFill>
                  <a:schemeClr val="tx1"/>
                </a:solidFill>
                <a:effectLst/>
                <a:latin typeface="+mn-lt"/>
                <a:ea typeface="+mn-ea"/>
                <a:cs typeface="+mn-cs"/>
              </a:rPr>
              <a:t> you are using (e.g., R's </a:t>
            </a:r>
            <a:r>
              <a:rPr lang="en-US" sz="1200" b="0" u="none" strike="noStrike" kern="1200" dirty="0" err="1">
                <a:solidFill>
                  <a:schemeClr val="tx1"/>
                </a:solidFill>
                <a:effectLst/>
                <a:latin typeface="+mn-lt"/>
                <a:ea typeface="+mn-ea"/>
                <a:cs typeface="+mn-cs"/>
              </a:rPr>
              <a:t>bcf</a:t>
            </a:r>
            <a:r>
              <a:rPr lang="en-US" sz="1200" b="0" u="none" strike="noStrike" kern="1200" dirty="0">
                <a:solidFill>
                  <a:schemeClr val="tx1"/>
                </a:solidFill>
                <a:effectLst/>
                <a:latin typeface="+mn-lt"/>
                <a:ea typeface="+mn-ea"/>
                <a:cs typeface="+mn-cs"/>
              </a:rPr>
              <a:t> package or Python's </a:t>
            </a:r>
            <a:r>
              <a:rPr lang="en-US" sz="1200" b="0" u="none" strike="noStrike" kern="1200" dirty="0" err="1">
                <a:solidFill>
                  <a:schemeClr val="tx1"/>
                </a:solidFill>
                <a:effectLst/>
                <a:latin typeface="+mn-lt"/>
                <a:ea typeface="+mn-ea"/>
                <a:cs typeface="+mn-cs"/>
              </a:rPr>
              <a:t>stochtree</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Whether your treatment is </a:t>
            </a:r>
            <a:r>
              <a:rPr lang="en-US" sz="1200" b="1" u="none" strike="noStrike" kern="1200" dirty="0">
                <a:solidFill>
                  <a:schemeClr val="tx1"/>
                </a:solidFill>
                <a:effectLst/>
                <a:latin typeface="+mn-lt"/>
                <a:ea typeface="+mn-ea"/>
                <a:cs typeface="+mn-cs"/>
              </a:rPr>
              <a:t>binary or continuous</a:t>
            </a:r>
            <a:endParaRPr lang="en-US" sz="1200" b="0" u="none" strike="noStrike" kern="1200" dirty="0">
              <a:solidFill>
                <a:schemeClr val="tx1"/>
              </a:solidFill>
              <a:effectLst/>
              <a:latin typeface="+mn-lt"/>
              <a:ea typeface="+mn-ea"/>
              <a:cs typeface="+mn-cs"/>
            </a:endParaRPr>
          </a:p>
          <a:p>
            <a:r>
              <a:rPr lang="en-US" sz="1200" b="0" u="none" strike="noStrike" kern="1200" dirty="0">
                <a:solidFill>
                  <a:schemeClr val="tx1"/>
                </a:solidFill>
                <a:effectLst/>
                <a:latin typeface="+mn-lt"/>
                <a:ea typeface="+mn-ea"/>
                <a:cs typeface="+mn-cs"/>
              </a:rPr>
              <a:t>If you want to know how to </a:t>
            </a:r>
            <a:r>
              <a:rPr lang="en-US" sz="1200" b="1" u="none" strike="noStrike" kern="1200" dirty="0">
                <a:solidFill>
                  <a:schemeClr val="tx1"/>
                </a:solidFill>
                <a:effectLst/>
                <a:latin typeface="+mn-lt"/>
                <a:ea typeface="+mn-ea"/>
                <a:cs typeface="+mn-cs"/>
              </a:rPr>
              <a:t>interpret the outputted CATE</a:t>
            </a:r>
            <a:endParaRPr lang="en-US" sz="1200" b="0" u="none" strike="noStrike" kern="1200" dirty="0">
              <a:solidFill>
                <a:schemeClr val="tx1"/>
              </a:solidFill>
              <a:effectLst/>
              <a:latin typeface="+mn-lt"/>
              <a:ea typeface="+mn-ea"/>
              <a:cs typeface="+mn-cs"/>
            </a:endParaRPr>
          </a:p>
          <a:p>
            <a:r>
              <a:rPr lang="en-US" sz="1200" b="0" u="none" strike="noStrike" kern="1200" dirty="0">
                <a:solidFill>
                  <a:schemeClr val="tx1"/>
                </a:solidFill>
                <a:effectLst/>
                <a:latin typeface="+mn-lt"/>
                <a:ea typeface="+mn-ea"/>
                <a:cs typeface="+mn-cs"/>
              </a:rPr>
              <a:t>I can give you the specific code or analysis steps tailored to your environment.</a:t>
            </a:r>
          </a:p>
          <a:p>
            <a:pPr>
              <a:defRPr/>
            </a:pPr>
            <a:endParaRPr lang="de-DE" dirty="0"/>
          </a:p>
        </p:txBody>
      </p:sp>
      <p:sp>
        <p:nvSpPr>
          <p:cNvPr id="1416629939" name="Foliennummernplatzhalt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057F9-B2ED-4B9D-B0F2-D3AD44C3FAB4}" type="slidenum">
              <a:rPr kumimoji="0" lang="de-DE"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037781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28984289" name="Folienbildplatzhalter 1"/>
          <p:cNvSpPr>
            <a:spLocks noGrp="1" noRot="1" noChangeAspect="1"/>
          </p:cNvSpPr>
          <p:nvPr>
            <p:ph type="sldImg"/>
          </p:nvPr>
        </p:nvSpPr>
        <p:spPr bwMode="auto"/>
      </p:sp>
      <p:sp>
        <p:nvSpPr>
          <p:cNvPr id="1667454889" name="Notizenplatzhalter 2"/>
          <p:cNvSpPr>
            <a:spLocks noGrp="1"/>
          </p:cNvSpPr>
          <p:nvPr>
            <p:ph type="body" idx="1"/>
          </p:nvPr>
        </p:nvSpPr>
        <p:spPr bwMode="auto"/>
        <p:txBody>
          <a:bodyPr/>
          <a:lstStyle/>
          <a:p>
            <a:r>
              <a:rPr lang="en-US" sz="1200" b="0" u="none" strike="noStrike" kern="1200" dirty="0">
                <a:solidFill>
                  <a:schemeClr val="tx1"/>
                </a:solidFill>
                <a:effectLst/>
                <a:latin typeface="+mn-lt"/>
                <a:ea typeface="+mn-ea"/>
                <a:cs typeface="+mn-cs"/>
              </a:rPr>
              <a:t>Up next:</a:t>
            </a:r>
          </a:p>
          <a:p>
            <a:pPr marL="171450" indent="-171450">
              <a:buFontTx/>
              <a:buChar char="-"/>
            </a:pPr>
            <a:r>
              <a:rPr lang="en-US" sz="1200" b="0" u="none" strike="noStrike" kern="1200" dirty="0">
                <a:solidFill>
                  <a:schemeClr val="tx1"/>
                </a:solidFill>
                <a:effectLst/>
                <a:latin typeface="+mn-lt"/>
                <a:ea typeface="+mn-ea"/>
                <a:cs typeface="+mn-cs"/>
              </a:rPr>
              <a:t>Show what BCF and related stuff (debiased, discovery) can(not) do</a:t>
            </a:r>
          </a:p>
          <a:p>
            <a:pPr marL="171450" indent="-171450">
              <a:buFontTx/>
              <a:buChar char="-"/>
            </a:pPr>
            <a:r>
              <a:rPr lang="en-US" sz="1200" b="0" u="none" strike="noStrike" kern="1200" dirty="0">
                <a:solidFill>
                  <a:schemeClr val="tx1"/>
                </a:solidFill>
                <a:effectLst/>
                <a:latin typeface="+mn-lt"/>
                <a:ea typeface="+mn-ea"/>
                <a:cs typeface="+mn-cs"/>
              </a:rPr>
              <a:t>Go back to example: Now we know that the identifiability issue is the same (causal sufficiency), let`s look into the example: See that they made mistakes.</a:t>
            </a:r>
          </a:p>
          <a:p>
            <a:pPr marL="171450" indent="-171450">
              <a:buFontTx/>
              <a:buChar char="-"/>
            </a:pPr>
            <a:r>
              <a:rPr lang="en-US" sz="1200" b="0" u="none" strike="noStrike" kern="1200" dirty="0">
                <a:solidFill>
                  <a:schemeClr val="tx1"/>
                </a:solidFill>
                <a:effectLst/>
                <a:latin typeface="+mn-lt"/>
                <a:ea typeface="+mn-ea"/>
                <a:cs typeface="+mn-cs"/>
              </a:rPr>
              <a:t>Conclusions: It does not help with causal sufficiency</a:t>
            </a:r>
          </a:p>
          <a:p>
            <a:pPr marL="171450" indent="-171450">
              <a:buFontTx/>
              <a:buChar char="-"/>
            </a:pPr>
            <a:r>
              <a:rPr lang="en-US" sz="1200" b="0" u="none" strike="noStrike" kern="1200" dirty="0">
                <a:solidFill>
                  <a:schemeClr val="tx1"/>
                </a:solidFill>
                <a:effectLst/>
                <a:latin typeface="+mn-lt"/>
                <a:ea typeface="+mn-ea"/>
                <a:cs typeface="+mn-cs"/>
              </a:rPr>
              <a:t>It helps with identification of the correct model (with data points in the 10,000s)</a:t>
            </a:r>
          </a:p>
          <a:p>
            <a:pPr marL="171450" indent="-171450">
              <a:buFontTx/>
              <a:buChar char="-"/>
            </a:pPr>
            <a:r>
              <a:rPr lang="en-US" sz="1200" b="0" u="none" strike="noStrike" kern="1200" dirty="0">
                <a:solidFill>
                  <a:schemeClr val="tx1"/>
                </a:solidFill>
                <a:effectLst/>
                <a:latin typeface="+mn-lt"/>
                <a:ea typeface="+mn-ea"/>
                <a:cs typeface="+mn-cs"/>
              </a:rPr>
              <a:t>Hypothesis 1: Portraying a study as using CML as a tool that allows identifying causal effects increases the change that readers </a:t>
            </a:r>
            <a:r>
              <a:rPr lang="en-US" sz="1200" b="0" u="none" strike="noStrike" kern="1200" dirty="0" err="1">
                <a:solidFill>
                  <a:schemeClr val="tx1"/>
                </a:solidFill>
                <a:effectLst/>
                <a:latin typeface="+mn-lt"/>
                <a:ea typeface="+mn-ea"/>
                <a:cs typeface="+mn-cs"/>
              </a:rPr>
              <a:t>ausblenden</a:t>
            </a:r>
            <a:r>
              <a:rPr lang="en-US" sz="1200" b="0" u="none" strike="noStrike" kern="1200" dirty="0">
                <a:solidFill>
                  <a:schemeClr val="tx1"/>
                </a:solidFill>
                <a:effectLst/>
                <a:latin typeface="+mn-lt"/>
                <a:ea typeface="+mn-ea"/>
                <a:cs typeface="+mn-cs"/>
              </a:rPr>
              <a:t> the necessary preconditions for causal inference (dependent on how aware they are of them?)</a:t>
            </a:r>
          </a:p>
          <a:p>
            <a:pPr marL="171450" indent="-171450">
              <a:buFontTx/>
              <a:buChar char="-"/>
            </a:pPr>
            <a:r>
              <a:rPr lang="en-US" sz="1200" b="0" u="none" strike="noStrike" kern="1200" dirty="0">
                <a:solidFill>
                  <a:schemeClr val="tx1"/>
                </a:solidFill>
                <a:effectLst/>
                <a:latin typeface="+mn-lt"/>
                <a:ea typeface="+mn-ea"/>
                <a:cs typeface="+mn-cs"/>
              </a:rPr>
              <a:t>Hypothesis 2: The same for moderation effects? Observed moderation misinterpreted as causal moderation? &lt;- Overlooked?</a:t>
            </a:r>
          </a:p>
          <a:p>
            <a:pPr marL="171450" indent="-171450">
              <a:buFontTx/>
              <a:buChar char="-"/>
            </a:pPr>
            <a:r>
              <a:rPr lang="en-US" sz="1200" b="0" u="none" strike="noStrike" kern="1200" dirty="0">
                <a:solidFill>
                  <a:schemeClr val="tx1"/>
                </a:solidFill>
                <a:effectLst/>
                <a:latin typeface="+mn-lt"/>
                <a:ea typeface="+mn-ea"/>
                <a:cs typeface="+mn-cs"/>
              </a:rPr>
              <a:t>Hypothesis 3: CML provides affordances regarding </a:t>
            </a:r>
            <a:r>
              <a:rPr lang="en-US" sz="1200" b="1" u="none" strike="noStrike" kern="1200" dirty="0">
                <a:solidFill>
                  <a:schemeClr val="tx1"/>
                </a:solidFill>
                <a:effectLst/>
                <a:latin typeface="+mn-lt"/>
                <a:ea typeface="+mn-ea"/>
                <a:cs typeface="+mn-cs"/>
              </a:rPr>
              <a:t>model identification</a:t>
            </a:r>
            <a:r>
              <a:rPr lang="en-US" sz="1200" b="0" u="none" strike="noStrike" kern="1200" dirty="0">
                <a:solidFill>
                  <a:schemeClr val="tx1"/>
                </a:solidFill>
                <a:effectLst/>
                <a:latin typeface="+mn-lt"/>
                <a:ea typeface="+mn-ea"/>
                <a:cs typeface="+mn-cs"/>
              </a:rPr>
              <a:t> that </a:t>
            </a:r>
            <a:r>
              <a:rPr lang="en-US" sz="1200" b="0" i="1" u="none" strike="noStrike" kern="1200" dirty="0">
                <a:solidFill>
                  <a:schemeClr val="tx1"/>
                </a:solidFill>
                <a:effectLst/>
                <a:latin typeface="+mn-lt"/>
                <a:ea typeface="+mn-ea"/>
                <a:cs typeface="+mn-cs"/>
              </a:rPr>
              <a:t>are </a:t>
            </a:r>
            <a:r>
              <a:rPr lang="en-US" sz="1200" b="0" u="none" strike="noStrike" kern="1200" dirty="0">
                <a:solidFill>
                  <a:schemeClr val="tx1"/>
                </a:solidFill>
                <a:effectLst/>
                <a:latin typeface="+mn-lt"/>
                <a:ea typeface="+mn-ea"/>
                <a:cs typeface="+mn-cs"/>
              </a:rPr>
              <a:t>currently overlooked (or disregarded) in applied research (such as soc or psych)</a:t>
            </a:r>
          </a:p>
          <a:p>
            <a:pPr marL="171450" indent="-171450">
              <a:buFontTx/>
              <a:buChar char="-"/>
            </a:pPr>
            <a:endParaRPr lang="en-US" sz="1200" b="0" u="none" strike="noStrike" kern="1200" dirty="0">
              <a:solidFill>
                <a:schemeClr val="tx1"/>
              </a:solidFill>
              <a:effectLst/>
              <a:latin typeface="+mn-lt"/>
              <a:ea typeface="+mn-ea"/>
              <a:cs typeface="+mn-cs"/>
            </a:endParaRPr>
          </a:p>
          <a:p>
            <a:pPr marL="171450" indent="-171450">
              <a:buFontTx/>
              <a:buChar char="-"/>
            </a:pPr>
            <a:r>
              <a:rPr lang="en-US" sz="1200" b="0" u="none" strike="noStrike" kern="1200" dirty="0">
                <a:solidFill>
                  <a:schemeClr val="tx1"/>
                </a:solidFill>
                <a:effectLst/>
                <a:latin typeface="+mn-lt"/>
                <a:ea typeface="+mn-ea"/>
                <a:cs typeface="+mn-cs"/>
              </a:rPr>
              <a:t>Implications:</a:t>
            </a:r>
          </a:p>
          <a:p>
            <a:pPr marL="171450" indent="-171450">
              <a:buFontTx/>
              <a:buChar char="-"/>
            </a:pPr>
            <a:endParaRPr lang="en-US" sz="1200" b="0" u="none" strike="noStrike" kern="1200" dirty="0">
              <a:solidFill>
                <a:schemeClr val="tx1"/>
              </a:solidFill>
              <a:effectLst/>
              <a:latin typeface="+mn-lt"/>
              <a:ea typeface="+mn-ea"/>
              <a:cs typeface="+mn-cs"/>
            </a:endParaRPr>
          </a:p>
          <a:p>
            <a:pPr marL="171450" indent="-171450">
              <a:buFontTx/>
              <a:buChar char="-"/>
            </a:pPr>
            <a:endParaRPr lang="en-US" sz="1200" b="0" u="none" strike="noStrike" kern="1200" dirty="0">
              <a:solidFill>
                <a:schemeClr val="tx1"/>
              </a:solidFill>
              <a:effectLst/>
              <a:latin typeface="+mn-lt"/>
              <a:ea typeface="+mn-ea"/>
              <a:cs typeface="+mn-cs"/>
            </a:endParaRPr>
          </a:p>
          <a:p>
            <a:pPr marL="171450" indent="-171450">
              <a:buFontTx/>
              <a:buChar char="-"/>
            </a:pPr>
            <a:endParaRPr lang="en-US" sz="1200" b="0" u="none" strike="noStrike" kern="1200" dirty="0">
              <a:solidFill>
                <a:schemeClr val="tx1"/>
              </a:solidFill>
              <a:effectLst/>
              <a:latin typeface="+mn-lt"/>
              <a:ea typeface="+mn-ea"/>
              <a:cs typeface="+mn-cs"/>
            </a:endParaRPr>
          </a:p>
          <a:p>
            <a:endParaRPr lang="en-US" sz="1200" b="0" u="none" strike="noStrike" kern="1200" dirty="0">
              <a:solidFill>
                <a:schemeClr val="tx1"/>
              </a:solidFill>
              <a:effectLst/>
              <a:latin typeface="+mn-lt"/>
              <a:ea typeface="+mn-ea"/>
              <a:cs typeface="+mn-cs"/>
            </a:endParaRPr>
          </a:p>
          <a:p>
            <a:r>
              <a:rPr lang="en-US" sz="1200" b="0" u="none" strike="noStrike" kern="1200" dirty="0">
                <a:solidFill>
                  <a:schemeClr val="tx1"/>
                </a:solidFill>
                <a:effectLst/>
                <a:latin typeface="+mn-lt"/>
                <a:ea typeface="+mn-ea"/>
                <a:cs typeface="+mn-cs"/>
              </a:rPr>
              <a:t>A </a:t>
            </a:r>
            <a:r>
              <a:rPr lang="en-US" sz="1200" b="1" u="none" strike="noStrike" kern="1200" dirty="0">
                <a:solidFill>
                  <a:schemeClr val="tx1"/>
                </a:solidFill>
                <a:effectLst/>
                <a:latin typeface="+mn-lt"/>
                <a:ea typeface="+mn-ea"/>
                <a:cs typeface="+mn-cs"/>
              </a:rPr>
              <a:t>Bayesian Causal Forest (BCF)</a:t>
            </a:r>
            <a:r>
              <a:rPr lang="en-US" sz="1200" b="0" u="none" strike="noStrike" kern="1200" dirty="0">
                <a:solidFill>
                  <a:schemeClr val="tx1"/>
                </a:solidFill>
                <a:effectLst/>
                <a:latin typeface="+mn-lt"/>
                <a:ea typeface="+mn-ea"/>
                <a:cs typeface="+mn-cs"/>
              </a:rPr>
              <a:t> model is a machine learning method used to estimate </a:t>
            </a:r>
            <a:r>
              <a:rPr lang="en-US" sz="1200" b="1" u="none" strike="noStrike" kern="1200" dirty="0">
                <a:solidFill>
                  <a:schemeClr val="tx1"/>
                </a:solidFill>
                <a:effectLst/>
                <a:latin typeface="+mn-lt"/>
                <a:ea typeface="+mn-ea"/>
                <a:cs typeface="+mn-cs"/>
              </a:rPr>
              <a:t>Heterogeneous Treatment Effects</a:t>
            </a:r>
            <a:r>
              <a:rPr lang="en-US" sz="1200" b="0" u="none" strike="noStrike" kern="1200" dirty="0">
                <a:solidFill>
                  <a:schemeClr val="tx1"/>
                </a:solidFill>
                <a:effectLst/>
                <a:latin typeface="+mn-lt"/>
                <a:ea typeface="+mn-ea"/>
                <a:cs typeface="+mn-cs"/>
              </a:rPr>
              <a:t> (HTE) from observational or experimental data. It separates the baseline outcome prediction from the causal effect itself, preventing bias and providing rigorous uncertainty estimates.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3</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6"/>
              </a:rPr>
              <a:t>4</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7"/>
              </a:rPr>
              <a:t>5</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Here is the step-by-step breakdown of how the BCF model works:</a:t>
            </a:r>
          </a:p>
          <a:p>
            <a:r>
              <a:rPr lang="en-US" sz="1200" b="1" u="none" strike="noStrike" kern="1200" dirty="0">
                <a:solidFill>
                  <a:schemeClr val="tx1"/>
                </a:solidFill>
                <a:effectLst/>
                <a:latin typeface="+mn-lt"/>
                <a:ea typeface="+mn-ea"/>
                <a:cs typeface="+mn-cs"/>
              </a:rPr>
              <a:t>1. Model Formulation and Decomposition</a:t>
            </a:r>
          </a:p>
          <a:p>
            <a:r>
              <a:rPr lang="en-US" sz="1200" b="0" u="none" strike="noStrike" kern="1200" dirty="0">
                <a:solidFill>
                  <a:schemeClr val="tx1"/>
                </a:solidFill>
                <a:effectLst/>
                <a:latin typeface="+mn-lt"/>
                <a:ea typeface="+mn-ea"/>
                <a:cs typeface="+mn-cs"/>
              </a:rPr>
              <a:t>BCF starts by splitting the observed outcome (\(Y_{</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for individual (\(</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into two distinct, additive parts:</a:t>
            </a:r>
            <a:br>
              <a:rPr lang="en-US" sz="1200" b="0" u="none" strike="noStrike" kern="1200" dirty="0">
                <a:solidFill>
                  <a:schemeClr val="tx1"/>
                </a:solidFill>
                <a:effectLst/>
                <a:latin typeface="+mn-lt"/>
                <a:ea typeface="+mn-ea"/>
                <a:cs typeface="+mn-cs"/>
              </a:rPr>
            </a:br>
            <a:r>
              <a:rPr lang="en-US" sz="1200" b="0" u="none" strike="noStrike" kern="1200" dirty="0">
                <a:solidFill>
                  <a:schemeClr val="tx1"/>
                </a:solidFill>
                <a:effectLst/>
                <a:latin typeface="+mn-lt"/>
                <a:ea typeface="+mn-ea"/>
                <a:cs typeface="+mn-cs"/>
              </a:rPr>
              <a:t>\(</a:t>
            </a:r>
            <a:r>
              <a:rPr lang="en-US" sz="1200" b="0" u="none" strike="noStrike" kern="1200" dirty="0" err="1">
                <a:solidFill>
                  <a:schemeClr val="tx1"/>
                </a:solidFill>
                <a:effectLst/>
                <a:latin typeface="+mn-lt"/>
                <a:ea typeface="+mn-ea"/>
                <a:cs typeface="+mn-cs"/>
              </a:rPr>
              <a:t>Y_i</a:t>
            </a:r>
            <a:r>
              <a:rPr lang="en-US" sz="1200" b="0" u="none" strike="noStrike" kern="1200" dirty="0">
                <a:solidFill>
                  <a:schemeClr val="tx1"/>
                </a:solidFill>
                <a:effectLst/>
                <a:latin typeface="+mn-lt"/>
                <a:ea typeface="+mn-ea"/>
                <a:cs typeface="+mn-cs"/>
              </a:rPr>
              <a:t> = \mu(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 \tau(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cdot</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W_i</a:t>
            </a:r>
            <a:r>
              <a:rPr lang="en-US" sz="1200" b="0" u="none" strike="noStrike" kern="1200" dirty="0">
                <a:solidFill>
                  <a:schemeClr val="tx1"/>
                </a:solidFill>
                <a:effectLst/>
                <a:latin typeface="+mn-lt"/>
                <a:ea typeface="+mn-ea"/>
                <a:cs typeface="+mn-cs"/>
              </a:rPr>
              <a:t> + \</a:t>
            </a:r>
            <a:r>
              <a:rPr lang="en-US" sz="1200" b="0" u="none" strike="noStrike" kern="1200" dirty="0" err="1">
                <a:solidFill>
                  <a:schemeClr val="tx1"/>
                </a:solidFill>
                <a:effectLst/>
                <a:latin typeface="+mn-lt"/>
                <a:ea typeface="+mn-ea"/>
                <a:cs typeface="+mn-cs"/>
              </a:rPr>
              <a:t>epsilon_i</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\(Y_{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observed outcome.</a:t>
            </a:r>
          </a:p>
          <a:p>
            <a:r>
              <a:rPr lang="en-US" sz="1200" b="1" u="none" strike="noStrike" kern="1200" dirty="0">
                <a:solidFill>
                  <a:schemeClr val="tx1"/>
                </a:solidFill>
                <a:effectLst/>
                <a:latin typeface="+mn-lt"/>
                <a:ea typeface="+mn-ea"/>
                <a:cs typeface="+mn-cs"/>
              </a:rPr>
              <a:t>\(X_{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vector of baseline covariates (control variables).</a:t>
            </a:r>
          </a:p>
          <a:p>
            <a:r>
              <a:rPr lang="en-US" sz="1200" b="1" u="none" strike="noStrike" kern="1200" dirty="0">
                <a:solidFill>
                  <a:schemeClr val="tx1"/>
                </a:solidFill>
                <a:effectLst/>
                <a:latin typeface="+mn-lt"/>
                <a:ea typeface="+mn-ea"/>
                <a:cs typeface="+mn-cs"/>
              </a:rPr>
              <a:t>\(W_{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treatment assignment indicator (\(1\) for treated, \(0\) for control).</a:t>
            </a:r>
          </a:p>
          <a:p>
            <a:r>
              <a:rPr lang="en-US" sz="1200" b="1" u="none" strike="noStrike" kern="1200" dirty="0">
                <a:solidFill>
                  <a:schemeClr val="tx1"/>
                </a:solidFill>
                <a:effectLst/>
                <a:latin typeface="+mn-lt"/>
                <a:ea typeface="+mn-ea"/>
                <a:cs typeface="+mn-cs"/>
              </a:rPr>
              <a:t>\(\mu(</a:t>
            </a:r>
            <a:r>
              <a:rPr lang="en-US" sz="1200" b="1" u="none" strike="noStrike" kern="1200" dirty="0" err="1">
                <a:solidFill>
                  <a:schemeClr val="tx1"/>
                </a:solidFill>
                <a:effectLst/>
                <a:latin typeface="+mn-lt"/>
                <a:ea typeface="+mn-ea"/>
                <a:cs typeface="+mn-cs"/>
              </a:rPr>
              <a:t>X_i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a:t>
            </a:r>
            <a:r>
              <a:rPr lang="en-US" sz="1200" b="0" i="1" u="none" strike="noStrike" kern="1200" dirty="0">
                <a:solidFill>
                  <a:schemeClr val="tx1"/>
                </a:solidFill>
                <a:effectLst/>
                <a:latin typeface="+mn-lt"/>
                <a:ea typeface="+mn-ea"/>
                <a:cs typeface="+mn-cs"/>
              </a:rPr>
              <a:t>prognostic function</a:t>
            </a:r>
            <a:r>
              <a:rPr lang="en-US" sz="1200" b="0" u="none" strike="noStrike" kern="1200" dirty="0">
                <a:solidFill>
                  <a:schemeClr val="tx1"/>
                </a:solidFill>
                <a:effectLst/>
                <a:latin typeface="+mn-lt"/>
                <a:ea typeface="+mn-ea"/>
                <a:cs typeface="+mn-cs"/>
              </a:rPr>
              <a:t> (baseline outcome for untreated individuals).</a:t>
            </a:r>
          </a:p>
          <a:p>
            <a:r>
              <a:rPr lang="en-US" sz="1200" b="1" u="none" strike="noStrike" kern="1200" dirty="0">
                <a:solidFill>
                  <a:schemeClr val="tx1"/>
                </a:solidFill>
                <a:effectLst/>
                <a:latin typeface="+mn-lt"/>
                <a:ea typeface="+mn-ea"/>
                <a:cs typeface="+mn-cs"/>
              </a:rPr>
              <a:t>\(\tau(</a:t>
            </a:r>
            <a:r>
              <a:rPr lang="en-US" sz="1200" b="1" u="none" strike="noStrike" kern="1200" dirty="0" err="1">
                <a:solidFill>
                  <a:schemeClr val="tx1"/>
                </a:solidFill>
                <a:effectLst/>
                <a:latin typeface="+mn-lt"/>
                <a:ea typeface="+mn-ea"/>
                <a:cs typeface="+mn-cs"/>
              </a:rPr>
              <a:t>X_i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The </a:t>
            </a:r>
            <a:r>
              <a:rPr lang="en-US" sz="1200" b="0" i="1" u="none" strike="noStrike" kern="1200" dirty="0">
                <a:solidFill>
                  <a:schemeClr val="tx1"/>
                </a:solidFill>
                <a:effectLst/>
                <a:latin typeface="+mn-lt"/>
                <a:ea typeface="+mn-ea"/>
                <a:cs typeface="+mn-cs"/>
              </a:rPr>
              <a:t>treatment effect function</a:t>
            </a:r>
            <a:r>
              <a:rPr lang="en-US" sz="1200" b="0" u="none" strike="noStrike" kern="1200" dirty="0">
                <a:solidFill>
                  <a:schemeClr val="tx1"/>
                </a:solidFill>
                <a:effectLst/>
                <a:latin typeface="+mn-lt"/>
                <a:ea typeface="+mn-ea"/>
                <a:cs typeface="+mn-cs"/>
              </a:rPr>
              <a:t> (Conditional Average Treatment Effect - CATE).</a:t>
            </a:r>
          </a:p>
          <a:p>
            <a:r>
              <a:rPr lang="en-US" sz="1200" b="1" u="none" strike="noStrike" kern="1200" dirty="0">
                <a:solidFill>
                  <a:schemeClr val="tx1"/>
                </a:solidFill>
                <a:effectLst/>
                <a:latin typeface="+mn-lt"/>
                <a:ea typeface="+mn-ea"/>
                <a:cs typeface="+mn-cs"/>
              </a:rPr>
              <a:t>\(\epsilon _{</a:t>
            </a:r>
            <a:r>
              <a:rPr lang="en-US" sz="1200" b="1" u="none" strike="noStrike" kern="1200" dirty="0" err="1">
                <a:solidFill>
                  <a:schemeClr val="tx1"/>
                </a:solidFill>
                <a:effectLst/>
                <a:latin typeface="+mn-lt"/>
                <a:ea typeface="+mn-ea"/>
                <a:cs typeface="+mn-cs"/>
              </a:rPr>
              <a:t>i</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Normally distributed random error term (\(N(0, \sigma^2)\)). [</a:t>
            </a:r>
            <a:r>
              <a:rPr lang="en-US" sz="1200" b="0" u="none" strike="noStrike" kern="1200" dirty="0">
                <a:solidFill>
                  <a:schemeClr val="tx1"/>
                </a:solidFill>
                <a:effectLst/>
                <a:latin typeface="+mn-lt"/>
                <a:ea typeface="+mn-ea"/>
                <a:cs typeface="+mn-cs"/>
                <a:hlinkClick r:id="rId9"/>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0"/>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1"/>
              </a:rPr>
              <a:t>3</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4</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5</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2. Propensity Score Estimation</a:t>
            </a:r>
          </a:p>
          <a:p>
            <a:r>
              <a:rPr lang="en-US" sz="1200" b="0" u="none" strike="noStrike" kern="1200" dirty="0">
                <a:solidFill>
                  <a:schemeClr val="tx1"/>
                </a:solidFill>
                <a:effectLst/>
                <a:latin typeface="+mn-lt"/>
                <a:ea typeface="+mn-ea"/>
                <a:cs typeface="+mn-cs"/>
              </a:rPr>
              <a:t>Before fitting the tree ensembles, BCF usually requires an estimate of the </a:t>
            </a:r>
            <a:r>
              <a:rPr lang="en-US" sz="1200" b="1" u="none" strike="noStrike" kern="1200" dirty="0">
                <a:solidFill>
                  <a:schemeClr val="tx1"/>
                </a:solidFill>
                <a:effectLst/>
                <a:latin typeface="+mn-lt"/>
                <a:ea typeface="+mn-ea"/>
                <a:cs typeface="+mn-cs"/>
              </a:rPr>
              <a:t>propensity score</a:t>
            </a:r>
            <a:r>
              <a:rPr lang="en-US" sz="1200" b="0" u="none" strike="noStrike" kern="1200" dirty="0">
                <a:solidFill>
                  <a:schemeClr val="tx1"/>
                </a:solidFill>
                <a:effectLst/>
                <a:latin typeface="+mn-lt"/>
                <a:ea typeface="+mn-ea"/>
                <a:cs typeface="+mn-cs"/>
              </a:rPr>
              <a:t>, \(\hat{\pi}(</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which is the probability that an individual receives the treatment based on their covariates (\(X_{</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3</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This is typically calculated using a separate model (such as logistic regression or a random forest) prior to running the main BCF algorithm. [</a:t>
            </a:r>
            <a:r>
              <a:rPr lang="en-US" sz="1200" b="0" u="none" strike="noStrike" kern="1200" dirty="0">
                <a:solidFill>
                  <a:schemeClr val="tx1"/>
                </a:solidFill>
                <a:effectLst/>
                <a:latin typeface="+mn-lt"/>
                <a:ea typeface="+mn-ea"/>
                <a:cs typeface="+mn-cs"/>
                <a:hlinkClick r:id="rId12"/>
              </a:rPr>
              <a:t>1</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3. Incorporating the Propensity Score into the Baseline</a:t>
            </a:r>
          </a:p>
          <a:p>
            <a:r>
              <a:rPr lang="en-US" sz="1200" b="0" u="none" strike="noStrike" kern="1200" dirty="0">
                <a:solidFill>
                  <a:schemeClr val="tx1"/>
                </a:solidFill>
                <a:effectLst/>
                <a:latin typeface="+mn-lt"/>
                <a:ea typeface="+mn-ea"/>
                <a:cs typeface="+mn-cs"/>
              </a:rPr>
              <a:t>Unlike traditional Bayesian Additive Regression Trees (BART), BCF implicitly includes the estimated propensity score as a covariate in the prognostic function \(\mu(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 \hat{\pi}_</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9"/>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2</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This step acts as a powerful confounding control, ensuring that differences in baseline characteristics between treatment groups are properly adjusted, thus preventing regularization-induced bias.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4. Separate Tree Ensembles (BART Priors)</a:t>
            </a:r>
          </a:p>
          <a:p>
            <a:r>
              <a:rPr lang="en-US" sz="1200" b="0" u="none" strike="noStrike" kern="1200" dirty="0">
                <a:solidFill>
                  <a:schemeClr val="tx1"/>
                </a:solidFill>
                <a:effectLst/>
                <a:latin typeface="+mn-lt"/>
                <a:ea typeface="+mn-ea"/>
                <a:cs typeface="+mn-cs"/>
              </a:rPr>
              <a:t>BCF fits separate </a:t>
            </a:r>
            <a:r>
              <a:rPr lang="en-US" sz="1200" b="1" u="none" strike="noStrike" kern="1200" dirty="0">
                <a:solidFill>
                  <a:schemeClr val="tx1"/>
                </a:solidFill>
                <a:effectLst/>
                <a:latin typeface="+mn-lt"/>
                <a:ea typeface="+mn-ea"/>
                <a:cs typeface="+mn-cs"/>
              </a:rPr>
              <a:t>BART</a:t>
            </a:r>
            <a:r>
              <a:rPr lang="en-US" sz="1200" b="0" u="none" strike="noStrike" kern="1200" dirty="0">
                <a:solidFill>
                  <a:schemeClr val="tx1"/>
                </a:solidFill>
                <a:effectLst/>
                <a:latin typeface="+mn-lt"/>
                <a:ea typeface="+mn-ea"/>
                <a:cs typeface="+mn-cs"/>
              </a:rPr>
              <a:t> (Bayesian Additive Regression Trees) ensembles for both the prognostic function (\(\mu \)) and the treatment effect function (\(\tau \)): [</a:t>
            </a:r>
            <a:r>
              <a:rPr lang="en-US" sz="1200" b="0" u="none" strike="noStrike" kern="1200" dirty="0">
                <a:solidFill>
                  <a:schemeClr val="tx1"/>
                </a:solidFill>
                <a:effectLst/>
                <a:latin typeface="+mn-lt"/>
                <a:ea typeface="+mn-ea"/>
                <a:cs typeface="+mn-cs"/>
                <a:hlinkClick r:id="rId1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3</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4</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Prognostic Tree Ensemble (\(\mu \))</a:t>
            </a:r>
            <a:r>
              <a:rPr lang="en-US" sz="1200" b="0" u="none" strike="noStrike" kern="1200" dirty="0">
                <a:solidFill>
                  <a:schemeClr val="tx1"/>
                </a:solidFill>
                <a:effectLst/>
                <a:latin typeface="+mn-lt"/>
                <a:ea typeface="+mn-ea"/>
                <a:cs typeface="+mn-cs"/>
              </a:rPr>
              <a:t>: Learns how the baseline variables affect the overall outcome.</a:t>
            </a:r>
          </a:p>
          <a:p>
            <a:r>
              <a:rPr lang="en-US" sz="1200" b="1" u="none" strike="noStrike" kern="1200" dirty="0">
                <a:solidFill>
                  <a:schemeClr val="tx1"/>
                </a:solidFill>
                <a:effectLst/>
                <a:latin typeface="+mn-lt"/>
                <a:ea typeface="+mn-ea"/>
                <a:cs typeface="+mn-cs"/>
              </a:rPr>
              <a:t>Treatment Effect Tree Ensemble (\(\tau \))</a:t>
            </a:r>
            <a:r>
              <a:rPr lang="en-US" sz="1200" b="0" u="none" strike="noStrike" kern="1200" dirty="0">
                <a:solidFill>
                  <a:schemeClr val="tx1"/>
                </a:solidFill>
                <a:effectLst/>
                <a:latin typeface="+mn-lt"/>
                <a:ea typeface="+mn-ea"/>
                <a:cs typeface="+mn-cs"/>
              </a:rPr>
              <a:t>: Learns how the treatment effect varies across different subgroups of covariates.</a:t>
            </a:r>
          </a:p>
          <a:p>
            <a:r>
              <a:rPr lang="en-US" sz="1200" b="0" u="none" strike="noStrike" kern="1200" dirty="0">
                <a:solidFill>
                  <a:schemeClr val="tx1"/>
                </a:solidFill>
                <a:effectLst/>
                <a:latin typeface="+mn-lt"/>
                <a:ea typeface="+mn-ea"/>
                <a:cs typeface="+mn-cs"/>
              </a:rPr>
              <a:t>By enforcing separate Bayesian priors, the model can apply stricter regularization to the treatment effect, allowing the model to shrink estimates towards a homogeneous effect if data is sparse.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4"/>
              </a:rPr>
              <a:t>3</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5. Markov Chain Monte Carlo (MCMC) Sampling</a:t>
            </a:r>
          </a:p>
          <a:p>
            <a:r>
              <a:rPr lang="en-US" sz="1200" b="0" u="none" strike="noStrike" kern="1200" dirty="0">
                <a:solidFill>
                  <a:schemeClr val="tx1"/>
                </a:solidFill>
                <a:effectLst/>
                <a:latin typeface="+mn-lt"/>
                <a:ea typeface="+mn-ea"/>
                <a:cs typeface="+mn-cs"/>
              </a:rPr>
              <a:t>BCF uses an MCMC algorithm (specifically, </a:t>
            </a:r>
            <a:r>
              <a:rPr lang="en-US" sz="1200" b="0" u="none" strike="noStrike" kern="1200" dirty="0" err="1">
                <a:solidFill>
                  <a:schemeClr val="tx1"/>
                </a:solidFill>
                <a:effectLst/>
                <a:latin typeface="+mn-lt"/>
                <a:ea typeface="+mn-ea"/>
                <a:cs typeface="+mn-cs"/>
              </a:rPr>
              <a:t>blockwise</a:t>
            </a:r>
            <a:r>
              <a:rPr lang="en-US" sz="1200" b="0" u="none" strike="noStrike" kern="1200" dirty="0">
                <a:solidFill>
                  <a:schemeClr val="tx1"/>
                </a:solidFill>
                <a:effectLst/>
                <a:latin typeface="+mn-lt"/>
                <a:ea typeface="+mn-ea"/>
                <a:cs typeface="+mn-cs"/>
              </a:rPr>
              <a:t> Bayesian </a:t>
            </a:r>
            <a:r>
              <a:rPr lang="en-US" sz="1200" b="0" u="none" strike="noStrike" kern="1200" dirty="0" err="1">
                <a:solidFill>
                  <a:schemeClr val="tx1"/>
                </a:solidFill>
                <a:effectLst/>
                <a:latin typeface="+mn-lt"/>
                <a:ea typeface="+mn-ea"/>
                <a:cs typeface="+mn-cs"/>
              </a:rPr>
              <a:t>backfitting</a:t>
            </a:r>
            <a:r>
              <a:rPr lang="en-US" sz="1200" b="0" u="none" strike="noStrike" kern="1200" dirty="0">
                <a:solidFill>
                  <a:schemeClr val="tx1"/>
                </a:solidFill>
                <a:effectLst/>
                <a:latin typeface="+mn-lt"/>
                <a:ea typeface="+mn-ea"/>
                <a:cs typeface="+mn-cs"/>
              </a:rPr>
              <a:t>) to estimate the parameters iteratively: [</a:t>
            </a:r>
            <a:r>
              <a:rPr lang="en-US" sz="1200" b="0" u="none" strike="noStrike" kern="1200" dirty="0">
                <a:solidFill>
                  <a:schemeClr val="tx1"/>
                </a:solidFill>
                <a:effectLst/>
                <a:latin typeface="+mn-lt"/>
                <a:ea typeface="+mn-ea"/>
                <a:cs typeface="+mn-cs"/>
                <a:hlinkClick r:id="rId9"/>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5"/>
              </a:rPr>
              <a:t>3</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Step A</a:t>
            </a:r>
            <a:r>
              <a:rPr lang="en-US" sz="1200" b="0" u="none" strike="noStrike" kern="1200" dirty="0">
                <a:solidFill>
                  <a:schemeClr val="tx1"/>
                </a:solidFill>
                <a:effectLst/>
                <a:latin typeface="+mn-lt"/>
                <a:ea typeface="+mn-ea"/>
                <a:cs typeface="+mn-cs"/>
              </a:rPr>
              <a:t>: The algorithm updates the tree structures and leaf parameters for the prognostic forest (\(\mu \)) by holding the treatment effect forest (\(\tau \)) constant.</a:t>
            </a:r>
          </a:p>
          <a:p>
            <a:r>
              <a:rPr lang="en-US" sz="1200" b="1" u="none" strike="noStrike" kern="1200" dirty="0">
                <a:solidFill>
                  <a:schemeClr val="tx1"/>
                </a:solidFill>
                <a:effectLst/>
                <a:latin typeface="+mn-lt"/>
                <a:ea typeface="+mn-ea"/>
                <a:cs typeface="+mn-cs"/>
              </a:rPr>
              <a:t>Step B</a:t>
            </a:r>
            <a:r>
              <a:rPr lang="en-US" sz="1200" b="0" u="none" strike="noStrike" kern="1200" dirty="0">
                <a:solidFill>
                  <a:schemeClr val="tx1"/>
                </a:solidFill>
                <a:effectLst/>
                <a:latin typeface="+mn-lt"/>
                <a:ea typeface="+mn-ea"/>
                <a:cs typeface="+mn-cs"/>
              </a:rPr>
              <a:t>: It then updates the trees for the treatment effect forest (\(\tau \)) while holding the prognostic forest (\(\mu \)) constant.</a:t>
            </a:r>
          </a:p>
          <a:p>
            <a:r>
              <a:rPr lang="en-US" sz="1200" b="0" u="none" strike="noStrike" kern="1200" dirty="0">
                <a:solidFill>
                  <a:schemeClr val="tx1"/>
                </a:solidFill>
                <a:effectLst/>
                <a:latin typeface="+mn-lt"/>
                <a:ea typeface="+mn-ea"/>
                <a:cs typeface="+mn-cs"/>
              </a:rPr>
              <a:t>This iterative </a:t>
            </a:r>
            <a:r>
              <a:rPr lang="en-US" sz="1200" b="0" u="none" strike="noStrike" kern="1200" dirty="0" err="1">
                <a:solidFill>
                  <a:schemeClr val="tx1"/>
                </a:solidFill>
                <a:effectLst/>
                <a:latin typeface="+mn-lt"/>
                <a:ea typeface="+mn-ea"/>
                <a:cs typeface="+mn-cs"/>
              </a:rPr>
              <a:t>backfitting</a:t>
            </a:r>
            <a:r>
              <a:rPr lang="en-US" sz="1200" b="0" u="none" strike="noStrike" kern="1200" dirty="0">
                <a:solidFill>
                  <a:schemeClr val="tx1"/>
                </a:solidFill>
                <a:effectLst/>
                <a:latin typeface="+mn-lt"/>
                <a:ea typeface="+mn-ea"/>
                <a:cs typeface="+mn-cs"/>
              </a:rPr>
              <a:t> process generates thousands of posterior draws of the trees, which together construct the model and its uncertainty. [</a:t>
            </a:r>
            <a:r>
              <a:rPr lang="en-US" sz="1200" b="0" u="none" strike="noStrike" kern="1200" dirty="0">
                <a:solidFill>
                  <a:schemeClr val="tx1"/>
                </a:solidFill>
                <a:effectLst/>
                <a:latin typeface="+mn-lt"/>
                <a:ea typeface="+mn-ea"/>
                <a:cs typeface="+mn-cs"/>
                <a:hlinkClick r:id="rId16"/>
              </a:rPr>
              <a:t>1</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6. Posterior Inference and Uncertainty Quantification</a:t>
            </a:r>
          </a:p>
          <a:p>
            <a:r>
              <a:rPr lang="en-US" sz="1200" b="0" u="none" strike="noStrike" kern="1200" dirty="0">
                <a:solidFill>
                  <a:schemeClr val="tx1"/>
                </a:solidFill>
                <a:effectLst/>
                <a:latin typeface="+mn-lt"/>
                <a:ea typeface="+mn-ea"/>
                <a:cs typeface="+mn-cs"/>
              </a:rPr>
              <a:t>Instead of outputting a single point estimate, BCF yields a full posterior distribution for the causal effect. [</a:t>
            </a:r>
            <a:r>
              <a:rPr lang="en-US" sz="1200" b="0" u="none" strike="noStrike" kern="1200" dirty="0">
                <a:solidFill>
                  <a:schemeClr val="tx1"/>
                </a:solidFill>
                <a:effectLst/>
                <a:latin typeface="+mn-lt"/>
                <a:ea typeface="+mn-ea"/>
                <a:cs typeface="+mn-cs"/>
                <a:hlinkClick r:id="rId5"/>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7"/>
              </a:rPr>
              <a:t>2</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You can extract the Conditional Average Treatment Effect (CATE) for any individual \(</a:t>
            </a:r>
            <a:r>
              <a:rPr lang="en-US" sz="1200" b="0" u="none" strike="noStrike" kern="1200" dirty="0" err="1">
                <a:solidFill>
                  <a:schemeClr val="tx1"/>
                </a:solidFill>
                <a:effectLst/>
                <a:latin typeface="+mn-lt"/>
                <a:ea typeface="+mn-ea"/>
                <a:cs typeface="+mn-cs"/>
              </a:rPr>
              <a:t>i</a:t>
            </a:r>
            <a:r>
              <a:rPr lang="en-US" sz="1200" b="0" u="none" strike="noStrike" kern="1200" dirty="0">
                <a:solidFill>
                  <a:schemeClr val="tx1"/>
                </a:solidFill>
                <a:effectLst/>
                <a:latin typeface="+mn-lt"/>
                <a:ea typeface="+mn-ea"/>
                <a:cs typeface="+mn-cs"/>
              </a:rPr>
              <a:t>\) by taking the average of the posterior draws of \(\tau(</a:t>
            </a:r>
            <a:r>
              <a:rPr lang="en-US" sz="1200" b="0" u="none" strike="noStrike" kern="1200" dirty="0" err="1">
                <a:solidFill>
                  <a:schemeClr val="tx1"/>
                </a:solidFill>
                <a:effectLst/>
                <a:latin typeface="+mn-lt"/>
                <a:ea typeface="+mn-ea"/>
                <a:cs typeface="+mn-cs"/>
              </a:rPr>
              <a:t>X_i</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Because it outputs a distribution, you can easily calculate </a:t>
            </a:r>
            <a:r>
              <a:rPr lang="en-US" sz="1200" b="1" u="none" strike="noStrike" kern="1200" dirty="0">
                <a:solidFill>
                  <a:schemeClr val="tx1"/>
                </a:solidFill>
                <a:effectLst/>
                <a:latin typeface="+mn-lt"/>
                <a:ea typeface="+mn-ea"/>
                <a:cs typeface="+mn-cs"/>
              </a:rPr>
              <a:t>credible intervals</a:t>
            </a:r>
            <a:r>
              <a:rPr lang="en-US" sz="1200" b="0" u="none" strike="noStrike" kern="1200" dirty="0">
                <a:solidFill>
                  <a:schemeClr val="tx1"/>
                </a:solidFill>
                <a:effectLst/>
                <a:latin typeface="+mn-lt"/>
                <a:ea typeface="+mn-ea"/>
                <a:cs typeface="+mn-cs"/>
              </a:rPr>
              <a:t> (e.g., 95% intervals) to quantify uncertainty natively. [</a:t>
            </a:r>
            <a:r>
              <a:rPr lang="en-US" sz="1200" b="0" u="none" strike="noStrike" kern="1200" dirty="0">
                <a:solidFill>
                  <a:schemeClr val="tx1"/>
                </a:solidFill>
                <a:effectLst/>
                <a:latin typeface="+mn-lt"/>
                <a:ea typeface="+mn-ea"/>
                <a:cs typeface="+mn-cs"/>
                <a:hlinkClick r:id="rId8"/>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18"/>
              </a:rPr>
              <a:t>4</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5</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If you are planning to implement this, let me know:</a:t>
            </a:r>
          </a:p>
          <a:p>
            <a:r>
              <a:rPr lang="en-US" sz="1200" b="0" u="none" strike="noStrike" kern="1200" dirty="0">
                <a:solidFill>
                  <a:schemeClr val="tx1"/>
                </a:solidFill>
                <a:effectLst/>
                <a:latin typeface="+mn-lt"/>
                <a:ea typeface="+mn-ea"/>
                <a:cs typeface="+mn-cs"/>
              </a:rPr>
              <a:t>What </a:t>
            </a:r>
            <a:r>
              <a:rPr lang="en-US" sz="1200" b="1" u="none" strike="noStrike" kern="1200" dirty="0">
                <a:solidFill>
                  <a:schemeClr val="tx1"/>
                </a:solidFill>
                <a:effectLst/>
                <a:latin typeface="+mn-lt"/>
                <a:ea typeface="+mn-ea"/>
                <a:cs typeface="+mn-cs"/>
              </a:rPr>
              <a:t>software or language</a:t>
            </a:r>
            <a:r>
              <a:rPr lang="en-US" sz="1200" b="0" u="none" strike="noStrike" kern="1200" dirty="0">
                <a:solidFill>
                  <a:schemeClr val="tx1"/>
                </a:solidFill>
                <a:effectLst/>
                <a:latin typeface="+mn-lt"/>
                <a:ea typeface="+mn-ea"/>
                <a:cs typeface="+mn-cs"/>
              </a:rPr>
              <a:t> you are using (e.g., R's </a:t>
            </a:r>
            <a:r>
              <a:rPr lang="en-US" sz="1200" b="0" u="none" strike="noStrike" kern="1200" dirty="0" err="1">
                <a:solidFill>
                  <a:schemeClr val="tx1"/>
                </a:solidFill>
                <a:effectLst/>
                <a:latin typeface="+mn-lt"/>
                <a:ea typeface="+mn-ea"/>
                <a:cs typeface="+mn-cs"/>
              </a:rPr>
              <a:t>bcf</a:t>
            </a:r>
            <a:r>
              <a:rPr lang="en-US" sz="1200" b="0" u="none" strike="noStrike" kern="1200" dirty="0">
                <a:solidFill>
                  <a:schemeClr val="tx1"/>
                </a:solidFill>
                <a:effectLst/>
                <a:latin typeface="+mn-lt"/>
                <a:ea typeface="+mn-ea"/>
                <a:cs typeface="+mn-cs"/>
              </a:rPr>
              <a:t> package or Python's </a:t>
            </a:r>
            <a:r>
              <a:rPr lang="en-US" sz="1200" b="0" u="none" strike="noStrike" kern="1200" dirty="0" err="1">
                <a:solidFill>
                  <a:schemeClr val="tx1"/>
                </a:solidFill>
                <a:effectLst/>
                <a:latin typeface="+mn-lt"/>
                <a:ea typeface="+mn-ea"/>
                <a:cs typeface="+mn-cs"/>
              </a:rPr>
              <a:t>stochtree</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Whether your treatment is </a:t>
            </a:r>
            <a:r>
              <a:rPr lang="en-US" sz="1200" b="1" u="none" strike="noStrike" kern="1200" dirty="0">
                <a:solidFill>
                  <a:schemeClr val="tx1"/>
                </a:solidFill>
                <a:effectLst/>
                <a:latin typeface="+mn-lt"/>
                <a:ea typeface="+mn-ea"/>
                <a:cs typeface="+mn-cs"/>
              </a:rPr>
              <a:t>binary or continuous</a:t>
            </a:r>
            <a:endParaRPr lang="en-US" sz="1200" b="0" u="none" strike="noStrike" kern="1200" dirty="0">
              <a:solidFill>
                <a:schemeClr val="tx1"/>
              </a:solidFill>
              <a:effectLst/>
              <a:latin typeface="+mn-lt"/>
              <a:ea typeface="+mn-ea"/>
              <a:cs typeface="+mn-cs"/>
            </a:endParaRPr>
          </a:p>
          <a:p>
            <a:r>
              <a:rPr lang="en-US" sz="1200" b="0" u="none" strike="noStrike" kern="1200" dirty="0">
                <a:solidFill>
                  <a:schemeClr val="tx1"/>
                </a:solidFill>
                <a:effectLst/>
                <a:latin typeface="+mn-lt"/>
                <a:ea typeface="+mn-ea"/>
                <a:cs typeface="+mn-cs"/>
              </a:rPr>
              <a:t>If you want to know how to </a:t>
            </a:r>
            <a:r>
              <a:rPr lang="en-US" sz="1200" b="1" u="none" strike="noStrike" kern="1200" dirty="0">
                <a:solidFill>
                  <a:schemeClr val="tx1"/>
                </a:solidFill>
                <a:effectLst/>
                <a:latin typeface="+mn-lt"/>
                <a:ea typeface="+mn-ea"/>
                <a:cs typeface="+mn-cs"/>
              </a:rPr>
              <a:t>interpret the outputted CATE</a:t>
            </a:r>
            <a:endParaRPr lang="en-US" sz="1200" b="0" u="none" strike="noStrike" kern="1200" dirty="0">
              <a:solidFill>
                <a:schemeClr val="tx1"/>
              </a:solidFill>
              <a:effectLst/>
              <a:latin typeface="+mn-lt"/>
              <a:ea typeface="+mn-ea"/>
              <a:cs typeface="+mn-cs"/>
            </a:endParaRPr>
          </a:p>
          <a:p>
            <a:r>
              <a:rPr lang="en-US" sz="1200" b="0" u="none" strike="noStrike" kern="1200" dirty="0">
                <a:solidFill>
                  <a:schemeClr val="tx1"/>
                </a:solidFill>
                <a:effectLst/>
                <a:latin typeface="+mn-lt"/>
                <a:ea typeface="+mn-ea"/>
                <a:cs typeface="+mn-cs"/>
              </a:rPr>
              <a:t>I can give you the specific code or analysis steps tailored to your environment.</a:t>
            </a:r>
          </a:p>
          <a:p>
            <a:pPr>
              <a:defRPr/>
            </a:pPr>
            <a:endParaRPr lang="de-DE" dirty="0"/>
          </a:p>
        </p:txBody>
      </p:sp>
      <p:sp>
        <p:nvSpPr>
          <p:cNvPr id="1416629939" name="Foliennummernplatzhalt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057F9-B2ED-4B9D-B0F2-D3AD44C3FAB4}" type="slidenum">
              <a:rPr kumimoji="0" lang="de-DE"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625441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28984289" name="Folienbildplatzhalter 1"/>
          <p:cNvSpPr>
            <a:spLocks noGrp="1" noRot="1" noChangeAspect="1"/>
          </p:cNvSpPr>
          <p:nvPr>
            <p:ph type="sldImg"/>
          </p:nvPr>
        </p:nvSpPr>
        <p:spPr bwMode="auto"/>
      </p:sp>
      <p:sp>
        <p:nvSpPr>
          <p:cNvPr id="1667454889" name="Notizenplatzhalter 2"/>
          <p:cNvSpPr>
            <a:spLocks noGrp="1"/>
          </p:cNvSpPr>
          <p:nvPr>
            <p:ph type="body" idx="1"/>
          </p:nvPr>
        </p:nvSpPr>
        <p:spPr bwMode="auto"/>
        <p:txBody>
          <a:bodyPr/>
          <a:lstStyle/>
          <a:p>
            <a:pPr marL="0" marR="0" lvl="0" indent="0" algn="l" defTabSz="914400">
              <a:lnSpc>
                <a:spcPct val="100000"/>
              </a:lnSpc>
              <a:spcBef>
                <a:spcPts val="0"/>
              </a:spcBef>
              <a:spcAft>
                <a:spcPts val="0"/>
              </a:spcAft>
              <a:buClrTx/>
              <a:buSzTx/>
              <a:buFontTx/>
              <a:buNone/>
              <a:defRPr/>
            </a:pPr>
            <a:r>
              <a:rPr lang="de-DE" dirty="0"/>
              <a:t>Show </a:t>
            </a:r>
            <a:r>
              <a:rPr lang="de-DE" dirty="0" err="1"/>
              <a:t>three</a:t>
            </a:r>
            <a:r>
              <a:rPr lang="de-DE" dirty="0"/>
              <a:t> </a:t>
            </a:r>
            <a:r>
              <a:rPr lang="de-DE" dirty="0" err="1"/>
              <a:t>types</a:t>
            </a:r>
            <a:r>
              <a:rPr lang="de-DE" dirty="0"/>
              <a:t> </a:t>
            </a:r>
            <a:r>
              <a:rPr lang="de-DE" dirty="0" err="1"/>
              <a:t>of</a:t>
            </a:r>
            <a:r>
              <a:rPr lang="de-DE" dirty="0"/>
              <a:t> </a:t>
            </a:r>
            <a:r>
              <a:rPr lang="de-DE" dirty="0" err="1"/>
              <a:t>most</a:t>
            </a:r>
            <a:r>
              <a:rPr lang="de-DE" dirty="0"/>
              <a:t> </a:t>
            </a:r>
            <a:r>
              <a:rPr lang="de-DE" dirty="0" err="1"/>
              <a:t>important</a:t>
            </a:r>
            <a:r>
              <a:rPr lang="de-DE" dirty="0"/>
              <a:t> </a:t>
            </a:r>
            <a:r>
              <a:rPr lang="de-DE" dirty="0" err="1"/>
              <a:t>causal</a:t>
            </a:r>
            <a:r>
              <a:rPr lang="de-DE" dirty="0"/>
              <a:t> </a:t>
            </a:r>
            <a:r>
              <a:rPr lang="de-DE" dirty="0" err="1"/>
              <a:t>structures</a:t>
            </a:r>
            <a:r>
              <a:rPr lang="de-DE" dirty="0"/>
              <a:t> (</a:t>
            </a:r>
            <a:r>
              <a:rPr lang="de-DE" dirty="0" err="1"/>
              <a:t>mediator</a:t>
            </a:r>
            <a:r>
              <a:rPr lang="de-DE" dirty="0"/>
              <a:t>, </a:t>
            </a:r>
            <a:r>
              <a:rPr lang="de-DE" dirty="0" err="1"/>
              <a:t>confounder</a:t>
            </a:r>
            <a:r>
              <a:rPr lang="de-DE" dirty="0"/>
              <a:t>, </a:t>
            </a:r>
            <a:r>
              <a:rPr lang="de-DE" dirty="0" err="1"/>
              <a:t>collider</a:t>
            </a:r>
            <a:r>
              <a:rPr lang="de-DE" dirty="0"/>
              <a:t>), </a:t>
            </a:r>
            <a:r>
              <a:rPr lang="de-DE" dirty="0" err="1"/>
              <a:t>discuss</a:t>
            </a:r>
            <a:r>
              <a:rPr lang="de-DE" dirty="0"/>
              <a:t> </a:t>
            </a:r>
            <a:r>
              <a:rPr lang="de-DE" dirty="0" err="1"/>
              <a:t>whether</a:t>
            </a:r>
            <a:r>
              <a:rPr lang="de-DE" dirty="0"/>
              <a:t> all </a:t>
            </a:r>
            <a:r>
              <a:rPr lang="de-DE" dirty="0" err="1"/>
              <a:t>confounders</a:t>
            </a:r>
            <a:r>
              <a:rPr lang="de-DE" dirty="0"/>
              <a:t> </a:t>
            </a:r>
            <a:r>
              <a:rPr lang="de-DE" dirty="0" err="1"/>
              <a:t>may</a:t>
            </a:r>
            <a:r>
              <a:rPr lang="de-DE" dirty="0"/>
              <a:t> </a:t>
            </a:r>
            <a:r>
              <a:rPr lang="de-DE" dirty="0" err="1"/>
              <a:t>be</a:t>
            </a:r>
            <a:r>
              <a:rPr lang="de-DE" dirty="0"/>
              <a:t> </a:t>
            </a:r>
            <a:r>
              <a:rPr lang="de-DE" dirty="0" err="1"/>
              <a:t>present</a:t>
            </a:r>
            <a:r>
              <a:rPr lang="de-DE" dirty="0"/>
              <a:t> and </a:t>
            </a:r>
            <a:r>
              <a:rPr lang="de-DE" dirty="0" err="1"/>
              <a:t>no</a:t>
            </a:r>
            <a:r>
              <a:rPr lang="de-DE" dirty="0"/>
              <a:t> </a:t>
            </a:r>
            <a:r>
              <a:rPr lang="de-DE" dirty="0" err="1"/>
              <a:t>mediators</a:t>
            </a:r>
            <a:r>
              <a:rPr lang="de-DE" dirty="0"/>
              <a:t> </a:t>
            </a:r>
            <a:r>
              <a:rPr lang="de-DE" dirty="0" err="1"/>
              <a:t>or</a:t>
            </a:r>
            <a:r>
              <a:rPr lang="de-DE" dirty="0"/>
              <a:t> </a:t>
            </a:r>
            <a:r>
              <a:rPr lang="de-DE" dirty="0" err="1"/>
              <a:t>colliders</a:t>
            </a:r>
            <a:r>
              <a:rPr lang="de-DE" dirty="0"/>
              <a:t> </a:t>
            </a:r>
            <a:r>
              <a:rPr lang="de-DE" dirty="0" err="1"/>
              <a:t>included</a:t>
            </a:r>
            <a:r>
              <a:rPr lang="de-DE" dirty="0"/>
              <a:t> – </a:t>
            </a:r>
            <a:r>
              <a:rPr lang="de-DE" dirty="0" err="1"/>
              <a:t>no</a:t>
            </a:r>
            <a:r>
              <a:rPr lang="de-DE" dirty="0"/>
              <a:t> :(</a:t>
            </a:r>
          </a:p>
          <a:p>
            <a:pPr marL="0" marR="0" lvl="0" indent="0" algn="l" defTabSz="914400">
              <a:lnSpc>
                <a:spcPct val="100000"/>
              </a:lnSpc>
              <a:spcBef>
                <a:spcPts val="0"/>
              </a:spcBef>
              <a:spcAft>
                <a:spcPts val="0"/>
              </a:spcAft>
              <a:buClrTx/>
              <a:buSzTx/>
              <a:buFontTx/>
              <a:buNone/>
              <a:defRPr/>
            </a:pPr>
            <a:r>
              <a:rPr lang="de-DE" dirty="0" err="1"/>
              <a:t>Conclusion</a:t>
            </a:r>
            <a:r>
              <a:rPr lang="de-DE" dirty="0"/>
              <a:t>:</a:t>
            </a:r>
          </a:p>
          <a:p>
            <a:pPr marL="0" marR="0" lvl="0" indent="0" algn="l" defTabSz="914400">
              <a:lnSpc>
                <a:spcPct val="100000"/>
              </a:lnSpc>
              <a:spcBef>
                <a:spcPts val="0"/>
              </a:spcBef>
              <a:spcAft>
                <a:spcPts val="0"/>
              </a:spcAft>
              <a:buClrTx/>
              <a:buSzTx/>
              <a:buFontTx/>
              <a:buNone/>
              <a:defRPr/>
            </a:pPr>
            <a:r>
              <a:rPr lang="de-DE" dirty="0" err="1"/>
              <a:t>What</a:t>
            </a:r>
            <a:r>
              <a:rPr lang="de-DE" dirty="0"/>
              <a:t> CML </a:t>
            </a:r>
            <a:r>
              <a:rPr lang="de-DE" dirty="0" err="1"/>
              <a:t>helps</a:t>
            </a:r>
            <a:r>
              <a:rPr lang="de-DE" dirty="0"/>
              <a:t> </a:t>
            </a:r>
            <a:r>
              <a:rPr lang="de-DE" dirty="0" err="1"/>
              <a:t>with</a:t>
            </a:r>
            <a:r>
              <a:rPr lang="de-DE" dirty="0"/>
              <a:t>, </a:t>
            </a:r>
            <a:r>
              <a:rPr lang="de-DE" dirty="0" err="1"/>
              <a:t>what</a:t>
            </a:r>
            <a:r>
              <a:rPr lang="de-DE" dirty="0"/>
              <a:t> not – </a:t>
            </a:r>
            <a:r>
              <a:rPr lang="de-DE" dirty="0" err="1"/>
              <a:t>hypotheses</a:t>
            </a:r>
            <a:r>
              <a:rPr lang="de-DE" dirty="0"/>
              <a:t> etc.</a:t>
            </a:r>
          </a:p>
        </p:txBody>
      </p:sp>
      <p:sp>
        <p:nvSpPr>
          <p:cNvPr id="1416629939" name="Foliennummernplatzhalt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057F9-B2ED-4B9D-B0F2-D3AD44C3FAB4}" type="slidenum">
              <a:rPr kumimoji="0" lang="de-DE"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892742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28984289" name="Folienbildplatzhalter 1"/>
          <p:cNvSpPr>
            <a:spLocks noGrp="1" noRot="1" noChangeAspect="1"/>
          </p:cNvSpPr>
          <p:nvPr>
            <p:ph type="sldImg"/>
          </p:nvPr>
        </p:nvSpPr>
        <p:spPr bwMode="auto"/>
      </p:sp>
      <p:sp>
        <p:nvSpPr>
          <p:cNvPr id="1667454889" name="Notizenplatzhalter 2"/>
          <p:cNvSpPr>
            <a:spLocks noGrp="1"/>
          </p:cNvSpPr>
          <p:nvPr>
            <p:ph type="body" idx="1"/>
          </p:nvPr>
        </p:nvSpPr>
        <p:spPr bwMode="auto"/>
        <p:txBody>
          <a:bodyPr/>
          <a:lstStyle/>
          <a:p>
            <a:pPr marL="0" marR="0" lvl="0" indent="0" algn="l" defTabSz="914400">
              <a:lnSpc>
                <a:spcPct val="100000"/>
              </a:lnSpc>
              <a:spcBef>
                <a:spcPts val="0"/>
              </a:spcBef>
              <a:spcAft>
                <a:spcPts val="0"/>
              </a:spcAft>
              <a:buClrTx/>
              <a:buSzTx/>
              <a:buFontTx/>
              <a:buNone/>
              <a:defRPr/>
            </a:pPr>
            <a:r>
              <a:rPr lang="de-DE" dirty="0"/>
              <a:t>Show </a:t>
            </a:r>
            <a:r>
              <a:rPr lang="de-DE" dirty="0" err="1"/>
              <a:t>three</a:t>
            </a:r>
            <a:r>
              <a:rPr lang="de-DE" dirty="0"/>
              <a:t> </a:t>
            </a:r>
            <a:r>
              <a:rPr lang="de-DE" dirty="0" err="1"/>
              <a:t>types</a:t>
            </a:r>
            <a:r>
              <a:rPr lang="de-DE" dirty="0"/>
              <a:t> </a:t>
            </a:r>
            <a:r>
              <a:rPr lang="de-DE" dirty="0" err="1"/>
              <a:t>of</a:t>
            </a:r>
            <a:r>
              <a:rPr lang="de-DE" dirty="0"/>
              <a:t> </a:t>
            </a:r>
            <a:r>
              <a:rPr lang="de-DE" dirty="0" err="1"/>
              <a:t>most</a:t>
            </a:r>
            <a:r>
              <a:rPr lang="de-DE" dirty="0"/>
              <a:t> </a:t>
            </a:r>
            <a:r>
              <a:rPr lang="de-DE" dirty="0" err="1"/>
              <a:t>important</a:t>
            </a:r>
            <a:r>
              <a:rPr lang="de-DE" dirty="0"/>
              <a:t> </a:t>
            </a:r>
            <a:r>
              <a:rPr lang="de-DE" dirty="0" err="1"/>
              <a:t>causal</a:t>
            </a:r>
            <a:r>
              <a:rPr lang="de-DE" dirty="0"/>
              <a:t> </a:t>
            </a:r>
            <a:r>
              <a:rPr lang="de-DE" dirty="0" err="1"/>
              <a:t>structures</a:t>
            </a:r>
            <a:r>
              <a:rPr lang="de-DE" dirty="0"/>
              <a:t> (</a:t>
            </a:r>
            <a:r>
              <a:rPr lang="de-DE" dirty="0" err="1"/>
              <a:t>mediator</a:t>
            </a:r>
            <a:r>
              <a:rPr lang="de-DE" dirty="0"/>
              <a:t>, </a:t>
            </a:r>
            <a:r>
              <a:rPr lang="de-DE" dirty="0" err="1"/>
              <a:t>confounder</a:t>
            </a:r>
            <a:r>
              <a:rPr lang="de-DE" dirty="0"/>
              <a:t>, </a:t>
            </a:r>
            <a:r>
              <a:rPr lang="de-DE" dirty="0" err="1"/>
              <a:t>collider</a:t>
            </a:r>
            <a:r>
              <a:rPr lang="de-DE" dirty="0"/>
              <a:t>), </a:t>
            </a:r>
            <a:r>
              <a:rPr lang="de-DE" dirty="0" err="1"/>
              <a:t>discuss</a:t>
            </a:r>
            <a:r>
              <a:rPr lang="de-DE" dirty="0"/>
              <a:t> </a:t>
            </a:r>
            <a:r>
              <a:rPr lang="de-DE" dirty="0" err="1"/>
              <a:t>whether</a:t>
            </a:r>
            <a:r>
              <a:rPr lang="de-DE" dirty="0"/>
              <a:t> all </a:t>
            </a:r>
            <a:r>
              <a:rPr lang="de-DE" dirty="0" err="1"/>
              <a:t>confounders</a:t>
            </a:r>
            <a:r>
              <a:rPr lang="de-DE" dirty="0"/>
              <a:t> </a:t>
            </a:r>
            <a:r>
              <a:rPr lang="de-DE" dirty="0" err="1"/>
              <a:t>may</a:t>
            </a:r>
            <a:r>
              <a:rPr lang="de-DE" dirty="0"/>
              <a:t> </a:t>
            </a:r>
            <a:r>
              <a:rPr lang="de-DE" dirty="0" err="1"/>
              <a:t>be</a:t>
            </a:r>
            <a:r>
              <a:rPr lang="de-DE" dirty="0"/>
              <a:t> </a:t>
            </a:r>
            <a:r>
              <a:rPr lang="de-DE" dirty="0" err="1"/>
              <a:t>present</a:t>
            </a:r>
            <a:r>
              <a:rPr lang="de-DE" dirty="0"/>
              <a:t> and </a:t>
            </a:r>
            <a:r>
              <a:rPr lang="de-DE" dirty="0" err="1"/>
              <a:t>no</a:t>
            </a:r>
            <a:r>
              <a:rPr lang="de-DE" dirty="0"/>
              <a:t> </a:t>
            </a:r>
            <a:r>
              <a:rPr lang="de-DE" dirty="0" err="1"/>
              <a:t>mediators</a:t>
            </a:r>
            <a:r>
              <a:rPr lang="de-DE" dirty="0"/>
              <a:t> </a:t>
            </a:r>
            <a:r>
              <a:rPr lang="de-DE" dirty="0" err="1"/>
              <a:t>or</a:t>
            </a:r>
            <a:r>
              <a:rPr lang="de-DE" dirty="0"/>
              <a:t> </a:t>
            </a:r>
            <a:r>
              <a:rPr lang="de-DE" dirty="0" err="1"/>
              <a:t>colliders</a:t>
            </a:r>
            <a:r>
              <a:rPr lang="de-DE" dirty="0"/>
              <a:t> </a:t>
            </a:r>
            <a:r>
              <a:rPr lang="de-DE" dirty="0" err="1"/>
              <a:t>included</a:t>
            </a:r>
            <a:r>
              <a:rPr lang="de-DE" dirty="0"/>
              <a:t> – </a:t>
            </a:r>
            <a:r>
              <a:rPr lang="de-DE" dirty="0" err="1"/>
              <a:t>no</a:t>
            </a:r>
            <a:r>
              <a:rPr lang="de-DE" dirty="0"/>
              <a:t> :(</a:t>
            </a:r>
          </a:p>
          <a:p>
            <a:pPr marL="0" marR="0" lvl="0" indent="0" algn="l" defTabSz="914400">
              <a:lnSpc>
                <a:spcPct val="100000"/>
              </a:lnSpc>
              <a:spcBef>
                <a:spcPts val="0"/>
              </a:spcBef>
              <a:spcAft>
                <a:spcPts val="0"/>
              </a:spcAft>
              <a:buClrTx/>
              <a:buSzTx/>
              <a:buFontTx/>
              <a:buNone/>
              <a:defRPr/>
            </a:pPr>
            <a:r>
              <a:rPr lang="de-DE" dirty="0" err="1"/>
              <a:t>Conclusion</a:t>
            </a:r>
            <a:r>
              <a:rPr lang="de-DE" dirty="0"/>
              <a:t>:</a:t>
            </a:r>
          </a:p>
          <a:p>
            <a:pPr marL="0" marR="0" lvl="0" indent="0" algn="l" defTabSz="914400">
              <a:lnSpc>
                <a:spcPct val="100000"/>
              </a:lnSpc>
              <a:spcBef>
                <a:spcPts val="0"/>
              </a:spcBef>
              <a:spcAft>
                <a:spcPts val="0"/>
              </a:spcAft>
              <a:buClrTx/>
              <a:buSzTx/>
              <a:buFontTx/>
              <a:buNone/>
              <a:defRPr/>
            </a:pPr>
            <a:r>
              <a:rPr lang="de-DE" dirty="0" err="1"/>
              <a:t>What</a:t>
            </a:r>
            <a:r>
              <a:rPr lang="de-DE" dirty="0"/>
              <a:t> CML </a:t>
            </a:r>
            <a:r>
              <a:rPr lang="de-DE" dirty="0" err="1"/>
              <a:t>helps</a:t>
            </a:r>
            <a:r>
              <a:rPr lang="de-DE" dirty="0"/>
              <a:t> </a:t>
            </a:r>
            <a:r>
              <a:rPr lang="de-DE" dirty="0" err="1"/>
              <a:t>with</a:t>
            </a:r>
            <a:r>
              <a:rPr lang="de-DE" dirty="0"/>
              <a:t>, </a:t>
            </a:r>
            <a:r>
              <a:rPr lang="de-DE" dirty="0" err="1"/>
              <a:t>what</a:t>
            </a:r>
            <a:r>
              <a:rPr lang="de-DE" dirty="0"/>
              <a:t> not – </a:t>
            </a:r>
            <a:r>
              <a:rPr lang="de-DE" dirty="0" err="1"/>
              <a:t>hypotheses</a:t>
            </a:r>
            <a:r>
              <a:rPr lang="de-DE" dirty="0"/>
              <a:t> etc.</a:t>
            </a:r>
          </a:p>
        </p:txBody>
      </p:sp>
      <p:sp>
        <p:nvSpPr>
          <p:cNvPr id="1416629939" name="Foliennummernplatzhalt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057F9-B2ED-4B9D-B0F2-D3AD44C3FAB4}" type="slidenum">
              <a:rPr kumimoji="0" lang="de-DE"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325873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28984289" name="Folienbildplatzhalter 1"/>
          <p:cNvSpPr>
            <a:spLocks noGrp="1" noRot="1" noChangeAspect="1"/>
          </p:cNvSpPr>
          <p:nvPr>
            <p:ph type="sldImg"/>
          </p:nvPr>
        </p:nvSpPr>
        <p:spPr bwMode="auto"/>
      </p:sp>
      <p:sp>
        <p:nvSpPr>
          <p:cNvPr id="1667454889" name="Notizenplatzhalter 2"/>
          <p:cNvSpPr>
            <a:spLocks noGrp="1"/>
          </p:cNvSpPr>
          <p:nvPr>
            <p:ph type="body" idx="1"/>
          </p:nvPr>
        </p:nvSpPr>
        <p:spPr bwMode="auto"/>
        <p:txBody>
          <a:bodyPr/>
          <a:lstStyle/>
          <a:p>
            <a:pPr marL="0" marR="0" lvl="0" indent="0" algn="l" defTabSz="914400">
              <a:lnSpc>
                <a:spcPct val="100000"/>
              </a:lnSpc>
              <a:spcBef>
                <a:spcPts val="0"/>
              </a:spcBef>
              <a:spcAft>
                <a:spcPts val="0"/>
              </a:spcAft>
              <a:buClrTx/>
              <a:buSzTx/>
              <a:buFontTx/>
              <a:buNone/>
              <a:defRPr/>
            </a:pPr>
            <a:r>
              <a:rPr lang="de-DE" dirty="0"/>
              <a:t>Show </a:t>
            </a:r>
            <a:r>
              <a:rPr lang="de-DE" dirty="0" err="1"/>
              <a:t>three</a:t>
            </a:r>
            <a:r>
              <a:rPr lang="de-DE" dirty="0"/>
              <a:t> </a:t>
            </a:r>
            <a:r>
              <a:rPr lang="de-DE" dirty="0" err="1"/>
              <a:t>types</a:t>
            </a:r>
            <a:r>
              <a:rPr lang="de-DE" dirty="0"/>
              <a:t> </a:t>
            </a:r>
            <a:r>
              <a:rPr lang="de-DE" dirty="0" err="1"/>
              <a:t>of</a:t>
            </a:r>
            <a:r>
              <a:rPr lang="de-DE" dirty="0"/>
              <a:t> </a:t>
            </a:r>
            <a:r>
              <a:rPr lang="de-DE" dirty="0" err="1"/>
              <a:t>most</a:t>
            </a:r>
            <a:r>
              <a:rPr lang="de-DE" dirty="0"/>
              <a:t> </a:t>
            </a:r>
            <a:r>
              <a:rPr lang="de-DE" dirty="0" err="1"/>
              <a:t>important</a:t>
            </a:r>
            <a:r>
              <a:rPr lang="de-DE" dirty="0"/>
              <a:t> </a:t>
            </a:r>
            <a:r>
              <a:rPr lang="de-DE" dirty="0" err="1"/>
              <a:t>causal</a:t>
            </a:r>
            <a:r>
              <a:rPr lang="de-DE" dirty="0"/>
              <a:t> </a:t>
            </a:r>
            <a:r>
              <a:rPr lang="de-DE" dirty="0" err="1"/>
              <a:t>structures</a:t>
            </a:r>
            <a:r>
              <a:rPr lang="de-DE" dirty="0"/>
              <a:t> (</a:t>
            </a:r>
            <a:r>
              <a:rPr lang="de-DE" dirty="0" err="1"/>
              <a:t>mediator</a:t>
            </a:r>
            <a:r>
              <a:rPr lang="de-DE" dirty="0"/>
              <a:t>, </a:t>
            </a:r>
            <a:r>
              <a:rPr lang="de-DE" dirty="0" err="1"/>
              <a:t>confounder</a:t>
            </a:r>
            <a:r>
              <a:rPr lang="de-DE" dirty="0"/>
              <a:t>, </a:t>
            </a:r>
            <a:r>
              <a:rPr lang="de-DE" dirty="0" err="1"/>
              <a:t>collider</a:t>
            </a:r>
            <a:r>
              <a:rPr lang="de-DE" dirty="0"/>
              <a:t>), </a:t>
            </a:r>
            <a:r>
              <a:rPr lang="de-DE" dirty="0" err="1"/>
              <a:t>discuss</a:t>
            </a:r>
            <a:r>
              <a:rPr lang="de-DE" dirty="0"/>
              <a:t> </a:t>
            </a:r>
            <a:r>
              <a:rPr lang="de-DE" dirty="0" err="1"/>
              <a:t>whether</a:t>
            </a:r>
            <a:r>
              <a:rPr lang="de-DE" dirty="0"/>
              <a:t> all </a:t>
            </a:r>
            <a:r>
              <a:rPr lang="de-DE" dirty="0" err="1"/>
              <a:t>confounders</a:t>
            </a:r>
            <a:r>
              <a:rPr lang="de-DE" dirty="0"/>
              <a:t> </a:t>
            </a:r>
            <a:r>
              <a:rPr lang="de-DE" dirty="0" err="1"/>
              <a:t>may</a:t>
            </a:r>
            <a:r>
              <a:rPr lang="de-DE" dirty="0"/>
              <a:t> </a:t>
            </a:r>
            <a:r>
              <a:rPr lang="de-DE" dirty="0" err="1"/>
              <a:t>be</a:t>
            </a:r>
            <a:r>
              <a:rPr lang="de-DE" dirty="0"/>
              <a:t> </a:t>
            </a:r>
            <a:r>
              <a:rPr lang="de-DE" dirty="0" err="1"/>
              <a:t>present</a:t>
            </a:r>
            <a:r>
              <a:rPr lang="de-DE" dirty="0"/>
              <a:t> and </a:t>
            </a:r>
            <a:r>
              <a:rPr lang="de-DE" dirty="0" err="1"/>
              <a:t>no</a:t>
            </a:r>
            <a:r>
              <a:rPr lang="de-DE" dirty="0"/>
              <a:t> </a:t>
            </a:r>
            <a:r>
              <a:rPr lang="de-DE" dirty="0" err="1"/>
              <a:t>mediators</a:t>
            </a:r>
            <a:r>
              <a:rPr lang="de-DE" dirty="0"/>
              <a:t> </a:t>
            </a:r>
            <a:r>
              <a:rPr lang="de-DE" dirty="0" err="1"/>
              <a:t>or</a:t>
            </a:r>
            <a:r>
              <a:rPr lang="de-DE" dirty="0"/>
              <a:t> </a:t>
            </a:r>
            <a:r>
              <a:rPr lang="de-DE" dirty="0" err="1"/>
              <a:t>colliders</a:t>
            </a:r>
            <a:r>
              <a:rPr lang="de-DE" dirty="0"/>
              <a:t> </a:t>
            </a:r>
            <a:r>
              <a:rPr lang="de-DE" dirty="0" err="1"/>
              <a:t>included</a:t>
            </a:r>
            <a:r>
              <a:rPr lang="de-DE" dirty="0"/>
              <a:t> – </a:t>
            </a:r>
            <a:r>
              <a:rPr lang="de-DE" dirty="0" err="1"/>
              <a:t>no</a:t>
            </a:r>
            <a:r>
              <a:rPr lang="de-DE" dirty="0"/>
              <a:t> :(</a:t>
            </a:r>
          </a:p>
          <a:p>
            <a:pPr marL="0" marR="0" lvl="0" indent="0" algn="l" defTabSz="914400">
              <a:lnSpc>
                <a:spcPct val="100000"/>
              </a:lnSpc>
              <a:spcBef>
                <a:spcPts val="0"/>
              </a:spcBef>
              <a:spcAft>
                <a:spcPts val="0"/>
              </a:spcAft>
              <a:buClrTx/>
              <a:buSzTx/>
              <a:buFontTx/>
              <a:buNone/>
              <a:defRPr/>
            </a:pPr>
            <a:r>
              <a:rPr lang="de-DE" dirty="0" err="1"/>
              <a:t>Conclusion</a:t>
            </a:r>
            <a:r>
              <a:rPr lang="de-DE" dirty="0"/>
              <a:t>:</a:t>
            </a:r>
          </a:p>
          <a:p>
            <a:pPr marL="0" marR="0" lvl="0" indent="0" algn="l" defTabSz="914400">
              <a:lnSpc>
                <a:spcPct val="100000"/>
              </a:lnSpc>
              <a:spcBef>
                <a:spcPts val="0"/>
              </a:spcBef>
              <a:spcAft>
                <a:spcPts val="0"/>
              </a:spcAft>
              <a:buClrTx/>
              <a:buSzTx/>
              <a:buFontTx/>
              <a:buNone/>
              <a:defRPr/>
            </a:pPr>
            <a:r>
              <a:rPr lang="de-DE" dirty="0" err="1"/>
              <a:t>What</a:t>
            </a:r>
            <a:r>
              <a:rPr lang="de-DE" dirty="0"/>
              <a:t> CML </a:t>
            </a:r>
            <a:r>
              <a:rPr lang="de-DE" dirty="0" err="1"/>
              <a:t>helps</a:t>
            </a:r>
            <a:r>
              <a:rPr lang="de-DE" dirty="0"/>
              <a:t> </a:t>
            </a:r>
            <a:r>
              <a:rPr lang="de-DE" dirty="0" err="1"/>
              <a:t>with</a:t>
            </a:r>
            <a:r>
              <a:rPr lang="de-DE" dirty="0"/>
              <a:t>, </a:t>
            </a:r>
            <a:r>
              <a:rPr lang="de-DE" dirty="0" err="1"/>
              <a:t>what</a:t>
            </a:r>
            <a:r>
              <a:rPr lang="de-DE" dirty="0"/>
              <a:t> not – </a:t>
            </a:r>
            <a:r>
              <a:rPr lang="de-DE" dirty="0" err="1"/>
              <a:t>hypotheses</a:t>
            </a:r>
            <a:r>
              <a:rPr lang="de-DE" dirty="0"/>
              <a:t> etc.</a:t>
            </a:r>
          </a:p>
        </p:txBody>
      </p:sp>
      <p:sp>
        <p:nvSpPr>
          <p:cNvPr id="1416629939" name="Foliennummernplatzhalt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057F9-B2ED-4B9D-B0F2-D3AD44C3FAB4}" type="slidenum">
              <a:rPr kumimoji="0" lang="de-DE"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651051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endParaRPr lang="de-CH"/>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de-CH"/>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8D545777-A483-4059-AB06-1C22186314BF}" type="datetime1">
              <a:rPr lang="de-CH" smtClean="0"/>
              <a:t>15.07.2026</a:t>
            </a:fld>
            <a:endParaRPr lang="de-CH"/>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de-CH"/>
          </a:p>
        </p:txBody>
      </p:sp>
      <p:sp>
        <p:nvSpPr>
          <p:cNvPr id="7" name="Slide Number Placeholder 5"/>
          <p:cNvSpPr txBox="1">
            <a:spLocks/>
          </p:cNvSpPr>
          <p:nvPr userDrawn="1"/>
        </p:nvSpPr>
        <p:spPr>
          <a:xfrm>
            <a:off x="9192344" y="6433086"/>
            <a:ext cx="2844800" cy="365125"/>
          </a:xfrm>
          <a:prstGeom prst="rect">
            <a:avLst/>
          </a:prstGeom>
        </p:spPr>
        <p:txBody>
          <a:bodyPr vert="horz" lIns="91440" tIns="45720" rIns="91440" bIns="45720" rtlCol="0" anchor="ctr"/>
          <a:lstStyle>
            <a:defPPr>
              <a:defRPr lang="de-DE"/>
            </a:defPPr>
            <a:lvl1pPr marL="0" algn="r" defTabSz="914400" rtl="0" eaLnBrk="1" latinLnBrk="0" hangingPunct="1">
              <a:defRPr sz="1000" kern="1200">
                <a:solidFill>
                  <a:schemeClr val="tx1">
                    <a:tint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3300DC-6F81-4257-9104-8FC6944C3589}" type="slidenum">
              <a:rPr lang="de-CH" smtClean="0"/>
              <a:pPr/>
              <a:t>‹Nr.›</a:t>
            </a:fld>
            <a:endParaRPr lang="de-CH"/>
          </a:p>
        </p:txBody>
      </p:sp>
      <p:sp>
        <p:nvSpPr>
          <p:cNvPr id="8" name="TextBox 7"/>
          <p:cNvSpPr txBox="1"/>
          <p:nvPr userDrawn="1"/>
        </p:nvSpPr>
        <p:spPr>
          <a:xfrm>
            <a:off x="47328" y="6484844"/>
            <a:ext cx="7056784" cy="246221"/>
          </a:xfrm>
          <a:prstGeom prst="rect">
            <a:avLst/>
          </a:prstGeom>
          <a:noFill/>
        </p:spPr>
        <p:txBody>
          <a:bodyPr wrap="square" rtlCol="0">
            <a:spAutoFit/>
          </a:bodyPr>
          <a:lstStyle/>
          <a:p>
            <a:r>
              <a:rPr lang="de-CH" sz="1000" dirty="0">
                <a:solidFill>
                  <a:schemeClr val="bg1">
                    <a:lumMod val="65000"/>
                  </a:schemeClr>
                </a:solidFill>
                <a:latin typeface="Arial" panose="020B0604020202020204" pitchFamily="34" charset="0"/>
                <a:cs typeface="Arial" panose="020B0604020202020204" pitchFamily="34" charset="0"/>
              </a:rPr>
              <a:t>Tutor:innenausbildung_Edelsbrunner_WS25</a:t>
            </a:r>
          </a:p>
        </p:txBody>
      </p:sp>
    </p:spTree>
    <p:extLst>
      <p:ext uri="{BB962C8B-B14F-4D97-AF65-F5344CB8AC3E}">
        <p14:creationId xmlns:p14="http://schemas.microsoft.com/office/powerpoint/2010/main" val="1044580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CH"/>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p:cNvSpPr>
            <a:spLocks noGrp="1"/>
          </p:cNvSpPr>
          <p:nvPr>
            <p:ph type="dt" sz="half" idx="10"/>
          </p:nvPr>
        </p:nvSpPr>
        <p:spPr/>
        <p:txBody>
          <a:bodyPr/>
          <a:lstStyle/>
          <a:p>
            <a:fld id="{2474BFBF-E3C2-41DB-A3BF-FD167F1817FC}" type="datetime1">
              <a:rPr lang="de-CH" smtClean="0"/>
              <a:t>15.07.2026</a:t>
            </a:fld>
            <a:endParaRPr lang="de-CH"/>
          </a:p>
        </p:txBody>
      </p:sp>
      <p:sp>
        <p:nvSpPr>
          <p:cNvPr id="5" name="Footer Placeholder 4"/>
          <p:cNvSpPr>
            <a:spLocks noGrp="1"/>
          </p:cNvSpPr>
          <p:nvPr>
            <p:ph type="ftr" sz="quarter" idx="11"/>
          </p:nvPr>
        </p:nvSpPr>
        <p:spPr/>
        <p:txBody>
          <a:bodyPr/>
          <a:lstStyle/>
          <a:p>
            <a:endParaRPr lang="de-CH"/>
          </a:p>
        </p:txBody>
      </p:sp>
      <p:sp>
        <p:nvSpPr>
          <p:cNvPr id="7" name="Slide Number Placeholder 5"/>
          <p:cNvSpPr txBox="1">
            <a:spLocks/>
          </p:cNvSpPr>
          <p:nvPr userDrawn="1"/>
        </p:nvSpPr>
        <p:spPr>
          <a:xfrm>
            <a:off x="9347200" y="6411899"/>
            <a:ext cx="2844800" cy="365125"/>
          </a:xfrm>
          <a:prstGeom prst="rect">
            <a:avLst/>
          </a:prstGeom>
        </p:spPr>
        <p:txBody>
          <a:bodyPr vert="horz" lIns="91440" tIns="45720" rIns="91440" bIns="45720" rtlCol="0" anchor="ctr"/>
          <a:lstStyle>
            <a:defPPr>
              <a:defRPr lang="de-DE"/>
            </a:defPPr>
            <a:lvl1pPr marL="0" algn="r" defTabSz="914400" rtl="0" eaLnBrk="1" latinLnBrk="0" hangingPunct="1">
              <a:defRPr sz="1000" kern="1200">
                <a:solidFill>
                  <a:schemeClr val="tx1">
                    <a:tint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3300DC-6F81-4257-9104-8FC6944C3589}" type="slidenum">
              <a:rPr lang="de-CH" smtClean="0"/>
              <a:pPr/>
              <a:t>‹Nr.›</a:t>
            </a:fld>
            <a:endParaRPr lang="de-CH" dirty="0"/>
          </a:p>
        </p:txBody>
      </p:sp>
      <p:sp>
        <p:nvSpPr>
          <p:cNvPr id="8" name="TextBox 7">
            <a:extLst>
              <a:ext uri="{FF2B5EF4-FFF2-40B4-BE49-F238E27FC236}">
                <a16:creationId xmlns:a16="http://schemas.microsoft.com/office/drawing/2014/main" id="{34C4B3FF-32EA-467F-9D96-D7210D23E3FC}"/>
              </a:ext>
            </a:extLst>
          </p:cNvPr>
          <p:cNvSpPr txBox="1"/>
          <p:nvPr userDrawn="1"/>
        </p:nvSpPr>
        <p:spPr>
          <a:xfrm>
            <a:off x="47328" y="6484844"/>
            <a:ext cx="7056784" cy="246221"/>
          </a:xfrm>
          <a:prstGeom prst="rect">
            <a:avLst/>
          </a:prstGeom>
          <a:noFill/>
        </p:spPr>
        <p:txBody>
          <a:bodyPr wrap="square" rtlCol="0">
            <a:spAutoFit/>
          </a:bodyPr>
          <a:lstStyle/>
          <a:p>
            <a:r>
              <a:rPr lang="de-CH" sz="1000" dirty="0" err="1">
                <a:solidFill>
                  <a:schemeClr val="bg1">
                    <a:lumMod val="65000"/>
                  </a:schemeClr>
                </a:solidFill>
                <a:latin typeface="Arial" panose="020B0604020202020204" pitchFamily="34" charset="0"/>
                <a:cs typeface="Arial" panose="020B0604020202020204" pitchFamily="34" charset="0"/>
              </a:rPr>
              <a:t>Causal</a:t>
            </a:r>
            <a:r>
              <a:rPr lang="de-CH" sz="1000" dirty="0">
                <a:solidFill>
                  <a:schemeClr val="bg1">
                    <a:lumMod val="65000"/>
                  </a:schemeClr>
                </a:solidFill>
                <a:latin typeface="Arial" panose="020B0604020202020204" pitchFamily="34" charset="0"/>
                <a:cs typeface="Arial" panose="020B0604020202020204" pitchFamily="34" charset="0"/>
              </a:rPr>
              <a:t> </a:t>
            </a:r>
            <a:r>
              <a:rPr lang="de-CH" sz="1000" dirty="0" err="1">
                <a:solidFill>
                  <a:schemeClr val="bg1">
                    <a:lumMod val="65000"/>
                  </a:schemeClr>
                </a:solidFill>
                <a:latin typeface="Arial" panose="020B0604020202020204" pitchFamily="34" charset="0"/>
                <a:cs typeface="Arial" panose="020B0604020202020204" pitchFamily="34" charset="0"/>
              </a:rPr>
              <a:t>Machine</a:t>
            </a:r>
            <a:r>
              <a:rPr lang="de-CH" sz="1000" dirty="0">
                <a:solidFill>
                  <a:schemeClr val="bg1">
                    <a:lumMod val="65000"/>
                  </a:schemeClr>
                </a:solidFill>
                <a:latin typeface="Arial" panose="020B0604020202020204" pitchFamily="34" charset="0"/>
                <a:cs typeface="Arial" panose="020B0604020202020204" pitchFamily="34" charset="0"/>
              </a:rPr>
              <a:t> Learning_SocCollSS26; Peter A. Edelsbrunner</a:t>
            </a:r>
          </a:p>
        </p:txBody>
      </p:sp>
    </p:spTree>
    <p:extLst>
      <p:ext uri="{BB962C8B-B14F-4D97-AF65-F5344CB8AC3E}">
        <p14:creationId xmlns:p14="http://schemas.microsoft.com/office/powerpoint/2010/main" val="3985807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de-CH"/>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6D8800-AC15-4BDF-98BC-26581E9F845A}" type="datetime1">
              <a:rPr lang="de-CH" smtClean="0"/>
              <a:t>15.07.2026</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D73300DC-6F81-4257-9104-8FC6944C3589}" type="slidenum">
              <a:rPr lang="de-CH" smtClean="0"/>
              <a:t>‹Nr.›</a:t>
            </a:fld>
            <a:endParaRPr lang="de-CH"/>
          </a:p>
        </p:txBody>
      </p:sp>
    </p:spTree>
    <p:extLst>
      <p:ext uri="{BB962C8B-B14F-4D97-AF65-F5344CB8AC3E}">
        <p14:creationId xmlns:p14="http://schemas.microsoft.com/office/powerpoint/2010/main" val="2467528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CH"/>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5" name="Date Placeholder 4"/>
          <p:cNvSpPr>
            <a:spLocks noGrp="1"/>
          </p:cNvSpPr>
          <p:nvPr>
            <p:ph type="dt" sz="half" idx="10"/>
          </p:nvPr>
        </p:nvSpPr>
        <p:spPr/>
        <p:txBody>
          <a:bodyPr/>
          <a:lstStyle/>
          <a:p>
            <a:fld id="{6F81C267-655E-4BE3-A3C0-1582D100555B}" type="datetime1">
              <a:rPr lang="de-CH" smtClean="0"/>
              <a:t>15.07.2026</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D73300DC-6F81-4257-9104-8FC6944C3589}" type="slidenum">
              <a:rPr lang="de-CH" smtClean="0"/>
              <a:t>‹Nr.›</a:t>
            </a:fld>
            <a:endParaRPr lang="de-CH"/>
          </a:p>
        </p:txBody>
      </p:sp>
    </p:spTree>
    <p:extLst>
      <p:ext uri="{BB962C8B-B14F-4D97-AF65-F5344CB8AC3E}">
        <p14:creationId xmlns:p14="http://schemas.microsoft.com/office/powerpoint/2010/main" val="3511059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de-CH"/>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7" name="Date Placeholder 6"/>
          <p:cNvSpPr>
            <a:spLocks noGrp="1"/>
          </p:cNvSpPr>
          <p:nvPr>
            <p:ph type="dt" sz="half" idx="10"/>
          </p:nvPr>
        </p:nvSpPr>
        <p:spPr/>
        <p:txBody>
          <a:bodyPr/>
          <a:lstStyle/>
          <a:p>
            <a:fld id="{3682ACB8-2759-48C2-832D-4D8386885D3D}" type="datetime1">
              <a:rPr lang="de-CH" smtClean="0"/>
              <a:t>15.07.2026</a:t>
            </a:fld>
            <a:endParaRPr lang="de-CH"/>
          </a:p>
        </p:txBody>
      </p:sp>
      <p:sp>
        <p:nvSpPr>
          <p:cNvPr id="8" name="Footer Placeholder 7"/>
          <p:cNvSpPr>
            <a:spLocks noGrp="1"/>
          </p:cNvSpPr>
          <p:nvPr>
            <p:ph type="ftr" sz="quarter" idx="11"/>
          </p:nvPr>
        </p:nvSpPr>
        <p:spPr/>
        <p:txBody>
          <a:bodyPr/>
          <a:lstStyle/>
          <a:p>
            <a:endParaRPr lang="de-CH"/>
          </a:p>
        </p:txBody>
      </p:sp>
      <p:sp>
        <p:nvSpPr>
          <p:cNvPr id="9" name="Slide Number Placeholder 8"/>
          <p:cNvSpPr>
            <a:spLocks noGrp="1"/>
          </p:cNvSpPr>
          <p:nvPr>
            <p:ph type="sldNum" sz="quarter" idx="12"/>
          </p:nvPr>
        </p:nvSpPr>
        <p:spPr/>
        <p:txBody>
          <a:bodyPr/>
          <a:lstStyle/>
          <a:p>
            <a:fld id="{D73300DC-6F81-4257-9104-8FC6944C3589}" type="slidenum">
              <a:rPr lang="de-CH" smtClean="0"/>
              <a:t>‹Nr.›</a:t>
            </a:fld>
            <a:endParaRPr lang="de-CH"/>
          </a:p>
        </p:txBody>
      </p:sp>
    </p:spTree>
    <p:extLst>
      <p:ext uri="{BB962C8B-B14F-4D97-AF65-F5344CB8AC3E}">
        <p14:creationId xmlns:p14="http://schemas.microsoft.com/office/powerpoint/2010/main" val="928426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CH"/>
          </a:p>
        </p:txBody>
      </p:sp>
      <p:sp>
        <p:nvSpPr>
          <p:cNvPr id="3" name="Date Placeholder 2"/>
          <p:cNvSpPr>
            <a:spLocks noGrp="1"/>
          </p:cNvSpPr>
          <p:nvPr>
            <p:ph type="dt" sz="half" idx="10"/>
          </p:nvPr>
        </p:nvSpPr>
        <p:spPr/>
        <p:txBody>
          <a:bodyPr/>
          <a:lstStyle/>
          <a:p>
            <a:fld id="{2262578B-16B1-4B42-BFA2-7BD62F68CDEA}" type="datetime1">
              <a:rPr lang="de-CH" smtClean="0"/>
              <a:t>15.07.2026</a:t>
            </a:fld>
            <a:endParaRPr lang="de-CH"/>
          </a:p>
        </p:txBody>
      </p:sp>
      <p:sp>
        <p:nvSpPr>
          <p:cNvPr id="4" name="Footer Placeholder 3"/>
          <p:cNvSpPr>
            <a:spLocks noGrp="1"/>
          </p:cNvSpPr>
          <p:nvPr>
            <p:ph type="ftr" sz="quarter" idx="11"/>
          </p:nvPr>
        </p:nvSpPr>
        <p:spPr/>
        <p:txBody>
          <a:bodyPr/>
          <a:lstStyle/>
          <a:p>
            <a:endParaRPr lang="de-CH"/>
          </a:p>
        </p:txBody>
      </p:sp>
      <p:sp>
        <p:nvSpPr>
          <p:cNvPr id="5" name="Slide Number Placeholder 4"/>
          <p:cNvSpPr>
            <a:spLocks noGrp="1"/>
          </p:cNvSpPr>
          <p:nvPr>
            <p:ph type="sldNum" sz="quarter" idx="12"/>
          </p:nvPr>
        </p:nvSpPr>
        <p:spPr/>
        <p:txBody>
          <a:bodyPr/>
          <a:lstStyle/>
          <a:p>
            <a:fld id="{D73300DC-6F81-4257-9104-8FC6944C3589}" type="slidenum">
              <a:rPr lang="de-CH" smtClean="0"/>
              <a:t>‹Nr.›</a:t>
            </a:fld>
            <a:endParaRPr lang="de-CH"/>
          </a:p>
        </p:txBody>
      </p:sp>
    </p:spTree>
    <p:extLst>
      <p:ext uri="{BB962C8B-B14F-4D97-AF65-F5344CB8AC3E}">
        <p14:creationId xmlns:p14="http://schemas.microsoft.com/office/powerpoint/2010/main" val="41234234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96DA5D-D5FB-4228-BFC4-0BA13075C1DB}" type="datetime1">
              <a:rPr lang="de-CH" smtClean="0"/>
              <a:t>15.07.2026</a:t>
            </a:fld>
            <a:endParaRPr lang="de-CH"/>
          </a:p>
        </p:txBody>
      </p:sp>
      <p:sp>
        <p:nvSpPr>
          <p:cNvPr id="3" name="Footer Placeholder 2"/>
          <p:cNvSpPr>
            <a:spLocks noGrp="1"/>
          </p:cNvSpPr>
          <p:nvPr>
            <p:ph type="ftr" sz="quarter" idx="11"/>
          </p:nvPr>
        </p:nvSpPr>
        <p:spPr/>
        <p:txBody>
          <a:bodyPr/>
          <a:lstStyle/>
          <a:p>
            <a:endParaRPr lang="de-CH"/>
          </a:p>
        </p:txBody>
      </p:sp>
      <p:sp>
        <p:nvSpPr>
          <p:cNvPr id="4" name="Slide Number Placeholder 3"/>
          <p:cNvSpPr>
            <a:spLocks noGrp="1"/>
          </p:cNvSpPr>
          <p:nvPr>
            <p:ph type="sldNum" sz="quarter" idx="12"/>
          </p:nvPr>
        </p:nvSpPr>
        <p:spPr/>
        <p:txBody>
          <a:bodyPr/>
          <a:lstStyle/>
          <a:p>
            <a:fld id="{D73300DC-6F81-4257-9104-8FC6944C3589}" type="slidenum">
              <a:rPr lang="de-CH" smtClean="0"/>
              <a:t>‹Nr.›</a:t>
            </a:fld>
            <a:endParaRPr lang="de-CH"/>
          </a:p>
        </p:txBody>
      </p:sp>
    </p:spTree>
    <p:extLst>
      <p:ext uri="{BB962C8B-B14F-4D97-AF65-F5344CB8AC3E}">
        <p14:creationId xmlns:p14="http://schemas.microsoft.com/office/powerpoint/2010/main" val="1529001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de-CH"/>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E2EE2E-03BF-4260-A08B-470B5732B92F}" type="datetime1">
              <a:rPr lang="de-CH" smtClean="0"/>
              <a:t>15.07.2026</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D73300DC-6F81-4257-9104-8FC6944C3589}" type="slidenum">
              <a:rPr lang="de-CH" smtClean="0"/>
              <a:t>‹Nr.›</a:t>
            </a:fld>
            <a:endParaRPr lang="de-CH"/>
          </a:p>
        </p:txBody>
      </p:sp>
    </p:spTree>
    <p:extLst>
      <p:ext uri="{BB962C8B-B14F-4D97-AF65-F5344CB8AC3E}">
        <p14:creationId xmlns:p14="http://schemas.microsoft.com/office/powerpoint/2010/main" val="8567572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de-CH"/>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CH"/>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5A13077-0982-4B10-8356-033B5A9B647A}" type="datetime1">
              <a:rPr lang="de-CH" smtClean="0"/>
              <a:t>15.07.2026</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D73300DC-6F81-4257-9104-8FC6944C3589}" type="slidenum">
              <a:rPr lang="de-CH" smtClean="0"/>
              <a:t>‹Nr.›</a:t>
            </a:fld>
            <a:endParaRPr lang="de-CH"/>
          </a:p>
        </p:txBody>
      </p:sp>
    </p:spTree>
    <p:extLst>
      <p:ext uri="{BB962C8B-B14F-4D97-AF65-F5344CB8AC3E}">
        <p14:creationId xmlns:p14="http://schemas.microsoft.com/office/powerpoint/2010/main" val="3055771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CH"/>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p:cNvSpPr>
            <a:spLocks noGrp="1"/>
          </p:cNvSpPr>
          <p:nvPr>
            <p:ph type="dt" sz="half" idx="10"/>
          </p:nvPr>
        </p:nvSpPr>
        <p:spPr/>
        <p:txBody>
          <a:bodyPr/>
          <a:lstStyle/>
          <a:p>
            <a:fld id="{4FF65230-473B-4719-8AD5-E32682B5493E}" type="datetime1">
              <a:rPr lang="de-CH" smtClean="0"/>
              <a:t>15.07.2026</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D73300DC-6F81-4257-9104-8FC6944C3589}" type="slidenum">
              <a:rPr lang="de-CH" smtClean="0"/>
              <a:t>‹Nr.›</a:t>
            </a:fld>
            <a:endParaRPr lang="de-CH"/>
          </a:p>
        </p:txBody>
      </p:sp>
    </p:spTree>
    <p:extLst>
      <p:ext uri="{BB962C8B-B14F-4D97-AF65-F5344CB8AC3E}">
        <p14:creationId xmlns:p14="http://schemas.microsoft.com/office/powerpoint/2010/main" val="17202984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de-CH"/>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p:cNvSpPr>
            <a:spLocks noGrp="1"/>
          </p:cNvSpPr>
          <p:nvPr>
            <p:ph type="dt" sz="half" idx="10"/>
          </p:nvPr>
        </p:nvSpPr>
        <p:spPr/>
        <p:txBody>
          <a:bodyPr/>
          <a:lstStyle/>
          <a:p>
            <a:fld id="{6951A541-30E7-4B89-8B71-2DCC74891C03}" type="datetime1">
              <a:rPr lang="de-CH" smtClean="0"/>
              <a:t>15.07.2026</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D73300DC-6F81-4257-9104-8FC6944C3589}" type="slidenum">
              <a:rPr lang="de-CH" smtClean="0"/>
              <a:t>‹Nr.›</a:t>
            </a:fld>
            <a:endParaRPr lang="de-CH"/>
          </a:p>
        </p:txBody>
      </p:sp>
    </p:spTree>
    <p:extLst>
      <p:ext uri="{BB962C8B-B14F-4D97-AF65-F5344CB8AC3E}">
        <p14:creationId xmlns:p14="http://schemas.microsoft.com/office/powerpoint/2010/main" val="11337678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atin typeface="Arial" panose="020B0604020202020204" pitchFamily="34" charset="0"/>
                <a:cs typeface="Arial" panose="020B0604020202020204" pitchFamily="34" charset="0"/>
              </a:defRPr>
            </a:lvl1pPr>
          </a:lstStyle>
          <a:p>
            <a:r>
              <a:rPr lang="de-DE"/>
              <a:t>Titelmasterformat durch Klicken bearbeiten</a:t>
            </a:r>
            <a:endParaRPr lang="en-US"/>
          </a:p>
        </p:txBody>
      </p:sp>
      <p:sp>
        <p:nvSpPr>
          <p:cNvPr id="3" name="Untertitel 2"/>
          <p:cNvSpPr>
            <a:spLocks noGrp="1"/>
          </p:cNvSpPr>
          <p:nvPr>
            <p:ph type="subTitle" idx="1"/>
          </p:nvPr>
        </p:nvSpPr>
        <p:spPr>
          <a:xfrm>
            <a:off x="1524000" y="3602038"/>
            <a:ext cx="9144000" cy="1655762"/>
          </a:xfr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endParaRPr lang="en-US"/>
          </a:p>
        </p:txBody>
      </p:sp>
      <p:sp>
        <p:nvSpPr>
          <p:cNvPr id="6" name="Foliennummernplatzhalt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F9199A8-74E1-481D-886D-259B86D8CE8A}" type="slidenum">
              <a:rPr lang="en-US" smtClean="0"/>
              <a:pPr/>
              <a:t>‹Nr.›</a:t>
            </a:fld>
            <a:endParaRPr lang="en-US"/>
          </a:p>
        </p:txBody>
      </p:sp>
    </p:spTree>
    <p:extLst>
      <p:ext uri="{BB962C8B-B14F-4D97-AF65-F5344CB8AC3E}">
        <p14:creationId xmlns:p14="http://schemas.microsoft.com/office/powerpoint/2010/main" val="37958288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de-DE"/>
              <a:t>Titelmasterformat durch Klicken bearbeiten</a:t>
            </a:r>
            <a:endParaRPr lang="en-US"/>
          </a:p>
        </p:txBody>
      </p:sp>
      <p:sp>
        <p:nvSpPr>
          <p:cNvPr id="3" name="Inhaltsplatzhalter 2"/>
          <p:cNvSpPr>
            <a:spLocks noGrp="1"/>
          </p:cNvSpPr>
          <p:nvPr>
            <p:ph idx="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3E5CA370-940F-4719-9D7F-9D9510DD8F97}" type="datetimeFigureOut">
              <a:rPr lang="en-US" smtClean="0"/>
              <a:pPr/>
              <a:t>7/15/2026</a:t>
            </a:fld>
            <a:endParaRPr lang="en-US"/>
          </a:p>
        </p:txBody>
      </p:sp>
      <p:sp>
        <p:nvSpPr>
          <p:cNvPr id="5" name="Fußzeilenplatzhalt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a:p>
        </p:txBody>
      </p:sp>
      <p:sp>
        <p:nvSpPr>
          <p:cNvPr id="6" name="Foliennummernplatzhalt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F9199A8-74E1-481D-886D-259B86D8CE8A}" type="slidenum">
              <a:rPr lang="en-US" smtClean="0"/>
              <a:pPr/>
              <a:t>‹Nr.›</a:t>
            </a:fld>
            <a:endParaRPr lang="en-US"/>
          </a:p>
        </p:txBody>
      </p:sp>
      <p:sp>
        <p:nvSpPr>
          <p:cNvPr id="7" name="Slide Number Placeholder 5">
            <a:extLst>
              <a:ext uri="{FF2B5EF4-FFF2-40B4-BE49-F238E27FC236}">
                <a16:creationId xmlns:a16="http://schemas.microsoft.com/office/drawing/2014/main" id="{D8D05E8A-68B1-4292-AAC4-9CA33FEB1094}"/>
              </a:ext>
            </a:extLst>
          </p:cNvPr>
          <p:cNvSpPr txBox="1">
            <a:spLocks/>
          </p:cNvSpPr>
          <p:nvPr userDrawn="1"/>
        </p:nvSpPr>
        <p:spPr>
          <a:xfrm>
            <a:off x="9299872" y="6356349"/>
            <a:ext cx="2844800" cy="365125"/>
          </a:xfrm>
          <a:prstGeom prst="rect">
            <a:avLst/>
          </a:prstGeom>
        </p:spPr>
        <p:txBody>
          <a:bodyPr vert="horz" lIns="91440" tIns="45720" rIns="91440" bIns="45720" rtlCol="0" anchor="ctr"/>
          <a:lstStyle>
            <a:defPPr>
              <a:defRPr lang="de-DE"/>
            </a:defPPr>
            <a:lvl1pPr marL="0" algn="r" defTabSz="914400" rtl="0" eaLnBrk="1" latinLnBrk="0" hangingPunct="1">
              <a:defRPr sz="1000" kern="1200">
                <a:solidFill>
                  <a:schemeClr val="tx1">
                    <a:tint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3300DC-6F81-4257-9104-8FC6944C3589}" type="slidenum">
              <a:rPr lang="de-CH" smtClean="0">
                <a:solidFill>
                  <a:schemeClr val="bg2">
                    <a:lumMod val="75000"/>
                  </a:schemeClr>
                </a:solidFill>
              </a:rPr>
              <a:pPr/>
              <a:t>‹Nr.›</a:t>
            </a:fld>
            <a:endParaRPr lang="de-CH" dirty="0">
              <a:solidFill>
                <a:schemeClr val="bg2">
                  <a:lumMod val="75000"/>
                </a:schemeClr>
              </a:solidFill>
            </a:endParaRPr>
          </a:p>
        </p:txBody>
      </p:sp>
      <p:sp>
        <p:nvSpPr>
          <p:cNvPr id="8" name="TextBox 7">
            <a:extLst>
              <a:ext uri="{FF2B5EF4-FFF2-40B4-BE49-F238E27FC236}">
                <a16:creationId xmlns:a16="http://schemas.microsoft.com/office/drawing/2014/main" id="{E8D4937E-675A-4619-ADB7-BDF4204A5794}"/>
              </a:ext>
            </a:extLst>
          </p:cNvPr>
          <p:cNvSpPr txBox="1"/>
          <p:nvPr userDrawn="1"/>
        </p:nvSpPr>
        <p:spPr>
          <a:xfrm>
            <a:off x="47328" y="6484844"/>
            <a:ext cx="7056784" cy="246221"/>
          </a:xfrm>
          <a:prstGeom prst="rect">
            <a:avLst/>
          </a:prstGeom>
          <a:noFill/>
        </p:spPr>
        <p:txBody>
          <a:bodyPr wrap="square" rtlCol="0">
            <a:spAutoFit/>
          </a:bodyPr>
          <a:lstStyle/>
          <a:p>
            <a:r>
              <a:rPr lang="de-CH" sz="1000" dirty="0" err="1">
                <a:solidFill>
                  <a:schemeClr val="bg1">
                    <a:lumMod val="65000"/>
                  </a:schemeClr>
                </a:solidFill>
                <a:latin typeface="Arial" panose="020B0604020202020204" pitchFamily="34" charset="0"/>
                <a:cs typeface="Arial" panose="020B0604020202020204" pitchFamily="34" charset="0"/>
              </a:rPr>
              <a:t>Causal</a:t>
            </a:r>
            <a:r>
              <a:rPr lang="de-CH" sz="1000" dirty="0">
                <a:solidFill>
                  <a:schemeClr val="bg1">
                    <a:lumMod val="65000"/>
                  </a:schemeClr>
                </a:solidFill>
                <a:latin typeface="Arial" panose="020B0604020202020204" pitchFamily="34" charset="0"/>
                <a:cs typeface="Arial" panose="020B0604020202020204" pitchFamily="34" charset="0"/>
              </a:rPr>
              <a:t> </a:t>
            </a:r>
            <a:r>
              <a:rPr lang="de-CH" sz="1000" dirty="0" err="1">
                <a:solidFill>
                  <a:schemeClr val="bg1">
                    <a:lumMod val="65000"/>
                  </a:schemeClr>
                </a:solidFill>
                <a:latin typeface="Arial" panose="020B0604020202020204" pitchFamily="34" charset="0"/>
                <a:cs typeface="Arial" panose="020B0604020202020204" pitchFamily="34" charset="0"/>
              </a:rPr>
              <a:t>Machine</a:t>
            </a:r>
            <a:r>
              <a:rPr lang="de-CH" sz="1000" dirty="0">
                <a:solidFill>
                  <a:schemeClr val="bg1">
                    <a:lumMod val="65000"/>
                  </a:schemeClr>
                </a:solidFill>
                <a:latin typeface="Arial" panose="020B0604020202020204" pitchFamily="34" charset="0"/>
                <a:cs typeface="Arial" panose="020B0604020202020204" pitchFamily="34" charset="0"/>
              </a:rPr>
              <a:t> Learning_SocCollSS26; Peter A. Edelsbrunner</a:t>
            </a:r>
          </a:p>
        </p:txBody>
      </p:sp>
    </p:spTree>
    <p:extLst>
      <p:ext uri="{BB962C8B-B14F-4D97-AF65-F5344CB8AC3E}">
        <p14:creationId xmlns:p14="http://schemas.microsoft.com/office/powerpoint/2010/main" val="19818155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atin typeface="Arial" panose="020B0604020202020204" pitchFamily="34" charset="0"/>
                <a:cs typeface="Arial" panose="020B0604020202020204" pitchFamily="34" charset="0"/>
              </a:defRPr>
            </a:lvl1pPr>
          </a:lstStyle>
          <a:p>
            <a:r>
              <a:rPr lang="de-DE"/>
              <a:t>Titelmasterformat durch Klicken bearbeiten</a:t>
            </a:r>
            <a:endParaRPr lang="en-US"/>
          </a:p>
        </p:txBody>
      </p:sp>
      <p:sp>
        <p:nvSpPr>
          <p:cNvPr id="3" name="Textplatzhalt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Formatvorlagen des Textmasters bearbeiten</a:t>
            </a:r>
          </a:p>
        </p:txBody>
      </p:sp>
      <p:sp>
        <p:nvSpPr>
          <p:cNvPr id="4" name="Datumsplatzhalt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3E5CA370-940F-4719-9D7F-9D9510DD8F97}" type="datetimeFigureOut">
              <a:rPr lang="en-US" smtClean="0"/>
              <a:pPr/>
              <a:t>7/15/2026</a:t>
            </a:fld>
            <a:endParaRPr lang="en-US"/>
          </a:p>
        </p:txBody>
      </p:sp>
      <p:sp>
        <p:nvSpPr>
          <p:cNvPr id="5" name="Fußzeilenplatzhalt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a:p>
        </p:txBody>
      </p:sp>
      <p:sp>
        <p:nvSpPr>
          <p:cNvPr id="6" name="Foliennummernplatzhalt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F9199A8-74E1-481D-886D-259B86D8CE8A}" type="slidenum">
              <a:rPr lang="en-US" smtClean="0"/>
              <a:pPr/>
              <a:t>‹Nr.›</a:t>
            </a:fld>
            <a:endParaRPr lang="en-US"/>
          </a:p>
        </p:txBody>
      </p:sp>
    </p:spTree>
    <p:extLst>
      <p:ext uri="{BB962C8B-B14F-4D97-AF65-F5344CB8AC3E}">
        <p14:creationId xmlns:p14="http://schemas.microsoft.com/office/powerpoint/2010/main" val="338024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de-DE"/>
              <a:t>Titelmasterformat durch Klicken bearbeiten</a:t>
            </a:r>
            <a:endParaRPr lang="en-US"/>
          </a:p>
        </p:txBody>
      </p:sp>
      <p:sp>
        <p:nvSpPr>
          <p:cNvPr id="3" name="Inhaltsplatzhalter 2"/>
          <p:cNvSpPr>
            <a:spLocks noGrp="1"/>
          </p:cNvSpPr>
          <p:nvPr>
            <p:ph sz="half" idx="1"/>
          </p:nvPr>
        </p:nvSpPr>
        <p:spPr>
          <a:xfrm>
            <a:off x="838200" y="1825625"/>
            <a:ext cx="5181600" cy="4351338"/>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Inhaltsplatzhalter 3"/>
          <p:cNvSpPr>
            <a:spLocks noGrp="1"/>
          </p:cNvSpPr>
          <p:nvPr>
            <p:ph sz="half" idx="2"/>
          </p:nvPr>
        </p:nvSpPr>
        <p:spPr>
          <a:xfrm>
            <a:off x="6172200" y="1825625"/>
            <a:ext cx="5181600" cy="4351338"/>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Datumsplatzhalter 4"/>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fld id="{3E5CA370-940F-4719-9D7F-9D9510DD8F97}" type="datetimeFigureOut">
              <a:rPr lang="en-US" smtClean="0"/>
              <a:pPr/>
              <a:t>7/15/2026</a:t>
            </a:fld>
            <a:endParaRPr lang="en-US"/>
          </a:p>
        </p:txBody>
      </p:sp>
      <p:sp>
        <p:nvSpPr>
          <p:cNvPr id="6" name="Fußzeilenplatzhalter 5"/>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endParaRPr lang="en-US"/>
          </a:p>
        </p:txBody>
      </p:sp>
      <p:sp>
        <p:nvSpPr>
          <p:cNvPr id="7" name="Foliennummernplatzhalter 6"/>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FF9199A8-74E1-481D-886D-259B86D8CE8A}" type="slidenum">
              <a:rPr lang="en-US" smtClean="0"/>
              <a:pPr/>
              <a:t>‹Nr.›</a:t>
            </a:fld>
            <a:endParaRPr lang="en-US"/>
          </a:p>
        </p:txBody>
      </p:sp>
    </p:spTree>
    <p:extLst>
      <p:ext uri="{BB962C8B-B14F-4D97-AF65-F5344CB8AC3E}">
        <p14:creationId xmlns:p14="http://schemas.microsoft.com/office/powerpoint/2010/main" val="13632875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de-DE"/>
              <a:t>Titelmasterformat durch Klicken bearbeiten</a:t>
            </a:r>
            <a:endParaRPr lang="en-US"/>
          </a:p>
        </p:txBody>
      </p:sp>
      <p:sp>
        <p:nvSpPr>
          <p:cNvPr id="3" name="Textplatzhalt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4" name="Inhaltsplatzhalter 3"/>
          <p:cNvSpPr>
            <a:spLocks noGrp="1"/>
          </p:cNvSpPr>
          <p:nvPr>
            <p:ph sz="half" idx="2"/>
          </p:nvPr>
        </p:nvSpPr>
        <p:spPr>
          <a:xfrm>
            <a:off x="839788" y="2505075"/>
            <a:ext cx="5157787"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Textplatzhalt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6" name="Inhaltsplatzhalter 5"/>
          <p:cNvSpPr>
            <a:spLocks noGrp="1"/>
          </p:cNvSpPr>
          <p:nvPr>
            <p:ph sz="quarter" idx="4"/>
          </p:nvPr>
        </p:nvSpPr>
        <p:spPr>
          <a:xfrm>
            <a:off x="6172200" y="2505075"/>
            <a:ext cx="5183188"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7" name="Datumsplatzhalter 6"/>
          <p:cNvSpPr>
            <a:spLocks noGrp="1"/>
          </p:cNvSpPr>
          <p:nvPr>
            <p:ph type="dt" sz="half" idx="10"/>
          </p:nvPr>
        </p:nvSpPr>
        <p:spPr/>
        <p:txBody>
          <a:bodyPr/>
          <a:lstStyle/>
          <a:p>
            <a:fld id="{3E5CA370-940F-4719-9D7F-9D9510DD8F97}" type="datetimeFigureOut">
              <a:rPr lang="en-US" smtClean="0"/>
              <a:t>7/15/2026</a:t>
            </a:fld>
            <a:endParaRPr lang="en-US"/>
          </a:p>
        </p:txBody>
      </p:sp>
      <p:sp>
        <p:nvSpPr>
          <p:cNvPr id="8" name="Fußzeilenplatzhalter 7"/>
          <p:cNvSpPr>
            <a:spLocks noGrp="1"/>
          </p:cNvSpPr>
          <p:nvPr>
            <p:ph type="ftr" sz="quarter" idx="11"/>
          </p:nvPr>
        </p:nvSpPr>
        <p:spPr/>
        <p:txBody>
          <a:bodyPr/>
          <a:lstStyle/>
          <a:p>
            <a:endParaRPr lang="en-US"/>
          </a:p>
        </p:txBody>
      </p:sp>
      <p:sp>
        <p:nvSpPr>
          <p:cNvPr id="9" name="Foliennummernplatzhalter 8"/>
          <p:cNvSpPr>
            <a:spLocks noGrp="1"/>
          </p:cNvSpPr>
          <p:nvPr>
            <p:ph type="sldNum" sz="quarter" idx="12"/>
          </p:nvPr>
        </p:nvSpPr>
        <p:spPr/>
        <p:txBody>
          <a:bodyPr/>
          <a:lstStyle/>
          <a:p>
            <a:fld id="{FF9199A8-74E1-481D-886D-259B86D8CE8A}" type="slidenum">
              <a:rPr lang="en-US" smtClean="0"/>
              <a:t>‹Nr.›</a:t>
            </a:fld>
            <a:endParaRPr lang="en-US"/>
          </a:p>
        </p:txBody>
      </p:sp>
    </p:spTree>
    <p:extLst>
      <p:ext uri="{BB962C8B-B14F-4D97-AF65-F5344CB8AC3E}">
        <p14:creationId xmlns:p14="http://schemas.microsoft.com/office/powerpoint/2010/main" val="6037720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en-US"/>
          </a:p>
        </p:txBody>
      </p:sp>
      <p:sp>
        <p:nvSpPr>
          <p:cNvPr id="3" name="Datumsplatzhalter 2"/>
          <p:cNvSpPr>
            <a:spLocks noGrp="1"/>
          </p:cNvSpPr>
          <p:nvPr>
            <p:ph type="dt" sz="half" idx="10"/>
          </p:nvPr>
        </p:nvSpPr>
        <p:spPr/>
        <p:txBody>
          <a:bodyPr/>
          <a:lstStyle/>
          <a:p>
            <a:fld id="{3E5CA370-940F-4719-9D7F-9D9510DD8F97}" type="datetimeFigureOut">
              <a:rPr lang="en-US" smtClean="0"/>
              <a:t>7/15/2026</a:t>
            </a:fld>
            <a:endParaRPr lang="en-US"/>
          </a:p>
        </p:txBody>
      </p:sp>
      <p:sp>
        <p:nvSpPr>
          <p:cNvPr id="4" name="Fußzeilenplatzhalter 3"/>
          <p:cNvSpPr>
            <a:spLocks noGrp="1"/>
          </p:cNvSpPr>
          <p:nvPr>
            <p:ph type="ftr" sz="quarter" idx="11"/>
          </p:nvPr>
        </p:nvSpPr>
        <p:spPr/>
        <p:txBody>
          <a:bodyPr/>
          <a:lstStyle/>
          <a:p>
            <a:endParaRPr lang="en-US"/>
          </a:p>
        </p:txBody>
      </p:sp>
      <p:sp>
        <p:nvSpPr>
          <p:cNvPr id="5" name="Foliennummernplatzhalter 4"/>
          <p:cNvSpPr>
            <a:spLocks noGrp="1"/>
          </p:cNvSpPr>
          <p:nvPr>
            <p:ph type="sldNum" sz="quarter" idx="12"/>
          </p:nvPr>
        </p:nvSpPr>
        <p:spPr/>
        <p:txBody>
          <a:bodyPr/>
          <a:lstStyle/>
          <a:p>
            <a:fld id="{FF9199A8-74E1-481D-886D-259B86D8CE8A}" type="slidenum">
              <a:rPr lang="en-US" smtClean="0"/>
              <a:t>‹Nr.›</a:t>
            </a:fld>
            <a:endParaRPr lang="en-US"/>
          </a:p>
        </p:txBody>
      </p:sp>
    </p:spTree>
    <p:extLst>
      <p:ext uri="{BB962C8B-B14F-4D97-AF65-F5344CB8AC3E}">
        <p14:creationId xmlns:p14="http://schemas.microsoft.com/office/powerpoint/2010/main" val="2491608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3E5CA370-940F-4719-9D7F-9D9510DD8F97}" type="datetimeFigureOut">
              <a:rPr lang="en-US" smtClean="0"/>
              <a:t>7/15/2026</a:t>
            </a:fld>
            <a:endParaRPr lang="en-US"/>
          </a:p>
        </p:txBody>
      </p:sp>
      <p:sp>
        <p:nvSpPr>
          <p:cNvPr id="3" name="Fußzeilenplatzhalter 2"/>
          <p:cNvSpPr>
            <a:spLocks noGrp="1"/>
          </p:cNvSpPr>
          <p:nvPr>
            <p:ph type="ftr" sz="quarter" idx="11"/>
          </p:nvPr>
        </p:nvSpPr>
        <p:spPr/>
        <p:txBody>
          <a:bodyPr/>
          <a:lstStyle/>
          <a:p>
            <a:endParaRPr lang="en-US"/>
          </a:p>
        </p:txBody>
      </p:sp>
      <p:sp>
        <p:nvSpPr>
          <p:cNvPr id="4" name="Foliennummernplatzhalter 3"/>
          <p:cNvSpPr>
            <a:spLocks noGrp="1"/>
          </p:cNvSpPr>
          <p:nvPr>
            <p:ph type="sldNum" sz="quarter" idx="12"/>
          </p:nvPr>
        </p:nvSpPr>
        <p:spPr/>
        <p:txBody>
          <a:bodyPr/>
          <a:lstStyle/>
          <a:p>
            <a:fld id="{FF9199A8-74E1-481D-886D-259B86D8CE8A}" type="slidenum">
              <a:rPr lang="en-US" smtClean="0"/>
              <a:t>‹Nr.›</a:t>
            </a:fld>
            <a:endParaRPr lang="en-US"/>
          </a:p>
        </p:txBody>
      </p:sp>
    </p:spTree>
    <p:extLst>
      <p:ext uri="{BB962C8B-B14F-4D97-AF65-F5344CB8AC3E}">
        <p14:creationId xmlns:p14="http://schemas.microsoft.com/office/powerpoint/2010/main" val="8945334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endParaRPr lang="en-US"/>
          </a:p>
        </p:txBody>
      </p:sp>
      <p:sp>
        <p:nvSpPr>
          <p:cNvPr id="3" name="Inhaltsplatzhalt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Datumsplatzhalter 4"/>
          <p:cNvSpPr>
            <a:spLocks noGrp="1"/>
          </p:cNvSpPr>
          <p:nvPr>
            <p:ph type="dt" sz="half" idx="10"/>
          </p:nvPr>
        </p:nvSpPr>
        <p:spPr/>
        <p:txBody>
          <a:bodyPr/>
          <a:lstStyle/>
          <a:p>
            <a:fld id="{3E5CA370-940F-4719-9D7F-9D9510DD8F97}" type="datetimeFigureOut">
              <a:rPr lang="en-US" smtClean="0"/>
              <a:t>7/15/2026</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FF9199A8-74E1-481D-886D-259B86D8CE8A}" type="slidenum">
              <a:rPr lang="en-US" smtClean="0"/>
              <a:t>‹Nr.›</a:t>
            </a:fld>
            <a:endParaRPr lang="en-US"/>
          </a:p>
        </p:txBody>
      </p:sp>
    </p:spTree>
    <p:extLst>
      <p:ext uri="{BB962C8B-B14F-4D97-AF65-F5344CB8AC3E}">
        <p14:creationId xmlns:p14="http://schemas.microsoft.com/office/powerpoint/2010/main" val="21927742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endParaRPr lang="en-US"/>
          </a:p>
        </p:txBody>
      </p:sp>
      <p:sp>
        <p:nvSpPr>
          <p:cNvPr id="3" name="Bildplatzhalt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Datumsplatzhalter 4"/>
          <p:cNvSpPr>
            <a:spLocks noGrp="1"/>
          </p:cNvSpPr>
          <p:nvPr>
            <p:ph type="dt" sz="half" idx="10"/>
          </p:nvPr>
        </p:nvSpPr>
        <p:spPr/>
        <p:txBody>
          <a:bodyPr/>
          <a:lstStyle/>
          <a:p>
            <a:fld id="{3E5CA370-940F-4719-9D7F-9D9510DD8F97}" type="datetimeFigureOut">
              <a:rPr lang="en-US" smtClean="0"/>
              <a:t>7/15/2026</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FF9199A8-74E1-481D-886D-259B86D8CE8A}" type="slidenum">
              <a:rPr lang="en-US" smtClean="0"/>
              <a:t>‹Nr.›</a:t>
            </a:fld>
            <a:endParaRPr lang="en-US"/>
          </a:p>
        </p:txBody>
      </p:sp>
    </p:spTree>
    <p:extLst>
      <p:ext uri="{BB962C8B-B14F-4D97-AF65-F5344CB8AC3E}">
        <p14:creationId xmlns:p14="http://schemas.microsoft.com/office/powerpoint/2010/main" val="30056136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en-US"/>
          </a:p>
        </p:txBody>
      </p:sp>
      <p:sp>
        <p:nvSpPr>
          <p:cNvPr id="3" name="Vertikaler Textplatzhalter 2"/>
          <p:cNvSpPr>
            <a:spLocks noGrp="1"/>
          </p:cNvSpPr>
          <p:nvPr>
            <p:ph type="body" orient="vert" idx="1"/>
          </p:nvPr>
        </p:nvSpPr>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p:cNvSpPr>
            <a:spLocks noGrp="1"/>
          </p:cNvSpPr>
          <p:nvPr>
            <p:ph type="dt" sz="half" idx="10"/>
          </p:nvPr>
        </p:nvSpPr>
        <p:spPr/>
        <p:txBody>
          <a:bodyPr/>
          <a:lstStyle/>
          <a:p>
            <a:fld id="{3E5CA370-940F-4719-9D7F-9D9510DD8F97}" type="datetimeFigureOut">
              <a:rPr lang="en-US" smtClean="0"/>
              <a:t>7/15/2026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FF9199A8-74E1-481D-886D-259B86D8CE8A}" type="slidenum">
              <a:rPr lang="en-US" smtClean="0"/>
              <a:t>‹Nr.›</a:t>
            </a:fld>
            <a:endParaRPr lang="en-US"/>
          </a:p>
        </p:txBody>
      </p:sp>
    </p:spTree>
    <p:extLst>
      <p:ext uri="{BB962C8B-B14F-4D97-AF65-F5344CB8AC3E}">
        <p14:creationId xmlns:p14="http://schemas.microsoft.com/office/powerpoint/2010/main" val="20831782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724900" y="365125"/>
            <a:ext cx="2628900" cy="5811838"/>
          </a:xfrm>
        </p:spPr>
        <p:txBody>
          <a:bodyPr vert="eaVert"/>
          <a:lstStyle/>
          <a:p>
            <a:r>
              <a:rPr lang="de-DE"/>
              <a:t>Titelmasterformat durch Klicken bearbeiten</a:t>
            </a:r>
            <a:endParaRPr lang="en-US"/>
          </a:p>
        </p:txBody>
      </p:sp>
      <p:sp>
        <p:nvSpPr>
          <p:cNvPr id="3" name="Vertikaler Textplatzhalter 2"/>
          <p:cNvSpPr>
            <a:spLocks noGrp="1"/>
          </p:cNvSpPr>
          <p:nvPr>
            <p:ph type="body" orient="vert" idx="1"/>
          </p:nvPr>
        </p:nvSpPr>
        <p:spPr>
          <a:xfrm>
            <a:off x="838200" y="365125"/>
            <a:ext cx="7734300" cy="5811838"/>
          </a:xfrm>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p:cNvSpPr>
            <a:spLocks noGrp="1"/>
          </p:cNvSpPr>
          <p:nvPr>
            <p:ph type="dt" sz="half" idx="10"/>
          </p:nvPr>
        </p:nvSpPr>
        <p:spPr/>
        <p:txBody>
          <a:bodyPr/>
          <a:lstStyle/>
          <a:p>
            <a:fld id="{3E5CA370-940F-4719-9D7F-9D9510DD8F97}" type="datetimeFigureOut">
              <a:rPr lang="en-US" smtClean="0"/>
              <a:t>7/15/2026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FF9199A8-74E1-481D-886D-259B86D8CE8A}" type="slidenum">
              <a:rPr lang="en-US" smtClean="0"/>
              <a:t>‹Nr.›</a:t>
            </a:fld>
            <a:endParaRPr lang="en-US"/>
          </a:p>
        </p:txBody>
      </p:sp>
    </p:spTree>
    <p:extLst>
      <p:ext uri="{BB962C8B-B14F-4D97-AF65-F5344CB8AC3E}">
        <p14:creationId xmlns:p14="http://schemas.microsoft.com/office/powerpoint/2010/main" val="2577967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de-CH"/>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3D309-B84E-41FB-9450-3E7321A9D000}" type="datetime1">
              <a:rPr lang="de-CH" smtClean="0"/>
              <a:t>15.07.2026</a:t>
            </a:fld>
            <a:endParaRPr lang="de-CH"/>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CH"/>
          </a:p>
        </p:txBody>
      </p:sp>
      <p:sp>
        <p:nvSpPr>
          <p:cNvPr id="6" name="Slide Number Placeholder 5"/>
          <p:cNvSpPr>
            <a:spLocks noGrp="1"/>
          </p:cNvSpPr>
          <p:nvPr>
            <p:ph type="sldNum" sz="quarter" idx="4"/>
          </p:nvPr>
        </p:nvSpPr>
        <p:spPr>
          <a:xfrm>
            <a:off x="9072331" y="6381329"/>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3300DC-6F81-4257-9104-8FC6944C3589}" type="slidenum">
              <a:rPr lang="de-CH" smtClean="0"/>
              <a:t>‹Nr.›</a:t>
            </a:fld>
            <a:endParaRPr lang="de-CH"/>
          </a:p>
        </p:txBody>
      </p:sp>
    </p:spTree>
    <p:extLst>
      <p:ext uri="{BB962C8B-B14F-4D97-AF65-F5344CB8AC3E}">
        <p14:creationId xmlns:p14="http://schemas.microsoft.com/office/powerpoint/2010/main" val="2565661172"/>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endParaRPr lang="en-US"/>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5CA370-940F-4719-9D7F-9D9510DD8F97}" type="datetimeFigureOut">
              <a:rPr lang="en-US" smtClean="0"/>
              <a:t>7/15/2026</a:t>
            </a:fld>
            <a:endParaRPr lang="en-US"/>
          </a:p>
        </p:txBody>
      </p:sp>
      <p:sp>
        <p:nvSpPr>
          <p:cNvPr id="5" name="Fußzeilenplatzhalt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Foliennummernplatzhalt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9199A8-74E1-481D-886D-259B86D8CE8A}" type="slidenum">
              <a:rPr lang="en-US" smtClean="0"/>
              <a:t>‹Nr.›</a:t>
            </a:fld>
            <a:endParaRPr lang="en-US"/>
          </a:p>
        </p:txBody>
      </p:sp>
    </p:spTree>
    <p:extLst>
      <p:ext uri="{BB962C8B-B14F-4D97-AF65-F5344CB8AC3E}">
        <p14:creationId xmlns:p14="http://schemas.microsoft.com/office/powerpoint/2010/main" val="1041742176"/>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bit.ly/PeterE_presentations" TargetMode="External"/><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4.png"/><Relationship Id="rId5" Type="http://schemas.openxmlformats.org/officeDocument/2006/relationships/hyperlink" Target="causalml-book.org" TargetMode="Externa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20.png"/><Relationship Id="rId3" Type="http://schemas.openxmlformats.org/officeDocument/2006/relationships/hyperlink" Target="https://doi-org.emedien.ub.uni-muenchen.de/10.1037/met0000390" TargetMode="External"/><Relationship Id="rId7" Type="http://schemas.openxmlformats.org/officeDocument/2006/relationships/image" Target="../media/image18.png"/><Relationship Id="rId12" Type="http://schemas.openxmlformats.org/officeDocument/2006/relationships/hyperlink" Target="https://www.nature.com/articles/s41591-024-02902-1" TargetMode="External"/><Relationship Id="rId2" Type="http://schemas.openxmlformats.org/officeDocument/2006/relationships/image" Target="../media/image4.png"/><Relationship Id="rId1" Type="http://schemas.openxmlformats.org/officeDocument/2006/relationships/slideLayout" Target="../slideLayouts/slideLayout13.xml"/><Relationship Id="rId6" Type="http://schemas.openxmlformats.org/officeDocument/2006/relationships/hyperlink" Target="https://datenbusiness.podigee.io/85-mit-martin-spindler-von-uni-hamburg" TargetMode="External"/><Relationship Id="rId11" Type="http://schemas.openxmlformats.org/officeDocument/2006/relationships/image" Target="../media/image19.png"/><Relationship Id="rId5" Type="http://schemas.openxmlformats.org/officeDocument/2006/relationships/image" Target="../media/image11.png"/><Relationship Id="rId10" Type="http://schemas.openxmlformats.org/officeDocument/2006/relationships/hyperlink" Target="https://podcasts.apple.com/us/podcast/causalml-weekly/id1823801995" TargetMode="External"/><Relationship Id="rId4" Type="http://schemas.openxmlformats.org/officeDocument/2006/relationships/hyperlink" Target="https://causalml-book.org/" TargetMode="External"/><Relationship Id="rId9" Type="http://schemas.openxmlformats.org/officeDocument/2006/relationships/hyperlink" Target="bit.ly/PeterE_presentations" TargetMode="External"/><Relationship Id="rId1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solidFill>
          <a:schemeClr val="tx1"/>
        </a:solidFill>
        <a:effectLst/>
      </p:bgPr>
    </p:bg>
    <p:spTree>
      <p:nvGrpSpPr>
        <p:cNvPr id="1" name=""/>
        <p:cNvGrpSpPr/>
        <p:nvPr/>
      </p:nvGrpSpPr>
      <p:grpSpPr bwMode="auto">
        <a:xfrm>
          <a:off x="0" y="0"/>
          <a:ext cx="0" cy="0"/>
          <a:chOff x="0" y="0"/>
          <a:chExt cx="0" cy="0"/>
        </a:xfrm>
      </p:grpSpPr>
      <p:sp>
        <p:nvSpPr>
          <p:cNvPr id="4" name="Rechteck 3">
            <a:extLst>
              <a:ext uri="{FF2B5EF4-FFF2-40B4-BE49-F238E27FC236}">
                <a16:creationId xmlns:a16="http://schemas.microsoft.com/office/drawing/2014/main" id="{7524DA9A-46A3-4912-BF4E-032E888E93B0}"/>
              </a:ext>
            </a:extLst>
          </p:cNvPr>
          <p:cNvSpPr/>
          <p:nvPr/>
        </p:nvSpPr>
        <p:spPr>
          <a:xfrm>
            <a:off x="119336" y="585247"/>
            <a:ext cx="11953328" cy="56166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pic>
        <p:nvPicPr>
          <p:cNvPr id="1026" name="Picture 2" descr="Wie Pferde eigentlich wiehern - Natur - derStandard.de › Wissen und  Gesellschaft">
            <a:extLst>
              <a:ext uri="{FF2B5EF4-FFF2-40B4-BE49-F238E27FC236}">
                <a16:creationId xmlns:a16="http://schemas.microsoft.com/office/drawing/2014/main" id="{F759F97E-EF4E-4981-9323-7989DE6652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138" y="-3737113"/>
            <a:ext cx="2895805" cy="193053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ferde - gähnen, wiehern • wandsticker tiere, pferde | myloview.de">
            <a:extLst>
              <a:ext uri="{FF2B5EF4-FFF2-40B4-BE49-F238E27FC236}">
                <a16:creationId xmlns:a16="http://schemas.microsoft.com/office/drawing/2014/main" id="{6971B31B-680C-41C2-BA8B-E36E6FFCC8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1822" y="-3738962"/>
            <a:ext cx="2893740" cy="193053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Freudig, aufgeregt, ängstlich - wenn Pferde wiehern, drücken sie dadurch  ihren Gemütszustand aus - Artgenossen gegenüber aber auch uns Menschen. Ihr  kennt sicher alle das freudige Wiehern, wenn euer Pferd euch aus">
            <a:extLst>
              <a:ext uri="{FF2B5EF4-FFF2-40B4-BE49-F238E27FC236}">
                <a16:creationId xmlns:a16="http://schemas.microsoft.com/office/drawing/2014/main" id="{07139E22-AAD8-4A87-BAD6-CB3D381C25C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79615" y="-3737113"/>
            <a:ext cx="1932385" cy="1932385"/>
          </a:xfrm>
          <a:prstGeom prst="rect">
            <a:avLst/>
          </a:prstGeom>
          <a:noFill/>
          <a:extLst>
            <a:ext uri="{909E8E84-426E-40DD-AFC4-6F175D3DCCD1}">
              <a14:hiddenFill xmlns:a14="http://schemas.microsoft.com/office/drawing/2010/main">
                <a:solidFill>
                  <a:srgbClr val="FFFFFF"/>
                </a:solidFill>
              </a14:hiddenFill>
            </a:ext>
          </a:extLst>
        </p:spPr>
      </p:pic>
      <p:sp>
        <p:nvSpPr>
          <p:cNvPr id="6" name="Textfeld 5">
            <a:extLst>
              <a:ext uri="{FF2B5EF4-FFF2-40B4-BE49-F238E27FC236}">
                <a16:creationId xmlns:a16="http://schemas.microsoft.com/office/drawing/2014/main" id="{363AA0EA-01AA-489F-B06A-C480B1C80A44}"/>
              </a:ext>
            </a:extLst>
          </p:cNvPr>
          <p:cNvSpPr txBox="1"/>
          <p:nvPr/>
        </p:nvSpPr>
        <p:spPr>
          <a:xfrm>
            <a:off x="4858828" y="-1706818"/>
            <a:ext cx="2573957" cy="283479"/>
          </a:xfrm>
          <a:prstGeom prst="rect">
            <a:avLst/>
          </a:prstGeom>
          <a:noFill/>
        </p:spPr>
        <p:txBody>
          <a:bodyPr wrap="square" rtlCol="0">
            <a:spAutoFit/>
          </a:bodyPr>
          <a:lstStyle/>
          <a:p>
            <a:r>
              <a:rPr lang="de-DE" sz="1200" dirty="0">
                <a:solidFill>
                  <a:schemeClr val="bg1">
                    <a:lumMod val="75000"/>
                  </a:schemeClr>
                </a:solidFill>
                <a:latin typeface="Arial" panose="020B0604020202020204" pitchFamily="34" charset="0"/>
                <a:cs typeface="Arial" panose="020B0604020202020204" pitchFamily="34" charset="0"/>
              </a:rPr>
              <a:t>Instagram: </a:t>
            </a:r>
            <a:r>
              <a:rPr lang="de-DE" sz="1200" dirty="0" err="1">
                <a:solidFill>
                  <a:schemeClr val="bg1">
                    <a:lumMod val="75000"/>
                  </a:schemeClr>
                </a:solidFill>
                <a:latin typeface="Arial" panose="020B0604020202020204" pitchFamily="34" charset="0"/>
                <a:cs typeface="Arial" panose="020B0604020202020204" pitchFamily="34" charset="0"/>
              </a:rPr>
              <a:t>hansepferd.hamburg</a:t>
            </a:r>
            <a:endParaRPr lang="de-DE" sz="1200" dirty="0">
              <a:solidFill>
                <a:schemeClr val="bg1">
                  <a:lumMod val="75000"/>
                </a:schemeClr>
              </a:solidFill>
              <a:latin typeface="Arial" panose="020B0604020202020204" pitchFamily="34" charset="0"/>
              <a:cs typeface="Arial" panose="020B0604020202020204" pitchFamily="34" charset="0"/>
            </a:endParaRPr>
          </a:p>
        </p:txBody>
      </p:sp>
      <p:sp>
        <p:nvSpPr>
          <p:cNvPr id="46" name="Textfeld 45">
            <a:extLst>
              <a:ext uri="{FF2B5EF4-FFF2-40B4-BE49-F238E27FC236}">
                <a16:creationId xmlns:a16="http://schemas.microsoft.com/office/drawing/2014/main" id="{4F47189A-F42B-4615-9C24-7DF7E8DABEF2}"/>
              </a:ext>
            </a:extLst>
          </p:cNvPr>
          <p:cNvSpPr txBox="1"/>
          <p:nvPr/>
        </p:nvSpPr>
        <p:spPr bwMode="auto">
          <a:xfrm>
            <a:off x="1512934" y="-1620251"/>
            <a:ext cx="1589954" cy="276999"/>
          </a:xfrm>
          <a:prstGeom prst="rect">
            <a:avLst/>
          </a:prstGeom>
          <a:noFill/>
        </p:spPr>
        <p:txBody>
          <a:bodyPr wrap="square" rtlCol="0">
            <a:spAutoFit/>
          </a:bodyPr>
          <a:lstStyle/>
          <a:p>
            <a:r>
              <a:rPr lang="de-DE" sz="1200" dirty="0">
                <a:solidFill>
                  <a:schemeClr val="bg1">
                    <a:lumMod val="75000"/>
                  </a:schemeClr>
                </a:solidFill>
                <a:latin typeface="Arial" panose="020B0604020202020204" pitchFamily="34" charset="0"/>
                <a:cs typeface="Arial" panose="020B0604020202020204" pitchFamily="34" charset="0"/>
              </a:rPr>
              <a:t>derStandard.de</a:t>
            </a:r>
          </a:p>
        </p:txBody>
      </p:sp>
      <p:sp>
        <p:nvSpPr>
          <p:cNvPr id="47" name="Textfeld 46">
            <a:extLst>
              <a:ext uri="{FF2B5EF4-FFF2-40B4-BE49-F238E27FC236}">
                <a16:creationId xmlns:a16="http://schemas.microsoft.com/office/drawing/2014/main" id="{0A1ABDA7-8A55-40E1-B1D7-6455CD3A20E0}"/>
              </a:ext>
            </a:extLst>
          </p:cNvPr>
          <p:cNvSpPr txBox="1"/>
          <p:nvPr/>
        </p:nvSpPr>
        <p:spPr bwMode="auto">
          <a:xfrm>
            <a:off x="9675964" y="-1680786"/>
            <a:ext cx="1380293" cy="283479"/>
          </a:xfrm>
          <a:prstGeom prst="rect">
            <a:avLst/>
          </a:prstGeom>
          <a:noFill/>
        </p:spPr>
        <p:txBody>
          <a:bodyPr wrap="square" rtlCol="0">
            <a:spAutoFit/>
          </a:bodyPr>
          <a:lstStyle/>
          <a:p>
            <a:r>
              <a:rPr lang="de-DE" sz="1200" dirty="0">
                <a:solidFill>
                  <a:schemeClr val="bg1">
                    <a:lumMod val="75000"/>
                  </a:schemeClr>
                </a:solidFill>
                <a:latin typeface="Arial" panose="020B0604020202020204" pitchFamily="34" charset="0"/>
                <a:cs typeface="Arial" panose="020B0604020202020204" pitchFamily="34" charset="0"/>
              </a:rPr>
              <a:t>MyLoView.de</a:t>
            </a:r>
          </a:p>
        </p:txBody>
      </p:sp>
      <p:pic>
        <p:nvPicPr>
          <p:cNvPr id="1032" name="Picture 8" descr="Jogger erschreckt Pferd – wer ist schuld? – FIT for LIFE">
            <a:extLst>
              <a:ext uri="{FF2B5EF4-FFF2-40B4-BE49-F238E27FC236}">
                <a16:creationId xmlns:a16="http://schemas.microsoft.com/office/drawing/2014/main" id="{C2E19FC6-7F3D-450C-91A0-9EC450A3AB6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273"/>
            <a:ext cx="9193216" cy="6858001"/>
          </a:xfrm>
          <a:prstGeom prst="rect">
            <a:avLst/>
          </a:prstGeom>
          <a:noFill/>
          <a:extLst>
            <a:ext uri="{909E8E84-426E-40DD-AFC4-6F175D3DCCD1}">
              <a14:hiddenFill xmlns:a14="http://schemas.microsoft.com/office/drawing/2010/main">
                <a:solidFill>
                  <a:srgbClr val="FFFFFF"/>
                </a:solidFill>
              </a14:hiddenFill>
            </a:ext>
          </a:extLst>
        </p:spPr>
      </p:pic>
      <p:sp>
        <p:nvSpPr>
          <p:cNvPr id="49" name="Textfeld 48">
            <a:extLst>
              <a:ext uri="{FF2B5EF4-FFF2-40B4-BE49-F238E27FC236}">
                <a16:creationId xmlns:a16="http://schemas.microsoft.com/office/drawing/2014/main" id="{8B6EBDF8-4850-4535-A00E-83EBF8F9CC06}"/>
              </a:ext>
            </a:extLst>
          </p:cNvPr>
          <p:cNvSpPr txBox="1"/>
          <p:nvPr/>
        </p:nvSpPr>
        <p:spPr bwMode="auto">
          <a:xfrm>
            <a:off x="119336" y="6388195"/>
            <a:ext cx="2573957" cy="283479"/>
          </a:xfrm>
          <a:prstGeom prst="rect">
            <a:avLst/>
          </a:prstGeom>
          <a:noFill/>
        </p:spPr>
        <p:txBody>
          <a:bodyPr wrap="square" rtlCol="0">
            <a:spAutoFit/>
          </a:bodyPr>
          <a:lstStyle/>
          <a:p>
            <a:r>
              <a:rPr lang="de-DE" sz="1200" dirty="0">
                <a:solidFill>
                  <a:schemeClr val="bg1">
                    <a:lumMod val="75000"/>
                  </a:schemeClr>
                </a:solidFill>
                <a:latin typeface="Arial" panose="020B0604020202020204" pitchFamily="34" charset="0"/>
                <a:cs typeface="Arial" panose="020B0604020202020204" pitchFamily="34" charset="0"/>
              </a:rPr>
              <a:t>Quelle: Fit </a:t>
            </a:r>
            <a:r>
              <a:rPr lang="de-DE" sz="1200" dirty="0" err="1">
                <a:solidFill>
                  <a:schemeClr val="bg1">
                    <a:lumMod val="75000"/>
                  </a:schemeClr>
                </a:solidFill>
                <a:latin typeface="Arial" panose="020B0604020202020204" pitchFamily="34" charset="0"/>
                <a:cs typeface="Arial" panose="020B0604020202020204" pitchFamily="34" charset="0"/>
              </a:rPr>
              <a:t>for</a:t>
            </a:r>
            <a:r>
              <a:rPr lang="de-DE" sz="1200" dirty="0">
                <a:solidFill>
                  <a:schemeClr val="bg1">
                    <a:lumMod val="75000"/>
                  </a:schemeClr>
                </a:solidFill>
                <a:latin typeface="Arial" panose="020B0604020202020204" pitchFamily="34" charset="0"/>
                <a:cs typeface="Arial" panose="020B0604020202020204" pitchFamily="34" charset="0"/>
              </a:rPr>
              <a:t> Life</a:t>
            </a:r>
          </a:p>
        </p:txBody>
      </p:sp>
      <p:sp>
        <p:nvSpPr>
          <p:cNvPr id="7" name="Titel 1">
            <a:extLst>
              <a:ext uri="{FF2B5EF4-FFF2-40B4-BE49-F238E27FC236}">
                <a16:creationId xmlns:a16="http://schemas.microsoft.com/office/drawing/2014/main" id="{C46FCEBF-AA4F-4E8F-AE68-25182C41EAD6}"/>
              </a:ext>
            </a:extLst>
          </p:cNvPr>
          <p:cNvSpPr>
            <a:spLocks noGrp="1"/>
          </p:cNvSpPr>
          <p:nvPr>
            <p:ph type="title"/>
          </p:nvPr>
        </p:nvSpPr>
        <p:spPr>
          <a:xfrm>
            <a:off x="4596608" y="2393429"/>
            <a:ext cx="7920880" cy="1143000"/>
          </a:xfrm>
        </p:spPr>
        <p:txBody>
          <a:bodyPr>
            <a:normAutofit/>
          </a:bodyPr>
          <a:lstStyle/>
          <a:p>
            <a:r>
              <a:rPr lang="de-AT" sz="2800" b="1" dirty="0">
                <a:solidFill>
                  <a:schemeClr val="bg1"/>
                </a:solidFill>
                <a:latin typeface="Arial" panose="020B0604020202020204" pitchFamily="34" charset="0"/>
                <a:cs typeface="Arial" panose="020B0604020202020204" pitchFamily="34" charset="0"/>
              </a:rPr>
              <a:t>Hold </a:t>
            </a:r>
            <a:r>
              <a:rPr lang="de-AT" sz="2800" b="1" dirty="0" err="1">
                <a:solidFill>
                  <a:schemeClr val="bg1"/>
                </a:solidFill>
                <a:latin typeface="Arial" panose="020B0604020202020204" pitchFamily="34" charset="0"/>
                <a:cs typeface="Arial" panose="020B0604020202020204" pitchFamily="34" charset="0"/>
              </a:rPr>
              <a:t>your</a:t>
            </a:r>
            <a:r>
              <a:rPr lang="de-AT" sz="2800" b="1" dirty="0">
                <a:solidFill>
                  <a:schemeClr val="bg1"/>
                </a:solidFill>
                <a:latin typeface="Arial" panose="020B0604020202020204" pitchFamily="34" charset="0"/>
                <a:cs typeface="Arial" panose="020B0604020202020204" pitchFamily="34" charset="0"/>
              </a:rPr>
              <a:t> </a:t>
            </a:r>
            <a:r>
              <a:rPr lang="de-AT" sz="2800" b="1" dirty="0" err="1">
                <a:solidFill>
                  <a:schemeClr val="bg1"/>
                </a:solidFill>
                <a:latin typeface="Arial" panose="020B0604020202020204" pitchFamily="34" charset="0"/>
                <a:cs typeface="Arial" panose="020B0604020202020204" pitchFamily="34" charset="0"/>
              </a:rPr>
              <a:t>causal</a:t>
            </a:r>
            <a:r>
              <a:rPr lang="de-AT" sz="2800" b="1" dirty="0">
                <a:solidFill>
                  <a:schemeClr val="bg1"/>
                </a:solidFill>
                <a:latin typeface="Arial" panose="020B0604020202020204" pitchFamily="34" charset="0"/>
                <a:cs typeface="Arial" panose="020B0604020202020204" pitchFamily="34" charset="0"/>
              </a:rPr>
              <a:t> </a:t>
            </a:r>
            <a:r>
              <a:rPr lang="de-AT" sz="2800" b="1" dirty="0" err="1">
                <a:solidFill>
                  <a:schemeClr val="bg1"/>
                </a:solidFill>
                <a:latin typeface="Arial" panose="020B0604020202020204" pitchFamily="34" charset="0"/>
                <a:cs typeface="Arial" panose="020B0604020202020204" pitchFamily="34" charset="0"/>
              </a:rPr>
              <a:t>Horses</a:t>
            </a:r>
            <a:r>
              <a:rPr lang="de-AT" sz="2800" b="1" dirty="0">
                <a:solidFill>
                  <a:schemeClr val="bg1"/>
                </a:solidFill>
                <a:latin typeface="Arial" panose="020B0604020202020204" pitchFamily="34" charset="0"/>
                <a:cs typeface="Arial" panose="020B0604020202020204" pitchFamily="34" charset="0"/>
              </a:rPr>
              <a:t>!</a:t>
            </a:r>
            <a:endParaRPr lang="de-AT" sz="2800" dirty="0">
              <a:solidFill>
                <a:schemeClr val="bg1"/>
              </a:solidFill>
              <a:latin typeface="Arial" panose="020B0604020202020204" pitchFamily="34" charset="0"/>
              <a:cs typeface="Arial" panose="020B0604020202020204" pitchFamily="34" charset="0"/>
            </a:endParaRPr>
          </a:p>
        </p:txBody>
      </p:sp>
      <p:sp>
        <p:nvSpPr>
          <p:cNvPr id="2" name="Sprechblase: oval 1">
            <a:extLst>
              <a:ext uri="{FF2B5EF4-FFF2-40B4-BE49-F238E27FC236}">
                <a16:creationId xmlns:a16="http://schemas.microsoft.com/office/drawing/2014/main" id="{3CDFFDE5-C075-461D-A6A8-B0514CE8B419}"/>
              </a:ext>
            </a:extLst>
          </p:cNvPr>
          <p:cNvSpPr/>
          <p:nvPr/>
        </p:nvSpPr>
        <p:spPr>
          <a:xfrm>
            <a:off x="5669055" y="2089241"/>
            <a:ext cx="5517831" cy="1677624"/>
          </a:xfrm>
          <a:prstGeom prst="wedgeEllipseCallout">
            <a:avLst>
              <a:gd name="adj1" fmla="val -65744"/>
              <a:gd name="adj2" fmla="val 86438"/>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Textfeld 12">
            <a:extLst>
              <a:ext uri="{FF2B5EF4-FFF2-40B4-BE49-F238E27FC236}">
                <a16:creationId xmlns:a16="http://schemas.microsoft.com/office/drawing/2014/main" id="{64CF3B79-827C-4A2A-AEE0-A6A6293E47C4}"/>
              </a:ext>
            </a:extLst>
          </p:cNvPr>
          <p:cNvSpPr txBox="1"/>
          <p:nvPr/>
        </p:nvSpPr>
        <p:spPr bwMode="auto">
          <a:xfrm>
            <a:off x="3259494" y="-61084"/>
            <a:ext cx="5037190" cy="646331"/>
          </a:xfrm>
          <a:prstGeom prst="rect">
            <a:avLst/>
          </a:prstGeom>
          <a:noFill/>
        </p:spPr>
        <p:txBody>
          <a:bodyPr wrap="square" rtlCol="0">
            <a:spAutoFit/>
          </a:bodyPr>
          <a:lstStyle/>
          <a:p>
            <a:r>
              <a:rPr lang="de-DE" dirty="0">
                <a:solidFill>
                  <a:schemeClr val="bg1"/>
                </a:solidFill>
                <a:latin typeface="Arial" panose="020B0604020202020204" pitchFamily="34" charset="0"/>
                <a:cs typeface="Arial" panose="020B0604020202020204" pitchFamily="34" charset="0"/>
              </a:rPr>
              <a:t>This </a:t>
            </a:r>
            <a:r>
              <a:rPr lang="de-DE" dirty="0" err="1">
                <a:solidFill>
                  <a:schemeClr val="bg1"/>
                </a:solidFill>
                <a:latin typeface="Arial" panose="020B0604020202020204" pitchFamily="34" charset="0"/>
                <a:cs typeface="Arial" panose="020B0604020202020204" pitchFamily="34" charset="0"/>
              </a:rPr>
              <a:t>is</a:t>
            </a:r>
            <a:endParaRPr lang="de-DE" dirty="0">
              <a:solidFill>
                <a:schemeClr val="bg1"/>
              </a:solidFill>
              <a:latin typeface="Arial" panose="020B0604020202020204" pitchFamily="34" charset="0"/>
              <a:cs typeface="Arial" panose="020B0604020202020204" pitchFamily="34" charset="0"/>
            </a:endParaRPr>
          </a:p>
          <a:p>
            <a:r>
              <a:rPr lang="de-DE" i="1" dirty="0" err="1">
                <a:solidFill>
                  <a:schemeClr val="bg1"/>
                </a:solidFill>
                <a:latin typeface="Arial" panose="020B0604020202020204" pitchFamily="34" charset="0"/>
                <a:cs typeface="Arial" panose="020B0604020202020204" pitchFamily="34" charset="0"/>
              </a:rPr>
              <a:t>Timssi</a:t>
            </a:r>
            <a:endParaRPr lang="de-DE" i="1" dirty="0">
              <a:solidFill>
                <a:schemeClr val="bg1"/>
              </a:solidFill>
              <a:latin typeface="Arial" panose="020B0604020202020204" pitchFamily="34" charset="0"/>
              <a:cs typeface="Arial" panose="020B0604020202020204" pitchFamily="34" charset="0"/>
            </a:endParaRPr>
          </a:p>
        </p:txBody>
      </p:sp>
      <p:cxnSp>
        <p:nvCxnSpPr>
          <p:cNvPr id="14" name="Gerade Verbindung mit Pfeil 13">
            <a:extLst>
              <a:ext uri="{FF2B5EF4-FFF2-40B4-BE49-F238E27FC236}">
                <a16:creationId xmlns:a16="http://schemas.microsoft.com/office/drawing/2014/main" id="{B907BD72-1464-407B-AC14-81038A89EB47}"/>
              </a:ext>
            </a:extLst>
          </p:cNvPr>
          <p:cNvCxnSpPr>
            <a:cxnSpLocks/>
          </p:cNvCxnSpPr>
          <p:nvPr/>
        </p:nvCxnSpPr>
        <p:spPr bwMode="auto">
          <a:xfrm>
            <a:off x="3771080" y="585247"/>
            <a:ext cx="0" cy="514196"/>
          </a:xfrm>
          <a:prstGeom prst="straightConnector1">
            <a:avLst/>
          </a:prstGeom>
          <a:ln>
            <a:solidFill>
              <a:schemeClr val="bg1"/>
            </a:solidFill>
            <a:tailEnd type="triangle"/>
          </a:ln>
        </p:spPr>
        <p:style>
          <a:lnRef idx="1">
            <a:schemeClr val="dk1"/>
          </a:lnRef>
          <a:fillRef idx="0">
            <a:schemeClr val="dk1"/>
          </a:fillRef>
          <a:effectRef idx="0">
            <a:schemeClr val="dk1"/>
          </a:effectRef>
          <a:fontRef idx="minor">
            <a:schemeClr val="tx1"/>
          </a:fontRef>
        </p:style>
      </p:cxnSp>
      <p:pic>
        <p:nvPicPr>
          <p:cNvPr id="5" name="Grafik 4">
            <a:extLst>
              <a:ext uri="{FF2B5EF4-FFF2-40B4-BE49-F238E27FC236}">
                <a16:creationId xmlns:a16="http://schemas.microsoft.com/office/drawing/2014/main" id="{94752BEC-EC2D-48F7-8022-1A112280EC0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312552" y="3846925"/>
            <a:ext cx="2467926" cy="2467926"/>
          </a:xfrm>
          <a:prstGeom prst="rect">
            <a:avLst/>
          </a:prstGeom>
        </p:spPr>
      </p:pic>
      <p:sp>
        <p:nvSpPr>
          <p:cNvPr id="8" name="Textfeld 7">
            <a:extLst>
              <a:ext uri="{FF2B5EF4-FFF2-40B4-BE49-F238E27FC236}">
                <a16:creationId xmlns:a16="http://schemas.microsoft.com/office/drawing/2014/main" id="{C4B5E92E-597C-4A47-8DCB-888FFD64BBDF}"/>
              </a:ext>
            </a:extLst>
          </p:cNvPr>
          <p:cNvSpPr txBox="1"/>
          <p:nvPr/>
        </p:nvSpPr>
        <p:spPr>
          <a:xfrm>
            <a:off x="8988501" y="6383778"/>
            <a:ext cx="3288878" cy="369332"/>
          </a:xfrm>
          <a:prstGeom prst="rect">
            <a:avLst/>
          </a:prstGeom>
          <a:noFill/>
        </p:spPr>
        <p:txBody>
          <a:bodyPr wrap="square" rtlCol="0">
            <a:spAutoFit/>
          </a:bodyPr>
          <a:lstStyle/>
          <a:p>
            <a:r>
              <a:rPr lang="de-DE" dirty="0">
                <a:solidFill>
                  <a:schemeClr val="bg1"/>
                </a:solidFill>
                <a:latin typeface="Arial" panose="020B0604020202020204" pitchFamily="34" charset="0"/>
                <a:cs typeface="Arial" panose="020B0604020202020204" pitchFamily="34" charset="0"/>
                <a:hlinkClick r:id="rId8" action="ppaction://hlinkfile">
                  <a:extLst>
                    <a:ext uri="{A12FA001-AC4F-418D-AE19-62706E023703}">
                      <ahyp:hlinkClr xmlns:ahyp="http://schemas.microsoft.com/office/drawing/2018/hyperlinkcolor" val="tx"/>
                    </a:ext>
                  </a:extLst>
                </a:hlinkClick>
              </a:rPr>
              <a:t>bit.ly/</a:t>
            </a:r>
            <a:r>
              <a:rPr lang="de-DE" dirty="0" err="1">
                <a:solidFill>
                  <a:schemeClr val="bg1"/>
                </a:solidFill>
                <a:latin typeface="Arial" panose="020B0604020202020204" pitchFamily="34" charset="0"/>
                <a:cs typeface="Arial" panose="020B0604020202020204" pitchFamily="34" charset="0"/>
                <a:hlinkClick r:id="rId8" action="ppaction://hlinkfile">
                  <a:extLst>
                    <a:ext uri="{A12FA001-AC4F-418D-AE19-62706E023703}">
                      <ahyp:hlinkClr xmlns:ahyp="http://schemas.microsoft.com/office/drawing/2018/hyperlinkcolor" val="tx"/>
                    </a:ext>
                  </a:extLst>
                </a:hlinkClick>
              </a:rPr>
              <a:t>PeterE_presentations</a:t>
            </a:r>
            <a:r>
              <a:rPr lang="de-DE" dirty="0">
                <a:solidFill>
                  <a:schemeClr val="bg1"/>
                </a:solidFill>
                <a:latin typeface="Arial" panose="020B0604020202020204" pitchFamily="34" charset="0"/>
                <a:cs typeface="Arial" panose="020B0604020202020204" pitchFamily="34" charset="0"/>
                <a:hlinkClick r:id="rId8" action="ppaction://hlinkfile">
                  <a:extLst>
                    <a:ext uri="{A12FA001-AC4F-418D-AE19-62706E023703}">
                      <ahyp:hlinkClr xmlns:ahyp="http://schemas.microsoft.com/office/drawing/2018/hyperlinkcolor" val="tx"/>
                    </a:ext>
                  </a:extLst>
                </a:hlinkClick>
              </a:rPr>
              <a:t> </a:t>
            </a:r>
            <a:endParaRPr lang="de-DE"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432361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 name="Rechteck 3">
            <a:extLst>
              <a:ext uri="{FF2B5EF4-FFF2-40B4-BE49-F238E27FC236}">
                <a16:creationId xmlns:a16="http://schemas.microsoft.com/office/drawing/2014/main" id="{7524DA9A-46A3-4912-BF4E-032E888E93B0}"/>
              </a:ext>
            </a:extLst>
          </p:cNvPr>
          <p:cNvSpPr/>
          <p:nvPr/>
        </p:nvSpPr>
        <p:spPr>
          <a:xfrm>
            <a:off x="119336" y="585247"/>
            <a:ext cx="11953328" cy="56166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 name="Titel 1">
            <a:extLst>
              <a:ext uri="{FF2B5EF4-FFF2-40B4-BE49-F238E27FC236}">
                <a16:creationId xmlns:a16="http://schemas.microsoft.com/office/drawing/2014/main" id="{C46FCEBF-AA4F-4E8F-AE68-25182C41EAD6}"/>
              </a:ext>
            </a:extLst>
          </p:cNvPr>
          <p:cNvSpPr>
            <a:spLocks noGrp="1"/>
          </p:cNvSpPr>
          <p:nvPr>
            <p:ph type="title"/>
          </p:nvPr>
        </p:nvSpPr>
        <p:spPr>
          <a:xfrm>
            <a:off x="-53788" y="404664"/>
            <a:ext cx="7920880" cy="1143000"/>
          </a:xfrm>
        </p:spPr>
        <p:txBody>
          <a:bodyPr>
            <a:normAutofit/>
          </a:bodyPr>
          <a:lstStyle/>
          <a:p>
            <a:r>
              <a:rPr lang="de-AT" sz="2800" b="1" dirty="0">
                <a:latin typeface="Arial" panose="020B0604020202020204" pitchFamily="34" charset="0"/>
                <a:cs typeface="Arial" panose="020B0604020202020204" pitchFamily="34" charset="0"/>
              </a:rPr>
              <a:t>2024</a:t>
            </a:r>
            <a:endParaRPr lang="de-AT" sz="2800" dirty="0">
              <a:latin typeface="Arial" panose="020B0604020202020204" pitchFamily="34" charset="0"/>
              <a:cs typeface="Arial" panose="020B0604020202020204" pitchFamily="34" charset="0"/>
            </a:endParaRPr>
          </a:p>
        </p:txBody>
      </p:sp>
      <p:sp>
        <p:nvSpPr>
          <p:cNvPr id="3" name="Rechteck 2">
            <a:extLst>
              <a:ext uri="{FF2B5EF4-FFF2-40B4-BE49-F238E27FC236}">
                <a16:creationId xmlns:a16="http://schemas.microsoft.com/office/drawing/2014/main" id="{C1310E0B-E361-4BF5-88F1-B10FB84E9355}"/>
              </a:ext>
            </a:extLst>
          </p:cNvPr>
          <p:cNvSpPr/>
          <p:nvPr/>
        </p:nvSpPr>
        <p:spPr>
          <a:xfrm>
            <a:off x="6500422" y="3767710"/>
            <a:ext cx="2004949" cy="787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solidFill>
                  <a:schemeClr val="tx1"/>
                </a:solidFill>
                <a:latin typeface="Arial" panose="020B0604020202020204" pitchFamily="34" charset="0"/>
                <a:cs typeface="Arial" panose="020B0604020202020204" pitchFamily="34" charset="0"/>
              </a:rPr>
              <a:t>homework</a:t>
            </a:r>
            <a:r>
              <a:rPr lang="de-DE" dirty="0">
                <a:solidFill>
                  <a:schemeClr val="tx1"/>
                </a:solidFill>
                <a:latin typeface="Arial" panose="020B0604020202020204" pitchFamily="34" charset="0"/>
                <a:cs typeface="Arial" panose="020B0604020202020204" pitchFamily="34" charset="0"/>
              </a:rPr>
              <a:t> </a:t>
            </a:r>
            <a:r>
              <a:rPr lang="de-DE" dirty="0" err="1">
                <a:solidFill>
                  <a:schemeClr val="tx1"/>
                </a:solidFill>
                <a:latin typeface="Arial" panose="020B0604020202020204" pitchFamily="34" charset="0"/>
                <a:cs typeface="Arial" panose="020B0604020202020204" pitchFamily="34" charset="0"/>
              </a:rPr>
              <a:t>frequency</a:t>
            </a:r>
            <a:endParaRPr lang="de-DE" dirty="0">
              <a:solidFill>
                <a:schemeClr val="tx1"/>
              </a:solidFill>
              <a:latin typeface="Arial" panose="020B0604020202020204" pitchFamily="34" charset="0"/>
              <a:cs typeface="Arial" panose="020B0604020202020204" pitchFamily="34" charset="0"/>
            </a:endParaRPr>
          </a:p>
          <a:p>
            <a:pPr algn="ctr"/>
            <a:r>
              <a:rPr lang="de-DE" dirty="0">
                <a:solidFill>
                  <a:schemeClr val="tx1"/>
                </a:solidFill>
                <a:latin typeface="Arial" panose="020B0604020202020204" pitchFamily="34" charset="0"/>
                <a:cs typeface="Arial" panose="020B0604020202020204" pitchFamily="34" charset="0"/>
              </a:rPr>
              <a:t>(</a:t>
            </a:r>
            <a:r>
              <a:rPr lang="de-DE" dirty="0" err="1">
                <a:solidFill>
                  <a:schemeClr val="tx1"/>
                </a:solidFill>
                <a:latin typeface="Arial" panose="020B0604020202020204" pitchFamily="34" charset="0"/>
                <a:cs typeface="Arial" panose="020B0604020202020204" pitchFamily="34" charset="0"/>
              </a:rPr>
              <a:t>how</a:t>
            </a:r>
            <a:r>
              <a:rPr lang="de-DE" dirty="0">
                <a:solidFill>
                  <a:schemeClr val="tx1"/>
                </a:solidFill>
                <a:latin typeface="Arial" panose="020B0604020202020204" pitchFamily="34" charset="0"/>
                <a:cs typeface="Arial" panose="020B0604020202020204" pitchFamily="34" charset="0"/>
              </a:rPr>
              <a:t> </a:t>
            </a:r>
            <a:r>
              <a:rPr lang="de-DE" dirty="0" err="1">
                <a:solidFill>
                  <a:schemeClr val="tx1"/>
                </a:solidFill>
                <a:latin typeface="Arial" panose="020B0604020202020204" pitchFamily="34" charset="0"/>
                <a:cs typeface="Arial" panose="020B0604020202020204" pitchFamily="34" charset="0"/>
              </a:rPr>
              <a:t>often</a:t>
            </a:r>
            <a:r>
              <a:rPr lang="de-DE" dirty="0">
                <a:solidFill>
                  <a:schemeClr val="tx1"/>
                </a:solidFill>
                <a:latin typeface="Arial" panose="020B0604020202020204" pitchFamily="34" charset="0"/>
                <a:cs typeface="Arial" panose="020B0604020202020204" pitchFamily="34" charset="0"/>
              </a:rPr>
              <a:t>)</a:t>
            </a:r>
          </a:p>
        </p:txBody>
      </p:sp>
      <p:sp>
        <p:nvSpPr>
          <p:cNvPr id="6" name="Rechteck 5">
            <a:extLst>
              <a:ext uri="{FF2B5EF4-FFF2-40B4-BE49-F238E27FC236}">
                <a16:creationId xmlns:a16="http://schemas.microsoft.com/office/drawing/2014/main" id="{ECBAD310-0C96-4ED4-8AEE-E19881E6A66C}"/>
              </a:ext>
            </a:extLst>
          </p:cNvPr>
          <p:cNvSpPr/>
          <p:nvPr/>
        </p:nvSpPr>
        <p:spPr bwMode="auto">
          <a:xfrm>
            <a:off x="6497516" y="5001063"/>
            <a:ext cx="2004949" cy="787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solidFill>
                  <a:schemeClr val="tx1"/>
                </a:solidFill>
                <a:latin typeface="Arial" panose="020B0604020202020204" pitchFamily="34" charset="0"/>
                <a:cs typeface="Arial" panose="020B0604020202020204" pitchFamily="34" charset="0"/>
              </a:rPr>
              <a:t>homework</a:t>
            </a:r>
            <a:r>
              <a:rPr lang="de-DE" dirty="0">
                <a:solidFill>
                  <a:schemeClr val="tx1"/>
                </a:solidFill>
                <a:latin typeface="Arial" panose="020B0604020202020204" pitchFamily="34" charset="0"/>
                <a:cs typeface="Arial" panose="020B0604020202020204" pitchFamily="34" charset="0"/>
              </a:rPr>
              <a:t> </a:t>
            </a:r>
            <a:r>
              <a:rPr lang="de-DE" dirty="0" err="1">
                <a:solidFill>
                  <a:schemeClr val="tx1"/>
                </a:solidFill>
                <a:latin typeface="Arial" panose="020B0604020202020204" pitchFamily="34" charset="0"/>
                <a:cs typeface="Arial" panose="020B0604020202020204" pitchFamily="34" charset="0"/>
              </a:rPr>
              <a:t>duration</a:t>
            </a:r>
            <a:r>
              <a:rPr lang="de-DE" dirty="0">
                <a:solidFill>
                  <a:schemeClr val="tx1"/>
                </a:solidFill>
                <a:latin typeface="Arial" panose="020B0604020202020204" pitchFamily="34" charset="0"/>
                <a:cs typeface="Arial" panose="020B0604020202020204" pitchFamily="34" charset="0"/>
              </a:rPr>
              <a:t>        (</a:t>
            </a:r>
            <a:r>
              <a:rPr lang="de-DE" dirty="0" err="1">
                <a:solidFill>
                  <a:schemeClr val="tx1"/>
                </a:solidFill>
                <a:latin typeface="Arial" panose="020B0604020202020204" pitchFamily="34" charset="0"/>
                <a:cs typeface="Arial" panose="020B0604020202020204" pitchFamily="34" charset="0"/>
              </a:rPr>
              <a:t>how</a:t>
            </a:r>
            <a:r>
              <a:rPr lang="de-DE" dirty="0">
                <a:solidFill>
                  <a:schemeClr val="tx1"/>
                </a:solidFill>
                <a:latin typeface="Arial" panose="020B0604020202020204" pitchFamily="34" charset="0"/>
                <a:cs typeface="Arial" panose="020B0604020202020204" pitchFamily="34" charset="0"/>
              </a:rPr>
              <a:t> </a:t>
            </a:r>
            <a:r>
              <a:rPr lang="de-DE" dirty="0" err="1">
                <a:solidFill>
                  <a:schemeClr val="tx1"/>
                </a:solidFill>
                <a:latin typeface="Arial" panose="020B0604020202020204" pitchFamily="34" charset="0"/>
                <a:cs typeface="Arial" panose="020B0604020202020204" pitchFamily="34" charset="0"/>
              </a:rPr>
              <a:t>long</a:t>
            </a:r>
            <a:r>
              <a:rPr lang="de-DE" dirty="0">
                <a:solidFill>
                  <a:schemeClr val="tx1"/>
                </a:solidFill>
                <a:latin typeface="Arial" panose="020B0604020202020204" pitchFamily="34" charset="0"/>
                <a:cs typeface="Arial" panose="020B0604020202020204" pitchFamily="34" charset="0"/>
              </a:rPr>
              <a:t>)</a:t>
            </a:r>
          </a:p>
        </p:txBody>
      </p:sp>
      <p:sp>
        <p:nvSpPr>
          <p:cNvPr id="8" name="Rechteck 7">
            <a:extLst>
              <a:ext uri="{FF2B5EF4-FFF2-40B4-BE49-F238E27FC236}">
                <a16:creationId xmlns:a16="http://schemas.microsoft.com/office/drawing/2014/main" id="{2C211152-7249-40E0-A39C-2B8459EC11F3}"/>
              </a:ext>
            </a:extLst>
          </p:cNvPr>
          <p:cNvSpPr/>
          <p:nvPr/>
        </p:nvSpPr>
        <p:spPr bwMode="auto">
          <a:xfrm>
            <a:off x="9696756" y="4177861"/>
            <a:ext cx="2177142" cy="4934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latin typeface="Arial" panose="020B0604020202020204" pitchFamily="34" charset="0"/>
                <a:cs typeface="Arial" panose="020B0604020202020204" pitchFamily="34" charset="0"/>
              </a:rPr>
              <a:t>Science </a:t>
            </a:r>
            <a:r>
              <a:rPr lang="de-DE" dirty="0" err="1">
                <a:solidFill>
                  <a:schemeClr val="tx1"/>
                </a:solidFill>
                <a:latin typeface="Arial" panose="020B0604020202020204" pitchFamily="34" charset="0"/>
                <a:cs typeface="Arial" panose="020B0604020202020204" pitchFamily="34" charset="0"/>
              </a:rPr>
              <a:t>achievement</a:t>
            </a:r>
            <a:endParaRPr lang="de-DE" dirty="0">
              <a:solidFill>
                <a:schemeClr val="tx1"/>
              </a:solidFill>
              <a:latin typeface="Arial" panose="020B0604020202020204" pitchFamily="34" charset="0"/>
              <a:cs typeface="Arial" panose="020B0604020202020204" pitchFamily="34" charset="0"/>
            </a:endParaRPr>
          </a:p>
        </p:txBody>
      </p:sp>
      <p:sp>
        <p:nvSpPr>
          <p:cNvPr id="9" name="Rechteck 8">
            <a:extLst>
              <a:ext uri="{FF2B5EF4-FFF2-40B4-BE49-F238E27FC236}">
                <a16:creationId xmlns:a16="http://schemas.microsoft.com/office/drawing/2014/main" id="{B7F886EE-9957-4BEB-A223-4288411258BC}"/>
              </a:ext>
            </a:extLst>
          </p:cNvPr>
          <p:cNvSpPr/>
          <p:nvPr/>
        </p:nvSpPr>
        <p:spPr bwMode="auto">
          <a:xfrm>
            <a:off x="9696756" y="4851930"/>
            <a:ext cx="2177142" cy="4934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latin typeface="Arial" panose="020B0604020202020204" pitchFamily="34" charset="0"/>
                <a:cs typeface="Arial" panose="020B0604020202020204" pitchFamily="34" charset="0"/>
              </a:rPr>
              <a:t>Math    </a:t>
            </a:r>
            <a:r>
              <a:rPr lang="de-DE" dirty="0" err="1">
                <a:solidFill>
                  <a:schemeClr val="tx1"/>
                </a:solidFill>
                <a:latin typeface="Arial" panose="020B0604020202020204" pitchFamily="34" charset="0"/>
                <a:cs typeface="Arial" panose="020B0604020202020204" pitchFamily="34" charset="0"/>
              </a:rPr>
              <a:t>achievement</a:t>
            </a:r>
            <a:endParaRPr lang="de-DE" dirty="0">
              <a:solidFill>
                <a:schemeClr val="tx1"/>
              </a:solidFill>
              <a:latin typeface="Arial" panose="020B0604020202020204" pitchFamily="34" charset="0"/>
              <a:cs typeface="Arial" panose="020B0604020202020204" pitchFamily="34" charset="0"/>
            </a:endParaRPr>
          </a:p>
        </p:txBody>
      </p:sp>
      <p:cxnSp>
        <p:nvCxnSpPr>
          <p:cNvPr id="10" name="Gerade Verbindung mit Pfeil 9">
            <a:extLst>
              <a:ext uri="{FF2B5EF4-FFF2-40B4-BE49-F238E27FC236}">
                <a16:creationId xmlns:a16="http://schemas.microsoft.com/office/drawing/2014/main" id="{8DFC23B0-37BA-43B6-B902-77FE7EBC6AF9}"/>
              </a:ext>
            </a:extLst>
          </p:cNvPr>
          <p:cNvCxnSpPr>
            <a:cxnSpLocks/>
            <a:stCxn id="3" idx="3"/>
            <a:endCxn id="8" idx="1"/>
          </p:cNvCxnSpPr>
          <p:nvPr/>
        </p:nvCxnSpPr>
        <p:spPr>
          <a:xfrm>
            <a:off x="8505371" y="4161410"/>
            <a:ext cx="1191385" cy="2631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Gerade Verbindung mit Pfeil 10">
            <a:extLst>
              <a:ext uri="{FF2B5EF4-FFF2-40B4-BE49-F238E27FC236}">
                <a16:creationId xmlns:a16="http://schemas.microsoft.com/office/drawing/2014/main" id="{F97D5D4F-2387-408D-8742-149210722330}"/>
              </a:ext>
            </a:extLst>
          </p:cNvPr>
          <p:cNvCxnSpPr>
            <a:cxnSpLocks/>
            <a:stCxn id="6" idx="3"/>
            <a:endCxn id="9" idx="1"/>
          </p:cNvCxnSpPr>
          <p:nvPr/>
        </p:nvCxnSpPr>
        <p:spPr bwMode="auto">
          <a:xfrm flipV="1">
            <a:off x="8502465" y="5098673"/>
            <a:ext cx="1194291" cy="2960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Gerade Verbindung mit Pfeil 13">
            <a:extLst>
              <a:ext uri="{FF2B5EF4-FFF2-40B4-BE49-F238E27FC236}">
                <a16:creationId xmlns:a16="http://schemas.microsoft.com/office/drawing/2014/main" id="{17A1282F-AA14-4EB3-BD3D-C1853953FCD5}"/>
              </a:ext>
            </a:extLst>
          </p:cNvPr>
          <p:cNvCxnSpPr>
            <a:cxnSpLocks/>
            <a:stCxn id="3" idx="3"/>
            <a:endCxn id="9" idx="1"/>
          </p:cNvCxnSpPr>
          <p:nvPr/>
        </p:nvCxnSpPr>
        <p:spPr bwMode="auto">
          <a:xfrm>
            <a:off x="8505371" y="4161410"/>
            <a:ext cx="1191385" cy="93726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Gerade Verbindung mit Pfeil 16">
            <a:extLst>
              <a:ext uri="{FF2B5EF4-FFF2-40B4-BE49-F238E27FC236}">
                <a16:creationId xmlns:a16="http://schemas.microsoft.com/office/drawing/2014/main" id="{8097ADF5-A390-483C-99CA-F5A436990ED6}"/>
              </a:ext>
            </a:extLst>
          </p:cNvPr>
          <p:cNvCxnSpPr>
            <a:cxnSpLocks/>
            <a:stCxn id="6" idx="3"/>
            <a:endCxn id="8" idx="1"/>
          </p:cNvCxnSpPr>
          <p:nvPr/>
        </p:nvCxnSpPr>
        <p:spPr bwMode="auto">
          <a:xfrm flipV="1">
            <a:off x="8502465" y="4424604"/>
            <a:ext cx="1194291" cy="97015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Textfeld 27">
            <a:extLst>
              <a:ext uri="{FF2B5EF4-FFF2-40B4-BE49-F238E27FC236}">
                <a16:creationId xmlns:a16="http://schemas.microsoft.com/office/drawing/2014/main" id="{3926715B-E100-4E13-B8ED-83B40B2D37E8}"/>
              </a:ext>
            </a:extLst>
          </p:cNvPr>
          <p:cNvSpPr txBox="1"/>
          <p:nvPr/>
        </p:nvSpPr>
        <p:spPr bwMode="auto">
          <a:xfrm>
            <a:off x="4460799" y="800994"/>
            <a:ext cx="503719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TIMSS </a:t>
            </a:r>
            <a:r>
              <a:rPr lang="de-DE" dirty="0" err="1">
                <a:latin typeface="Arial" panose="020B0604020202020204" pitchFamily="34" charset="0"/>
                <a:cs typeface="Arial" panose="020B0604020202020204" pitchFamily="34" charset="0"/>
              </a:rPr>
              <a:t>study</a:t>
            </a:r>
            <a:r>
              <a:rPr lang="de-DE" dirty="0">
                <a:latin typeface="Arial" panose="020B0604020202020204" pitchFamily="34" charset="0"/>
                <a:cs typeface="Arial" panose="020B0604020202020204" pitchFamily="34" charset="0"/>
              </a:rPr>
              <a:t> (</a:t>
            </a:r>
            <a:r>
              <a:rPr lang="de-DE" b="1" dirty="0" err="1">
                <a:latin typeface="Arial" panose="020B0604020202020204" pitchFamily="34" charset="0"/>
                <a:cs typeface="Arial" panose="020B0604020202020204" pitchFamily="34" charset="0"/>
              </a:rPr>
              <a:t>cross-sectional</a:t>
            </a:r>
            <a:r>
              <a:rPr lang="de-DE" dirty="0">
                <a:latin typeface="Arial" panose="020B0604020202020204" pitchFamily="34" charset="0"/>
                <a:cs typeface="Arial" panose="020B0604020202020204" pitchFamily="34" charset="0"/>
              </a:rPr>
              <a:t>)</a:t>
            </a:r>
          </a:p>
        </p:txBody>
      </p:sp>
      <p:pic>
        <p:nvPicPr>
          <p:cNvPr id="29" name="Picture 8" descr="Jogger erschreckt Pferd – wer ist schuld? – FIT for LIFE">
            <a:extLst>
              <a:ext uri="{FF2B5EF4-FFF2-40B4-BE49-F238E27FC236}">
                <a16:creationId xmlns:a16="http://schemas.microsoft.com/office/drawing/2014/main" id="{893659ED-BE1F-4AAE-BC4D-2285B3E58FB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610" r="37230" b="5684"/>
          <a:stretch/>
        </p:blipFill>
        <p:spPr bwMode="auto">
          <a:xfrm>
            <a:off x="7867092" y="726336"/>
            <a:ext cx="882828" cy="1317098"/>
          </a:xfrm>
          <a:prstGeom prst="rect">
            <a:avLst/>
          </a:prstGeom>
          <a:noFill/>
          <a:extLst>
            <a:ext uri="{909E8E84-426E-40DD-AFC4-6F175D3DCCD1}">
              <a14:hiddenFill xmlns:a14="http://schemas.microsoft.com/office/drawing/2010/main">
                <a:solidFill>
                  <a:srgbClr val="FFFFFF"/>
                </a:solidFill>
              </a14:hiddenFill>
            </a:ext>
          </a:extLst>
        </p:spPr>
      </p:pic>
      <p:cxnSp>
        <p:nvCxnSpPr>
          <p:cNvPr id="30" name="Gerade Verbindung mit Pfeil 29">
            <a:extLst>
              <a:ext uri="{FF2B5EF4-FFF2-40B4-BE49-F238E27FC236}">
                <a16:creationId xmlns:a16="http://schemas.microsoft.com/office/drawing/2014/main" id="{695BD1A6-35AA-4ADC-814E-6D23E8DE38B3}"/>
              </a:ext>
            </a:extLst>
          </p:cNvPr>
          <p:cNvCxnSpPr>
            <a:cxnSpLocks/>
            <a:endCxn id="28" idx="2"/>
          </p:cNvCxnSpPr>
          <p:nvPr/>
        </p:nvCxnSpPr>
        <p:spPr bwMode="auto">
          <a:xfrm flipH="1" flipV="1">
            <a:off x="6979394" y="1170326"/>
            <a:ext cx="679754" cy="3773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 name="Titel 1">
            <a:extLst>
              <a:ext uri="{FF2B5EF4-FFF2-40B4-BE49-F238E27FC236}">
                <a16:creationId xmlns:a16="http://schemas.microsoft.com/office/drawing/2014/main" id="{16B895CD-D0D3-490B-A399-5CB2A2CB44EA}"/>
              </a:ext>
            </a:extLst>
          </p:cNvPr>
          <p:cNvSpPr txBox="1">
            <a:spLocks/>
          </p:cNvSpPr>
          <p:nvPr/>
        </p:nvSpPr>
        <p:spPr bwMode="auto">
          <a:xfrm>
            <a:off x="8749920" y="1005523"/>
            <a:ext cx="1245428" cy="369333"/>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de-AT" sz="1800" i="1" dirty="0" err="1">
                <a:latin typeface="Arial" panose="020B0604020202020204" pitchFamily="34" charset="0"/>
                <a:cs typeface="Arial" panose="020B0604020202020204" pitchFamily="34" charset="0"/>
              </a:rPr>
              <a:t>whuuuut</a:t>
            </a:r>
            <a:r>
              <a:rPr lang="de-AT" sz="1800" i="1" dirty="0">
                <a:latin typeface="Arial" panose="020B0604020202020204" pitchFamily="34" charset="0"/>
                <a:cs typeface="Arial" panose="020B0604020202020204" pitchFamily="34" charset="0"/>
              </a:rPr>
              <a:t>?</a:t>
            </a:r>
          </a:p>
        </p:txBody>
      </p:sp>
      <p:sp>
        <p:nvSpPr>
          <p:cNvPr id="34" name="Sprechblase: oval 33">
            <a:extLst>
              <a:ext uri="{FF2B5EF4-FFF2-40B4-BE49-F238E27FC236}">
                <a16:creationId xmlns:a16="http://schemas.microsoft.com/office/drawing/2014/main" id="{0D0B9C39-E444-4BF3-A133-D8C69B020922}"/>
              </a:ext>
            </a:extLst>
          </p:cNvPr>
          <p:cNvSpPr/>
          <p:nvPr/>
        </p:nvSpPr>
        <p:spPr bwMode="auto">
          <a:xfrm>
            <a:off x="8801502" y="1042460"/>
            <a:ext cx="1193846" cy="313723"/>
          </a:xfrm>
          <a:prstGeom prst="wedgeEllipseCallout">
            <a:avLst>
              <a:gd name="adj1" fmla="val -65744"/>
              <a:gd name="adj2" fmla="val 86438"/>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5" name="Textfeld 34">
            <a:extLst>
              <a:ext uri="{FF2B5EF4-FFF2-40B4-BE49-F238E27FC236}">
                <a16:creationId xmlns:a16="http://schemas.microsoft.com/office/drawing/2014/main" id="{79A79012-15DB-4D86-B87E-540D273C0434}"/>
              </a:ext>
            </a:extLst>
          </p:cNvPr>
          <p:cNvSpPr txBox="1"/>
          <p:nvPr/>
        </p:nvSpPr>
        <p:spPr>
          <a:xfrm>
            <a:off x="9497989" y="5080000"/>
            <a:ext cx="2177142" cy="604925"/>
          </a:xfrm>
          <a:prstGeom prst="rect">
            <a:avLst/>
          </a:prstGeom>
          <a:noFill/>
        </p:spPr>
        <p:txBody>
          <a:bodyPr wrap="square" rtlCol="0">
            <a:spAutoFit/>
          </a:bodyPr>
          <a:lstStyle/>
          <a:p>
            <a:endParaRPr lang="de-DE" dirty="0"/>
          </a:p>
        </p:txBody>
      </p:sp>
      <p:pic>
        <p:nvPicPr>
          <p:cNvPr id="36" name="Grafik 35">
            <a:extLst>
              <a:ext uri="{FF2B5EF4-FFF2-40B4-BE49-F238E27FC236}">
                <a16:creationId xmlns:a16="http://schemas.microsoft.com/office/drawing/2014/main" id="{9D016308-7E81-4026-8737-45BE7AE81618}"/>
              </a:ext>
            </a:extLst>
          </p:cNvPr>
          <p:cNvPicPr>
            <a:picLocks noChangeAspect="1"/>
          </p:cNvPicPr>
          <p:nvPr/>
        </p:nvPicPr>
        <p:blipFill>
          <a:blip r:embed="rId4"/>
          <a:stretch>
            <a:fillRect/>
          </a:stretch>
        </p:blipFill>
        <p:spPr>
          <a:xfrm>
            <a:off x="546846" y="1199321"/>
            <a:ext cx="5071457" cy="2434299"/>
          </a:xfrm>
          <a:prstGeom prst="rect">
            <a:avLst/>
          </a:prstGeom>
        </p:spPr>
      </p:pic>
      <p:sp>
        <p:nvSpPr>
          <p:cNvPr id="53" name="Rechteck 52">
            <a:extLst>
              <a:ext uri="{FF2B5EF4-FFF2-40B4-BE49-F238E27FC236}">
                <a16:creationId xmlns:a16="http://schemas.microsoft.com/office/drawing/2014/main" id="{192C5283-4C64-423A-9220-F4B7279A3B1A}"/>
              </a:ext>
            </a:extLst>
          </p:cNvPr>
          <p:cNvSpPr/>
          <p:nvPr/>
        </p:nvSpPr>
        <p:spPr bwMode="auto">
          <a:xfrm>
            <a:off x="8329653" y="2710154"/>
            <a:ext cx="1807951" cy="71884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solidFill>
                  <a:schemeClr val="tx1"/>
                </a:solidFill>
                <a:latin typeface="Arial" panose="020B0604020202020204" pitchFamily="34" charset="0"/>
                <a:cs typeface="Arial" panose="020B0604020202020204" pitchFamily="34" charset="0"/>
              </a:rPr>
              <a:t>socio-economic</a:t>
            </a:r>
            <a:r>
              <a:rPr lang="de-DE" dirty="0">
                <a:solidFill>
                  <a:schemeClr val="tx1"/>
                </a:solidFill>
                <a:latin typeface="Arial" panose="020B0604020202020204" pitchFamily="34" charset="0"/>
                <a:cs typeface="Arial" panose="020B0604020202020204" pitchFamily="34" charset="0"/>
              </a:rPr>
              <a:t> </a:t>
            </a:r>
            <a:r>
              <a:rPr lang="de-DE" dirty="0" err="1">
                <a:solidFill>
                  <a:schemeClr val="tx1"/>
                </a:solidFill>
                <a:latin typeface="Arial" panose="020B0604020202020204" pitchFamily="34" charset="0"/>
                <a:cs typeface="Arial" panose="020B0604020202020204" pitchFamily="34" charset="0"/>
              </a:rPr>
              <a:t>status</a:t>
            </a:r>
            <a:endParaRPr lang="de-DE" dirty="0">
              <a:solidFill>
                <a:schemeClr val="tx1"/>
              </a:solidFill>
              <a:latin typeface="Arial" panose="020B0604020202020204" pitchFamily="34" charset="0"/>
              <a:cs typeface="Arial" panose="020B0604020202020204" pitchFamily="34" charset="0"/>
            </a:endParaRPr>
          </a:p>
        </p:txBody>
      </p:sp>
      <p:cxnSp>
        <p:nvCxnSpPr>
          <p:cNvPr id="54" name="Gerade Verbindung mit Pfeil 53">
            <a:extLst>
              <a:ext uri="{FF2B5EF4-FFF2-40B4-BE49-F238E27FC236}">
                <a16:creationId xmlns:a16="http://schemas.microsoft.com/office/drawing/2014/main" id="{A6194056-8E84-44DC-BD59-931AC7EF2D75}"/>
              </a:ext>
            </a:extLst>
          </p:cNvPr>
          <p:cNvCxnSpPr>
            <a:cxnSpLocks/>
            <a:stCxn id="53" idx="2"/>
          </p:cNvCxnSpPr>
          <p:nvPr/>
        </p:nvCxnSpPr>
        <p:spPr bwMode="auto">
          <a:xfrm flipH="1">
            <a:off x="8801502" y="3429000"/>
            <a:ext cx="432127" cy="6930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Gerade Verbindung mit Pfeil 56">
            <a:extLst>
              <a:ext uri="{FF2B5EF4-FFF2-40B4-BE49-F238E27FC236}">
                <a16:creationId xmlns:a16="http://schemas.microsoft.com/office/drawing/2014/main" id="{5A077DDF-DADC-40E8-8766-D764ADE765C2}"/>
              </a:ext>
            </a:extLst>
          </p:cNvPr>
          <p:cNvCxnSpPr>
            <a:cxnSpLocks/>
          </p:cNvCxnSpPr>
          <p:nvPr/>
        </p:nvCxnSpPr>
        <p:spPr bwMode="auto">
          <a:xfrm flipH="1">
            <a:off x="8977220" y="3419586"/>
            <a:ext cx="252085" cy="9656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9" name="Gerade Verbindung mit Pfeil 58">
            <a:extLst>
              <a:ext uri="{FF2B5EF4-FFF2-40B4-BE49-F238E27FC236}">
                <a16:creationId xmlns:a16="http://schemas.microsoft.com/office/drawing/2014/main" id="{A5E8243B-116A-4C35-A19B-BDBC104C2D85}"/>
              </a:ext>
            </a:extLst>
          </p:cNvPr>
          <p:cNvCxnSpPr>
            <a:cxnSpLocks/>
            <a:stCxn id="53" idx="2"/>
          </p:cNvCxnSpPr>
          <p:nvPr/>
        </p:nvCxnSpPr>
        <p:spPr bwMode="auto">
          <a:xfrm flipH="1">
            <a:off x="9049059" y="3429000"/>
            <a:ext cx="184570" cy="14229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2" name="Gerade Verbindung mit Pfeil 61">
            <a:extLst>
              <a:ext uri="{FF2B5EF4-FFF2-40B4-BE49-F238E27FC236}">
                <a16:creationId xmlns:a16="http://schemas.microsoft.com/office/drawing/2014/main" id="{545BBB9A-5834-4B72-9431-B120C02660EA}"/>
              </a:ext>
            </a:extLst>
          </p:cNvPr>
          <p:cNvCxnSpPr>
            <a:cxnSpLocks/>
            <a:stCxn id="53" idx="2"/>
          </p:cNvCxnSpPr>
          <p:nvPr/>
        </p:nvCxnSpPr>
        <p:spPr bwMode="auto">
          <a:xfrm>
            <a:off x="9233629" y="3429000"/>
            <a:ext cx="139005" cy="1651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5" name="Textfeld 64">
            <a:extLst>
              <a:ext uri="{FF2B5EF4-FFF2-40B4-BE49-F238E27FC236}">
                <a16:creationId xmlns:a16="http://schemas.microsoft.com/office/drawing/2014/main" id="{039C147C-0752-47F6-A961-E036EF5C8788}"/>
              </a:ext>
            </a:extLst>
          </p:cNvPr>
          <p:cNvSpPr txBox="1"/>
          <p:nvPr/>
        </p:nvSpPr>
        <p:spPr bwMode="auto">
          <a:xfrm>
            <a:off x="4601641" y="4437523"/>
            <a:ext cx="1812219" cy="646331"/>
          </a:xfrm>
          <a:prstGeom prst="rect">
            <a:avLst/>
          </a:prstGeom>
          <a:noFill/>
        </p:spPr>
        <p:txBody>
          <a:bodyPr wrap="square" rtlCol="0">
            <a:spAutoFit/>
          </a:bodyPr>
          <a:lstStyle/>
          <a:p>
            <a:r>
              <a:rPr lang="de-DE" i="1" dirty="0">
                <a:latin typeface="Arial" panose="020B0604020202020204" pitchFamily="34" charset="0"/>
                <a:cs typeface="Arial" panose="020B0604020202020204" pitchFamily="34" charset="0"/>
              </a:rPr>
              <a:t>N</a:t>
            </a:r>
            <a:r>
              <a:rPr lang="de-DE" dirty="0">
                <a:latin typeface="Arial" panose="020B0604020202020204" pitchFamily="34" charset="0"/>
                <a:cs typeface="Arial" panose="020B0604020202020204" pitchFamily="34" charset="0"/>
              </a:rPr>
              <a:t> = 4118 </a:t>
            </a:r>
            <a:r>
              <a:rPr lang="de-DE" dirty="0" err="1">
                <a:latin typeface="Arial" panose="020B0604020202020204" pitchFamily="34" charset="0"/>
                <a:cs typeface="Arial" panose="020B0604020202020204" pitchFamily="34" charset="0"/>
              </a:rPr>
              <a:t>Irish</a:t>
            </a:r>
            <a:r>
              <a:rPr lang="de-DE" dirty="0">
                <a:latin typeface="Arial" panose="020B0604020202020204" pitchFamily="34" charset="0"/>
                <a:cs typeface="Arial" panose="020B0604020202020204" pitchFamily="34" charset="0"/>
              </a:rPr>
              <a:t> 8th </a:t>
            </a:r>
            <a:r>
              <a:rPr lang="de-DE" dirty="0" err="1">
                <a:latin typeface="Arial" panose="020B0604020202020204" pitchFamily="34" charset="0"/>
                <a:cs typeface="Arial" panose="020B0604020202020204" pitchFamily="34" charset="0"/>
              </a:rPr>
              <a:t>graders</a:t>
            </a:r>
            <a:endParaRPr lang="de-DE" dirty="0">
              <a:latin typeface="Arial" panose="020B0604020202020204" pitchFamily="34" charset="0"/>
              <a:cs typeface="Arial" panose="020B0604020202020204" pitchFamily="34" charset="0"/>
            </a:endParaRPr>
          </a:p>
        </p:txBody>
      </p:sp>
      <p:pic>
        <p:nvPicPr>
          <p:cNvPr id="5" name="Grafik 4">
            <a:extLst>
              <a:ext uri="{FF2B5EF4-FFF2-40B4-BE49-F238E27FC236}">
                <a16:creationId xmlns:a16="http://schemas.microsoft.com/office/drawing/2014/main" id="{B56CA96E-EAF2-4CD4-8715-A22E93489E84}"/>
              </a:ext>
            </a:extLst>
          </p:cNvPr>
          <p:cNvPicPr>
            <a:picLocks noChangeAspect="1"/>
          </p:cNvPicPr>
          <p:nvPr/>
        </p:nvPicPr>
        <p:blipFill rotWithShape="1">
          <a:blip r:embed="rId5"/>
          <a:srcRect l="7747" r="15105"/>
          <a:stretch/>
        </p:blipFill>
        <p:spPr>
          <a:xfrm>
            <a:off x="1089891" y="4242737"/>
            <a:ext cx="1573991" cy="1224130"/>
          </a:xfrm>
          <a:prstGeom prst="rect">
            <a:avLst/>
          </a:prstGeom>
        </p:spPr>
      </p:pic>
      <p:sp>
        <p:nvSpPr>
          <p:cNvPr id="27" name="Titel 1">
            <a:extLst>
              <a:ext uri="{FF2B5EF4-FFF2-40B4-BE49-F238E27FC236}">
                <a16:creationId xmlns:a16="http://schemas.microsoft.com/office/drawing/2014/main" id="{6BFCDA74-EBFE-4561-A3F3-0DC75DB8E82D}"/>
              </a:ext>
            </a:extLst>
          </p:cNvPr>
          <p:cNvSpPr txBox="1">
            <a:spLocks/>
          </p:cNvSpPr>
          <p:nvPr/>
        </p:nvSpPr>
        <p:spPr bwMode="auto">
          <a:xfrm>
            <a:off x="2680332" y="4092823"/>
            <a:ext cx="1573991" cy="480960"/>
          </a:xfrm>
          <a:prstGeom prst="rect">
            <a:avLst/>
          </a:prstGeom>
        </p:spPr>
        <p:txBody>
          <a:bodyPr vert="horz" lIns="91440" tIns="45720" rIns="91440" bIns="45720" rtlCol="0" anchor="ctr">
            <a:normAutofit fontScale="85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de-AT" sz="1800" i="1" dirty="0" err="1">
                <a:latin typeface="Arial" panose="020B0604020202020204" pitchFamily="34" charset="0"/>
                <a:cs typeface="Arial" panose="020B0604020202020204" pitchFamily="34" charset="0"/>
              </a:rPr>
              <a:t>Timssi</a:t>
            </a:r>
            <a:r>
              <a:rPr lang="de-AT" sz="1800" i="1" dirty="0">
                <a:latin typeface="Arial" panose="020B0604020202020204" pitchFamily="34" charset="0"/>
                <a:cs typeface="Arial" panose="020B0604020202020204" pitchFamily="34" charset="0"/>
              </a:rPr>
              <a:t>, </a:t>
            </a:r>
            <a:r>
              <a:rPr lang="de-AT" sz="1800" i="1" dirty="0" err="1">
                <a:latin typeface="Arial" panose="020B0604020202020204" pitchFamily="34" charset="0"/>
                <a:cs typeface="Arial" panose="020B0604020202020204" pitchFamily="34" charset="0"/>
              </a:rPr>
              <a:t>is</a:t>
            </a:r>
            <a:r>
              <a:rPr lang="de-AT" sz="1800" i="1" dirty="0">
                <a:latin typeface="Arial" panose="020B0604020202020204" pitchFamily="34" charset="0"/>
                <a:cs typeface="Arial" panose="020B0604020202020204" pitchFamily="34" charset="0"/>
              </a:rPr>
              <a:t> </a:t>
            </a:r>
            <a:r>
              <a:rPr lang="de-AT" sz="1800" i="1" dirty="0" err="1">
                <a:latin typeface="Arial" panose="020B0604020202020204" pitchFamily="34" charset="0"/>
                <a:cs typeface="Arial" panose="020B0604020202020204" pitchFamily="34" charset="0"/>
              </a:rPr>
              <a:t>this</a:t>
            </a:r>
            <a:r>
              <a:rPr lang="de-AT" sz="1800" i="1" dirty="0">
                <a:latin typeface="Arial" panose="020B0604020202020204" pitchFamily="34" charset="0"/>
                <a:cs typeface="Arial" panose="020B0604020202020204" pitchFamily="34" charset="0"/>
              </a:rPr>
              <a:t> </a:t>
            </a:r>
            <a:r>
              <a:rPr lang="de-AT" sz="1800" b="1" i="1" dirty="0" err="1">
                <a:latin typeface="Arial" panose="020B0604020202020204" pitchFamily="34" charset="0"/>
                <a:cs typeface="Arial" panose="020B0604020202020204" pitchFamily="34" charset="0"/>
              </a:rPr>
              <a:t>bullshit</a:t>
            </a:r>
            <a:r>
              <a:rPr lang="de-AT" sz="1800" b="1" i="1" dirty="0">
                <a:latin typeface="Arial" panose="020B0604020202020204" pitchFamily="34" charset="0"/>
                <a:cs typeface="Arial" panose="020B0604020202020204" pitchFamily="34" charset="0"/>
              </a:rPr>
              <a:t>?</a:t>
            </a:r>
          </a:p>
        </p:txBody>
      </p:sp>
      <p:sp>
        <p:nvSpPr>
          <p:cNvPr id="31" name="Sprechblase: oval 30">
            <a:extLst>
              <a:ext uri="{FF2B5EF4-FFF2-40B4-BE49-F238E27FC236}">
                <a16:creationId xmlns:a16="http://schemas.microsoft.com/office/drawing/2014/main" id="{58F94FFB-05BF-4ED1-844D-8A5F1F7A22EA}"/>
              </a:ext>
            </a:extLst>
          </p:cNvPr>
          <p:cNvSpPr/>
          <p:nvPr/>
        </p:nvSpPr>
        <p:spPr bwMode="auto">
          <a:xfrm>
            <a:off x="2699446" y="4074150"/>
            <a:ext cx="1606064" cy="480960"/>
          </a:xfrm>
          <a:prstGeom prst="wedgeEllipseCallout">
            <a:avLst>
              <a:gd name="adj1" fmla="val -65744"/>
              <a:gd name="adj2" fmla="val 86438"/>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pic>
        <p:nvPicPr>
          <p:cNvPr id="2" name="Grafik 1">
            <a:extLst>
              <a:ext uri="{FF2B5EF4-FFF2-40B4-BE49-F238E27FC236}">
                <a16:creationId xmlns:a16="http://schemas.microsoft.com/office/drawing/2014/main" id="{CB0F4610-7BCF-4141-898A-3DFB27C5E92F}"/>
              </a:ext>
            </a:extLst>
          </p:cNvPr>
          <p:cNvPicPr>
            <a:picLocks noChangeAspect="1"/>
          </p:cNvPicPr>
          <p:nvPr/>
        </p:nvPicPr>
        <p:blipFill>
          <a:blip r:embed="rId6"/>
          <a:stretch>
            <a:fillRect/>
          </a:stretch>
        </p:blipFill>
        <p:spPr>
          <a:xfrm>
            <a:off x="1089891" y="-6146317"/>
            <a:ext cx="10382250" cy="5581650"/>
          </a:xfrm>
          <a:prstGeom prst="rect">
            <a:avLst/>
          </a:prstGeom>
        </p:spPr>
      </p:pic>
      <p:pic>
        <p:nvPicPr>
          <p:cNvPr id="37" name="Picture 1" descr="page_4.png">
            <a:extLst>
              <a:ext uri="{FF2B5EF4-FFF2-40B4-BE49-F238E27FC236}">
                <a16:creationId xmlns:a16="http://schemas.microsoft.com/office/drawing/2014/main" id="{73DC48C9-9855-4D0C-973B-1792B7719D1A}"/>
              </a:ext>
            </a:extLst>
          </p:cNvPr>
          <p:cNvPicPr>
            <a:picLocks noChangeAspect="1"/>
          </p:cNvPicPr>
          <p:nvPr/>
        </p:nvPicPr>
        <p:blipFill>
          <a:blip r:embed="rId7"/>
          <a:stretch>
            <a:fillRect/>
          </a:stretch>
        </p:blipFill>
        <p:spPr>
          <a:xfrm>
            <a:off x="0" y="0"/>
            <a:ext cx="12191695" cy="6858000"/>
          </a:xfrm>
          <a:prstGeom prst="rect">
            <a:avLst/>
          </a:prstGeom>
        </p:spPr>
      </p:pic>
    </p:spTree>
    <p:extLst>
      <p:ext uri="{BB962C8B-B14F-4D97-AF65-F5344CB8AC3E}">
        <p14:creationId xmlns:p14="http://schemas.microsoft.com/office/powerpoint/2010/main" val="311147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1"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 name="Rechteck 3">
            <a:extLst>
              <a:ext uri="{FF2B5EF4-FFF2-40B4-BE49-F238E27FC236}">
                <a16:creationId xmlns:a16="http://schemas.microsoft.com/office/drawing/2014/main" id="{7524DA9A-46A3-4912-BF4E-032E888E93B0}"/>
              </a:ext>
            </a:extLst>
          </p:cNvPr>
          <p:cNvSpPr/>
          <p:nvPr/>
        </p:nvSpPr>
        <p:spPr>
          <a:xfrm>
            <a:off x="119336" y="585247"/>
            <a:ext cx="11953328" cy="56166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 name="Titel 1">
            <a:extLst>
              <a:ext uri="{FF2B5EF4-FFF2-40B4-BE49-F238E27FC236}">
                <a16:creationId xmlns:a16="http://schemas.microsoft.com/office/drawing/2014/main" id="{C46FCEBF-AA4F-4E8F-AE68-25182C41EAD6}"/>
              </a:ext>
            </a:extLst>
          </p:cNvPr>
          <p:cNvSpPr>
            <a:spLocks noGrp="1"/>
          </p:cNvSpPr>
          <p:nvPr>
            <p:ph type="title"/>
          </p:nvPr>
        </p:nvSpPr>
        <p:spPr>
          <a:xfrm>
            <a:off x="-53788" y="404664"/>
            <a:ext cx="7920880" cy="1143000"/>
          </a:xfrm>
        </p:spPr>
        <p:txBody>
          <a:bodyPr>
            <a:normAutofit/>
          </a:bodyPr>
          <a:lstStyle/>
          <a:p>
            <a:r>
              <a:rPr lang="de-AT" sz="2800" b="1" dirty="0">
                <a:latin typeface="Arial" panose="020B0604020202020204" pitchFamily="34" charset="0"/>
                <a:cs typeface="Arial" panose="020B0604020202020204" pitchFamily="34" charset="0"/>
              </a:rPr>
              <a:t>2024</a:t>
            </a:r>
            <a:endParaRPr lang="de-AT" sz="2800" dirty="0">
              <a:latin typeface="Arial" panose="020B0604020202020204" pitchFamily="34" charset="0"/>
              <a:cs typeface="Arial" panose="020B0604020202020204" pitchFamily="34" charset="0"/>
            </a:endParaRPr>
          </a:p>
        </p:txBody>
      </p:sp>
      <p:sp>
        <p:nvSpPr>
          <p:cNvPr id="3" name="Rechteck 2">
            <a:extLst>
              <a:ext uri="{FF2B5EF4-FFF2-40B4-BE49-F238E27FC236}">
                <a16:creationId xmlns:a16="http://schemas.microsoft.com/office/drawing/2014/main" id="{C1310E0B-E361-4BF5-88F1-B10FB84E9355}"/>
              </a:ext>
            </a:extLst>
          </p:cNvPr>
          <p:cNvSpPr/>
          <p:nvPr/>
        </p:nvSpPr>
        <p:spPr>
          <a:xfrm>
            <a:off x="6500422" y="3767710"/>
            <a:ext cx="2004949" cy="787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solidFill>
                  <a:schemeClr val="tx1"/>
                </a:solidFill>
                <a:latin typeface="Arial" panose="020B0604020202020204" pitchFamily="34" charset="0"/>
                <a:cs typeface="Arial" panose="020B0604020202020204" pitchFamily="34" charset="0"/>
              </a:rPr>
              <a:t>homework</a:t>
            </a:r>
            <a:r>
              <a:rPr lang="de-DE" dirty="0">
                <a:solidFill>
                  <a:schemeClr val="tx1"/>
                </a:solidFill>
                <a:latin typeface="Arial" panose="020B0604020202020204" pitchFamily="34" charset="0"/>
                <a:cs typeface="Arial" panose="020B0604020202020204" pitchFamily="34" charset="0"/>
              </a:rPr>
              <a:t> </a:t>
            </a:r>
            <a:r>
              <a:rPr lang="de-DE" dirty="0" err="1">
                <a:solidFill>
                  <a:schemeClr val="tx1"/>
                </a:solidFill>
                <a:latin typeface="Arial" panose="020B0604020202020204" pitchFamily="34" charset="0"/>
                <a:cs typeface="Arial" panose="020B0604020202020204" pitchFamily="34" charset="0"/>
              </a:rPr>
              <a:t>frequency</a:t>
            </a:r>
            <a:endParaRPr lang="de-DE" dirty="0">
              <a:solidFill>
                <a:schemeClr val="tx1"/>
              </a:solidFill>
              <a:latin typeface="Arial" panose="020B0604020202020204" pitchFamily="34" charset="0"/>
              <a:cs typeface="Arial" panose="020B0604020202020204" pitchFamily="34" charset="0"/>
            </a:endParaRPr>
          </a:p>
          <a:p>
            <a:pPr algn="ctr"/>
            <a:r>
              <a:rPr lang="de-DE" dirty="0">
                <a:solidFill>
                  <a:schemeClr val="tx1"/>
                </a:solidFill>
                <a:latin typeface="Arial" panose="020B0604020202020204" pitchFamily="34" charset="0"/>
                <a:cs typeface="Arial" panose="020B0604020202020204" pitchFamily="34" charset="0"/>
              </a:rPr>
              <a:t>(</a:t>
            </a:r>
            <a:r>
              <a:rPr lang="de-DE" dirty="0" err="1">
                <a:solidFill>
                  <a:schemeClr val="tx1"/>
                </a:solidFill>
                <a:latin typeface="Arial" panose="020B0604020202020204" pitchFamily="34" charset="0"/>
                <a:cs typeface="Arial" panose="020B0604020202020204" pitchFamily="34" charset="0"/>
              </a:rPr>
              <a:t>how</a:t>
            </a:r>
            <a:r>
              <a:rPr lang="de-DE" dirty="0">
                <a:solidFill>
                  <a:schemeClr val="tx1"/>
                </a:solidFill>
                <a:latin typeface="Arial" panose="020B0604020202020204" pitchFamily="34" charset="0"/>
                <a:cs typeface="Arial" panose="020B0604020202020204" pitchFamily="34" charset="0"/>
              </a:rPr>
              <a:t> </a:t>
            </a:r>
            <a:r>
              <a:rPr lang="de-DE" dirty="0" err="1">
                <a:solidFill>
                  <a:schemeClr val="tx1"/>
                </a:solidFill>
                <a:latin typeface="Arial" panose="020B0604020202020204" pitchFamily="34" charset="0"/>
                <a:cs typeface="Arial" panose="020B0604020202020204" pitchFamily="34" charset="0"/>
              </a:rPr>
              <a:t>often</a:t>
            </a:r>
            <a:r>
              <a:rPr lang="de-DE" dirty="0">
                <a:solidFill>
                  <a:schemeClr val="tx1"/>
                </a:solidFill>
                <a:latin typeface="Arial" panose="020B0604020202020204" pitchFamily="34" charset="0"/>
                <a:cs typeface="Arial" panose="020B0604020202020204" pitchFamily="34" charset="0"/>
              </a:rPr>
              <a:t>)</a:t>
            </a:r>
          </a:p>
        </p:txBody>
      </p:sp>
      <p:sp>
        <p:nvSpPr>
          <p:cNvPr id="6" name="Rechteck 5">
            <a:extLst>
              <a:ext uri="{FF2B5EF4-FFF2-40B4-BE49-F238E27FC236}">
                <a16:creationId xmlns:a16="http://schemas.microsoft.com/office/drawing/2014/main" id="{ECBAD310-0C96-4ED4-8AEE-E19881E6A66C}"/>
              </a:ext>
            </a:extLst>
          </p:cNvPr>
          <p:cNvSpPr/>
          <p:nvPr/>
        </p:nvSpPr>
        <p:spPr bwMode="auto">
          <a:xfrm>
            <a:off x="6497516" y="5001063"/>
            <a:ext cx="2004949" cy="787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solidFill>
                  <a:schemeClr val="tx1"/>
                </a:solidFill>
                <a:latin typeface="Arial" panose="020B0604020202020204" pitchFamily="34" charset="0"/>
                <a:cs typeface="Arial" panose="020B0604020202020204" pitchFamily="34" charset="0"/>
              </a:rPr>
              <a:t>homework</a:t>
            </a:r>
            <a:r>
              <a:rPr lang="de-DE" dirty="0">
                <a:solidFill>
                  <a:schemeClr val="tx1"/>
                </a:solidFill>
                <a:latin typeface="Arial" panose="020B0604020202020204" pitchFamily="34" charset="0"/>
                <a:cs typeface="Arial" panose="020B0604020202020204" pitchFamily="34" charset="0"/>
              </a:rPr>
              <a:t> </a:t>
            </a:r>
            <a:r>
              <a:rPr lang="de-DE" dirty="0" err="1">
                <a:solidFill>
                  <a:schemeClr val="tx1"/>
                </a:solidFill>
                <a:latin typeface="Arial" panose="020B0604020202020204" pitchFamily="34" charset="0"/>
                <a:cs typeface="Arial" panose="020B0604020202020204" pitchFamily="34" charset="0"/>
              </a:rPr>
              <a:t>duration</a:t>
            </a:r>
            <a:r>
              <a:rPr lang="de-DE" dirty="0">
                <a:solidFill>
                  <a:schemeClr val="tx1"/>
                </a:solidFill>
                <a:latin typeface="Arial" panose="020B0604020202020204" pitchFamily="34" charset="0"/>
                <a:cs typeface="Arial" panose="020B0604020202020204" pitchFamily="34" charset="0"/>
              </a:rPr>
              <a:t>        (</a:t>
            </a:r>
            <a:r>
              <a:rPr lang="de-DE" dirty="0" err="1">
                <a:solidFill>
                  <a:schemeClr val="tx1"/>
                </a:solidFill>
                <a:latin typeface="Arial" panose="020B0604020202020204" pitchFamily="34" charset="0"/>
                <a:cs typeface="Arial" panose="020B0604020202020204" pitchFamily="34" charset="0"/>
              </a:rPr>
              <a:t>how</a:t>
            </a:r>
            <a:r>
              <a:rPr lang="de-DE" dirty="0">
                <a:solidFill>
                  <a:schemeClr val="tx1"/>
                </a:solidFill>
                <a:latin typeface="Arial" panose="020B0604020202020204" pitchFamily="34" charset="0"/>
                <a:cs typeface="Arial" panose="020B0604020202020204" pitchFamily="34" charset="0"/>
              </a:rPr>
              <a:t> </a:t>
            </a:r>
            <a:r>
              <a:rPr lang="de-DE" dirty="0" err="1">
                <a:solidFill>
                  <a:schemeClr val="tx1"/>
                </a:solidFill>
                <a:latin typeface="Arial" panose="020B0604020202020204" pitchFamily="34" charset="0"/>
                <a:cs typeface="Arial" panose="020B0604020202020204" pitchFamily="34" charset="0"/>
              </a:rPr>
              <a:t>long</a:t>
            </a:r>
            <a:r>
              <a:rPr lang="de-DE" dirty="0">
                <a:solidFill>
                  <a:schemeClr val="tx1"/>
                </a:solidFill>
                <a:latin typeface="Arial" panose="020B0604020202020204" pitchFamily="34" charset="0"/>
                <a:cs typeface="Arial" panose="020B0604020202020204" pitchFamily="34" charset="0"/>
              </a:rPr>
              <a:t>)</a:t>
            </a:r>
          </a:p>
        </p:txBody>
      </p:sp>
      <p:sp>
        <p:nvSpPr>
          <p:cNvPr id="8" name="Rechteck 7">
            <a:extLst>
              <a:ext uri="{FF2B5EF4-FFF2-40B4-BE49-F238E27FC236}">
                <a16:creationId xmlns:a16="http://schemas.microsoft.com/office/drawing/2014/main" id="{2C211152-7249-40E0-A39C-2B8459EC11F3}"/>
              </a:ext>
            </a:extLst>
          </p:cNvPr>
          <p:cNvSpPr/>
          <p:nvPr/>
        </p:nvSpPr>
        <p:spPr bwMode="auto">
          <a:xfrm>
            <a:off x="9696756" y="4177861"/>
            <a:ext cx="2177142" cy="4934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latin typeface="Arial" panose="020B0604020202020204" pitchFamily="34" charset="0"/>
                <a:cs typeface="Arial" panose="020B0604020202020204" pitchFamily="34" charset="0"/>
              </a:rPr>
              <a:t>Science </a:t>
            </a:r>
            <a:r>
              <a:rPr lang="de-DE" dirty="0" err="1">
                <a:solidFill>
                  <a:schemeClr val="tx1"/>
                </a:solidFill>
                <a:latin typeface="Arial" panose="020B0604020202020204" pitchFamily="34" charset="0"/>
                <a:cs typeface="Arial" panose="020B0604020202020204" pitchFamily="34" charset="0"/>
              </a:rPr>
              <a:t>achievement</a:t>
            </a:r>
            <a:endParaRPr lang="de-DE" dirty="0">
              <a:solidFill>
                <a:schemeClr val="tx1"/>
              </a:solidFill>
              <a:latin typeface="Arial" panose="020B0604020202020204" pitchFamily="34" charset="0"/>
              <a:cs typeface="Arial" panose="020B0604020202020204" pitchFamily="34" charset="0"/>
            </a:endParaRPr>
          </a:p>
        </p:txBody>
      </p:sp>
      <p:sp>
        <p:nvSpPr>
          <p:cNvPr id="9" name="Rechteck 8">
            <a:extLst>
              <a:ext uri="{FF2B5EF4-FFF2-40B4-BE49-F238E27FC236}">
                <a16:creationId xmlns:a16="http://schemas.microsoft.com/office/drawing/2014/main" id="{B7F886EE-9957-4BEB-A223-4288411258BC}"/>
              </a:ext>
            </a:extLst>
          </p:cNvPr>
          <p:cNvSpPr/>
          <p:nvPr/>
        </p:nvSpPr>
        <p:spPr bwMode="auto">
          <a:xfrm>
            <a:off x="9696756" y="4851930"/>
            <a:ext cx="2177142" cy="4934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latin typeface="Arial" panose="020B0604020202020204" pitchFamily="34" charset="0"/>
                <a:cs typeface="Arial" panose="020B0604020202020204" pitchFamily="34" charset="0"/>
              </a:rPr>
              <a:t>Math    </a:t>
            </a:r>
            <a:r>
              <a:rPr lang="de-DE" dirty="0" err="1">
                <a:solidFill>
                  <a:schemeClr val="tx1"/>
                </a:solidFill>
                <a:latin typeface="Arial" panose="020B0604020202020204" pitchFamily="34" charset="0"/>
                <a:cs typeface="Arial" panose="020B0604020202020204" pitchFamily="34" charset="0"/>
              </a:rPr>
              <a:t>achievement</a:t>
            </a:r>
            <a:endParaRPr lang="de-DE" dirty="0">
              <a:solidFill>
                <a:schemeClr val="tx1"/>
              </a:solidFill>
              <a:latin typeface="Arial" panose="020B0604020202020204" pitchFamily="34" charset="0"/>
              <a:cs typeface="Arial" panose="020B0604020202020204" pitchFamily="34" charset="0"/>
            </a:endParaRPr>
          </a:p>
        </p:txBody>
      </p:sp>
      <p:cxnSp>
        <p:nvCxnSpPr>
          <p:cNvPr id="10" name="Gerade Verbindung mit Pfeil 9">
            <a:extLst>
              <a:ext uri="{FF2B5EF4-FFF2-40B4-BE49-F238E27FC236}">
                <a16:creationId xmlns:a16="http://schemas.microsoft.com/office/drawing/2014/main" id="{8DFC23B0-37BA-43B6-B902-77FE7EBC6AF9}"/>
              </a:ext>
            </a:extLst>
          </p:cNvPr>
          <p:cNvCxnSpPr>
            <a:cxnSpLocks/>
            <a:stCxn id="3" idx="3"/>
            <a:endCxn id="8" idx="1"/>
          </p:cNvCxnSpPr>
          <p:nvPr/>
        </p:nvCxnSpPr>
        <p:spPr>
          <a:xfrm>
            <a:off x="8505371" y="4161410"/>
            <a:ext cx="1191385" cy="2631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Gerade Verbindung mit Pfeil 10">
            <a:extLst>
              <a:ext uri="{FF2B5EF4-FFF2-40B4-BE49-F238E27FC236}">
                <a16:creationId xmlns:a16="http://schemas.microsoft.com/office/drawing/2014/main" id="{F97D5D4F-2387-408D-8742-149210722330}"/>
              </a:ext>
            </a:extLst>
          </p:cNvPr>
          <p:cNvCxnSpPr>
            <a:cxnSpLocks/>
            <a:stCxn id="6" idx="3"/>
            <a:endCxn id="9" idx="1"/>
          </p:cNvCxnSpPr>
          <p:nvPr/>
        </p:nvCxnSpPr>
        <p:spPr bwMode="auto">
          <a:xfrm flipV="1">
            <a:off x="8502465" y="5098673"/>
            <a:ext cx="1194291" cy="2960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Gerade Verbindung mit Pfeil 13">
            <a:extLst>
              <a:ext uri="{FF2B5EF4-FFF2-40B4-BE49-F238E27FC236}">
                <a16:creationId xmlns:a16="http://schemas.microsoft.com/office/drawing/2014/main" id="{17A1282F-AA14-4EB3-BD3D-C1853953FCD5}"/>
              </a:ext>
            </a:extLst>
          </p:cNvPr>
          <p:cNvCxnSpPr>
            <a:cxnSpLocks/>
            <a:stCxn id="3" idx="3"/>
            <a:endCxn id="9" idx="1"/>
          </p:cNvCxnSpPr>
          <p:nvPr/>
        </p:nvCxnSpPr>
        <p:spPr bwMode="auto">
          <a:xfrm>
            <a:off x="8505371" y="4161410"/>
            <a:ext cx="1191385" cy="93726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Gerade Verbindung mit Pfeil 16">
            <a:extLst>
              <a:ext uri="{FF2B5EF4-FFF2-40B4-BE49-F238E27FC236}">
                <a16:creationId xmlns:a16="http://schemas.microsoft.com/office/drawing/2014/main" id="{8097ADF5-A390-483C-99CA-F5A436990ED6}"/>
              </a:ext>
            </a:extLst>
          </p:cNvPr>
          <p:cNvCxnSpPr>
            <a:cxnSpLocks/>
            <a:stCxn id="6" idx="3"/>
            <a:endCxn id="8" idx="1"/>
          </p:cNvCxnSpPr>
          <p:nvPr/>
        </p:nvCxnSpPr>
        <p:spPr bwMode="auto">
          <a:xfrm flipV="1">
            <a:off x="8502465" y="4424604"/>
            <a:ext cx="1194291" cy="97015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Textfeld 27">
            <a:extLst>
              <a:ext uri="{FF2B5EF4-FFF2-40B4-BE49-F238E27FC236}">
                <a16:creationId xmlns:a16="http://schemas.microsoft.com/office/drawing/2014/main" id="{3926715B-E100-4E13-B8ED-83B40B2D37E8}"/>
              </a:ext>
            </a:extLst>
          </p:cNvPr>
          <p:cNvSpPr txBox="1"/>
          <p:nvPr/>
        </p:nvSpPr>
        <p:spPr bwMode="auto">
          <a:xfrm>
            <a:off x="4460799" y="800994"/>
            <a:ext cx="503719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TIMSS </a:t>
            </a:r>
            <a:r>
              <a:rPr lang="de-DE" dirty="0" err="1">
                <a:latin typeface="Arial" panose="020B0604020202020204" pitchFamily="34" charset="0"/>
                <a:cs typeface="Arial" panose="020B0604020202020204" pitchFamily="34" charset="0"/>
              </a:rPr>
              <a:t>study</a:t>
            </a:r>
            <a:r>
              <a:rPr lang="de-DE" dirty="0">
                <a:latin typeface="Arial" panose="020B0604020202020204" pitchFamily="34" charset="0"/>
                <a:cs typeface="Arial" panose="020B0604020202020204" pitchFamily="34" charset="0"/>
              </a:rPr>
              <a:t> (</a:t>
            </a:r>
            <a:r>
              <a:rPr lang="de-DE" b="1" dirty="0" err="1">
                <a:latin typeface="Arial" panose="020B0604020202020204" pitchFamily="34" charset="0"/>
                <a:cs typeface="Arial" panose="020B0604020202020204" pitchFamily="34" charset="0"/>
              </a:rPr>
              <a:t>cross-sectional</a:t>
            </a:r>
            <a:r>
              <a:rPr lang="de-DE" dirty="0">
                <a:latin typeface="Arial" panose="020B0604020202020204" pitchFamily="34" charset="0"/>
                <a:cs typeface="Arial" panose="020B0604020202020204" pitchFamily="34" charset="0"/>
              </a:rPr>
              <a:t>)</a:t>
            </a:r>
          </a:p>
        </p:txBody>
      </p:sp>
      <p:pic>
        <p:nvPicPr>
          <p:cNvPr id="29" name="Picture 8" descr="Jogger erschreckt Pferd – wer ist schuld? – FIT for LIFE">
            <a:extLst>
              <a:ext uri="{FF2B5EF4-FFF2-40B4-BE49-F238E27FC236}">
                <a16:creationId xmlns:a16="http://schemas.microsoft.com/office/drawing/2014/main" id="{893659ED-BE1F-4AAE-BC4D-2285B3E58FB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610" r="37230" b="5684"/>
          <a:stretch/>
        </p:blipFill>
        <p:spPr bwMode="auto">
          <a:xfrm>
            <a:off x="7867092" y="726336"/>
            <a:ext cx="882828" cy="1317098"/>
          </a:xfrm>
          <a:prstGeom prst="rect">
            <a:avLst/>
          </a:prstGeom>
          <a:noFill/>
          <a:extLst>
            <a:ext uri="{909E8E84-426E-40DD-AFC4-6F175D3DCCD1}">
              <a14:hiddenFill xmlns:a14="http://schemas.microsoft.com/office/drawing/2010/main">
                <a:solidFill>
                  <a:srgbClr val="FFFFFF"/>
                </a:solidFill>
              </a14:hiddenFill>
            </a:ext>
          </a:extLst>
        </p:spPr>
      </p:pic>
      <p:cxnSp>
        <p:nvCxnSpPr>
          <p:cNvPr id="30" name="Gerade Verbindung mit Pfeil 29">
            <a:extLst>
              <a:ext uri="{FF2B5EF4-FFF2-40B4-BE49-F238E27FC236}">
                <a16:creationId xmlns:a16="http://schemas.microsoft.com/office/drawing/2014/main" id="{695BD1A6-35AA-4ADC-814E-6D23E8DE38B3}"/>
              </a:ext>
            </a:extLst>
          </p:cNvPr>
          <p:cNvCxnSpPr>
            <a:cxnSpLocks/>
            <a:endCxn id="28" idx="2"/>
          </p:cNvCxnSpPr>
          <p:nvPr/>
        </p:nvCxnSpPr>
        <p:spPr bwMode="auto">
          <a:xfrm flipH="1" flipV="1">
            <a:off x="6979394" y="1170326"/>
            <a:ext cx="679754" cy="3773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 name="Titel 1">
            <a:extLst>
              <a:ext uri="{FF2B5EF4-FFF2-40B4-BE49-F238E27FC236}">
                <a16:creationId xmlns:a16="http://schemas.microsoft.com/office/drawing/2014/main" id="{16B895CD-D0D3-490B-A399-5CB2A2CB44EA}"/>
              </a:ext>
            </a:extLst>
          </p:cNvPr>
          <p:cNvSpPr txBox="1">
            <a:spLocks/>
          </p:cNvSpPr>
          <p:nvPr/>
        </p:nvSpPr>
        <p:spPr bwMode="auto">
          <a:xfrm>
            <a:off x="8749920" y="1005523"/>
            <a:ext cx="1245428" cy="369333"/>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de-AT" sz="1800" i="1" dirty="0" err="1">
                <a:latin typeface="Arial" panose="020B0604020202020204" pitchFamily="34" charset="0"/>
                <a:cs typeface="Arial" panose="020B0604020202020204" pitchFamily="34" charset="0"/>
              </a:rPr>
              <a:t>whuuuut</a:t>
            </a:r>
            <a:r>
              <a:rPr lang="de-AT" sz="1800" i="1" dirty="0">
                <a:latin typeface="Arial" panose="020B0604020202020204" pitchFamily="34" charset="0"/>
                <a:cs typeface="Arial" panose="020B0604020202020204" pitchFamily="34" charset="0"/>
              </a:rPr>
              <a:t>?</a:t>
            </a:r>
          </a:p>
        </p:txBody>
      </p:sp>
      <p:sp>
        <p:nvSpPr>
          <p:cNvPr id="34" name="Sprechblase: oval 33">
            <a:extLst>
              <a:ext uri="{FF2B5EF4-FFF2-40B4-BE49-F238E27FC236}">
                <a16:creationId xmlns:a16="http://schemas.microsoft.com/office/drawing/2014/main" id="{0D0B9C39-E444-4BF3-A133-D8C69B020922}"/>
              </a:ext>
            </a:extLst>
          </p:cNvPr>
          <p:cNvSpPr/>
          <p:nvPr/>
        </p:nvSpPr>
        <p:spPr bwMode="auto">
          <a:xfrm>
            <a:off x="8801502" y="1042460"/>
            <a:ext cx="1193846" cy="313723"/>
          </a:xfrm>
          <a:prstGeom prst="wedgeEllipseCallout">
            <a:avLst>
              <a:gd name="adj1" fmla="val -65744"/>
              <a:gd name="adj2" fmla="val 86438"/>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5" name="Textfeld 34">
            <a:extLst>
              <a:ext uri="{FF2B5EF4-FFF2-40B4-BE49-F238E27FC236}">
                <a16:creationId xmlns:a16="http://schemas.microsoft.com/office/drawing/2014/main" id="{79A79012-15DB-4D86-B87E-540D273C0434}"/>
              </a:ext>
            </a:extLst>
          </p:cNvPr>
          <p:cNvSpPr txBox="1"/>
          <p:nvPr/>
        </p:nvSpPr>
        <p:spPr>
          <a:xfrm>
            <a:off x="9497989" y="5080000"/>
            <a:ext cx="2177142" cy="604925"/>
          </a:xfrm>
          <a:prstGeom prst="rect">
            <a:avLst/>
          </a:prstGeom>
          <a:noFill/>
        </p:spPr>
        <p:txBody>
          <a:bodyPr wrap="square" rtlCol="0">
            <a:spAutoFit/>
          </a:bodyPr>
          <a:lstStyle/>
          <a:p>
            <a:endParaRPr lang="de-DE" dirty="0"/>
          </a:p>
        </p:txBody>
      </p:sp>
      <p:pic>
        <p:nvPicPr>
          <p:cNvPr id="36" name="Grafik 35">
            <a:extLst>
              <a:ext uri="{FF2B5EF4-FFF2-40B4-BE49-F238E27FC236}">
                <a16:creationId xmlns:a16="http://schemas.microsoft.com/office/drawing/2014/main" id="{9D016308-7E81-4026-8737-45BE7AE81618}"/>
              </a:ext>
            </a:extLst>
          </p:cNvPr>
          <p:cNvPicPr>
            <a:picLocks noChangeAspect="1"/>
          </p:cNvPicPr>
          <p:nvPr/>
        </p:nvPicPr>
        <p:blipFill>
          <a:blip r:embed="rId4"/>
          <a:stretch>
            <a:fillRect/>
          </a:stretch>
        </p:blipFill>
        <p:spPr>
          <a:xfrm>
            <a:off x="546846" y="1199321"/>
            <a:ext cx="5071457" cy="2434299"/>
          </a:xfrm>
          <a:prstGeom prst="rect">
            <a:avLst/>
          </a:prstGeom>
        </p:spPr>
      </p:pic>
      <p:sp>
        <p:nvSpPr>
          <p:cNvPr id="53" name="Rechteck 52">
            <a:extLst>
              <a:ext uri="{FF2B5EF4-FFF2-40B4-BE49-F238E27FC236}">
                <a16:creationId xmlns:a16="http://schemas.microsoft.com/office/drawing/2014/main" id="{192C5283-4C64-423A-9220-F4B7279A3B1A}"/>
              </a:ext>
            </a:extLst>
          </p:cNvPr>
          <p:cNvSpPr/>
          <p:nvPr/>
        </p:nvSpPr>
        <p:spPr bwMode="auto">
          <a:xfrm>
            <a:off x="8329653" y="2710154"/>
            <a:ext cx="1807951" cy="71884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solidFill>
                  <a:schemeClr val="tx1"/>
                </a:solidFill>
                <a:latin typeface="Arial" panose="020B0604020202020204" pitchFamily="34" charset="0"/>
                <a:cs typeface="Arial" panose="020B0604020202020204" pitchFamily="34" charset="0"/>
              </a:rPr>
              <a:t>socio-economic</a:t>
            </a:r>
            <a:r>
              <a:rPr lang="de-DE" dirty="0">
                <a:solidFill>
                  <a:schemeClr val="tx1"/>
                </a:solidFill>
                <a:latin typeface="Arial" panose="020B0604020202020204" pitchFamily="34" charset="0"/>
                <a:cs typeface="Arial" panose="020B0604020202020204" pitchFamily="34" charset="0"/>
              </a:rPr>
              <a:t> </a:t>
            </a:r>
            <a:r>
              <a:rPr lang="de-DE" dirty="0" err="1">
                <a:solidFill>
                  <a:schemeClr val="tx1"/>
                </a:solidFill>
                <a:latin typeface="Arial" panose="020B0604020202020204" pitchFamily="34" charset="0"/>
                <a:cs typeface="Arial" panose="020B0604020202020204" pitchFamily="34" charset="0"/>
              </a:rPr>
              <a:t>status</a:t>
            </a:r>
            <a:endParaRPr lang="de-DE" dirty="0">
              <a:solidFill>
                <a:schemeClr val="tx1"/>
              </a:solidFill>
              <a:latin typeface="Arial" panose="020B0604020202020204" pitchFamily="34" charset="0"/>
              <a:cs typeface="Arial" panose="020B0604020202020204" pitchFamily="34" charset="0"/>
            </a:endParaRPr>
          </a:p>
        </p:txBody>
      </p:sp>
      <p:cxnSp>
        <p:nvCxnSpPr>
          <p:cNvPr id="54" name="Gerade Verbindung mit Pfeil 53">
            <a:extLst>
              <a:ext uri="{FF2B5EF4-FFF2-40B4-BE49-F238E27FC236}">
                <a16:creationId xmlns:a16="http://schemas.microsoft.com/office/drawing/2014/main" id="{A6194056-8E84-44DC-BD59-931AC7EF2D75}"/>
              </a:ext>
            </a:extLst>
          </p:cNvPr>
          <p:cNvCxnSpPr>
            <a:cxnSpLocks/>
            <a:stCxn id="53" idx="2"/>
          </p:cNvCxnSpPr>
          <p:nvPr/>
        </p:nvCxnSpPr>
        <p:spPr bwMode="auto">
          <a:xfrm flipH="1">
            <a:off x="8801502" y="3429000"/>
            <a:ext cx="432127" cy="6930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Gerade Verbindung mit Pfeil 56">
            <a:extLst>
              <a:ext uri="{FF2B5EF4-FFF2-40B4-BE49-F238E27FC236}">
                <a16:creationId xmlns:a16="http://schemas.microsoft.com/office/drawing/2014/main" id="{5A077DDF-DADC-40E8-8766-D764ADE765C2}"/>
              </a:ext>
            </a:extLst>
          </p:cNvPr>
          <p:cNvCxnSpPr>
            <a:cxnSpLocks/>
          </p:cNvCxnSpPr>
          <p:nvPr/>
        </p:nvCxnSpPr>
        <p:spPr bwMode="auto">
          <a:xfrm flipH="1">
            <a:off x="8977220" y="3419586"/>
            <a:ext cx="252085" cy="9656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9" name="Gerade Verbindung mit Pfeil 58">
            <a:extLst>
              <a:ext uri="{FF2B5EF4-FFF2-40B4-BE49-F238E27FC236}">
                <a16:creationId xmlns:a16="http://schemas.microsoft.com/office/drawing/2014/main" id="{A5E8243B-116A-4C35-A19B-BDBC104C2D85}"/>
              </a:ext>
            </a:extLst>
          </p:cNvPr>
          <p:cNvCxnSpPr>
            <a:cxnSpLocks/>
            <a:stCxn id="53" idx="2"/>
          </p:cNvCxnSpPr>
          <p:nvPr/>
        </p:nvCxnSpPr>
        <p:spPr bwMode="auto">
          <a:xfrm flipH="1">
            <a:off x="9049059" y="3429000"/>
            <a:ext cx="184570" cy="14229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2" name="Gerade Verbindung mit Pfeil 61">
            <a:extLst>
              <a:ext uri="{FF2B5EF4-FFF2-40B4-BE49-F238E27FC236}">
                <a16:creationId xmlns:a16="http://schemas.microsoft.com/office/drawing/2014/main" id="{545BBB9A-5834-4B72-9431-B120C02660EA}"/>
              </a:ext>
            </a:extLst>
          </p:cNvPr>
          <p:cNvCxnSpPr>
            <a:cxnSpLocks/>
            <a:stCxn id="53" idx="2"/>
          </p:cNvCxnSpPr>
          <p:nvPr/>
        </p:nvCxnSpPr>
        <p:spPr bwMode="auto">
          <a:xfrm>
            <a:off x="9233629" y="3429000"/>
            <a:ext cx="139005" cy="1651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5" name="Textfeld 64">
            <a:extLst>
              <a:ext uri="{FF2B5EF4-FFF2-40B4-BE49-F238E27FC236}">
                <a16:creationId xmlns:a16="http://schemas.microsoft.com/office/drawing/2014/main" id="{039C147C-0752-47F6-A961-E036EF5C8788}"/>
              </a:ext>
            </a:extLst>
          </p:cNvPr>
          <p:cNvSpPr txBox="1"/>
          <p:nvPr/>
        </p:nvSpPr>
        <p:spPr bwMode="auto">
          <a:xfrm>
            <a:off x="4601641" y="4437523"/>
            <a:ext cx="1812219" cy="646331"/>
          </a:xfrm>
          <a:prstGeom prst="rect">
            <a:avLst/>
          </a:prstGeom>
          <a:noFill/>
        </p:spPr>
        <p:txBody>
          <a:bodyPr wrap="square" rtlCol="0">
            <a:spAutoFit/>
          </a:bodyPr>
          <a:lstStyle/>
          <a:p>
            <a:r>
              <a:rPr lang="de-DE" i="1" dirty="0">
                <a:latin typeface="Arial" panose="020B0604020202020204" pitchFamily="34" charset="0"/>
                <a:cs typeface="Arial" panose="020B0604020202020204" pitchFamily="34" charset="0"/>
              </a:rPr>
              <a:t>N</a:t>
            </a:r>
            <a:r>
              <a:rPr lang="de-DE" dirty="0">
                <a:latin typeface="Arial" panose="020B0604020202020204" pitchFamily="34" charset="0"/>
                <a:cs typeface="Arial" panose="020B0604020202020204" pitchFamily="34" charset="0"/>
              </a:rPr>
              <a:t> = 4118 </a:t>
            </a:r>
            <a:r>
              <a:rPr lang="de-DE" dirty="0" err="1">
                <a:latin typeface="Arial" panose="020B0604020202020204" pitchFamily="34" charset="0"/>
                <a:cs typeface="Arial" panose="020B0604020202020204" pitchFamily="34" charset="0"/>
              </a:rPr>
              <a:t>Irish</a:t>
            </a:r>
            <a:r>
              <a:rPr lang="de-DE" dirty="0">
                <a:latin typeface="Arial" panose="020B0604020202020204" pitchFamily="34" charset="0"/>
                <a:cs typeface="Arial" panose="020B0604020202020204" pitchFamily="34" charset="0"/>
              </a:rPr>
              <a:t> 8th </a:t>
            </a:r>
            <a:r>
              <a:rPr lang="de-DE" dirty="0" err="1">
                <a:latin typeface="Arial" panose="020B0604020202020204" pitchFamily="34" charset="0"/>
                <a:cs typeface="Arial" panose="020B0604020202020204" pitchFamily="34" charset="0"/>
              </a:rPr>
              <a:t>graders</a:t>
            </a:r>
            <a:endParaRPr lang="de-DE" dirty="0">
              <a:latin typeface="Arial" panose="020B0604020202020204" pitchFamily="34" charset="0"/>
              <a:cs typeface="Arial" panose="020B0604020202020204" pitchFamily="34" charset="0"/>
            </a:endParaRPr>
          </a:p>
        </p:txBody>
      </p:sp>
      <p:pic>
        <p:nvPicPr>
          <p:cNvPr id="5" name="Grafik 4">
            <a:extLst>
              <a:ext uri="{FF2B5EF4-FFF2-40B4-BE49-F238E27FC236}">
                <a16:creationId xmlns:a16="http://schemas.microsoft.com/office/drawing/2014/main" id="{B56CA96E-EAF2-4CD4-8715-A22E93489E84}"/>
              </a:ext>
            </a:extLst>
          </p:cNvPr>
          <p:cNvPicPr>
            <a:picLocks noChangeAspect="1"/>
          </p:cNvPicPr>
          <p:nvPr/>
        </p:nvPicPr>
        <p:blipFill rotWithShape="1">
          <a:blip r:embed="rId5"/>
          <a:srcRect l="7747" r="15105"/>
          <a:stretch/>
        </p:blipFill>
        <p:spPr>
          <a:xfrm>
            <a:off x="1089891" y="4242737"/>
            <a:ext cx="1573991" cy="1224130"/>
          </a:xfrm>
          <a:prstGeom prst="rect">
            <a:avLst/>
          </a:prstGeom>
        </p:spPr>
      </p:pic>
      <p:sp>
        <p:nvSpPr>
          <p:cNvPr id="27" name="Titel 1">
            <a:extLst>
              <a:ext uri="{FF2B5EF4-FFF2-40B4-BE49-F238E27FC236}">
                <a16:creationId xmlns:a16="http://schemas.microsoft.com/office/drawing/2014/main" id="{6BFCDA74-EBFE-4561-A3F3-0DC75DB8E82D}"/>
              </a:ext>
            </a:extLst>
          </p:cNvPr>
          <p:cNvSpPr txBox="1">
            <a:spLocks/>
          </p:cNvSpPr>
          <p:nvPr/>
        </p:nvSpPr>
        <p:spPr bwMode="auto">
          <a:xfrm>
            <a:off x="2680332" y="4092823"/>
            <a:ext cx="1573991" cy="480960"/>
          </a:xfrm>
          <a:prstGeom prst="rect">
            <a:avLst/>
          </a:prstGeom>
        </p:spPr>
        <p:txBody>
          <a:bodyPr vert="horz" lIns="91440" tIns="45720" rIns="91440" bIns="45720" rtlCol="0" anchor="ctr">
            <a:normAutofit fontScale="85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de-AT" sz="1800" i="1" dirty="0" err="1">
                <a:latin typeface="Arial" panose="020B0604020202020204" pitchFamily="34" charset="0"/>
                <a:cs typeface="Arial" panose="020B0604020202020204" pitchFamily="34" charset="0"/>
              </a:rPr>
              <a:t>Timssi</a:t>
            </a:r>
            <a:r>
              <a:rPr lang="de-AT" sz="1800" i="1" dirty="0">
                <a:latin typeface="Arial" panose="020B0604020202020204" pitchFamily="34" charset="0"/>
                <a:cs typeface="Arial" panose="020B0604020202020204" pitchFamily="34" charset="0"/>
              </a:rPr>
              <a:t>, </a:t>
            </a:r>
            <a:r>
              <a:rPr lang="de-AT" sz="1800" i="1" dirty="0" err="1">
                <a:latin typeface="Arial" panose="020B0604020202020204" pitchFamily="34" charset="0"/>
                <a:cs typeface="Arial" panose="020B0604020202020204" pitchFamily="34" charset="0"/>
              </a:rPr>
              <a:t>is</a:t>
            </a:r>
            <a:r>
              <a:rPr lang="de-AT" sz="1800" i="1" dirty="0">
                <a:latin typeface="Arial" panose="020B0604020202020204" pitchFamily="34" charset="0"/>
                <a:cs typeface="Arial" panose="020B0604020202020204" pitchFamily="34" charset="0"/>
              </a:rPr>
              <a:t> </a:t>
            </a:r>
            <a:r>
              <a:rPr lang="de-AT" sz="1800" i="1" dirty="0" err="1">
                <a:latin typeface="Arial" panose="020B0604020202020204" pitchFamily="34" charset="0"/>
                <a:cs typeface="Arial" panose="020B0604020202020204" pitchFamily="34" charset="0"/>
              </a:rPr>
              <a:t>this</a:t>
            </a:r>
            <a:r>
              <a:rPr lang="de-AT" sz="1800" i="1" dirty="0">
                <a:latin typeface="Arial" panose="020B0604020202020204" pitchFamily="34" charset="0"/>
                <a:cs typeface="Arial" panose="020B0604020202020204" pitchFamily="34" charset="0"/>
              </a:rPr>
              <a:t> </a:t>
            </a:r>
            <a:r>
              <a:rPr lang="de-AT" sz="1800" b="1" i="1" dirty="0" err="1">
                <a:latin typeface="Arial" panose="020B0604020202020204" pitchFamily="34" charset="0"/>
                <a:cs typeface="Arial" panose="020B0604020202020204" pitchFamily="34" charset="0"/>
              </a:rPr>
              <a:t>bullshit</a:t>
            </a:r>
            <a:r>
              <a:rPr lang="de-AT" sz="1800" b="1" i="1" dirty="0">
                <a:latin typeface="Arial" panose="020B0604020202020204" pitchFamily="34" charset="0"/>
                <a:cs typeface="Arial" panose="020B0604020202020204" pitchFamily="34" charset="0"/>
              </a:rPr>
              <a:t>?</a:t>
            </a:r>
          </a:p>
        </p:txBody>
      </p:sp>
      <p:sp>
        <p:nvSpPr>
          <p:cNvPr id="31" name="Sprechblase: oval 30">
            <a:extLst>
              <a:ext uri="{FF2B5EF4-FFF2-40B4-BE49-F238E27FC236}">
                <a16:creationId xmlns:a16="http://schemas.microsoft.com/office/drawing/2014/main" id="{58F94FFB-05BF-4ED1-844D-8A5F1F7A22EA}"/>
              </a:ext>
            </a:extLst>
          </p:cNvPr>
          <p:cNvSpPr/>
          <p:nvPr/>
        </p:nvSpPr>
        <p:spPr bwMode="auto">
          <a:xfrm>
            <a:off x="2699446" y="4074150"/>
            <a:ext cx="1606064" cy="480960"/>
          </a:xfrm>
          <a:prstGeom prst="wedgeEllipseCallout">
            <a:avLst>
              <a:gd name="adj1" fmla="val -65744"/>
              <a:gd name="adj2" fmla="val 86438"/>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pic>
        <p:nvPicPr>
          <p:cNvPr id="2" name="Grafik 1">
            <a:extLst>
              <a:ext uri="{FF2B5EF4-FFF2-40B4-BE49-F238E27FC236}">
                <a16:creationId xmlns:a16="http://schemas.microsoft.com/office/drawing/2014/main" id="{CB0F4610-7BCF-4141-898A-3DFB27C5E92F}"/>
              </a:ext>
            </a:extLst>
          </p:cNvPr>
          <p:cNvPicPr>
            <a:picLocks noChangeAspect="1"/>
          </p:cNvPicPr>
          <p:nvPr/>
        </p:nvPicPr>
        <p:blipFill>
          <a:blip r:embed="rId6"/>
          <a:stretch>
            <a:fillRect/>
          </a:stretch>
        </p:blipFill>
        <p:spPr>
          <a:xfrm>
            <a:off x="1089891" y="-6146317"/>
            <a:ext cx="10382250" cy="5581650"/>
          </a:xfrm>
          <a:prstGeom prst="rect">
            <a:avLst/>
          </a:prstGeom>
        </p:spPr>
      </p:pic>
    </p:spTree>
    <p:extLst>
      <p:ext uri="{BB962C8B-B14F-4D97-AF65-F5344CB8AC3E}">
        <p14:creationId xmlns:p14="http://schemas.microsoft.com/office/powerpoint/2010/main" val="2965206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1"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 name="Rechteck 3">
            <a:extLst>
              <a:ext uri="{FF2B5EF4-FFF2-40B4-BE49-F238E27FC236}">
                <a16:creationId xmlns:a16="http://schemas.microsoft.com/office/drawing/2014/main" id="{7524DA9A-46A3-4912-BF4E-032E888E93B0}"/>
              </a:ext>
            </a:extLst>
          </p:cNvPr>
          <p:cNvSpPr/>
          <p:nvPr/>
        </p:nvSpPr>
        <p:spPr>
          <a:xfrm>
            <a:off x="119336" y="585247"/>
            <a:ext cx="11953328" cy="56166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 name="Titel 1">
            <a:extLst>
              <a:ext uri="{FF2B5EF4-FFF2-40B4-BE49-F238E27FC236}">
                <a16:creationId xmlns:a16="http://schemas.microsoft.com/office/drawing/2014/main" id="{C46FCEBF-AA4F-4E8F-AE68-25182C41EAD6}"/>
              </a:ext>
            </a:extLst>
          </p:cNvPr>
          <p:cNvSpPr>
            <a:spLocks noGrp="1"/>
          </p:cNvSpPr>
          <p:nvPr>
            <p:ph type="title"/>
          </p:nvPr>
        </p:nvSpPr>
        <p:spPr>
          <a:xfrm>
            <a:off x="1949184" y="475181"/>
            <a:ext cx="7920880" cy="1143000"/>
          </a:xfrm>
        </p:spPr>
        <p:txBody>
          <a:bodyPr>
            <a:normAutofit/>
          </a:bodyPr>
          <a:lstStyle/>
          <a:p>
            <a:r>
              <a:rPr lang="de-AT" sz="2800" b="1" dirty="0" err="1">
                <a:latin typeface="Arial" panose="020B0604020202020204" pitchFamily="34" charset="0"/>
                <a:cs typeface="Arial" panose="020B0604020202020204" pitchFamily="34" charset="0"/>
              </a:rPr>
              <a:t>What</a:t>
            </a:r>
            <a:r>
              <a:rPr lang="de-AT" sz="2800" b="1" dirty="0">
                <a:latin typeface="Arial" panose="020B0604020202020204" pitchFamily="34" charset="0"/>
                <a:cs typeface="Arial" panose="020B0604020202020204" pitchFamily="34" charset="0"/>
              </a:rPr>
              <a:t> I </a:t>
            </a:r>
            <a:r>
              <a:rPr lang="de-AT" sz="2800" b="1" dirty="0" err="1">
                <a:latin typeface="Arial" panose="020B0604020202020204" pitchFamily="34" charset="0"/>
                <a:cs typeface="Arial" panose="020B0604020202020204" pitchFamily="34" charset="0"/>
              </a:rPr>
              <a:t>want</a:t>
            </a:r>
            <a:r>
              <a:rPr lang="de-AT" sz="2800" b="1" dirty="0">
                <a:latin typeface="Arial" panose="020B0604020202020204" pitchFamily="34" charset="0"/>
                <a:cs typeface="Arial" panose="020B0604020202020204" pitchFamily="34" charset="0"/>
              </a:rPr>
              <a:t> </a:t>
            </a:r>
            <a:r>
              <a:rPr lang="de-AT" sz="2800" b="1" dirty="0" err="1">
                <a:latin typeface="Arial" panose="020B0604020202020204" pitchFamily="34" charset="0"/>
                <a:cs typeface="Arial" panose="020B0604020202020204" pitchFamily="34" charset="0"/>
              </a:rPr>
              <a:t>from</a:t>
            </a:r>
            <a:r>
              <a:rPr lang="de-AT" sz="2800" b="1" dirty="0">
                <a:latin typeface="Arial" panose="020B0604020202020204" pitchFamily="34" charset="0"/>
                <a:cs typeface="Arial" panose="020B0604020202020204" pitchFamily="34" charset="0"/>
              </a:rPr>
              <a:t> </a:t>
            </a:r>
            <a:r>
              <a:rPr lang="de-AT" sz="2800" b="1" dirty="0" err="1">
                <a:latin typeface="Arial" panose="020B0604020202020204" pitchFamily="34" charset="0"/>
                <a:cs typeface="Arial" panose="020B0604020202020204" pitchFamily="34" charset="0"/>
              </a:rPr>
              <a:t>today</a:t>
            </a:r>
            <a:endParaRPr lang="de-AT" sz="2800" dirty="0">
              <a:latin typeface="Arial" panose="020B0604020202020204" pitchFamily="34" charset="0"/>
              <a:cs typeface="Arial" panose="020B0604020202020204" pitchFamily="34" charset="0"/>
            </a:endParaRPr>
          </a:p>
        </p:txBody>
      </p:sp>
      <p:sp>
        <p:nvSpPr>
          <p:cNvPr id="19" name="Textfeld 18">
            <a:extLst>
              <a:ext uri="{FF2B5EF4-FFF2-40B4-BE49-F238E27FC236}">
                <a16:creationId xmlns:a16="http://schemas.microsoft.com/office/drawing/2014/main" id="{1DB05A2F-2DD7-489B-B316-9D10D9CC53CC}"/>
              </a:ext>
            </a:extLst>
          </p:cNvPr>
          <p:cNvSpPr txBox="1"/>
          <p:nvPr/>
        </p:nvSpPr>
        <p:spPr>
          <a:xfrm>
            <a:off x="949201" y="1497414"/>
            <a:ext cx="10840028" cy="461665"/>
          </a:xfrm>
          <a:prstGeom prst="rect">
            <a:avLst/>
          </a:prstGeom>
          <a:noFill/>
        </p:spPr>
        <p:txBody>
          <a:bodyPr wrap="square" rtlCol="0">
            <a:spAutoFit/>
          </a:bodyPr>
          <a:lstStyle/>
          <a:p>
            <a:r>
              <a:rPr lang="de-DE" sz="2400" dirty="0">
                <a:latin typeface="Arial" panose="020B0604020202020204" pitchFamily="34" charset="0"/>
                <a:cs typeface="Arial" panose="020B0604020202020204" pitchFamily="34" charset="0"/>
              </a:rPr>
              <a:t>- I) Bring </a:t>
            </a:r>
            <a:r>
              <a:rPr lang="de-DE" sz="2400" dirty="0" err="1">
                <a:latin typeface="Arial" panose="020B0604020202020204" pitchFamily="34" charset="0"/>
                <a:cs typeface="Arial" panose="020B0604020202020204" pitchFamily="34" charset="0"/>
              </a:rPr>
              <a:t>ourselves</a:t>
            </a:r>
            <a:r>
              <a:rPr lang="de-DE" sz="2400" dirty="0">
                <a:latin typeface="Arial" panose="020B0604020202020204" pitchFamily="34" charset="0"/>
                <a:cs typeface="Arial" panose="020B0604020202020204" pitchFamily="34" charset="0"/>
              </a:rPr>
              <a:t> on </a:t>
            </a:r>
            <a:r>
              <a:rPr lang="de-DE" sz="2400" dirty="0" err="1">
                <a:latin typeface="Arial" panose="020B0604020202020204" pitchFamily="34" charset="0"/>
                <a:cs typeface="Arial" panose="020B0604020202020204" pitchFamily="34" charset="0"/>
              </a:rPr>
              <a:t>the</a:t>
            </a:r>
            <a:r>
              <a:rPr lang="de-DE" sz="2400" dirty="0">
                <a:latin typeface="Arial" panose="020B0604020202020204" pitchFamily="34" charset="0"/>
                <a:cs typeface="Arial" panose="020B0604020202020204" pitchFamily="34" charset="0"/>
              </a:rPr>
              <a:t> same </a:t>
            </a:r>
            <a:r>
              <a:rPr lang="de-DE" sz="2400" dirty="0" err="1">
                <a:latin typeface="Arial" panose="020B0604020202020204" pitchFamily="34" charset="0"/>
                <a:cs typeface="Arial" panose="020B0604020202020204" pitchFamily="34" charset="0"/>
              </a:rPr>
              <a:t>page</a:t>
            </a:r>
            <a:r>
              <a:rPr lang="de-DE" sz="2400" dirty="0">
                <a:latin typeface="Arial" panose="020B0604020202020204" pitchFamily="34" charset="0"/>
                <a:cs typeface="Arial" panose="020B0604020202020204" pitchFamily="34" charset="0"/>
              </a:rPr>
              <a:t> </a:t>
            </a:r>
            <a:r>
              <a:rPr lang="de-DE" sz="2400" dirty="0" err="1">
                <a:latin typeface="Arial" panose="020B0604020202020204" pitchFamily="34" charset="0"/>
                <a:cs typeface="Arial" panose="020B0604020202020204" pitchFamily="34" charset="0"/>
              </a:rPr>
              <a:t>about</a:t>
            </a:r>
            <a:r>
              <a:rPr lang="de-DE" sz="2400" dirty="0">
                <a:latin typeface="Arial" panose="020B0604020202020204" pitchFamily="34" charset="0"/>
                <a:cs typeface="Arial" panose="020B0604020202020204" pitchFamily="34" charset="0"/>
              </a:rPr>
              <a:t> </a:t>
            </a:r>
            <a:r>
              <a:rPr lang="de-DE" sz="2400" b="1" dirty="0" err="1">
                <a:latin typeface="Arial" panose="020B0604020202020204" pitchFamily="34" charset="0"/>
                <a:cs typeface="Arial" panose="020B0604020202020204" pitchFamily="34" charset="0"/>
              </a:rPr>
              <a:t>causal</a:t>
            </a:r>
            <a:r>
              <a:rPr lang="de-DE" sz="2400" b="1" dirty="0">
                <a:latin typeface="Arial" panose="020B0604020202020204" pitchFamily="34" charset="0"/>
                <a:cs typeface="Arial" panose="020B0604020202020204" pitchFamily="34" charset="0"/>
              </a:rPr>
              <a:t> </a:t>
            </a:r>
            <a:r>
              <a:rPr lang="de-DE" sz="2400" b="1" dirty="0" err="1">
                <a:latin typeface="Arial" panose="020B0604020202020204" pitchFamily="34" charset="0"/>
                <a:cs typeface="Arial" panose="020B0604020202020204" pitchFamily="34" charset="0"/>
              </a:rPr>
              <a:t>machine</a:t>
            </a:r>
            <a:r>
              <a:rPr lang="de-DE" sz="2400" b="1" dirty="0">
                <a:latin typeface="Arial" panose="020B0604020202020204" pitchFamily="34" charset="0"/>
                <a:cs typeface="Arial" panose="020B0604020202020204" pitchFamily="34" charset="0"/>
              </a:rPr>
              <a:t> </a:t>
            </a:r>
            <a:r>
              <a:rPr lang="de-DE" sz="2400" b="1" dirty="0" err="1">
                <a:latin typeface="Arial" panose="020B0604020202020204" pitchFamily="34" charset="0"/>
                <a:cs typeface="Arial" panose="020B0604020202020204" pitchFamily="34" charset="0"/>
              </a:rPr>
              <a:t>learning</a:t>
            </a:r>
            <a:r>
              <a:rPr lang="de-DE" sz="2400" b="1" dirty="0">
                <a:latin typeface="Arial" panose="020B0604020202020204" pitchFamily="34" charset="0"/>
                <a:cs typeface="Arial" panose="020B0604020202020204" pitchFamily="34" charset="0"/>
              </a:rPr>
              <a:t> (CML)</a:t>
            </a:r>
          </a:p>
        </p:txBody>
      </p:sp>
      <p:sp>
        <p:nvSpPr>
          <p:cNvPr id="16" name="Textfeld 15">
            <a:extLst>
              <a:ext uri="{FF2B5EF4-FFF2-40B4-BE49-F238E27FC236}">
                <a16:creationId xmlns:a16="http://schemas.microsoft.com/office/drawing/2014/main" id="{32AF066E-35F9-4F3F-AA58-8EDB124D5F0E}"/>
              </a:ext>
            </a:extLst>
          </p:cNvPr>
          <p:cNvSpPr txBox="1"/>
          <p:nvPr/>
        </p:nvSpPr>
        <p:spPr bwMode="auto">
          <a:xfrm>
            <a:off x="1069314" y="1988143"/>
            <a:ext cx="11003350" cy="461665"/>
          </a:xfrm>
          <a:prstGeom prst="rect">
            <a:avLst/>
          </a:prstGeom>
          <a:noFill/>
        </p:spPr>
        <p:txBody>
          <a:bodyPr wrap="square" rtlCol="0">
            <a:spAutoFit/>
          </a:bodyPr>
          <a:lstStyle/>
          <a:p>
            <a:r>
              <a:rPr lang="de-DE" sz="2400" i="1" dirty="0" err="1">
                <a:latin typeface="Arial" panose="020B0604020202020204" pitchFamily="34" charset="0"/>
                <a:cs typeface="Arial" panose="020B0604020202020204" pitchFamily="34" charset="0"/>
              </a:rPr>
              <a:t>What</a:t>
            </a:r>
            <a:r>
              <a:rPr lang="de-DE" sz="2400" i="1" dirty="0">
                <a:latin typeface="Arial" panose="020B0604020202020204" pitchFamily="34" charset="0"/>
                <a:cs typeface="Arial" panose="020B0604020202020204" pitchFamily="34" charset="0"/>
              </a:rPr>
              <a:t> </a:t>
            </a:r>
            <a:r>
              <a:rPr lang="de-DE" sz="2400" i="1" dirty="0" err="1">
                <a:latin typeface="Arial" panose="020B0604020202020204" pitchFamily="34" charset="0"/>
                <a:cs typeface="Arial" panose="020B0604020202020204" pitchFamily="34" charset="0"/>
              </a:rPr>
              <a:t>is</a:t>
            </a:r>
            <a:r>
              <a:rPr lang="de-DE" sz="2400" i="1" dirty="0">
                <a:latin typeface="Arial" panose="020B0604020202020204" pitchFamily="34" charset="0"/>
                <a:cs typeface="Arial" panose="020B0604020202020204" pitchFamily="34" charset="0"/>
              </a:rPr>
              <a:t> </a:t>
            </a:r>
            <a:r>
              <a:rPr lang="de-DE" sz="2400" i="1" dirty="0" err="1">
                <a:latin typeface="Arial" panose="020B0604020202020204" pitchFamily="34" charset="0"/>
                <a:cs typeface="Arial" panose="020B0604020202020204" pitchFamily="34" charset="0"/>
              </a:rPr>
              <a:t>it</a:t>
            </a:r>
            <a:r>
              <a:rPr lang="de-DE" sz="2400" i="1" dirty="0">
                <a:latin typeface="Arial" panose="020B0604020202020204" pitchFamily="34" charset="0"/>
                <a:cs typeface="Arial" panose="020B0604020202020204" pitchFamily="34" charset="0"/>
              </a:rPr>
              <a:t>; </a:t>
            </a:r>
            <a:r>
              <a:rPr lang="de-DE" sz="2400" i="1" dirty="0" err="1">
                <a:latin typeface="Arial" panose="020B0604020202020204" pitchFamily="34" charset="0"/>
                <a:cs typeface="Arial" panose="020B0604020202020204" pitchFamily="34" charset="0"/>
              </a:rPr>
              <a:t>how</a:t>
            </a:r>
            <a:r>
              <a:rPr lang="de-DE" sz="2400" i="1" dirty="0">
                <a:latin typeface="Arial" panose="020B0604020202020204" pitchFamily="34" charset="0"/>
                <a:cs typeface="Arial" panose="020B0604020202020204" pitchFamily="34" charset="0"/>
              </a:rPr>
              <a:t> </a:t>
            </a:r>
            <a:r>
              <a:rPr lang="de-DE" sz="2400" i="1" dirty="0" err="1">
                <a:latin typeface="Arial" panose="020B0604020202020204" pitchFamily="34" charset="0"/>
                <a:cs typeface="Arial" panose="020B0604020202020204" pitchFamily="34" charset="0"/>
              </a:rPr>
              <a:t>does</a:t>
            </a:r>
            <a:r>
              <a:rPr lang="de-DE" sz="2400" i="1" dirty="0">
                <a:latin typeface="Arial" panose="020B0604020202020204" pitchFamily="34" charset="0"/>
                <a:cs typeface="Arial" panose="020B0604020202020204" pitchFamily="34" charset="0"/>
              </a:rPr>
              <a:t> </a:t>
            </a:r>
            <a:r>
              <a:rPr lang="de-DE" sz="2400" i="1" dirty="0" err="1">
                <a:latin typeface="Arial" panose="020B0604020202020204" pitchFamily="34" charset="0"/>
                <a:cs typeface="Arial" panose="020B0604020202020204" pitchFamily="34" charset="0"/>
              </a:rPr>
              <a:t>it</a:t>
            </a:r>
            <a:r>
              <a:rPr lang="de-DE" sz="2400" i="1" dirty="0">
                <a:latin typeface="Arial" panose="020B0604020202020204" pitchFamily="34" charset="0"/>
                <a:cs typeface="Arial" panose="020B0604020202020204" pitchFamily="34" charset="0"/>
              </a:rPr>
              <a:t> </a:t>
            </a:r>
            <a:r>
              <a:rPr lang="de-DE" sz="2400" i="1" dirty="0" err="1">
                <a:latin typeface="Arial" panose="020B0604020202020204" pitchFamily="34" charset="0"/>
                <a:cs typeface="Arial" panose="020B0604020202020204" pitchFamily="34" charset="0"/>
              </a:rPr>
              <a:t>differ</a:t>
            </a:r>
            <a:r>
              <a:rPr lang="de-DE" sz="2400" i="1" dirty="0">
                <a:latin typeface="Arial" panose="020B0604020202020204" pitchFamily="34" charset="0"/>
                <a:cs typeface="Arial" panose="020B0604020202020204" pitchFamily="34" charset="0"/>
              </a:rPr>
              <a:t> </a:t>
            </a:r>
            <a:r>
              <a:rPr lang="de-DE" sz="2400" i="1" dirty="0" err="1">
                <a:latin typeface="Arial" panose="020B0604020202020204" pitchFamily="34" charset="0"/>
                <a:cs typeface="Arial" panose="020B0604020202020204" pitchFamily="34" charset="0"/>
              </a:rPr>
              <a:t>from</a:t>
            </a:r>
            <a:r>
              <a:rPr lang="de-DE" sz="2400" i="1" dirty="0">
                <a:latin typeface="Arial" panose="020B0604020202020204" pitchFamily="34" charset="0"/>
                <a:cs typeface="Arial" panose="020B0604020202020204" pitchFamily="34" charset="0"/>
              </a:rPr>
              <a:t> </a:t>
            </a:r>
            <a:r>
              <a:rPr lang="de-DE" sz="2400" i="1" dirty="0" err="1">
                <a:latin typeface="Arial" panose="020B0604020202020204" pitchFamily="34" charset="0"/>
                <a:cs typeface="Arial" panose="020B0604020202020204" pitchFamily="34" charset="0"/>
              </a:rPr>
              <a:t>causal</a:t>
            </a:r>
            <a:r>
              <a:rPr lang="de-DE" sz="2400" i="1" dirty="0">
                <a:latin typeface="Arial" panose="020B0604020202020204" pitchFamily="34" charset="0"/>
                <a:cs typeface="Arial" panose="020B0604020202020204" pitchFamily="34" charset="0"/>
              </a:rPr>
              <a:t> </a:t>
            </a:r>
            <a:r>
              <a:rPr lang="de-DE" sz="2400" i="1" dirty="0" err="1">
                <a:latin typeface="Arial" panose="020B0604020202020204" pitchFamily="34" charset="0"/>
                <a:cs typeface="Arial" panose="020B0604020202020204" pitchFamily="34" charset="0"/>
              </a:rPr>
              <a:t>modeling</a:t>
            </a:r>
            <a:r>
              <a:rPr lang="de-DE" sz="2400" i="1" dirty="0">
                <a:latin typeface="Arial" panose="020B0604020202020204" pitchFamily="34" charset="0"/>
                <a:cs typeface="Arial" panose="020B0604020202020204" pitchFamily="34" charset="0"/>
              </a:rPr>
              <a:t> </a:t>
            </a:r>
            <a:r>
              <a:rPr lang="de-DE" sz="2400" i="1" dirty="0" err="1">
                <a:latin typeface="Arial" panose="020B0604020202020204" pitchFamily="34" charset="0"/>
                <a:cs typeface="Arial" panose="020B0604020202020204" pitchFamily="34" charset="0"/>
              </a:rPr>
              <a:t>without</a:t>
            </a:r>
            <a:r>
              <a:rPr lang="de-DE" sz="2400" i="1" dirty="0">
                <a:latin typeface="Arial" panose="020B0604020202020204" pitchFamily="34" charset="0"/>
                <a:cs typeface="Arial" panose="020B0604020202020204" pitchFamily="34" charset="0"/>
              </a:rPr>
              <a:t> </a:t>
            </a:r>
            <a:r>
              <a:rPr lang="de-DE" sz="2400" i="1" dirty="0" err="1">
                <a:latin typeface="Arial" panose="020B0604020202020204" pitchFamily="34" charset="0"/>
                <a:cs typeface="Arial" panose="020B0604020202020204" pitchFamily="34" charset="0"/>
              </a:rPr>
              <a:t>machine</a:t>
            </a:r>
            <a:r>
              <a:rPr lang="de-DE" sz="2400" i="1" dirty="0">
                <a:latin typeface="Arial" panose="020B0604020202020204" pitchFamily="34" charset="0"/>
                <a:cs typeface="Arial" panose="020B0604020202020204" pitchFamily="34" charset="0"/>
              </a:rPr>
              <a:t> </a:t>
            </a:r>
            <a:r>
              <a:rPr lang="de-DE" sz="2400" i="1" dirty="0" err="1">
                <a:latin typeface="Arial" panose="020B0604020202020204" pitchFamily="34" charset="0"/>
                <a:cs typeface="Arial" panose="020B0604020202020204" pitchFamily="34" charset="0"/>
              </a:rPr>
              <a:t>learning</a:t>
            </a:r>
            <a:r>
              <a:rPr lang="de-DE" sz="2400" i="1" dirty="0">
                <a:latin typeface="Arial" panose="020B0604020202020204" pitchFamily="34" charset="0"/>
                <a:cs typeface="Arial" panose="020B0604020202020204" pitchFamily="34" charset="0"/>
              </a:rPr>
              <a:t>?</a:t>
            </a:r>
          </a:p>
        </p:txBody>
      </p:sp>
      <p:sp>
        <p:nvSpPr>
          <p:cNvPr id="17" name="Textfeld 16">
            <a:extLst>
              <a:ext uri="{FF2B5EF4-FFF2-40B4-BE49-F238E27FC236}">
                <a16:creationId xmlns:a16="http://schemas.microsoft.com/office/drawing/2014/main" id="{2C168C05-E328-4D18-8425-D70E5AAB1F3B}"/>
              </a:ext>
            </a:extLst>
          </p:cNvPr>
          <p:cNvSpPr txBox="1"/>
          <p:nvPr/>
        </p:nvSpPr>
        <p:spPr bwMode="auto">
          <a:xfrm>
            <a:off x="949201" y="3354080"/>
            <a:ext cx="11558485" cy="2862322"/>
          </a:xfrm>
          <a:prstGeom prst="rect">
            <a:avLst/>
          </a:prstGeom>
          <a:noFill/>
        </p:spPr>
        <p:txBody>
          <a:bodyPr wrap="square" rtlCol="0">
            <a:spAutoFit/>
          </a:bodyPr>
          <a:lstStyle/>
          <a:p>
            <a:r>
              <a:rPr lang="de-DE" sz="2400" dirty="0">
                <a:latin typeface="Arial" panose="020B0604020202020204" pitchFamily="34" charset="0"/>
                <a:cs typeface="Arial" panose="020B0604020202020204" pitchFamily="34" charset="0"/>
              </a:rPr>
              <a:t>III) </a:t>
            </a:r>
            <a:r>
              <a:rPr lang="de-DE" sz="2400" dirty="0" err="1">
                <a:latin typeface="Arial" panose="020B0604020202020204" pitchFamily="34" charset="0"/>
                <a:cs typeface="Arial" panose="020B0604020202020204" pitchFamily="34" charset="0"/>
              </a:rPr>
              <a:t>Its</a:t>
            </a:r>
            <a:r>
              <a:rPr lang="de-DE" sz="2400" dirty="0">
                <a:latin typeface="Arial" panose="020B0604020202020204" pitchFamily="34" charset="0"/>
                <a:cs typeface="Arial" panose="020B0604020202020204" pitchFamily="34" charset="0"/>
              </a:rPr>
              <a:t> </a:t>
            </a:r>
            <a:r>
              <a:rPr lang="de-DE" sz="2400" b="1" dirty="0" err="1">
                <a:latin typeface="Arial" panose="020B0604020202020204" pitchFamily="34" charset="0"/>
                <a:cs typeface="Arial" panose="020B0604020202020204" pitchFamily="34" charset="0"/>
              </a:rPr>
              <a:t>uniqueness</a:t>
            </a:r>
            <a:r>
              <a:rPr lang="de-DE" sz="2400" b="1" dirty="0">
                <a:latin typeface="Arial" panose="020B0604020202020204" pitchFamily="34" charset="0"/>
                <a:cs typeface="Arial" panose="020B0604020202020204" pitchFamily="34" charset="0"/>
              </a:rPr>
              <a:t> </a:t>
            </a:r>
            <a:r>
              <a:rPr lang="de-DE" sz="2400" b="1" dirty="0" err="1">
                <a:latin typeface="Arial" panose="020B0604020202020204" pitchFamily="34" charset="0"/>
                <a:cs typeface="Arial" panose="020B0604020202020204" pitchFamily="34" charset="0"/>
              </a:rPr>
              <a:t>status</a:t>
            </a:r>
            <a:r>
              <a:rPr lang="de-DE" sz="2400" b="1" dirty="0">
                <a:latin typeface="Arial" panose="020B0604020202020204" pitchFamily="34" charset="0"/>
                <a:cs typeface="Arial" panose="020B0604020202020204" pitchFamily="34" charset="0"/>
              </a:rPr>
              <a:t> </a:t>
            </a:r>
            <a:r>
              <a:rPr lang="de-DE" sz="2400" dirty="0" err="1">
                <a:latin typeface="Arial" panose="020B0604020202020204" pitchFamily="34" charset="0"/>
                <a:cs typeface="Arial" panose="020B0604020202020204" pitchFamily="34" charset="0"/>
              </a:rPr>
              <a:t>regarding</a:t>
            </a:r>
            <a:r>
              <a:rPr lang="de-DE" sz="2400" dirty="0">
                <a:latin typeface="Arial" panose="020B0604020202020204" pitchFamily="34" charset="0"/>
                <a:cs typeface="Arial" panose="020B0604020202020204" pitchFamily="34" charset="0"/>
              </a:rPr>
              <a:t> </a:t>
            </a:r>
            <a:r>
              <a:rPr lang="de-DE" sz="2400" dirty="0" err="1">
                <a:latin typeface="Arial" panose="020B0604020202020204" pitchFamily="34" charset="0"/>
                <a:cs typeface="Arial" panose="020B0604020202020204" pitchFamily="34" charset="0"/>
              </a:rPr>
              <a:t>causal</a:t>
            </a:r>
            <a:r>
              <a:rPr lang="de-DE" sz="2400" dirty="0">
                <a:latin typeface="Arial" panose="020B0604020202020204" pitchFamily="34" charset="0"/>
                <a:cs typeface="Arial" panose="020B0604020202020204" pitchFamily="34" charset="0"/>
              </a:rPr>
              <a:t> </a:t>
            </a:r>
            <a:r>
              <a:rPr lang="de-DE" sz="2400" dirty="0" err="1">
                <a:latin typeface="Arial" panose="020B0604020202020204" pitchFamily="34" charset="0"/>
                <a:cs typeface="Arial" panose="020B0604020202020204" pitchFamily="34" charset="0"/>
              </a:rPr>
              <a:t>inference</a:t>
            </a:r>
            <a:r>
              <a:rPr lang="de-DE" sz="2400" dirty="0">
                <a:latin typeface="Arial" panose="020B0604020202020204" pitchFamily="34" charset="0"/>
                <a:cs typeface="Arial" panose="020B0604020202020204" pitchFamily="34" charset="0"/>
              </a:rPr>
              <a:t>:</a:t>
            </a:r>
          </a:p>
          <a:p>
            <a:pPr marL="285750" indent="-285750">
              <a:buFontTx/>
              <a:buChar char="-"/>
            </a:pPr>
            <a:endParaRPr lang="de-DE" sz="1200" dirty="0">
              <a:latin typeface="Arial" panose="020B0604020202020204" pitchFamily="34" charset="0"/>
              <a:cs typeface="Arial" panose="020B0604020202020204" pitchFamily="34" charset="0"/>
            </a:endParaRPr>
          </a:p>
          <a:p>
            <a:pPr marL="285750" indent="-285750">
              <a:buFontTx/>
              <a:buChar char="-"/>
            </a:pPr>
            <a:r>
              <a:rPr lang="de-DE" sz="2400" i="1" dirty="0" err="1">
                <a:latin typeface="Arial" panose="020B0604020202020204" pitchFamily="34" charset="0"/>
                <a:cs typeface="Arial" panose="020B0604020202020204" pitchFamily="34" charset="0"/>
              </a:rPr>
              <a:t>Which</a:t>
            </a:r>
            <a:r>
              <a:rPr lang="de-DE" sz="2400" i="1" dirty="0">
                <a:latin typeface="Arial" panose="020B0604020202020204" pitchFamily="34" charset="0"/>
                <a:cs typeface="Arial" panose="020B0604020202020204" pitchFamily="34" charset="0"/>
              </a:rPr>
              <a:t> </a:t>
            </a:r>
            <a:r>
              <a:rPr lang="de-DE" sz="2400" i="1" dirty="0" err="1">
                <a:latin typeface="Arial" panose="020B0604020202020204" pitchFamily="34" charset="0"/>
                <a:cs typeface="Arial" panose="020B0604020202020204" pitchFamily="34" charset="0"/>
              </a:rPr>
              <a:t>requirements</a:t>
            </a:r>
            <a:r>
              <a:rPr lang="de-DE" sz="2400" i="1" dirty="0">
                <a:latin typeface="Arial" panose="020B0604020202020204" pitchFamily="34" charset="0"/>
                <a:cs typeface="Arial" panose="020B0604020202020204" pitchFamily="34" charset="0"/>
              </a:rPr>
              <a:t> </a:t>
            </a:r>
            <a:r>
              <a:rPr lang="de-DE" sz="2400" i="1" dirty="0" err="1">
                <a:latin typeface="Arial" panose="020B0604020202020204" pitchFamily="34" charset="0"/>
                <a:cs typeface="Arial" panose="020B0604020202020204" pitchFamily="34" charset="0"/>
              </a:rPr>
              <a:t>are</a:t>
            </a:r>
            <a:r>
              <a:rPr lang="de-DE" sz="2400" i="1" dirty="0">
                <a:latin typeface="Arial" panose="020B0604020202020204" pitchFamily="34" charset="0"/>
                <a:cs typeface="Arial" panose="020B0604020202020204" pitchFamily="34" charset="0"/>
              </a:rPr>
              <a:t> </a:t>
            </a:r>
            <a:r>
              <a:rPr lang="de-DE" sz="2400" i="1" dirty="0" err="1">
                <a:latin typeface="Arial" panose="020B0604020202020204" pitchFamily="34" charset="0"/>
                <a:cs typeface="Arial" panose="020B0604020202020204" pitchFamily="34" charset="0"/>
              </a:rPr>
              <a:t>the</a:t>
            </a:r>
            <a:r>
              <a:rPr lang="de-DE" sz="2400" i="1" dirty="0">
                <a:latin typeface="Arial" panose="020B0604020202020204" pitchFamily="34" charset="0"/>
                <a:cs typeface="Arial" panose="020B0604020202020204" pitchFamily="34" charset="0"/>
              </a:rPr>
              <a:t> same </a:t>
            </a:r>
            <a:r>
              <a:rPr lang="de-DE" sz="2400" i="1" dirty="0" err="1">
                <a:latin typeface="Arial" panose="020B0604020202020204" pitchFamily="34" charset="0"/>
                <a:cs typeface="Arial" panose="020B0604020202020204" pitchFamily="34" charset="0"/>
              </a:rPr>
              <a:t>as</a:t>
            </a:r>
            <a:r>
              <a:rPr lang="de-DE" sz="2400" i="1" dirty="0">
                <a:latin typeface="Arial" panose="020B0604020202020204" pitchFamily="34" charset="0"/>
                <a:cs typeface="Arial" panose="020B0604020202020204" pitchFamily="34" charset="0"/>
              </a:rPr>
              <a:t> in non-ML </a:t>
            </a:r>
            <a:r>
              <a:rPr lang="de-DE" sz="2400" i="1" dirty="0" err="1">
                <a:latin typeface="Arial" panose="020B0604020202020204" pitchFamily="34" charset="0"/>
                <a:cs typeface="Arial" panose="020B0604020202020204" pitchFamily="34" charset="0"/>
              </a:rPr>
              <a:t>modeling</a:t>
            </a:r>
            <a:r>
              <a:rPr lang="de-DE" sz="2400" i="1" dirty="0">
                <a:latin typeface="Arial" panose="020B0604020202020204" pitchFamily="34" charset="0"/>
                <a:cs typeface="Arial" panose="020B0604020202020204" pitchFamily="34" charset="0"/>
              </a:rPr>
              <a:t> </a:t>
            </a:r>
            <a:r>
              <a:rPr lang="de-DE" sz="2400" i="1" dirty="0" err="1">
                <a:latin typeface="Arial" panose="020B0604020202020204" pitchFamily="34" charset="0"/>
                <a:cs typeface="Arial" panose="020B0604020202020204" pitchFamily="34" charset="0"/>
              </a:rPr>
              <a:t>for</a:t>
            </a:r>
            <a:r>
              <a:rPr lang="de-DE" sz="2400" i="1" dirty="0">
                <a:latin typeface="Arial" panose="020B0604020202020204" pitchFamily="34" charset="0"/>
                <a:cs typeface="Arial" panose="020B0604020202020204" pitchFamily="34" charset="0"/>
              </a:rPr>
              <a:t> </a:t>
            </a:r>
            <a:r>
              <a:rPr lang="de-DE" sz="2400" i="1" dirty="0" err="1">
                <a:latin typeface="Arial" panose="020B0604020202020204" pitchFamily="34" charset="0"/>
                <a:cs typeface="Arial" panose="020B0604020202020204" pitchFamily="34" charset="0"/>
              </a:rPr>
              <a:t>causal</a:t>
            </a:r>
            <a:r>
              <a:rPr lang="de-DE" sz="2400" i="1" dirty="0">
                <a:latin typeface="Arial" panose="020B0604020202020204" pitchFamily="34" charset="0"/>
                <a:cs typeface="Arial" panose="020B0604020202020204" pitchFamily="34" charset="0"/>
              </a:rPr>
              <a:t> </a:t>
            </a:r>
            <a:r>
              <a:rPr lang="de-DE" sz="2400" i="1" dirty="0" err="1">
                <a:latin typeface="Arial" panose="020B0604020202020204" pitchFamily="34" charset="0"/>
                <a:cs typeface="Arial" panose="020B0604020202020204" pitchFamily="34" charset="0"/>
              </a:rPr>
              <a:t>inference</a:t>
            </a:r>
            <a:r>
              <a:rPr lang="de-DE" sz="2400" i="1" dirty="0">
                <a:latin typeface="Arial" panose="020B0604020202020204" pitchFamily="34" charset="0"/>
                <a:cs typeface="Arial" panose="020B0604020202020204" pitchFamily="34" charset="0"/>
              </a:rPr>
              <a:t>?</a:t>
            </a:r>
          </a:p>
          <a:p>
            <a:pPr marL="285750" indent="-285750">
              <a:buFontTx/>
              <a:buChar char="-"/>
            </a:pPr>
            <a:endParaRPr lang="de-DE" sz="1200" dirty="0">
              <a:latin typeface="Arial" panose="020B0604020202020204" pitchFamily="34" charset="0"/>
              <a:cs typeface="Arial" panose="020B0604020202020204" pitchFamily="34" charset="0"/>
            </a:endParaRPr>
          </a:p>
          <a:p>
            <a:pPr marL="285750" indent="-285750">
              <a:buFontTx/>
              <a:buChar char="-"/>
            </a:pPr>
            <a:r>
              <a:rPr lang="de-DE" sz="2400" i="1" dirty="0" err="1">
                <a:latin typeface="Arial" panose="020B0604020202020204" pitchFamily="34" charset="0"/>
                <a:cs typeface="Arial" panose="020B0604020202020204" pitchFamily="34" charset="0"/>
              </a:rPr>
              <a:t>Which</a:t>
            </a:r>
            <a:r>
              <a:rPr lang="de-DE" sz="2400" i="1" dirty="0">
                <a:latin typeface="Arial" panose="020B0604020202020204" pitchFamily="34" charset="0"/>
                <a:cs typeface="Arial" panose="020B0604020202020204" pitchFamily="34" charset="0"/>
              </a:rPr>
              <a:t> </a:t>
            </a:r>
            <a:r>
              <a:rPr lang="de-DE" sz="2400" i="1" dirty="0" err="1">
                <a:latin typeface="Arial" panose="020B0604020202020204" pitchFamily="34" charset="0"/>
                <a:cs typeface="Arial" panose="020B0604020202020204" pitchFamily="34" charset="0"/>
              </a:rPr>
              <a:t>advantages</a:t>
            </a:r>
            <a:r>
              <a:rPr lang="de-DE" sz="2400" i="1" dirty="0">
                <a:latin typeface="Arial" panose="020B0604020202020204" pitchFamily="34" charset="0"/>
                <a:cs typeface="Arial" panose="020B0604020202020204" pitchFamily="34" charset="0"/>
              </a:rPr>
              <a:t> </a:t>
            </a:r>
            <a:r>
              <a:rPr lang="de-DE" sz="2400" i="1" dirty="0" err="1">
                <a:latin typeface="Arial" panose="020B0604020202020204" pitchFamily="34" charset="0"/>
                <a:cs typeface="Arial" panose="020B0604020202020204" pitchFamily="34" charset="0"/>
              </a:rPr>
              <a:t>does</a:t>
            </a:r>
            <a:r>
              <a:rPr lang="de-DE" sz="2400" i="1" dirty="0">
                <a:latin typeface="Arial" panose="020B0604020202020204" pitchFamily="34" charset="0"/>
                <a:cs typeface="Arial" panose="020B0604020202020204" pitchFamily="34" charset="0"/>
              </a:rPr>
              <a:t> CML bring in </a:t>
            </a:r>
            <a:r>
              <a:rPr lang="de-DE" sz="2400" i="1" dirty="0" err="1">
                <a:latin typeface="Arial" panose="020B0604020202020204" pitchFamily="34" charset="0"/>
                <a:cs typeface="Arial" panose="020B0604020202020204" pitchFamily="34" charset="0"/>
              </a:rPr>
              <a:t>comparison</a:t>
            </a:r>
            <a:r>
              <a:rPr lang="de-DE" sz="2400" i="1" dirty="0">
                <a:latin typeface="Arial" panose="020B0604020202020204" pitchFamily="34" charset="0"/>
                <a:cs typeface="Arial" panose="020B0604020202020204" pitchFamily="34" charset="0"/>
              </a:rPr>
              <a:t>?</a:t>
            </a:r>
          </a:p>
          <a:p>
            <a:pPr marL="285750" indent="-285750">
              <a:buFontTx/>
              <a:buChar char="-"/>
            </a:pPr>
            <a:endParaRPr lang="de-DE" sz="1200" dirty="0">
              <a:latin typeface="Arial" panose="020B0604020202020204" pitchFamily="34" charset="0"/>
              <a:cs typeface="Arial" panose="020B0604020202020204" pitchFamily="34" charset="0"/>
            </a:endParaRPr>
          </a:p>
          <a:p>
            <a:r>
              <a:rPr lang="de-DE" sz="2400" dirty="0">
                <a:latin typeface="Arial" panose="020B0604020202020204" pitchFamily="34" charset="0"/>
                <a:cs typeface="Arial" panose="020B0604020202020204" pitchFamily="34" charset="0"/>
              </a:rPr>
              <a:t>IV) </a:t>
            </a:r>
            <a:r>
              <a:rPr lang="de-DE" sz="2400" dirty="0" err="1">
                <a:latin typeface="Arial" panose="020B0604020202020204" pitchFamily="34" charset="0"/>
                <a:cs typeface="Arial" panose="020B0604020202020204" pitchFamily="34" charset="0"/>
              </a:rPr>
              <a:t>Conclusions</a:t>
            </a:r>
            <a:r>
              <a:rPr lang="de-DE" sz="2400" dirty="0">
                <a:latin typeface="Arial" panose="020B0604020202020204" pitchFamily="34" charset="0"/>
                <a:cs typeface="Arial" panose="020B0604020202020204" pitchFamily="34" charset="0"/>
              </a:rPr>
              <a:t>, </a:t>
            </a:r>
            <a:r>
              <a:rPr lang="de-DE" sz="2400" dirty="0" err="1">
                <a:latin typeface="Arial" panose="020B0604020202020204" pitchFamily="34" charset="0"/>
                <a:cs typeface="Arial" panose="020B0604020202020204" pitchFamily="34" charset="0"/>
              </a:rPr>
              <a:t>Hypotheses</a:t>
            </a:r>
            <a:r>
              <a:rPr lang="de-DE" sz="2400" dirty="0">
                <a:latin typeface="Arial" panose="020B0604020202020204" pitchFamily="34" charset="0"/>
                <a:cs typeface="Arial" panose="020B0604020202020204" pitchFamily="34" charset="0"/>
              </a:rPr>
              <a:t>, &amp; </a:t>
            </a:r>
            <a:r>
              <a:rPr lang="de-DE" sz="2400" dirty="0" err="1">
                <a:latin typeface="Arial" panose="020B0604020202020204" pitchFamily="34" charset="0"/>
                <a:cs typeface="Arial" panose="020B0604020202020204" pitchFamily="34" charset="0"/>
              </a:rPr>
              <a:t>Implications</a:t>
            </a:r>
            <a:r>
              <a:rPr lang="de-DE" sz="2400" dirty="0">
                <a:latin typeface="Arial" panose="020B0604020202020204" pitchFamily="34" charset="0"/>
                <a:cs typeface="Arial" panose="020B0604020202020204" pitchFamily="34" charset="0"/>
              </a:rPr>
              <a:t> </a:t>
            </a:r>
            <a:r>
              <a:rPr lang="de-DE" sz="2400" dirty="0" err="1">
                <a:latin typeface="Arial" panose="020B0604020202020204" pitchFamily="34" charset="0"/>
                <a:cs typeface="Arial" panose="020B0604020202020204" pitchFamily="34" charset="0"/>
              </a:rPr>
              <a:t>for</a:t>
            </a:r>
            <a:r>
              <a:rPr lang="de-DE" sz="2400" dirty="0">
                <a:latin typeface="Arial" panose="020B0604020202020204" pitchFamily="34" charset="0"/>
                <a:cs typeface="Arial" panose="020B0604020202020204" pitchFamily="34" charset="0"/>
              </a:rPr>
              <a:t> </a:t>
            </a:r>
            <a:r>
              <a:rPr lang="de-DE" sz="2400" dirty="0" err="1">
                <a:latin typeface="Arial" panose="020B0604020202020204" pitchFamily="34" charset="0"/>
                <a:cs typeface="Arial" panose="020B0604020202020204" pitchFamily="34" charset="0"/>
              </a:rPr>
              <a:t>our</a:t>
            </a:r>
            <a:r>
              <a:rPr lang="de-DE" sz="2400" dirty="0">
                <a:latin typeface="Arial" panose="020B0604020202020204" pitchFamily="34" charset="0"/>
                <a:cs typeface="Arial" panose="020B0604020202020204" pitchFamily="34" charset="0"/>
              </a:rPr>
              <a:t> </a:t>
            </a:r>
            <a:r>
              <a:rPr lang="de-DE" sz="2400" dirty="0" err="1">
                <a:latin typeface="Arial" panose="020B0604020202020204" pitchFamily="34" charset="0"/>
                <a:cs typeface="Arial" panose="020B0604020202020204" pitchFamily="34" charset="0"/>
              </a:rPr>
              <a:t>research</a:t>
            </a:r>
            <a:r>
              <a:rPr lang="de-DE" sz="2400" dirty="0">
                <a:latin typeface="Arial" panose="020B0604020202020204" pitchFamily="34" charset="0"/>
                <a:cs typeface="Arial" panose="020B0604020202020204" pitchFamily="34" charset="0"/>
              </a:rPr>
              <a:t> </a:t>
            </a:r>
            <a:r>
              <a:rPr lang="de-DE" sz="2400" dirty="0" err="1">
                <a:latin typeface="Arial" panose="020B0604020202020204" pitchFamily="34" charset="0"/>
                <a:cs typeface="Arial" panose="020B0604020202020204" pitchFamily="34" charset="0"/>
              </a:rPr>
              <a:t>fields</a:t>
            </a:r>
            <a:r>
              <a:rPr lang="de-DE" sz="2400" dirty="0">
                <a:latin typeface="Arial" panose="020B0604020202020204" pitchFamily="34" charset="0"/>
                <a:cs typeface="Arial" panose="020B0604020202020204" pitchFamily="34" charset="0"/>
              </a:rPr>
              <a:t>:</a:t>
            </a:r>
          </a:p>
          <a:p>
            <a:pPr marL="285750" indent="-285750">
              <a:buFontTx/>
              <a:buChar char="-"/>
            </a:pPr>
            <a:r>
              <a:rPr lang="de-DE" sz="2400" dirty="0" err="1">
                <a:latin typeface="Arial" panose="020B0604020202020204" pitchFamily="34" charset="0"/>
                <a:cs typeface="Arial" panose="020B0604020202020204" pitchFamily="34" charset="0"/>
              </a:rPr>
              <a:t>Preventing</a:t>
            </a:r>
            <a:r>
              <a:rPr lang="de-DE" sz="2400" dirty="0">
                <a:latin typeface="Arial" panose="020B0604020202020204" pitchFamily="34" charset="0"/>
                <a:cs typeface="Arial" panose="020B0604020202020204" pitchFamily="34" charset="0"/>
              </a:rPr>
              <a:t> </a:t>
            </a:r>
            <a:r>
              <a:rPr lang="de-DE" sz="2400" dirty="0" err="1">
                <a:latin typeface="Arial" panose="020B0604020202020204" pitchFamily="34" charset="0"/>
                <a:cs typeface="Arial" panose="020B0604020202020204" pitchFamily="34" charset="0"/>
              </a:rPr>
              <a:t>bullshit</a:t>
            </a:r>
            <a:endParaRPr lang="de-DE" sz="2400" dirty="0">
              <a:latin typeface="Arial" panose="020B0604020202020204" pitchFamily="34" charset="0"/>
              <a:cs typeface="Arial" panose="020B0604020202020204" pitchFamily="34" charset="0"/>
            </a:endParaRPr>
          </a:p>
          <a:p>
            <a:pPr marL="285750" indent="-285750">
              <a:buFontTx/>
              <a:buChar char="-"/>
            </a:pPr>
            <a:r>
              <a:rPr lang="de-DE" sz="2400" dirty="0" err="1">
                <a:latin typeface="Arial" panose="020B0604020202020204" pitchFamily="34" charset="0"/>
                <a:cs typeface="Arial" panose="020B0604020202020204" pitchFamily="34" charset="0"/>
              </a:rPr>
              <a:t>Supporting</a:t>
            </a:r>
            <a:r>
              <a:rPr lang="de-DE" sz="2400" dirty="0">
                <a:latin typeface="Arial" panose="020B0604020202020204" pitchFamily="34" charset="0"/>
                <a:cs typeface="Arial" panose="020B0604020202020204" pitchFamily="34" charset="0"/>
              </a:rPr>
              <a:t> informative </a:t>
            </a:r>
            <a:r>
              <a:rPr lang="de-DE" sz="2400" dirty="0" err="1">
                <a:latin typeface="Arial" panose="020B0604020202020204" pitchFamily="34" charset="0"/>
                <a:cs typeface="Arial" panose="020B0604020202020204" pitchFamily="34" charset="0"/>
              </a:rPr>
              <a:t>application</a:t>
            </a:r>
            <a:endParaRPr lang="de-DE" sz="2400" dirty="0">
              <a:latin typeface="Arial" panose="020B0604020202020204" pitchFamily="34" charset="0"/>
              <a:cs typeface="Arial" panose="020B0604020202020204" pitchFamily="34" charset="0"/>
            </a:endParaRPr>
          </a:p>
        </p:txBody>
      </p:sp>
      <p:sp>
        <p:nvSpPr>
          <p:cNvPr id="18" name="Textfeld 17">
            <a:extLst>
              <a:ext uri="{FF2B5EF4-FFF2-40B4-BE49-F238E27FC236}">
                <a16:creationId xmlns:a16="http://schemas.microsoft.com/office/drawing/2014/main" id="{EAE62BE0-D212-488E-B63D-B9BE963513F2}"/>
              </a:ext>
            </a:extLst>
          </p:cNvPr>
          <p:cNvSpPr txBox="1"/>
          <p:nvPr/>
        </p:nvSpPr>
        <p:spPr bwMode="auto">
          <a:xfrm>
            <a:off x="1069314" y="2508551"/>
            <a:ext cx="11122686" cy="830997"/>
          </a:xfrm>
          <a:prstGeom prst="rect">
            <a:avLst/>
          </a:prstGeom>
          <a:noFill/>
        </p:spPr>
        <p:txBody>
          <a:bodyPr wrap="square" rtlCol="0">
            <a:spAutoFit/>
          </a:bodyPr>
          <a:lstStyle/>
          <a:p>
            <a:r>
              <a:rPr lang="de-DE" sz="2400" dirty="0">
                <a:latin typeface="Arial" panose="020B0604020202020204" pitchFamily="34" charset="0"/>
                <a:cs typeface="Arial" panose="020B0604020202020204" pitchFamily="34" charset="0"/>
              </a:rPr>
              <a:t>II) Outline </a:t>
            </a:r>
            <a:r>
              <a:rPr lang="de-DE" sz="2400" dirty="0" err="1">
                <a:latin typeface="Arial" panose="020B0604020202020204" pitchFamily="34" charset="0"/>
                <a:cs typeface="Arial" panose="020B0604020202020204" pitchFamily="34" charset="0"/>
              </a:rPr>
              <a:t>one</a:t>
            </a:r>
            <a:r>
              <a:rPr lang="de-DE" sz="2400" dirty="0">
                <a:latin typeface="Arial" panose="020B0604020202020204" pitchFamily="34" charset="0"/>
                <a:cs typeface="Arial" panose="020B0604020202020204" pitchFamily="34" charset="0"/>
              </a:rPr>
              <a:t> CML </a:t>
            </a:r>
            <a:r>
              <a:rPr lang="de-DE" sz="2400" dirty="0" err="1">
                <a:latin typeface="Arial" panose="020B0604020202020204" pitchFamily="34" charset="0"/>
                <a:cs typeface="Arial" panose="020B0604020202020204" pitchFamily="34" charset="0"/>
              </a:rPr>
              <a:t>approach</a:t>
            </a:r>
            <a:r>
              <a:rPr lang="de-DE" sz="2400" dirty="0">
                <a:latin typeface="Arial" panose="020B0604020202020204" pitchFamily="34" charset="0"/>
                <a:cs typeface="Arial" panose="020B0604020202020204" pitchFamily="34" charset="0"/>
              </a:rPr>
              <a:t>:</a:t>
            </a:r>
          </a:p>
          <a:p>
            <a:r>
              <a:rPr lang="de-DE" sz="2400" dirty="0" err="1">
                <a:latin typeface="Arial" panose="020B0604020202020204" pitchFamily="34" charset="0"/>
                <a:cs typeface="Arial" panose="020B0604020202020204" pitchFamily="34" charset="0"/>
              </a:rPr>
              <a:t>Bayesian</a:t>
            </a:r>
            <a:r>
              <a:rPr lang="de-DE" sz="2400" dirty="0">
                <a:latin typeface="Arial" panose="020B0604020202020204" pitchFamily="34" charset="0"/>
                <a:cs typeface="Arial" panose="020B0604020202020204" pitchFamily="34" charset="0"/>
              </a:rPr>
              <a:t> </a:t>
            </a:r>
            <a:r>
              <a:rPr lang="de-DE" sz="2400" dirty="0" err="1">
                <a:latin typeface="Arial" panose="020B0604020202020204" pitchFamily="34" charset="0"/>
                <a:cs typeface="Arial" panose="020B0604020202020204" pitchFamily="34" charset="0"/>
              </a:rPr>
              <a:t>causal</a:t>
            </a:r>
            <a:r>
              <a:rPr lang="de-DE" sz="2400" dirty="0">
                <a:latin typeface="Arial" panose="020B0604020202020204" pitchFamily="34" charset="0"/>
                <a:cs typeface="Arial" panose="020B0604020202020204" pitchFamily="34" charset="0"/>
              </a:rPr>
              <a:t> </a:t>
            </a:r>
            <a:r>
              <a:rPr lang="de-DE" sz="2400" dirty="0" err="1">
                <a:latin typeface="Arial" panose="020B0604020202020204" pitchFamily="34" charset="0"/>
                <a:cs typeface="Arial" panose="020B0604020202020204" pitchFamily="34" charset="0"/>
              </a:rPr>
              <a:t>forest</a:t>
            </a:r>
            <a:r>
              <a:rPr lang="de-DE" sz="2400" dirty="0">
                <a:latin typeface="Arial" panose="020B0604020202020204" pitchFamily="34" charset="0"/>
                <a:cs typeface="Arial" panose="020B0604020202020204" pitchFamily="34" charset="0"/>
              </a:rPr>
              <a:t> (</a:t>
            </a:r>
            <a:r>
              <a:rPr lang="de-DE" sz="2400" dirty="0" err="1">
                <a:latin typeface="Arial" panose="020B0604020202020204" pitchFamily="34" charset="0"/>
                <a:cs typeface="Arial" panose="020B0604020202020204" pitchFamily="34" charset="0"/>
              </a:rPr>
              <a:t>McJames</a:t>
            </a:r>
            <a:r>
              <a:rPr lang="de-DE" sz="2400" dirty="0">
                <a:latin typeface="Arial" panose="020B0604020202020204" pitchFamily="34" charset="0"/>
                <a:cs typeface="Arial" panose="020B0604020202020204" pitchFamily="34" charset="0"/>
              </a:rPr>
              <a:t> et al., 2024)</a:t>
            </a:r>
          </a:p>
        </p:txBody>
      </p:sp>
    </p:spTree>
    <p:extLst>
      <p:ext uri="{BB962C8B-B14F-4D97-AF65-F5344CB8AC3E}">
        <p14:creationId xmlns:p14="http://schemas.microsoft.com/office/powerpoint/2010/main" val="2539743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6" grpId="0"/>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Rechteck 3"/>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2" name="Abgerundetes Rechteck 41"/>
          <p:cNvSpPr/>
          <p:nvPr/>
        </p:nvSpPr>
        <p:spPr>
          <a:xfrm>
            <a:off x="4027242" y="515394"/>
            <a:ext cx="4137515" cy="1456629"/>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CH" sz="3200" b="1" dirty="0">
                <a:solidFill>
                  <a:prstClr val="white"/>
                </a:solidFill>
                <a:latin typeface="Arial" panose="020B0604020202020204"/>
              </a:rPr>
              <a:t>Part 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3200" b="1" i="0" u="none" strike="noStrike" kern="1200" cap="none" spc="0" normalizeH="0" baseline="0" noProof="0" dirty="0" err="1">
                <a:ln>
                  <a:noFill/>
                </a:ln>
                <a:solidFill>
                  <a:prstClr val="white"/>
                </a:solidFill>
                <a:effectLst/>
                <a:uLnTx/>
                <a:uFillTx/>
                <a:latin typeface="Arial" panose="020B0604020202020204"/>
                <a:ea typeface="+mn-ea"/>
                <a:cs typeface="+mn-cs"/>
              </a:rPr>
              <a:t>What</a:t>
            </a:r>
            <a:r>
              <a:rPr kumimoji="0" lang="de-CH" sz="3200" b="1"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3200" b="1" i="1" u="none" strike="noStrike" kern="1200" cap="none" spc="0" normalizeH="0" baseline="0" noProof="0" dirty="0" err="1">
                <a:ln>
                  <a:noFill/>
                </a:ln>
                <a:solidFill>
                  <a:prstClr val="white"/>
                </a:solidFill>
                <a:effectLst/>
                <a:uLnTx/>
                <a:uFillTx/>
                <a:latin typeface="Arial" panose="020B0604020202020204"/>
                <a:ea typeface="+mn-ea"/>
                <a:cs typeface="+mn-cs"/>
              </a:rPr>
              <a:t>is</a:t>
            </a:r>
            <a:r>
              <a:rPr kumimoji="0" lang="de-CH" sz="3200" b="1"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3200" b="1" i="0" u="none" strike="noStrike" kern="1200" cap="none" spc="0" normalizeH="0" baseline="0" noProof="0" dirty="0" err="1">
                <a:ln>
                  <a:noFill/>
                </a:ln>
                <a:solidFill>
                  <a:prstClr val="white"/>
                </a:solidFill>
                <a:effectLst/>
                <a:uLnTx/>
                <a:uFillTx/>
                <a:latin typeface="Arial" panose="020B0604020202020204"/>
                <a:ea typeface="+mn-ea"/>
                <a:cs typeface="+mn-cs"/>
              </a:rPr>
              <a:t>causal</a:t>
            </a:r>
            <a:r>
              <a:rPr kumimoji="0" lang="de-CH" sz="3200" b="1"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3200" b="1" i="0" u="none" strike="noStrike" kern="1200" cap="none" spc="0" normalizeH="0" baseline="0" noProof="0" dirty="0" err="1">
                <a:ln>
                  <a:noFill/>
                </a:ln>
                <a:solidFill>
                  <a:prstClr val="white"/>
                </a:solidFill>
                <a:effectLst/>
                <a:uLnTx/>
                <a:uFillTx/>
                <a:latin typeface="Arial" panose="020B0604020202020204"/>
                <a:ea typeface="+mn-ea"/>
                <a:cs typeface="+mn-cs"/>
              </a:rPr>
              <a:t>machine</a:t>
            </a:r>
            <a:r>
              <a:rPr kumimoji="0" lang="de-CH" sz="3200" b="1"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3200" b="1" i="0" u="none" strike="noStrike" kern="1200" cap="none" spc="0" normalizeH="0" baseline="0" noProof="0" dirty="0" err="1">
                <a:ln>
                  <a:noFill/>
                </a:ln>
                <a:solidFill>
                  <a:prstClr val="white"/>
                </a:solidFill>
                <a:effectLst/>
                <a:uLnTx/>
                <a:uFillTx/>
                <a:latin typeface="Arial" panose="020B0604020202020204"/>
                <a:ea typeface="+mn-ea"/>
                <a:cs typeface="+mn-cs"/>
              </a:rPr>
              <a:t>learning</a:t>
            </a:r>
            <a:r>
              <a:rPr kumimoji="0" lang="de-CH" sz="3200" b="1" i="0" u="none" strike="noStrike" kern="1200" cap="none" spc="0" normalizeH="0" baseline="0" noProof="0" dirty="0">
                <a:ln>
                  <a:noFill/>
                </a:ln>
                <a:solidFill>
                  <a:prstClr val="white"/>
                </a:solidFill>
                <a:effectLst/>
                <a:uLnTx/>
                <a:uFillTx/>
                <a:latin typeface="Arial" panose="020B0604020202020204"/>
                <a:ea typeface="+mn-ea"/>
                <a:cs typeface="+mn-cs"/>
              </a:rPr>
              <a:t>?</a:t>
            </a:r>
            <a:endParaRPr kumimoji="0" lang="en-US" sz="3200" b="1"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6" name="Abgerundetes Rechteck 41">
            <a:extLst>
              <a:ext uri="{FF2B5EF4-FFF2-40B4-BE49-F238E27FC236}">
                <a16:creationId xmlns:a16="http://schemas.microsoft.com/office/drawing/2014/main" id="{6B9B2E26-23E5-4A24-BEE9-13DCA5D62C9E}"/>
              </a:ext>
            </a:extLst>
          </p:cNvPr>
          <p:cNvSpPr/>
          <p:nvPr/>
        </p:nvSpPr>
        <p:spPr>
          <a:xfrm>
            <a:off x="1796143" y="2701034"/>
            <a:ext cx="2841171" cy="555851"/>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CH" sz="2400" dirty="0" err="1">
                <a:solidFill>
                  <a:prstClr val="white"/>
                </a:solidFill>
                <a:latin typeface="Arial" panose="020B0604020202020204"/>
              </a:rPr>
              <a:t>Causal</a:t>
            </a:r>
            <a:r>
              <a:rPr lang="de-CH" sz="2400" dirty="0">
                <a:solidFill>
                  <a:prstClr val="white"/>
                </a:solidFill>
                <a:latin typeface="Arial" panose="020B0604020202020204"/>
              </a:rPr>
              <a:t> </a:t>
            </a:r>
            <a:r>
              <a:rPr lang="de-CH" sz="2400" dirty="0" err="1">
                <a:solidFill>
                  <a:prstClr val="white"/>
                </a:solidFill>
                <a:latin typeface="Arial" panose="020B0604020202020204"/>
              </a:rPr>
              <a:t>inference</a:t>
            </a:r>
            <a:endParaRPr kumimoji="0" lang="en-US" sz="240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7" name="Abgerundetes Rechteck 41">
            <a:extLst>
              <a:ext uri="{FF2B5EF4-FFF2-40B4-BE49-F238E27FC236}">
                <a16:creationId xmlns:a16="http://schemas.microsoft.com/office/drawing/2014/main" id="{77B8304F-F6E4-468B-9D91-844E857CF8F0}"/>
              </a:ext>
            </a:extLst>
          </p:cNvPr>
          <p:cNvSpPr/>
          <p:nvPr/>
        </p:nvSpPr>
        <p:spPr>
          <a:xfrm>
            <a:off x="7554686" y="2701033"/>
            <a:ext cx="2841171" cy="555851"/>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CH" sz="2400" dirty="0" err="1">
                <a:solidFill>
                  <a:prstClr val="white"/>
                </a:solidFill>
                <a:latin typeface="Arial" panose="020B0604020202020204"/>
              </a:rPr>
              <a:t>Machine</a:t>
            </a:r>
            <a:r>
              <a:rPr lang="de-CH" sz="2400" dirty="0">
                <a:solidFill>
                  <a:prstClr val="white"/>
                </a:solidFill>
                <a:latin typeface="Arial" panose="020B0604020202020204"/>
              </a:rPr>
              <a:t> </a:t>
            </a:r>
            <a:r>
              <a:rPr lang="de-CH" sz="2400" dirty="0" err="1">
                <a:solidFill>
                  <a:prstClr val="white"/>
                </a:solidFill>
                <a:latin typeface="Arial" panose="020B0604020202020204"/>
              </a:rPr>
              <a:t>learning</a:t>
            </a:r>
            <a:endParaRPr kumimoji="0" lang="en-US" sz="240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0" name="Abgerundetes Rechteck 41">
            <a:extLst>
              <a:ext uri="{FF2B5EF4-FFF2-40B4-BE49-F238E27FC236}">
                <a16:creationId xmlns:a16="http://schemas.microsoft.com/office/drawing/2014/main" id="{CB69749E-2935-4A1A-9C25-630C77EFD915}"/>
              </a:ext>
            </a:extLst>
          </p:cNvPr>
          <p:cNvSpPr/>
          <p:nvPr/>
        </p:nvSpPr>
        <p:spPr>
          <a:xfrm>
            <a:off x="9345385" y="5957917"/>
            <a:ext cx="2432957" cy="838199"/>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defTabSz="914400" rtl="0" eaLnBrk="1" fontAlgn="auto" latinLnBrk="0" hangingPunct="1">
              <a:lnSpc>
                <a:spcPct val="100000"/>
              </a:lnSpc>
              <a:spcBef>
                <a:spcPts val="0"/>
              </a:spcBef>
              <a:spcAft>
                <a:spcPts val="0"/>
              </a:spcAft>
              <a:buClrTx/>
              <a:buSzTx/>
              <a:tabLst/>
              <a:defRPr/>
            </a:pPr>
            <a:r>
              <a:rPr kumimoji="0" lang="de-CH" sz="1200" b="1" i="0" u="none" strike="noStrike" kern="1200" cap="none" spc="0" normalizeH="0" baseline="0" noProof="0" dirty="0">
                <a:ln>
                  <a:noFill/>
                </a:ln>
                <a:solidFill>
                  <a:prstClr val="white"/>
                </a:solidFill>
                <a:effectLst/>
                <a:uLnTx/>
                <a:uFillTx/>
                <a:latin typeface="Arial" panose="020B0604020202020204"/>
              </a:rPr>
              <a:t>I)   </a:t>
            </a:r>
            <a:r>
              <a:rPr kumimoji="0" lang="de-CH" sz="1200" b="1" i="0" u="none" strike="noStrike" kern="1200" cap="none" spc="0" normalizeH="0" baseline="0" noProof="0" dirty="0" err="1">
                <a:ln>
                  <a:noFill/>
                </a:ln>
                <a:solidFill>
                  <a:prstClr val="white"/>
                </a:solidFill>
                <a:effectLst/>
                <a:uLnTx/>
                <a:uFillTx/>
                <a:latin typeface="Arial" panose="020B0604020202020204"/>
              </a:rPr>
              <a:t>What</a:t>
            </a:r>
            <a:r>
              <a:rPr kumimoji="0" lang="de-CH" sz="1200" b="1" i="0" u="none" strike="noStrike" kern="1200" cap="none" spc="0" normalizeH="0" baseline="0" noProof="0" dirty="0">
                <a:ln>
                  <a:noFill/>
                </a:ln>
                <a:solidFill>
                  <a:prstClr val="white"/>
                </a:solidFill>
                <a:effectLst/>
                <a:uLnTx/>
                <a:uFillTx/>
                <a:latin typeface="Arial" panose="020B0604020202020204"/>
              </a:rPr>
              <a:t> </a:t>
            </a:r>
            <a:r>
              <a:rPr kumimoji="0" lang="de-CH" sz="1200" b="1" i="1" u="none" strike="noStrike" kern="1200" cap="none" spc="0" normalizeH="0" baseline="0" noProof="0" dirty="0" err="1">
                <a:ln>
                  <a:noFill/>
                </a:ln>
                <a:solidFill>
                  <a:prstClr val="white"/>
                </a:solidFill>
                <a:effectLst/>
                <a:uLnTx/>
                <a:uFillTx/>
                <a:latin typeface="Arial" panose="020B0604020202020204"/>
              </a:rPr>
              <a:t>is</a:t>
            </a:r>
            <a:r>
              <a:rPr kumimoji="0" lang="de-CH" sz="1200" b="1" i="0" u="none" strike="noStrike" kern="1200" cap="none" spc="0" normalizeH="0" baseline="0" noProof="0" dirty="0">
                <a:ln>
                  <a:noFill/>
                </a:ln>
                <a:solidFill>
                  <a:prstClr val="white"/>
                </a:solidFill>
                <a:effectLst/>
                <a:uLnTx/>
                <a:uFillTx/>
                <a:latin typeface="Arial" panose="020B0604020202020204"/>
              </a:rPr>
              <a:t> CML</a:t>
            </a:r>
            <a:r>
              <a:rPr lang="de-CH" sz="1200" b="1" dirty="0">
                <a:solidFill>
                  <a:prstClr val="white"/>
                </a:solidFill>
                <a:latin typeface="Arial" panose="020B0604020202020204"/>
              </a:rPr>
              <a:t>?</a:t>
            </a:r>
          </a:p>
          <a:p>
            <a:pPr marR="0" lvl="0" defTabSz="914400" rtl="0" eaLnBrk="1" fontAlgn="auto" latinLnBrk="0" hangingPunct="1">
              <a:lnSpc>
                <a:spcPct val="100000"/>
              </a:lnSpc>
              <a:spcBef>
                <a:spcPts val="0"/>
              </a:spcBef>
              <a:spcAft>
                <a:spcPts val="0"/>
              </a:spcAft>
              <a:buClrTx/>
              <a:buSzTx/>
              <a:tabLst/>
              <a:defRPr/>
            </a:pPr>
            <a:r>
              <a:rPr lang="de-CH" sz="1200" dirty="0">
                <a:solidFill>
                  <a:prstClr val="white"/>
                </a:solidFill>
                <a:latin typeface="Arial" panose="020B0604020202020204"/>
              </a:rPr>
              <a:t>II)  </a:t>
            </a:r>
            <a:r>
              <a:rPr kumimoji="0" lang="de-CH" sz="1200" i="0" u="none" strike="noStrike" kern="1200" cap="none" spc="0" normalizeH="0" baseline="0" noProof="0" dirty="0">
                <a:ln>
                  <a:noFill/>
                </a:ln>
                <a:solidFill>
                  <a:prstClr val="white"/>
                </a:solidFill>
                <a:effectLst/>
                <a:uLnTx/>
                <a:uFillTx/>
                <a:latin typeface="Arial" panose="020B0604020202020204"/>
                <a:ea typeface="+mn-ea"/>
                <a:cs typeface="+mn-cs"/>
              </a:rPr>
              <a:t>The </a:t>
            </a:r>
            <a:r>
              <a:rPr kumimoji="0" lang="de-CH" sz="1200" i="1" u="none" strike="noStrike" kern="1200" cap="none" spc="0" normalizeH="0" baseline="0" noProof="0" dirty="0" err="1">
                <a:ln>
                  <a:noFill/>
                </a:ln>
                <a:solidFill>
                  <a:prstClr val="white"/>
                </a:solidFill>
                <a:effectLst/>
                <a:uLnTx/>
                <a:uFillTx/>
                <a:latin typeface="Arial" panose="020B0604020202020204"/>
                <a:ea typeface="+mn-ea"/>
                <a:cs typeface="+mn-cs"/>
              </a:rPr>
              <a:t>Bayesian</a:t>
            </a:r>
            <a:r>
              <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i="1" u="none" strike="noStrike" kern="1200" cap="none" spc="0" normalizeH="0" baseline="0" noProof="0" dirty="0" err="1">
                <a:ln>
                  <a:noFill/>
                </a:ln>
                <a:solidFill>
                  <a:prstClr val="white"/>
                </a:solidFill>
                <a:effectLst/>
                <a:uLnTx/>
                <a:uFillTx/>
                <a:latin typeface="Arial" panose="020B0604020202020204"/>
                <a:ea typeface="+mn-ea"/>
                <a:cs typeface="+mn-cs"/>
              </a:rPr>
              <a:t>causal</a:t>
            </a:r>
            <a:r>
              <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i="1" u="none" strike="noStrike" kern="1200" cap="none" spc="0" normalizeH="0" baseline="0" noProof="0" dirty="0" err="1">
                <a:ln>
                  <a:noFill/>
                </a:ln>
                <a:solidFill>
                  <a:prstClr val="white"/>
                </a:solidFill>
                <a:effectLst/>
                <a:uLnTx/>
                <a:uFillTx/>
                <a:latin typeface="Arial" panose="020B0604020202020204"/>
                <a:ea typeface="+mn-ea"/>
                <a:cs typeface="+mn-cs"/>
              </a:rPr>
              <a:t>forest</a:t>
            </a:r>
            <a:endPar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endParaRPr>
          </a:p>
          <a:p>
            <a:pPr marR="0" lvl="0" defTabSz="914400" rtl="0" eaLnBrk="1" fontAlgn="auto" latinLnBrk="0" hangingPunct="1">
              <a:lnSpc>
                <a:spcPct val="100000"/>
              </a:lnSpc>
              <a:spcBef>
                <a:spcPts val="0"/>
              </a:spcBef>
              <a:spcAft>
                <a:spcPts val="0"/>
              </a:spcAft>
              <a:buClrTx/>
              <a:buSzTx/>
              <a:tabLst/>
              <a:defRPr/>
            </a:pPr>
            <a:r>
              <a:rPr lang="de-CH" sz="1200" dirty="0">
                <a:solidFill>
                  <a:prstClr val="white"/>
                </a:solidFill>
                <a:latin typeface="Arial" panose="020B0604020202020204"/>
              </a:rPr>
              <a:t>III) </a:t>
            </a:r>
            <a:r>
              <a:rPr lang="de-CH" sz="1200" i="1" dirty="0" err="1">
                <a:solidFill>
                  <a:prstClr val="white"/>
                </a:solidFill>
                <a:latin typeface="Arial" panose="020B0604020202020204"/>
              </a:rPr>
              <a:t>Uniqueness</a:t>
            </a:r>
            <a:r>
              <a:rPr lang="de-CH" sz="1200" i="1" dirty="0">
                <a:solidFill>
                  <a:prstClr val="white"/>
                </a:solidFill>
                <a:latin typeface="Arial" panose="020B0604020202020204"/>
              </a:rPr>
              <a:t> </a:t>
            </a:r>
            <a:r>
              <a:rPr lang="de-CH" sz="1200" dirty="0" err="1">
                <a:solidFill>
                  <a:prstClr val="white"/>
                </a:solidFill>
                <a:latin typeface="Arial" panose="020B0604020202020204"/>
              </a:rPr>
              <a:t>of</a:t>
            </a:r>
            <a:r>
              <a:rPr lang="de-CH" sz="1200" dirty="0">
                <a:solidFill>
                  <a:prstClr val="white"/>
                </a:solidFill>
                <a:latin typeface="Arial" panose="020B0604020202020204"/>
              </a:rPr>
              <a:t> CML</a:t>
            </a:r>
          </a:p>
          <a:p>
            <a:pPr marR="0" lvl="0" defTabSz="914400" rtl="0" eaLnBrk="1" fontAlgn="auto" latinLnBrk="0" hangingPunct="1">
              <a:lnSpc>
                <a:spcPct val="100000"/>
              </a:lnSpc>
              <a:spcBef>
                <a:spcPts val="0"/>
              </a:spcBef>
              <a:spcAft>
                <a:spcPts val="0"/>
              </a:spcAft>
              <a:buClrTx/>
              <a:buSzTx/>
              <a:tabLst/>
              <a:defRPr/>
            </a:pPr>
            <a:r>
              <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rPr>
              <a:t>IV) </a:t>
            </a:r>
            <a:r>
              <a:rPr kumimoji="0" lang="de-CH" sz="1200" i="1" u="none" strike="noStrike" kern="1200" cap="none" spc="0" normalizeH="0" baseline="0" noProof="0" dirty="0" err="1">
                <a:ln>
                  <a:noFill/>
                </a:ln>
                <a:solidFill>
                  <a:prstClr val="white"/>
                </a:solidFill>
                <a:effectLst/>
                <a:uLnTx/>
                <a:uFillTx/>
                <a:latin typeface="Arial" panose="020B0604020202020204"/>
                <a:ea typeface="+mn-ea"/>
                <a:cs typeface="+mn-cs"/>
              </a:rPr>
              <a:t>Implications</a:t>
            </a:r>
            <a:r>
              <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u="none" strike="noStrike" kern="1200" cap="none" spc="0" normalizeH="0" baseline="0" noProof="0" dirty="0" err="1">
                <a:ln>
                  <a:noFill/>
                </a:ln>
                <a:solidFill>
                  <a:prstClr val="white"/>
                </a:solidFill>
                <a:effectLst/>
                <a:uLnTx/>
                <a:uFillTx/>
                <a:latin typeface="Arial" panose="020B0604020202020204"/>
                <a:ea typeface="+mn-ea"/>
                <a:cs typeface="+mn-cs"/>
              </a:rPr>
              <a:t>for</a:t>
            </a:r>
            <a:r>
              <a:rPr kumimoji="0" lang="de-CH" sz="120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u="none" strike="noStrike" kern="1200" cap="none" spc="0" normalizeH="0" baseline="0" noProof="0" dirty="0" err="1">
                <a:ln>
                  <a:noFill/>
                </a:ln>
                <a:solidFill>
                  <a:prstClr val="white"/>
                </a:solidFill>
                <a:effectLst/>
                <a:uLnTx/>
                <a:uFillTx/>
                <a:latin typeface="Arial" panose="020B0604020202020204"/>
                <a:ea typeface="+mn-ea"/>
                <a:cs typeface="+mn-cs"/>
              </a:rPr>
              <a:t>our</a:t>
            </a:r>
            <a:r>
              <a:rPr kumimoji="0" lang="de-CH" sz="120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u="none" strike="noStrike" kern="1200" cap="none" spc="0" normalizeH="0" baseline="0" noProof="0" dirty="0" err="1">
                <a:ln>
                  <a:noFill/>
                </a:ln>
                <a:solidFill>
                  <a:prstClr val="white"/>
                </a:solidFill>
                <a:effectLst/>
                <a:uLnTx/>
                <a:uFillTx/>
                <a:latin typeface="Arial" panose="020B0604020202020204"/>
                <a:ea typeface="+mn-ea"/>
                <a:cs typeface="+mn-cs"/>
              </a:rPr>
              <a:t>research</a:t>
            </a:r>
            <a:endParaRPr kumimoji="0" lang="de-CH" sz="1200" u="none" strike="noStrike" kern="1200" cap="none" spc="0" normalizeH="0" baseline="0" noProof="0" dirty="0">
              <a:ln>
                <a:noFill/>
              </a:ln>
              <a:solidFill>
                <a:prstClr val="white"/>
              </a:solidFill>
              <a:effectLst/>
              <a:uLnTx/>
              <a:uFillTx/>
              <a:latin typeface="Arial" panose="020B0604020202020204"/>
              <a:ea typeface="+mn-ea"/>
              <a:cs typeface="+mn-cs"/>
            </a:endParaRPr>
          </a:p>
        </p:txBody>
      </p:sp>
      <p:pic>
        <p:nvPicPr>
          <p:cNvPr id="27" name="Grafik 26">
            <a:extLst>
              <a:ext uri="{FF2B5EF4-FFF2-40B4-BE49-F238E27FC236}">
                <a16:creationId xmlns:a16="http://schemas.microsoft.com/office/drawing/2014/main" id="{8C07140B-DABB-485E-826F-B1E10F5E3258}"/>
              </a:ext>
            </a:extLst>
          </p:cNvPr>
          <p:cNvPicPr>
            <a:picLocks noChangeAspect="1"/>
          </p:cNvPicPr>
          <p:nvPr/>
        </p:nvPicPr>
        <p:blipFill rotWithShape="1">
          <a:blip r:embed="rId3"/>
          <a:srcRect l="1460" t="28399" r="67409" b="44350"/>
          <a:stretch/>
        </p:blipFill>
        <p:spPr>
          <a:xfrm>
            <a:off x="13922829" y="1454951"/>
            <a:ext cx="3026228" cy="1034143"/>
          </a:xfrm>
          <a:prstGeom prst="rect">
            <a:avLst/>
          </a:prstGeom>
        </p:spPr>
      </p:pic>
      <p:cxnSp>
        <p:nvCxnSpPr>
          <p:cNvPr id="25" name="Gerader Verbinder 24">
            <a:extLst>
              <a:ext uri="{FF2B5EF4-FFF2-40B4-BE49-F238E27FC236}">
                <a16:creationId xmlns:a16="http://schemas.microsoft.com/office/drawing/2014/main" id="{5DAF54D2-495D-4958-9BBC-F6F1CA98A4C6}"/>
              </a:ext>
            </a:extLst>
          </p:cNvPr>
          <p:cNvCxnSpPr>
            <a:stCxn id="16" idx="3"/>
          </p:cNvCxnSpPr>
          <p:nvPr/>
        </p:nvCxnSpPr>
        <p:spPr>
          <a:xfrm>
            <a:off x="4637314" y="2978960"/>
            <a:ext cx="1275806" cy="10748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CCB0B57E-116E-4A44-B5A9-6055944706EE}"/>
              </a:ext>
            </a:extLst>
          </p:cNvPr>
          <p:cNvCxnSpPr>
            <a:cxnSpLocks/>
            <a:stCxn id="17" idx="1"/>
          </p:cNvCxnSpPr>
          <p:nvPr/>
        </p:nvCxnSpPr>
        <p:spPr>
          <a:xfrm flipH="1">
            <a:off x="6278882" y="2978959"/>
            <a:ext cx="1275804" cy="107488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3" name="Ellipse 32">
            <a:extLst>
              <a:ext uri="{FF2B5EF4-FFF2-40B4-BE49-F238E27FC236}">
                <a16:creationId xmlns:a16="http://schemas.microsoft.com/office/drawing/2014/main" id="{ECE044AE-112B-47AC-87F4-00870C2DE506}"/>
              </a:ext>
            </a:extLst>
          </p:cNvPr>
          <p:cNvSpPr/>
          <p:nvPr/>
        </p:nvSpPr>
        <p:spPr>
          <a:xfrm>
            <a:off x="5875021" y="3931920"/>
            <a:ext cx="441960" cy="39984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8" name="Textfeld 37">
            <a:extLst>
              <a:ext uri="{FF2B5EF4-FFF2-40B4-BE49-F238E27FC236}">
                <a16:creationId xmlns:a16="http://schemas.microsoft.com/office/drawing/2014/main" id="{0FDBCB18-7D06-4CE2-8054-DDE59A0E0DFD}"/>
              </a:ext>
            </a:extLst>
          </p:cNvPr>
          <p:cNvSpPr txBox="1"/>
          <p:nvPr/>
        </p:nvSpPr>
        <p:spPr>
          <a:xfrm>
            <a:off x="289560" y="3367877"/>
            <a:ext cx="5471159" cy="1200329"/>
          </a:xfrm>
          <a:prstGeom prst="rect">
            <a:avLst/>
          </a:prstGeom>
          <a:noFill/>
        </p:spPr>
        <p:txBody>
          <a:bodyPr wrap="square" rtlCol="0">
            <a:spAutoFit/>
          </a:bodyPr>
          <a:lstStyle/>
          <a:p>
            <a:r>
              <a:rPr lang="de-DE" i="1" dirty="0" err="1">
                <a:solidFill>
                  <a:schemeClr val="bg1"/>
                </a:solidFill>
              </a:rPr>
              <a:t>Determine</a:t>
            </a:r>
            <a:r>
              <a:rPr lang="de-DE" i="1" dirty="0">
                <a:solidFill>
                  <a:schemeClr val="bg1"/>
                </a:solidFill>
              </a:rPr>
              <a:t> </a:t>
            </a:r>
            <a:r>
              <a:rPr lang="de-DE" i="1" dirty="0" err="1">
                <a:solidFill>
                  <a:schemeClr val="bg1"/>
                </a:solidFill>
              </a:rPr>
              <a:t>the</a:t>
            </a:r>
            <a:r>
              <a:rPr lang="de-DE" i="1" dirty="0">
                <a:solidFill>
                  <a:schemeClr val="bg1"/>
                </a:solidFill>
              </a:rPr>
              <a:t> </a:t>
            </a:r>
            <a:r>
              <a:rPr lang="de-DE" i="1" dirty="0" err="1">
                <a:solidFill>
                  <a:schemeClr val="bg1"/>
                </a:solidFill>
              </a:rPr>
              <a:t>effect</a:t>
            </a:r>
            <a:r>
              <a:rPr lang="de-DE" i="1" dirty="0">
                <a:solidFill>
                  <a:schemeClr val="bg1"/>
                </a:solidFill>
              </a:rPr>
              <a:t> </a:t>
            </a:r>
            <a:r>
              <a:rPr lang="de-DE" i="1" dirty="0" err="1">
                <a:solidFill>
                  <a:schemeClr val="bg1"/>
                </a:solidFill>
              </a:rPr>
              <a:t>of</a:t>
            </a:r>
            <a:r>
              <a:rPr lang="de-DE" i="1" dirty="0">
                <a:solidFill>
                  <a:schemeClr val="bg1"/>
                </a:solidFill>
              </a:rPr>
              <a:t> </a:t>
            </a:r>
            <a:r>
              <a:rPr lang="de-DE" i="1" dirty="0" err="1">
                <a:solidFill>
                  <a:schemeClr val="bg1"/>
                </a:solidFill>
              </a:rPr>
              <a:t>one</a:t>
            </a:r>
            <a:r>
              <a:rPr lang="de-DE" i="1" dirty="0">
                <a:solidFill>
                  <a:schemeClr val="bg1"/>
                </a:solidFill>
              </a:rPr>
              <a:t> variable on </a:t>
            </a:r>
            <a:r>
              <a:rPr lang="de-DE" i="1" dirty="0" err="1">
                <a:solidFill>
                  <a:schemeClr val="bg1"/>
                </a:solidFill>
              </a:rPr>
              <a:t>another</a:t>
            </a:r>
            <a:endParaRPr lang="de-DE" i="1" dirty="0">
              <a:solidFill>
                <a:schemeClr val="bg1"/>
              </a:solidFill>
            </a:endParaRPr>
          </a:p>
          <a:p>
            <a:endParaRPr lang="de-DE" dirty="0">
              <a:solidFill>
                <a:schemeClr val="bg1"/>
              </a:solidFill>
            </a:endParaRPr>
          </a:p>
          <a:p>
            <a:r>
              <a:rPr lang="de-DE" dirty="0" err="1">
                <a:solidFill>
                  <a:schemeClr val="bg1"/>
                </a:solidFill>
              </a:rPr>
              <a:t>Simplified</a:t>
            </a:r>
            <a:r>
              <a:rPr lang="de-DE" dirty="0">
                <a:solidFill>
                  <a:schemeClr val="bg1"/>
                </a:solidFill>
              </a:rPr>
              <a:t> </a:t>
            </a:r>
            <a:r>
              <a:rPr lang="de-DE" dirty="0" err="1">
                <a:solidFill>
                  <a:schemeClr val="bg1"/>
                </a:solidFill>
              </a:rPr>
              <a:t>causal</a:t>
            </a:r>
            <a:r>
              <a:rPr lang="de-DE" dirty="0">
                <a:solidFill>
                  <a:schemeClr val="bg1"/>
                </a:solidFill>
              </a:rPr>
              <a:t> </a:t>
            </a:r>
            <a:r>
              <a:rPr lang="de-DE" dirty="0" err="1">
                <a:solidFill>
                  <a:schemeClr val="bg1"/>
                </a:solidFill>
              </a:rPr>
              <a:t>modeling</a:t>
            </a:r>
            <a:r>
              <a:rPr lang="de-DE" dirty="0">
                <a:solidFill>
                  <a:schemeClr val="bg1"/>
                </a:solidFill>
              </a:rPr>
              <a:t> </a:t>
            </a:r>
            <a:r>
              <a:rPr lang="de-DE" dirty="0" err="1">
                <a:solidFill>
                  <a:schemeClr val="bg1"/>
                </a:solidFill>
              </a:rPr>
              <a:t>process</a:t>
            </a:r>
            <a:r>
              <a:rPr lang="de-DE" dirty="0">
                <a:solidFill>
                  <a:schemeClr val="bg1"/>
                </a:solidFill>
              </a:rPr>
              <a:t> (Auspurg &amp; Brüderl, 2026; Petersen &amp; van der Laan, 2014):</a:t>
            </a:r>
          </a:p>
        </p:txBody>
      </p:sp>
      <p:sp>
        <p:nvSpPr>
          <p:cNvPr id="39" name="Textfeld 38">
            <a:extLst>
              <a:ext uri="{FF2B5EF4-FFF2-40B4-BE49-F238E27FC236}">
                <a16:creationId xmlns:a16="http://schemas.microsoft.com/office/drawing/2014/main" id="{26B96817-1C7D-4321-A6E4-4EFE1A486E71}"/>
              </a:ext>
            </a:extLst>
          </p:cNvPr>
          <p:cNvSpPr txBox="1"/>
          <p:nvPr/>
        </p:nvSpPr>
        <p:spPr>
          <a:xfrm>
            <a:off x="289560" y="4578757"/>
            <a:ext cx="5135879" cy="1754326"/>
          </a:xfrm>
          <a:prstGeom prst="rect">
            <a:avLst/>
          </a:prstGeom>
          <a:noFill/>
        </p:spPr>
        <p:txBody>
          <a:bodyPr wrap="square" rtlCol="0">
            <a:spAutoFit/>
          </a:bodyPr>
          <a:lstStyle/>
          <a:p>
            <a:pPr marL="342900" indent="-342900">
              <a:buAutoNum type="arabicPeriod"/>
            </a:pPr>
            <a:r>
              <a:rPr lang="de-DE" dirty="0" err="1">
                <a:solidFill>
                  <a:schemeClr val="bg1"/>
                </a:solidFill>
              </a:rPr>
              <a:t>Develop</a:t>
            </a:r>
            <a:r>
              <a:rPr lang="de-DE" dirty="0">
                <a:solidFill>
                  <a:schemeClr val="bg1"/>
                </a:solidFill>
              </a:rPr>
              <a:t> a </a:t>
            </a:r>
            <a:r>
              <a:rPr lang="de-DE" dirty="0" err="1">
                <a:solidFill>
                  <a:schemeClr val="bg1"/>
                </a:solidFill>
              </a:rPr>
              <a:t>causal</a:t>
            </a:r>
            <a:r>
              <a:rPr lang="de-DE" dirty="0">
                <a:solidFill>
                  <a:schemeClr val="bg1"/>
                </a:solidFill>
              </a:rPr>
              <a:t> </a:t>
            </a:r>
            <a:r>
              <a:rPr lang="de-DE" dirty="0" err="1">
                <a:solidFill>
                  <a:schemeClr val="bg1"/>
                </a:solidFill>
              </a:rPr>
              <a:t>model</a:t>
            </a:r>
            <a:endParaRPr lang="de-DE" dirty="0">
              <a:solidFill>
                <a:schemeClr val="bg1"/>
              </a:solidFill>
            </a:endParaRPr>
          </a:p>
          <a:p>
            <a:pPr marL="342900" indent="-342900">
              <a:buAutoNum type="arabicPeriod"/>
            </a:pPr>
            <a:r>
              <a:rPr lang="de-DE" dirty="0" err="1">
                <a:solidFill>
                  <a:schemeClr val="bg1"/>
                </a:solidFill>
              </a:rPr>
              <a:t>Determine</a:t>
            </a:r>
            <a:r>
              <a:rPr lang="de-DE" dirty="0">
                <a:solidFill>
                  <a:schemeClr val="bg1"/>
                </a:solidFill>
              </a:rPr>
              <a:t> </a:t>
            </a:r>
            <a:r>
              <a:rPr lang="de-DE" dirty="0" err="1">
                <a:solidFill>
                  <a:schemeClr val="bg1"/>
                </a:solidFill>
              </a:rPr>
              <a:t>the</a:t>
            </a:r>
            <a:r>
              <a:rPr lang="de-DE" dirty="0">
                <a:solidFill>
                  <a:schemeClr val="bg1"/>
                </a:solidFill>
              </a:rPr>
              <a:t> </a:t>
            </a:r>
            <a:r>
              <a:rPr lang="de-DE" b="1" dirty="0" err="1">
                <a:solidFill>
                  <a:schemeClr val="bg1"/>
                </a:solidFill>
              </a:rPr>
              <a:t>identification</a:t>
            </a:r>
            <a:r>
              <a:rPr lang="de-DE" dirty="0">
                <a:solidFill>
                  <a:schemeClr val="bg1"/>
                </a:solidFill>
              </a:rPr>
              <a:t> </a:t>
            </a:r>
            <a:r>
              <a:rPr lang="de-DE" b="1" dirty="0" err="1">
                <a:solidFill>
                  <a:schemeClr val="bg1"/>
                </a:solidFill>
              </a:rPr>
              <a:t>conditions</a:t>
            </a:r>
            <a:r>
              <a:rPr lang="de-DE" b="1" dirty="0">
                <a:solidFill>
                  <a:schemeClr val="bg1"/>
                </a:solidFill>
              </a:rPr>
              <a:t> </a:t>
            </a:r>
            <a:r>
              <a:rPr lang="de-DE" dirty="0">
                <a:solidFill>
                  <a:schemeClr val="bg1"/>
                </a:solidFill>
              </a:rPr>
              <a:t>(</a:t>
            </a:r>
            <a:r>
              <a:rPr lang="de-DE" dirty="0" err="1">
                <a:solidFill>
                  <a:schemeClr val="bg1"/>
                </a:solidFill>
              </a:rPr>
              <a:t>necessary</a:t>
            </a:r>
            <a:r>
              <a:rPr lang="de-DE" dirty="0">
                <a:solidFill>
                  <a:schemeClr val="bg1"/>
                </a:solidFill>
              </a:rPr>
              <a:t> </a:t>
            </a:r>
            <a:r>
              <a:rPr lang="de-DE" dirty="0" err="1">
                <a:solidFill>
                  <a:schemeClr val="bg1"/>
                </a:solidFill>
              </a:rPr>
              <a:t>data</a:t>
            </a:r>
            <a:r>
              <a:rPr lang="de-DE" dirty="0">
                <a:solidFill>
                  <a:schemeClr val="bg1"/>
                </a:solidFill>
              </a:rPr>
              <a:t>) </a:t>
            </a:r>
            <a:r>
              <a:rPr lang="de-DE" dirty="0" err="1">
                <a:solidFill>
                  <a:schemeClr val="bg1"/>
                </a:solidFill>
              </a:rPr>
              <a:t>to</a:t>
            </a:r>
            <a:r>
              <a:rPr lang="de-DE" dirty="0">
                <a:solidFill>
                  <a:schemeClr val="bg1"/>
                </a:solidFill>
              </a:rPr>
              <a:t> </a:t>
            </a:r>
            <a:r>
              <a:rPr lang="de-DE" dirty="0" err="1">
                <a:solidFill>
                  <a:schemeClr val="bg1"/>
                </a:solidFill>
              </a:rPr>
              <a:t>estimate</a:t>
            </a:r>
            <a:r>
              <a:rPr lang="de-DE" dirty="0">
                <a:solidFill>
                  <a:schemeClr val="bg1"/>
                </a:solidFill>
              </a:rPr>
              <a:t> </a:t>
            </a:r>
            <a:r>
              <a:rPr lang="de-DE" dirty="0" err="1">
                <a:solidFill>
                  <a:schemeClr val="bg1"/>
                </a:solidFill>
              </a:rPr>
              <a:t>your</a:t>
            </a:r>
            <a:r>
              <a:rPr lang="de-DE" dirty="0">
                <a:solidFill>
                  <a:schemeClr val="bg1"/>
                </a:solidFill>
              </a:rPr>
              <a:t> </a:t>
            </a:r>
            <a:r>
              <a:rPr lang="de-DE" dirty="0" err="1">
                <a:solidFill>
                  <a:schemeClr val="bg1"/>
                </a:solidFill>
              </a:rPr>
              <a:t>effect</a:t>
            </a:r>
            <a:r>
              <a:rPr lang="de-DE" dirty="0">
                <a:solidFill>
                  <a:schemeClr val="bg1"/>
                </a:solidFill>
              </a:rPr>
              <a:t> </a:t>
            </a:r>
            <a:r>
              <a:rPr lang="de-DE" dirty="0" err="1">
                <a:solidFill>
                  <a:schemeClr val="bg1"/>
                </a:solidFill>
              </a:rPr>
              <a:t>of</a:t>
            </a:r>
            <a:r>
              <a:rPr lang="de-DE" dirty="0">
                <a:solidFill>
                  <a:schemeClr val="bg1"/>
                </a:solidFill>
              </a:rPr>
              <a:t> </a:t>
            </a:r>
            <a:r>
              <a:rPr lang="de-DE" dirty="0" err="1">
                <a:solidFill>
                  <a:schemeClr val="bg1"/>
                </a:solidFill>
              </a:rPr>
              <a:t>interest</a:t>
            </a:r>
            <a:endParaRPr lang="de-DE" dirty="0">
              <a:solidFill>
                <a:schemeClr val="bg1"/>
              </a:solidFill>
            </a:endParaRPr>
          </a:p>
          <a:p>
            <a:pPr marL="342900" indent="-342900">
              <a:buAutoNum type="arabicPeriod"/>
            </a:pPr>
            <a:r>
              <a:rPr lang="de-DE" dirty="0">
                <a:solidFill>
                  <a:schemeClr val="bg1"/>
                </a:solidFill>
              </a:rPr>
              <a:t>Gather </a:t>
            </a:r>
            <a:r>
              <a:rPr lang="de-DE" dirty="0" err="1">
                <a:solidFill>
                  <a:schemeClr val="bg1"/>
                </a:solidFill>
              </a:rPr>
              <a:t>data</a:t>
            </a:r>
            <a:r>
              <a:rPr lang="de-DE" dirty="0">
                <a:solidFill>
                  <a:schemeClr val="bg1"/>
                </a:solidFill>
              </a:rPr>
              <a:t> </a:t>
            </a:r>
            <a:r>
              <a:rPr lang="de-DE" dirty="0" err="1">
                <a:solidFill>
                  <a:schemeClr val="bg1"/>
                </a:solidFill>
              </a:rPr>
              <a:t>for</a:t>
            </a:r>
            <a:r>
              <a:rPr lang="de-DE" dirty="0">
                <a:solidFill>
                  <a:schemeClr val="bg1"/>
                </a:solidFill>
              </a:rPr>
              <a:t> </a:t>
            </a:r>
            <a:r>
              <a:rPr lang="de-DE" b="1" dirty="0" err="1">
                <a:solidFill>
                  <a:schemeClr val="bg1"/>
                </a:solidFill>
              </a:rPr>
              <a:t>causal</a:t>
            </a:r>
            <a:r>
              <a:rPr lang="de-DE" b="1" dirty="0">
                <a:solidFill>
                  <a:schemeClr val="bg1"/>
                </a:solidFill>
              </a:rPr>
              <a:t> </a:t>
            </a:r>
            <a:r>
              <a:rPr lang="de-DE" b="1" dirty="0" err="1">
                <a:solidFill>
                  <a:schemeClr val="bg1"/>
                </a:solidFill>
              </a:rPr>
              <a:t>sufficiency</a:t>
            </a:r>
            <a:endParaRPr lang="de-DE" b="1" dirty="0">
              <a:solidFill>
                <a:schemeClr val="bg1"/>
              </a:solidFill>
            </a:endParaRPr>
          </a:p>
          <a:p>
            <a:pPr marL="342900" indent="-342900">
              <a:buAutoNum type="arabicPeriod"/>
            </a:pPr>
            <a:r>
              <a:rPr lang="de-DE" dirty="0" err="1">
                <a:solidFill>
                  <a:schemeClr val="bg1"/>
                </a:solidFill>
              </a:rPr>
              <a:t>Estimate</a:t>
            </a:r>
            <a:r>
              <a:rPr lang="de-DE" dirty="0">
                <a:solidFill>
                  <a:schemeClr val="bg1"/>
                </a:solidFill>
              </a:rPr>
              <a:t> </a:t>
            </a:r>
            <a:r>
              <a:rPr lang="de-DE" dirty="0" err="1">
                <a:solidFill>
                  <a:schemeClr val="bg1"/>
                </a:solidFill>
              </a:rPr>
              <a:t>the</a:t>
            </a:r>
            <a:r>
              <a:rPr lang="de-DE" dirty="0">
                <a:solidFill>
                  <a:schemeClr val="bg1"/>
                </a:solidFill>
              </a:rPr>
              <a:t> </a:t>
            </a:r>
            <a:r>
              <a:rPr lang="de-DE" dirty="0" err="1">
                <a:solidFill>
                  <a:schemeClr val="bg1"/>
                </a:solidFill>
              </a:rPr>
              <a:t>effect</a:t>
            </a:r>
            <a:r>
              <a:rPr lang="de-DE" dirty="0">
                <a:solidFill>
                  <a:schemeClr val="bg1"/>
                </a:solidFill>
              </a:rPr>
              <a:t> </a:t>
            </a:r>
            <a:r>
              <a:rPr lang="de-DE" dirty="0" err="1">
                <a:solidFill>
                  <a:schemeClr val="bg1"/>
                </a:solidFill>
              </a:rPr>
              <a:t>using</a:t>
            </a:r>
            <a:r>
              <a:rPr lang="de-DE" dirty="0">
                <a:solidFill>
                  <a:schemeClr val="bg1"/>
                </a:solidFill>
              </a:rPr>
              <a:t> </a:t>
            </a:r>
            <a:r>
              <a:rPr lang="de-DE" b="1" dirty="0" err="1">
                <a:solidFill>
                  <a:schemeClr val="bg1"/>
                </a:solidFill>
              </a:rPr>
              <a:t>appropriate</a:t>
            </a:r>
            <a:r>
              <a:rPr lang="de-DE" b="1" dirty="0">
                <a:solidFill>
                  <a:schemeClr val="bg1"/>
                </a:solidFill>
              </a:rPr>
              <a:t> </a:t>
            </a:r>
            <a:r>
              <a:rPr lang="de-DE" b="1" dirty="0" err="1">
                <a:solidFill>
                  <a:schemeClr val="bg1"/>
                </a:solidFill>
              </a:rPr>
              <a:t>mode</a:t>
            </a:r>
            <a:r>
              <a:rPr lang="de-DE" dirty="0" err="1">
                <a:solidFill>
                  <a:schemeClr val="bg1"/>
                </a:solidFill>
              </a:rPr>
              <a:t>l</a:t>
            </a:r>
            <a:endParaRPr lang="de-DE" dirty="0">
              <a:solidFill>
                <a:schemeClr val="bg1"/>
              </a:solidFill>
            </a:endParaRPr>
          </a:p>
        </p:txBody>
      </p:sp>
      <p:sp>
        <p:nvSpPr>
          <p:cNvPr id="43" name="Textfeld 42">
            <a:extLst>
              <a:ext uri="{FF2B5EF4-FFF2-40B4-BE49-F238E27FC236}">
                <a16:creationId xmlns:a16="http://schemas.microsoft.com/office/drawing/2014/main" id="{7F0CF5F7-C0C1-42C1-A5E3-80D124279FD5}"/>
              </a:ext>
            </a:extLst>
          </p:cNvPr>
          <p:cNvSpPr txBox="1"/>
          <p:nvPr/>
        </p:nvSpPr>
        <p:spPr>
          <a:xfrm>
            <a:off x="6647765" y="3556931"/>
            <a:ext cx="5981156" cy="2339102"/>
          </a:xfrm>
          <a:prstGeom prst="rect">
            <a:avLst/>
          </a:prstGeom>
          <a:noFill/>
        </p:spPr>
        <p:txBody>
          <a:bodyPr wrap="square" rtlCol="0">
            <a:spAutoFit/>
          </a:bodyPr>
          <a:lstStyle/>
          <a:p>
            <a:r>
              <a:rPr lang="de-DE" i="1" dirty="0" err="1">
                <a:solidFill>
                  <a:schemeClr val="bg1"/>
                </a:solidFill>
              </a:rPr>
              <a:t>Learn</a:t>
            </a:r>
            <a:r>
              <a:rPr lang="de-DE" i="1" dirty="0">
                <a:solidFill>
                  <a:schemeClr val="bg1"/>
                </a:solidFill>
              </a:rPr>
              <a:t> </a:t>
            </a:r>
            <a:r>
              <a:rPr lang="de-DE" i="1" dirty="0" err="1">
                <a:solidFill>
                  <a:schemeClr val="bg1"/>
                </a:solidFill>
              </a:rPr>
              <a:t>from</a:t>
            </a:r>
            <a:r>
              <a:rPr lang="de-DE" i="1" dirty="0">
                <a:solidFill>
                  <a:schemeClr val="bg1"/>
                </a:solidFill>
              </a:rPr>
              <a:t> </a:t>
            </a:r>
            <a:r>
              <a:rPr lang="de-DE" i="1" dirty="0" err="1">
                <a:solidFill>
                  <a:schemeClr val="bg1"/>
                </a:solidFill>
              </a:rPr>
              <a:t>data</a:t>
            </a:r>
            <a:r>
              <a:rPr lang="de-DE" i="1" dirty="0">
                <a:solidFill>
                  <a:schemeClr val="bg1"/>
                </a:solidFill>
              </a:rPr>
              <a:t> </a:t>
            </a:r>
            <a:r>
              <a:rPr lang="de-DE" i="1" dirty="0" err="1">
                <a:solidFill>
                  <a:schemeClr val="bg1"/>
                </a:solidFill>
              </a:rPr>
              <a:t>to</a:t>
            </a:r>
            <a:r>
              <a:rPr lang="de-DE" i="1" dirty="0">
                <a:solidFill>
                  <a:schemeClr val="bg1"/>
                </a:solidFill>
              </a:rPr>
              <a:t> </a:t>
            </a:r>
            <a:r>
              <a:rPr lang="de-DE" i="1" dirty="0" err="1">
                <a:solidFill>
                  <a:schemeClr val="bg1"/>
                </a:solidFill>
              </a:rPr>
              <a:t>predict</a:t>
            </a:r>
            <a:r>
              <a:rPr lang="de-DE" i="1" dirty="0">
                <a:solidFill>
                  <a:schemeClr val="bg1"/>
                </a:solidFill>
              </a:rPr>
              <a:t> </a:t>
            </a:r>
            <a:r>
              <a:rPr lang="de-DE" i="1" dirty="0" err="1">
                <a:solidFill>
                  <a:schemeClr val="bg1"/>
                </a:solidFill>
              </a:rPr>
              <a:t>outcomes</a:t>
            </a:r>
            <a:endParaRPr lang="de-DE" i="1" dirty="0">
              <a:solidFill>
                <a:schemeClr val="bg1"/>
              </a:solidFill>
            </a:endParaRPr>
          </a:p>
          <a:p>
            <a:endParaRPr lang="de-DE" sz="1200" dirty="0">
              <a:solidFill>
                <a:schemeClr val="bg1"/>
              </a:solidFill>
            </a:endParaRPr>
          </a:p>
          <a:p>
            <a:r>
              <a:rPr lang="de-DE" dirty="0" err="1">
                <a:solidFill>
                  <a:schemeClr val="bg1"/>
                </a:solidFill>
              </a:rPr>
              <a:t>Traditionally</a:t>
            </a:r>
            <a:r>
              <a:rPr lang="de-DE" dirty="0">
                <a:solidFill>
                  <a:schemeClr val="bg1"/>
                </a:solidFill>
              </a:rPr>
              <a:t> </a:t>
            </a:r>
            <a:r>
              <a:rPr lang="de-DE" dirty="0" err="1">
                <a:solidFill>
                  <a:schemeClr val="bg1"/>
                </a:solidFill>
              </a:rPr>
              <a:t>focuses</a:t>
            </a:r>
            <a:r>
              <a:rPr lang="de-DE" dirty="0">
                <a:solidFill>
                  <a:schemeClr val="bg1"/>
                </a:solidFill>
              </a:rPr>
              <a:t> on </a:t>
            </a:r>
            <a:r>
              <a:rPr lang="de-DE" dirty="0" err="1">
                <a:solidFill>
                  <a:schemeClr val="bg1"/>
                </a:solidFill>
              </a:rPr>
              <a:t>prediction</a:t>
            </a:r>
            <a:r>
              <a:rPr lang="de-DE" dirty="0">
                <a:solidFill>
                  <a:schemeClr val="bg1"/>
                </a:solidFill>
              </a:rPr>
              <a:t> (i.e., </a:t>
            </a:r>
            <a:r>
              <a:rPr lang="de-DE" dirty="0" err="1">
                <a:solidFill>
                  <a:schemeClr val="bg1"/>
                </a:solidFill>
              </a:rPr>
              <a:t>capturing</a:t>
            </a:r>
            <a:r>
              <a:rPr lang="de-DE" dirty="0">
                <a:solidFill>
                  <a:schemeClr val="bg1"/>
                </a:solidFill>
              </a:rPr>
              <a:t> </a:t>
            </a:r>
            <a:r>
              <a:rPr lang="de-DE" dirty="0" err="1">
                <a:solidFill>
                  <a:schemeClr val="bg1"/>
                </a:solidFill>
              </a:rPr>
              <a:t>correlative</a:t>
            </a:r>
            <a:r>
              <a:rPr lang="de-DE" dirty="0">
                <a:solidFill>
                  <a:schemeClr val="bg1"/>
                </a:solidFill>
              </a:rPr>
              <a:t> </a:t>
            </a:r>
            <a:r>
              <a:rPr lang="de-DE" dirty="0" err="1">
                <a:solidFill>
                  <a:schemeClr val="bg1"/>
                </a:solidFill>
              </a:rPr>
              <a:t>structure</a:t>
            </a:r>
            <a:r>
              <a:rPr lang="de-DE" dirty="0">
                <a:solidFill>
                  <a:schemeClr val="bg1"/>
                </a:solidFill>
              </a:rPr>
              <a:t>) </a:t>
            </a:r>
            <a:r>
              <a:rPr lang="de-DE" dirty="0" err="1">
                <a:solidFill>
                  <a:schemeClr val="bg1"/>
                </a:solidFill>
              </a:rPr>
              <a:t>rather</a:t>
            </a:r>
            <a:r>
              <a:rPr lang="de-DE" dirty="0">
                <a:solidFill>
                  <a:schemeClr val="bg1"/>
                </a:solidFill>
              </a:rPr>
              <a:t> </a:t>
            </a:r>
            <a:r>
              <a:rPr lang="de-DE" dirty="0" err="1">
                <a:solidFill>
                  <a:schemeClr val="bg1"/>
                </a:solidFill>
              </a:rPr>
              <a:t>than</a:t>
            </a:r>
            <a:r>
              <a:rPr lang="de-DE" dirty="0">
                <a:solidFill>
                  <a:schemeClr val="bg1"/>
                </a:solidFill>
              </a:rPr>
              <a:t> </a:t>
            </a:r>
            <a:r>
              <a:rPr lang="de-DE" dirty="0" err="1">
                <a:solidFill>
                  <a:schemeClr val="bg1"/>
                </a:solidFill>
              </a:rPr>
              <a:t>explanation</a:t>
            </a:r>
            <a:r>
              <a:rPr lang="de-DE" dirty="0">
                <a:solidFill>
                  <a:schemeClr val="bg1"/>
                </a:solidFill>
              </a:rPr>
              <a:t> (i.e., </a:t>
            </a:r>
            <a:r>
              <a:rPr lang="de-DE" dirty="0" err="1">
                <a:solidFill>
                  <a:schemeClr val="bg1"/>
                </a:solidFill>
              </a:rPr>
              <a:t>capturing</a:t>
            </a:r>
            <a:r>
              <a:rPr lang="de-DE" dirty="0">
                <a:solidFill>
                  <a:schemeClr val="bg1"/>
                </a:solidFill>
              </a:rPr>
              <a:t> </a:t>
            </a:r>
            <a:r>
              <a:rPr lang="de-DE" dirty="0" err="1">
                <a:solidFill>
                  <a:schemeClr val="bg1"/>
                </a:solidFill>
              </a:rPr>
              <a:t>causal</a:t>
            </a:r>
            <a:r>
              <a:rPr lang="de-DE" dirty="0">
                <a:solidFill>
                  <a:schemeClr val="bg1"/>
                </a:solidFill>
              </a:rPr>
              <a:t> </a:t>
            </a:r>
            <a:r>
              <a:rPr lang="de-DE" dirty="0" err="1">
                <a:solidFill>
                  <a:schemeClr val="bg1"/>
                </a:solidFill>
              </a:rPr>
              <a:t>effects</a:t>
            </a:r>
            <a:r>
              <a:rPr lang="de-DE" dirty="0">
                <a:solidFill>
                  <a:schemeClr val="bg1"/>
                </a:solidFill>
              </a:rPr>
              <a:t>; </a:t>
            </a:r>
            <a:r>
              <a:rPr lang="de-DE" dirty="0" err="1">
                <a:solidFill>
                  <a:schemeClr val="bg1"/>
                </a:solidFill>
              </a:rPr>
              <a:t>Yarkoni</a:t>
            </a:r>
            <a:r>
              <a:rPr lang="de-DE" dirty="0">
                <a:solidFill>
                  <a:schemeClr val="bg1"/>
                </a:solidFill>
              </a:rPr>
              <a:t> &amp; Westfall, 2017)</a:t>
            </a:r>
          </a:p>
          <a:p>
            <a:endParaRPr lang="de-DE" sz="1200" dirty="0">
              <a:solidFill>
                <a:schemeClr val="bg1"/>
              </a:solidFill>
            </a:endParaRPr>
          </a:p>
          <a:p>
            <a:r>
              <a:rPr lang="de-DE" dirty="0" err="1">
                <a:solidFill>
                  <a:schemeClr val="bg1"/>
                </a:solidFill>
              </a:rPr>
              <a:t>Fuzzy</a:t>
            </a:r>
            <a:r>
              <a:rPr lang="de-DE" dirty="0">
                <a:solidFill>
                  <a:schemeClr val="bg1"/>
                </a:solidFill>
              </a:rPr>
              <a:t> </a:t>
            </a:r>
            <a:r>
              <a:rPr lang="de-DE" dirty="0" err="1">
                <a:solidFill>
                  <a:schemeClr val="bg1"/>
                </a:solidFill>
              </a:rPr>
              <a:t>boundary</a:t>
            </a:r>
            <a:r>
              <a:rPr lang="de-DE" dirty="0">
                <a:solidFill>
                  <a:schemeClr val="bg1"/>
                </a:solidFill>
              </a:rPr>
              <a:t> </a:t>
            </a:r>
            <a:r>
              <a:rPr lang="de-DE" dirty="0" err="1">
                <a:solidFill>
                  <a:schemeClr val="bg1"/>
                </a:solidFill>
              </a:rPr>
              <a:t>statistical</a:t>
            </a:r>
            <a:r>
              <a:rPr lang="de-DE" dirty="0">
                <a:solidFill>
                  <a:schemeClr val="bg1"/>
                </a:solidFill>
              </a:rPr>
              <a:t> </a:t>
            </a:r>
            <a:r>
              <a:rPr lang="de-DE" dirty="0" err="1">
                <a:solidFill>
                  <a:schemeClr val="bg1"/>
                </a:solidFill>
              </a:rPr>
              <a:t>modeling</a:t>
            </a:r>
            <a:r>
              <a:rPr lang="de-DE" dirty="0">
                <a:solidFill>
                  <a:schemeClr val="bg1"/>
                </a:solidFill>
              </a:rPr>
              <a:t>/ML; Molnar, 2022</a:t>
            </a:r>
          </a:p>
          <a:p>
            <a:endParaRPr lang="de-DE" sz="1200" dirty="0">
              <a:solidFill>
                <a:schemeClr val="bg1"/>
              </a:solidFill>
            </a:endParaRPr>
          </a:p>
          <a:p>
            <a:r>
              <a:rPr lang="de-DE" dirty="0">
                <a:solidFill>
                  <a:schemeClr val="bg1"/>
                </a:solidFill>
              </a:rPr>
              <a:t>Here: </a:t>
            </a:r>
            <a:r>
              <a:rPr lang="de-DE" dirty="0" err="1">
                <a:solidFill>
                  <a:schemeClr val="bg1"/>
                </a:solidFill>
              </a:rPr>
              <a:t>Introduces</a:t>
            </a:r>
            <a:r>
              <a:rPr lang="de-DE" dirty="0">
                <a:solidFill>
                  <a:schemeClr val="bg1"/>
                </a:solidFill>
              </a:rPr>
              <a:t> </a:t>
            </a:r>
            <a:r>
              <a:rPr lang="de-DE" b="1" dirty="0" err="1">
                <a:solidFill>
                  <a:schemeClr val="bg1"/>
                </a:solidFill>
              </a:rPr>
              <a:t>bias</a:t>
            </a:r>
            <a:r>
              <a:rPr lang="de-DE" dirty="0">
                <a:solidFill>
                  <a:schemeClr val="bg1"/>
                </a:solidFill>
              </a:rPr>
              <a:t> </a:t>
            </a:r>
            <a:r>
              <a:rPr lang="de-DE" dirty="0" err="1">
                <a:solidFill>
                  <a:schemeClr val="bg1"/>
                </a:solidFill>
              </a:rPr>
              <a:t>to</a:t>
            </a:r>
            <a:r>
              <a:rPr lang="de-DE" dirty="0">
                <a:solidFill>
                  <a:schemeClr val="bg1"/>
                </a:solidFill>
              </a:rPr>
              <a:t> </a:t>
            </a:r>
            <a:r>
              <a:rPr lang="de-DE" dirty="0" err="1">
                <a:solidFill>
                  <a:schemeClr val="bg1"/>
                </a:solidFill>
              </a:rPr>
              <a:t>increase</a:t>
            </a:r>
            <a:r>
              <a:rPr lang="de-DE" dirty="0">
                <a:solidFill>
                  <a:schemeClr val="bg1"/>
                </a:solidFill>
              </a:rPr>
              <a:t> </a:t>
            </a:r>
            <a:r>
              <a:rPr lang="de-DE" dirty="0" err="1">
                <a:solidFill>
                  <a:schemeClr val="bg1"/>
                </a:solidFill>
              </a:rPr>
              <a:t>predictive</a:t>
            </a:r>
            <a:r>
              <a:rPr lang="de-DE" dirty="0">
                <a:solidFill>
                  <a:schemeClr val="bg1"/>
                </a:solidFill>
              </a:rPr>
              <a:t> </a:t>
            </a:r>
            <a:r>
              <a:rPr lang="de-DE" dirty="0" err="1">
                <a:solidFill>
                  <a:schemeClr val="bg1"/>
                </a:solidFill>
              </a:rPr>
              <a:t>accuracy</a:t>
            </a:r>
            <a:endParaRPr lang="de-DE" dirty="0">
              <a:solidFill>
                <a:schemeClr val="bg1"/>
              </a:solidFill>
            </a:endParaRPr>
          </a:p>
        </p:txBody>
      </p:sp>
      <p:pic>
        <p:nvPicPr>
          <p:cNvPr id="14" name="Picture 8" descr="Jogger erschreckt Pferd – wer ist schuld? – FIT for LIFE">
            <a:extLst>
              <a:ext uri="{FF2B5EF4-FFF2-40B4-BE49-F238E27FC236}">
                <a16:creationId xmlns:a16="http://schemas.microsoft.com/office/drawing/2014/main" id="{9A5BCFB4-1930-4337-BBE9-015DA6771D1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610" r="37230" b="5684"/>
          <a:stretch/>
        </p:blipFill>
        <p:spPr bwMode="auto">
          <a:xfrm>
            <a:off x="5831757" y="5499390"/>
            <a:ext cx="882828" cy="1317098"/>
          </a:xfrm>
          <a:prstGeom prst="rect">
            <a:avLst/>
          </a:prstGeom>
          <a:noFill/>
          <a:extLst>
            <a:ext uri="{909E8E84-426E-40DD-AFC4-6F175D3DCCD1}">
              <a14:hiddenFill xmlns:a14="http://schemas.microsoft.com/office/drawing/2010/main">
                <a:solidFill>
                  <a:srgbClr val="FFFFFF"/>
                </a:solidFill>
              </a14:hiddenFill>
            </a:ext>
          </a:extLst>
        </p:spPr>
      </p:pic>
      <p:sp>
        <p:nvSpPr>
          <p:cNvPr id="15" name="Titel 1">
            <a:extLst>
              <a:ext uri="{FF2B5EF4-FFF2-40B4-BE49-F238E27FC236}">
                <a16:creationId xmlns:a16="http://schemas.microsoft.com/office/drawing/2014/main" id="{0251F5B4-3CBC-406F-9EE3-4A73F026F912}"/>
              </a:ext>
            </a:extLst>
          </p:cNvPr>
          <p:cNvSpPr txBox="1">
            <a:spLocks/>
          </p:cNvSpPr>
          <p:nvPr/>
        </p:nvSpPr>
        <p:spPr bwMode="auto">
          <a:xfrm>
            <a:off x="6744039" y="5973273"/>
            <a:ext cx="1245428" cy="369333"/>
          </a:xfrm>
          <a:prstGeom prst="rect">
            <a:avLst/>
          </a:prstGeom>
        </p:spPr>
        <p:txBody>
          <a:bodyPr vert="horz" lIns="91440" tIns="45720" rIns="91440" bIns="45720" rtlCol="0" anchor="ctr">
            <a:normAutofit fontScale="6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de-AT" sz="1800" i="1" dirty="0">
                <a:solidFill>
                  <a:schemeClr val="bg1"/>
                </a:solidFill>
                <a:latin typeface="Arial" panose="020B0604020202020204" pitchFamily="34" charset="0"/>
                <a:cs typeface="Arial" panose="020B0604020202020204" pitchFamily="34" charset="0"/>
              </a:rPr>
              <a:t>not </a:t>
            </a:r>
            <a:r>
              <a:rPr lang="de-AT" sz="1800" i="1" dirty="0" err="1">
                <a:solidFill>
                  <a:schemeClr val="bg1"/>
                </a:solidFill>
                <a:latin typeface="Arial" panose="020B0604020202020204" pitchFamily="34" charset="0"/>
                <a:cs typeface="Arial" panose="020B0604020202020204" pitchFamily="34" charset="0"/>
              </a:rPr>
              <a:t>with</a:t>
            </a:r>
            <a:r>
              <a:rPr lang="de-AT" sz="1800" i="1" dirty="0">
                <a:solidFill>
                  <a:schemeClr val="bg1"/>
                </a:solidFill>
                <a:latin typeface="Arial" panose="020B0604020202020204" pitchFamily="34" charset="0"/>
                <a:cs typeface="Arial" panose="020B0604020202020204" pitchFamily="34" charset="0"/>
              </a:rPr>
              <a:t> </a:t>
            </a:r>
            <a:r>
              <a:rPr lang="de-AT" sz="1800" i="1" dirty="0" err="1">
                <a:solidFill>
                  <a:schemeClr val="bg1"/>
                </a:solidFill>
                <a:latin typeface="Arial" panose="020B0604020202020204" pitchFamily="34" charset="0"/>
                <a:cs typeface="Arial" panose="020B0604020202020204" pitchFamily="34" charset="0"/>
              </a:rPr>
              <a:t>me</a:t>
            </a:r>
            <a:r>
              <a:rPr lang="de-AT" sz="1800" i="1" dirty="0">
                <a:solidFill>
                  <a:schemeClr val="bg1"/>
                </a:solidFill>
                <a:latin typeface="Arial" panose="020B0604020202020204" pitchFamily="34" charset="0"/>
                <a:cs typeface="Arial" panose="020B0604020202020204" pitchFamily="34" charset="0"/>
              </a:rPr>
              <a:t>, </a:t>
            </a:r>
            <a:r>
              <a:rPr lang="de-AT" sz="1800" i="1" dirty="0" err="1">
                <a:solidFill>
                  <a:schemeClr val="bg1"/>
                </a:solidFill>
                <a:latin typeface="Arial" panose="020B0604020202020204" pitchFamily="34" charset="0"/>
                <a:cs typeface="Arial" panose="020B0604020202020204" pitchFamily="34" charset="0"/>
              </a:rPr>
              <a:t>baby</a:t>
            </a:r>
            <a:r>
              <a:rPr lang="de-AT" sz="1800" i="1" dirty="0">
                <a:solidFill>
                  <a:schemeClr val="bg1"/>
                </a:solidFill>
                <a:latin typeface="Arial" panose="020B0604020202020204" pitchFamily="34" charset="0"/>
                <a:cs typeface="Arial" panose="020B0604020202020204" pitchFamily="34" charset="0"/>
              </a:rPr>
              <a:t>!</a:t>
            </a:r>
          </a:p>
        </p:txBody>
      </p:sp>
      <p:sp>
        <p:nvSpPr>
          <p:cNvPr id="18" name="Sprechblase: oval 17">
            <a:extLst>
              <a:ext uri="{FF2B5EF4-FFF2-40B4-BE49-F238E27FC236}">
                <a16:creationId xmlns:a16="http://schemas.microsoft.com/office/drawing/2014/main" id="{F2473AB4-FC6D-45F2-BADC-7865D5864933}"/>
              </a:ext>
            </a:extLst>
          </p:cNvPr>
          <p:cNvSpPr/>
          <p:nvPr/>
        </p:nvSpPr>
        <p:spPr bwMode="auto">
          <a:xfrm>
            <a:off x="6769829" y="5886525"/>
            <a:ext cx="1219637" cy="456081"/>
          </a:xfrm>
          <a:prstGeom prst="wedgeEllipseCallout">
            <a:avLst>
              <a:gd name="adj1" fmla="val -69540"/>
              <a:gd name="adj2" fmla="val 66135"/>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bg1"/>
              </a:solidFill>
            </a:endParaRPr>
          </a:p>
        </p:txBody>
      </p:sp>
      <p:cxnSp>
        <p:nvCxnSpPr>
          <p:cNvPr id="3" name="Gerade Verbindung mit Pfeil 2">
            <a:extLst>
              <a:ext uri="{FF2B5EF4-FFF2-40B4-BE49-F238E27FC236}">
                <a16:creationId xmlns:a16="http://schemas.microsoft.com/office/drawing/2014/main" id="{AE5C6878-B8D8-4ACF-BBD8-5E0CEBDEC8A6}"/>
              </a:ext>
            </a:extLst>
          </p:cNvPr>
          <p:cNvCxnSpPr>
            <a:cxnSpLocks/>
            <a:stCxn id="18" idx="6"/>
          </p:cNvCxnSpPr>
          <p:nvPr/>
        </p:nvCxnSpPr>
        <p:spPr>
          <a:xfrm flipV="1">
            <a:off x="7989466" y="5798916"/>
            <a:ext cx="749420" cy="31565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a:extLst>
              <a:ext uri="{FF2B5EF4-FFF2-40B4-BE49-F238E27FC236}">
                <a16:creationId xmlns:a16="http://schemas.microsoft.com/office/drawing/2014/main" id="{62166013-4869-4FA1-9265-AA362C042F86}"/>
              </a:ext>
            </a:extLst>
          </p:cNvPr>
          <p:cNvCxnSpPr>
            <a:cxnSpLocks/>
          </p:cNvCxnSpPr>
          <p:nvPr/>
        </p:nvCxnSpPr>
        <p:spPr>
          <a:xfrm flipV="1">
            <a:off x="6103078" y="4394409"/>
            <a:ext cx="0" cy="47853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1" name="Titel 1">
            <a:extLst>
              <a:ext uri="{FF2B5EF4-FFF2-40B4-BE49-F238E27FC236}">
                <a16:creationId xmlns:a16="http://schemas.microsoft.com/office/drawing/2014/main" id="{6E68FBD3-F473-456B-91B4-367C52E57E1E}"/>
              </a:ext>
            </a:extLst>
          </p:cNvPr>
          <p:cNvSpPr txBox="1">
            <a:spLocks/>
          </p:cNvSpPr>
          <p:nvPr/>
        </p:nvSpPr>
        <p:spPr bwMode="auto">
          <a:xfrm>
            <a:off x="5532661" y="4980033"/>
            <a:ext cx="1245428" cy="369333"/>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de-AT" sz="1800" i="1" dirty="0" err="1">
                <a:solidFill>
                  <a:schemeClr val="bg1"/>
                </a:solidFill>
                <a:latin typeface="Arial" panose="020B0604020202020204" pitchFamily="34" charset="0"/>
                <a:cs typeface="Arial" panose="020B0604020202020204" pitchFamily="34" charset="0"/>
              </a:rPr>
              <a:t>really</a:t>
            </a:r>
            <a:r>
              <a:rPr lang="de-AT" sz="1800" i="1" dirty="0">
                <a:solidFill>
                  <a:schemeClr val="bg1"/>
                </a:solidFill>
                <a:latin typeface="Arial" panose="020B0604020202020204" pitchFamily="34" charset="0"/>
                <a:cs typeface="Arial" panose="020B0604020202020204" pitchFamily="34" charset="0"/>
              </a:rPr>
              <a:t>?</a:t>
            </a:r>
          </a:p>
        </p:txBody>
      </p:sp>
      <p:sp>
        <p:nvSpPr>
          <p:cNvPr id="22" name="Sprechblase: oval 21">
            <a:extLst>
              <a:ext uri="{FF2B5EF4-FFF2-40B4-BE49-F238E27FC236}">
                <a16:creationId xmlns:a16="http://schemas.microsoft.com/office/drawing/2014/main" id="{A559CA19-118E-4804-9F9A-3BD8C17E82E9}"/>
              </a:ext>
            </a:extLst>
          </p:cNvPr>
          <p:cNvSpPr/>
          <p:nvPr/>
        </p:nvSpPr>
        <p:spPr bwMode="auto">
          <a:xfrm>
            <a:off x="5439703" y="4926472"/>
            <a:ext cx="1219637" cy="456081"/>
          </a:xfrm>
          <a:prstGeom prst="wedgeEllipseCallout">
            <a:avLst>
              <a:gd name="adj1" fmla="val 13025"/>
              <a:gd name="adj2" fmla="val 124506"/>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bg1"/>
              </a:solidFill>
            </a:endParaRPr>
          </a:p>
        </p:txBody>
      </p:sp>
      <p:sp>
        <p:nvSpPr>
          <p:cNvPr id="26" name="Textfeld 25">
            <a:extLst>
              <a:ext uri="{FF2B5EF4-FFF2-40B4-BE49-F238E27FC236}">
                <a16:creationId xmlns:a16="http://schemas.microsoft.com/office/drawing/2014/main" id="{35288D93-0C71-49E9-8EA5-A165F28BDC79}"/>
              </a:ext>
            </a:extLst>
          </p:cNvPr>
          <p:cNvSpPr txBox="1"/>
          <p:nvPr/>
        </p:nvSpPr>
        <p:spPr>
          <a:xfrm>
            <a:off x="6700070" y="5017804"/>
            <a:ext cx="5477415" cy="830997"/>
          </a:xfrm>
          <a:prstGeom prst="rect">
            <a:avLst/>
          </a:prstGeom>
          <a:noFill/>
          <a:ln>
            <a:solidFill>
              <a:srgbClr val="C00000"/>
            </a:solidFill>
          </a:ln>
        </p:spPr>
        <p:txBody>
          <a:bodyPr wrap="square" rtlCol="0">
            <a:spAutoFit/>
          </a:bodyPr>
          <a:lstStyle/>
          <a:p>
            <a:r>
              <a:rPr lang="de-DE" sz="2400" dirty="0">
                <a:solidFill>
                  <a:schemeClr val="bg1"/>
                </a:solidFill>
              </a:rPr>
              <a:t>  </a:t>
            </a:r>
          </a:p>
          <a:p>
            <a:r>
              <a:rPr lang="de-DE" sz="2400" dirty="0">
                <a:solidFill>
                  <a:schemeClr val="bg1"/>
                </a:solidFill>
              </a:rPr>
              <a:t>  </a:t>
            </a:r>
          </a:p>
        </p:txBody>
      </p:sp>
    </p:spTree>
    <p:extLst>
      <p:ext uri="{BB962C8B-B14F-4D97-AF65-F5344CB8AC3E}">
        <p14:creationId xmlns:p14="http://schemas.microsoft.com/office/powerpoint/2010/main" val="1714587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500"/>
                                        <p:tgtEl>
                                          <p:spTgt spid="39"/>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3" grpId="0"/>
      <p:bldP spid="15" grpId="0"/>
      <p:bldP spid="18" grpId="0" animBg="1"/>
      <p:bldP spid="21" grpId="0"/>
      <p:bldP spid="22" grpId="0" animBg="1"/>
      <p:bldP spid="2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Rechteck 3"/>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2" name="Abgerundetes Rechteck 41"/>
          <p:cNvSpPr/>
          <p:nvPr/>
        </p:nvSpPr>
        <p:spPr>
          <a:xfrm>
            <a:off x="4027242" y="515394"/>
            <a:ext cx="4137515" cy="1456629"/>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CH" sz="3200" b="1" dirty="0">
                <a:solidFill>
                  <a:prstClr val="white"/>
                </a:solidFill>
                <a:latin typeface="Arial" panose="020B0604020202020204"/>
              </a:rPr>
              <a:t>Part 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3200" b="1" i="0" u="none" strike="noStrike" kern="1200" cap="none" spc="0" normalizeH="0" baseline="0" noProof="0" dirty="0" err="1">
                <a:ln>
                  <a:noFill/>
                </a:ln>
                <a:solidFill>
                  <a:prstClr val="white"/>
                </a:solidFill>
                <a:effectLst/>
                <a:uLnTx/>
                <a:uFillTx/>
                <a:latin typeface="Arial" panose="020B0604020202020204"/>
                <a:ea typeface="+mn-ea"/>
                <a:cs typeface="+mn-cs"/>
              </a:rPr>
              <a:t>What</a:t>
            </a:r>
            <a:r>
              <a:rPr kumimoji="0" lang="de-CH" sz="3200" b="1"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3200" b="1" i="1" u="none" strike="noStrike" kern="1200" cap="none" spc="0" normalizeH="0" baseline="0" noProof="0" dirty="0" err="1">
                <a:ln>
                  <a:noFill/>
                </a:ln>
                <a:solidFill>
                  <a:prstClr val="white"/>
                </a:solidFill>
                <a:effectLst/>
                <a:uLnTx/>
                <a:uFillTx/>
                <a:latin typeface="Arial" panose="020B0604020202020204"/>
                <a:ea typeface="+mn-ea"/>
                <a:cs typeface="+mn-cs"/>
              </a:rPr>
              <a:t>is</a:t>
            </a:r>
            <a:r>
              <a:rPr kumimoji="0" lang="de-CH" sz="3200" b="1"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3200" b="1" i="0" u="none" strike="noStrike" kern="1200" cap="none" spc="0" normalizeH="0" baseline="0" noProof="0" dirty="0" err="1">
                <a:ln>
                  <a:noFill/>
                </a:ln>
                <a:solidFill>
                  <a:prstClr val="white"/>
                </a:solidFill>
                <a:effectLst/>
                <a:uLnTx/>
                <a:uFillTx/>
                <a:latin typeface="Arial" panose="020B0604020202020204"/>
                <a:ea typeface="+mn-ea"/>
                <a:cs typeface="+mn-cs"/>
              </a:rPr>
              <a:t>causal</a:t>
            </a:r>
            <a:r>
              <a:rPr kumimoji="0" lang="de-CH" sz="3200" b="1"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3200" b="1" i="0" u="none" strike="noStrike" kern="1200" cap="none" spc="0" normalizeH="0" baseline="0" noProof="0" dirty="0" err="1">
                <a:ln>
                  <a:noFill/>
                </a:ln>
                <a:solidFill>
                  <a:prstClr val="white"/>
                </a:solidFill>
                <a:effectLst/>
                <a:uLnTx/>
                <a:uFillTx/>
                <a:latin typeface="Arial" panose="020B0604020202020204"/>
                <a:ea typeface="+mn-ea"/>
                <a:cs typeface="+mn-cs"/>
              </a:rPr>
              <a:t>machine</a:t>
            </a:r>
            <a:r>
              <a:rPr kumimoji="0" lang="de-CH" sz="3200" b="1"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3200" b="1" i="0" u="none" strike="noStrike" kern="1200" cap="none" spc="0" normalizeH="0" baseline="0" noProof="0" dirty="0" err="1">
                <a:ln>
                  <a:noFill/>
                </a:ln>
                <a:solidFill>
                  <a:prstClr val="white"/>
                </a:solidFill>
                <a:effectLst/>
                <a:uLnTx/>
                <a:uFillTx/>
                <a:latin typeface="Arial" panose="020B0604020202020204"/>
                <a:ea typeface="+mn-ea"/>
                <a:cs typeface="+mn-cs"/>
              </a:rPr>
              <a:t>learning</a:t>
            </a:r>
            <a:r>
              <a:rPr kumimoji="0" lang="de-CH" sz="3200" b="1" i="0" u="none" strike="noStrike" kern="1200" cap="none" spc="0" normalizeH="0" baseline="0" noProof="0" dirty="0">
                <a:ln>
                  <a:noFill/>
                </a:ln>
                <a:solidFill>
                  <a:prstClr val="white"/>
                </a:solidFill>
                <a:effectLst/>
                <a:uLnTx/>
                <a:uFillTx/>
                <a:latin typeface="Arial" panose="020B0604020202020204"/>
                <a:ea typeface="+mn-ea"/>
                <a:cs typeface="+mn-cs"/>
              </a:rPr>
              <a:t>?</a:t>
            </a:r>
            <a:endParaRPr kumimoji="0" lang="en-US" sz="3200" b="1"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6" name="Abgerundetes Rechteck 41">
            <a:extLst>
              <a:ext uri="{FF2B5EF4-FFF2-40B4-BE49-F238E27FC236}">
                <a16:creationId xmlns:a16="http://schemas.microsoft.com/office/drawing/2014/main" id="{6B9B2E26-23E5-4A24-BEE9-13DCA5D62C9E}"/>
              </a:ext>
            </a:extLst>
          </p:cNvPr>
          <p:cNvSpPr/>
          <p:nvPr/>
        </p:nvSpPr>
        <p:spPr>
          <a:xfrm>
            <a:off x="1796143" y="2701034"/>
            <a:ext cx="2841171" cy="555851"/>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CH" sz="2400" dirty="0" err="1">
                <a:solidFill>
                  <a:prstClr val="white"/>
                </a:solidFill>
                <a:latin typeface="Arial" panose="020B0604020202020204"/>
              </a:rPr>
              <a:t>Causal</a:t>
            </a:r>
            <a:r>
              <a:rPr lang="de-CH" sz="2400" dirty="0">
                <a:solidFill>
                  <a:prstClr val="white"/>
                </a:solidFill>
                <a:latin typeface="Arial" panose="020B0604020202020204"/>
              </a:rPr>
              <a:t> </a:t>
            </a:r>
            <a:r>
              <a:rPr lang="de-CH" sz="2400" dirty="0" err="1">
                <a:solidFill>
                  <a:prstClr val="white"/>
                </a:solidFill>
                <a:latin typeface="Arial" panose="020B0604020202020204"/>
              </a:rPr>
              <a:t>inference</a:t>
            </a:r>
            <a:endParaRPr kumimoji="0" lang="en-US" sz="240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7" name="Abgerundetes Rechteck 41">
            <a:extLst>
              <a:ext uri="{FF2B5EF4-FFF2-40B4-BE49-F238E27FC236}">
                <a16:creationId xmlns:a16="http://schemas.microsoft.com/office/drawing/2014/main" id="{77B8304F-F6E4-468B-9D91-844E857CF8F0}"/>
              </a:ext>
            </a:extLst>
          </p:cNvPr>
          <p:cNvSpPr/>
          <p:nvPr/>
        </p:nvSpPr>
        <p:spPr>
          <a:xfrm>
            <a:off x="7554686" y="2701033"/>
            <a:ext cx="2841171" cy="555851"/>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CH" sz="2400" dirty="0" err="1">
                <a:solidFill>
                  <a:prstClr val="white"/>
                </a:solidFill>
                <a:latin typeface="Arial" panose="020B0604020202020204"/>
              </a:rPr>
              <a:t>Machine</a:t>
            </a:r>
            <a:r>
              <a:rPr lang="de-CH" sz="2400" dirty="0">
                <a:solidFill>
                  <a:prstClr val="white"/>
                </a:solidFill>
                <a:latin typeface="Arial" panose="020B0604020202020204"/>
              </a:rPr>
              <a:t> </a:t>
            </a:r>
            <a:r>
              <a:rPr lang="de-CH" sz="2400" dirty="0" err="1">
                <a:solidFill>
                  <a:prstClr val="white"/>
                </a:solidFill>
                <a:latin typeface="Arial" panose="020B0604020202020204"/>
              </a:rPr>
              <a:t>learning</a:t>
            </a:r>
            <a:endParaRPr kumimoji="0" lang="en-US" sz="240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0" name="Abgerundetes Rechteck 41">
            <a:extLst>
              <a:ext uri="{FF2B5EF4-FFF2-40B4-BE49-F238E27FC236}">
                <a16:creationId xmlns:a16="http://schemas.microsoft.com/office/drawing/2014/main" id="{CB69749E-2935-4A1A-9C25-630C77EFD915}"/>
              </a:ext>
            </a:extLst>
          </p:cNvPr>
          <p:cNvSpPr/>
          <p:nvPr/>
        </p:nvSpPr>
        <p:spPr>
          <a:xfrm>
            <a:off x="9345385" y="5957917"/>
            <a:ext cx="2432957" cy="838199"/>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defTabSz="914400" rtl="0" eaLnBrk="1" fontAlgn="auto" latinLnBrk="0" hangingPunct="1">
              <a:lnSpc>
                <a:spcPct val="100000"/>
              </a:lnSpc>
              <a:spcBef>
                <a:spcPts val="0"/>
              </a:spcBef>
              <a:spcAft>
                <a:spcPts val="0"/>
              </a:spcAft>
              <a:buClrTx/>
              <a:buSzTx/>
              <a:tabLst/>
              <a:defRPr/>
            </a:pPr>
            <a:r>
              <a:rPr kumimoji="0" lang="de-CH" sz="1200" b="1" i="0" u="none" strike="noStrike" kern="1200" cap="none" spc="0" normalizeH="0" baseline="0" noProof="0" dirty="0">
                <a:ln>
                  <a:noFill/>
                </a:ln>
                <a:solidFill>
                  <a:prstClr val="white"/>
                </a:solidFill>
                <a:effectLst/>
                <a:uLnTx/>
                <a:uFillTx/>
                <a:latin typeface="Arial" panose="020B0604020202020204"/>
                <a:ea typeface="+mn-ea"/>
                <a:cs typeface="+mn-cs"/>
              </a:rPr>
              <a:t>I)   </a:t>
            </a:r>
            <a:r>
              <a:rPr kumimoji="0" lang="de-CH" sz="1200" b="1" i="0" u="none" strike="noStrike" kern="1200" cap="none" spc="0" normalizeH="0" baseline="0" noProof="0" dirty="0" err="1">
                <a:ln>
                  <a:noFill/>
                </a:ln>
                <a:solidFill>
                  <a:prstClr val="white"/>
                </a:solidFill>
                <a:effectLst/>
                <a:uLnTx/>
                <a:uFillTx/>
                <a:latin typeface="Arial" panose="020B0604020202020204"/>
                <a:ea typeface="+mn-ea"/>
                <a:cs typeface="+mn-cs"/>
              </a:rPr>
              <a:t>What</a:t>
            </a:r>
            <a:r>
              <a:rPr kumimoji="0" lang="de-CH" sz="1200" b="1"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b="1" i="1" u="none" strike="noStrike" kern="1200" cap="none" spc="0" normalizeH="0" baseline="0" noProof="0" dirty="0" err="1">
                <a:ln>
                  <a:noFill/>
                </a:ln>
                <a:solidFill>
                  <a:prstClr val="white"/>
                </a:solidFill>
                <a:effectLst/>
                <a:uLnTx/>
                <a:uFillTx/>
                <a:latin typeface="Arial" panose="020B0604020202020204"/>
                <a:ea typeface="+mn-ea"/>
                <a:cs typeface="+mn-cs"/>
              </a:rPr>
              <a:t>is</a:t>
            </a:r>
            <a:r>
              <a:rPr kumimoji="0" lang="de-CH" sz="1200" b="1" i="0" u="none" strike="noStrike" kern="1200" cap="none" spc="0" normalizeH="0" baseline="0" noProof="0" dirty="0">
                <a:ln>
                  <a:noFill/>
                </a:ln>
                <a:solidFill>
                  <a:prstClr val="white"/>
                </a:solidFill>
                <a:effectLst/>
                <a:uLnTx/>
                <a:uFillTx/>
                <a:latin typeface="Arial" panose="020B0604020202020204"/>
                <a:ea typeface="+mn-ea"/>
                <a:cs typeface="+mn-cs"/>
              </a:rPr>
              <a:t> CML</a:t>
            </a:r>
            <a:r>
              <a:rPr lang="de-CH" sz="1200" b="1" dirty="0">
                <a:solidFill>
                  <a:prstClr val="white"/>
                </a:solidFill>
                <a:latin typeface="Arial" panose="020B0604020202020204"/>
              </a:rPr>
              <a:t>?</a:t>
            </a:r>
          </a:p>
          <a:p>
            <a:pPr marR="0" lvl="0" defTabSz="914400" rtl="0" eaLnBrk="1" fontAlgn="auto" latinLnBrk="0" hangingPunct="1">
              <a:lnSpc>
                <a:spcPct val="100000"/>
              </a:lnSpc>
              <a:spcBef>
                <a:spcPts val="0"/>
              </a:spcBef>
              <a:spcAft>
                <a:spcPts val="0"/>
              </a:spcAft>
              <a:buClrTx/>
              <a:buSzTx/>
              <a:tabLst/>
              <a:defRPr/>
            </a:pPr>
            <a:r>
              <a:rPr lang="de-CH" sz="1200" dirty="0">
                <a:solidFill>
                  <a:prstClr val="white"/>
                </a:solidFill>
                <a:latin typeface="Arial" panose="020B0604020202020204"/>
              </a:rPr>
              <a:t>II)  </a:t>
            </a:r>
            <a:r>
              <a:rPr kumimoji="0" lang="de-CH" sz="1200" i="0" u="none" strike="noStrike" kern="1200" cap="none" spc="0" normalizeH="0" baseline="0" noProof="0" dirty="0">
                <a:ln>
                  <a:noFill/>
                </a:ln>
                <a:solidFill>
                  <a:prstClr val="white"/>
                </a:solidFill>
                <a:effectLst/>
                <a:uLnTx/>
                <a:uFillTx/>
                <a:latin typeface="Arial" panose="020B0604020202020204"/>
                <a:ea typeface="+mn-ea"/>
                <a:cs typeface="+mn-cs"/>
              </a:rPr>
              <a:t>The </a:t>
            </a:r>
            <a:r>
              <a:rPr kumimoji="0" lang="de-CH" sz="1200" i="1" u="none" strike="noStrike" kern="1200" cap="none" spc="0" normalizeH="0" baseline="0" noProof="0" dirty="0" err="1">
                <a:ln>
                  <a:noFill/>
                </a:ln>
                <a:solidFill>
                  <a:prstClr val="white"/>
                </a:solidFill>
                <a:effectLst/>
                <a:uLnTx/>
                <a:uFillTx/>
                <a:latin typeface="Arial" panose="020B0604020202020204"/>
                <a:ea typeface="+mn-ea"/>
                <a:cs typeface="+mn-cs"/>
              </a:rPr>
              <a:t>Bayesian</a:t>
            </a:r>
            <a:r>
              <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i="1" u="none" strike="noStrike" kern="1200" cap="none" spc="0" normalizeH="0" baseline="0" noProof="0" dirty="0" err="1">
                <a:ln>
                  <a:noFill/>
                </a:ln>
                <a:solidFill>
                  <a:prstClr val="white"/>
                </a:solidFill>
                <a:effectLst/>
                <a:uLnTx/>
                <a:uFillTx/>
                <a:latin typeface="Arial" panose="020B0604020202020204"/>
                <a:ea typeface="+mn-ea"/>
                <a:cs typeface="+mn-cs"/>
              </a:rPr>
              <a:t>causal</a:t>
            </a:r>
            <a:r>
              <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i="1" u="none" strike="noStrike" kern="1200" cap="none" spc="0" normalizeH="0" baseline="0" noProof="0" dirty="0" err="1">
                <a:ln>
                  <a:noFill/>
                </a:ln>
                <a:solidFill>
                  <a:prstClr val="white"/>
                </a:solidFill>
                <a:effectLst/>
                <a:uLnTx/>
                <a:uFillTx/>
                <a:latin typeface="Arial" panose="020B0604020202020204"/>
                <a:ea typeface="+mn-ea"/>
                <a:cs typeface="+mn-cs"/>
              </a:rPr>
              <a:t>forest</a:t>
            </a:r>
            <a:endPar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endParaRPr>
          </a:p>
          <a:p>
            <a:pPr marR="0" lvl="0" defTabSz="914400" rtl="0" eaLnBrk="1" fontAlgn="auto" latinLnBrk="0" hangingPunct="1">
              <a:lnSpc>
                <a:spcPct val="100000"/>
              </a:lnSpc>
              <a:spcBef>
                <a:spcPts val="0"/>
              </a:spcBef>
              <a:spcAft>
                <a:spcPts val="0"/>
              </a:spcAft>
              <a:buClrTx/>
              <a:buSzTx/>
              <a:tabLst/>
              <a:defRPr/>
            </a:pPr>
            <a:r>
              <a:rPr lang="de-CH" sz="1200" dirty="0">
                <a:solidFill>
                  <a:prstClr val="white"/>
                </a:solidFill>
                <a:latin typeface="Arial" panose="020B0604020202020204"/>
              </a:rPr>
              <a:t>III) </a:t>
            </a:r>
            <a:r>
              <a:rPr lang="de-CH" sz="1200" i="1" dirty="0" err="1">
                <a:solidFill>
                  <a:prstClr val="white"/>
                </a:solidFill>
                <a:latin typeface="Arial" panose="020B0604020202020204"/>
              </a:rPr>
              <a:t>Uniqueness</a:t>
            </a:r>
            <a:r>
              <a:rPr lang="de-CH" sz="1200" i="1" dirty="0">
                <a:solidFill>
                  <a:prstClr val="white"/>
                </a:solidFill>
                <a:latin typeface="Arial" panose="020B0604020202020204"/>
              </a:rPr>
              <a:t> </a:t>
            </a:r>
            <a:r>
              <a:rPr lang="de-CH" sz="1200" dirty="0" err="1">
                <a:solidFill>
                  <a:prstClr val="white"/>
                </a:solidFill>
                <a:latin typeface="Arial" panose="020B0604020202020204"/>
              </a:rPr>
              <a:t>of</a:t>
            </a:r>
            <a:r>
              <a:rPr lang="de-CH" sz="1200" dirty="0">
                <a:solidFill>
                  <a:prstClr val="white"/>
                </a:solidFill>
                <a:latin typeface="Arial" panose="020B0604020202020204"/>
              </a:rPr>
              <a:t> CML</a:t>
            </a:r>
          </a:p>
          <a:p>
            <a:pPr marR="0" lvl="0" defTabSz="914400" rtl="0" eaLnBrk="1" fontAlgn="auto" latinLnBrk="0" hangingPunct="1">
              <a:lnSpc>
                <a:spcPct val="100000"/>
              </a:lnSpc>
              <a:spcBef>
                <a:spcPts val="0"/>
              </a:spcBef>
              <a:spcAft>
                <a:spcPts val="0"/>
              </a:spcAft>
              <a:buClrTx/>
              <a:buSzTx/>
              <a:tabLst/>
              <a:defRPr/>
            </a:pPr>
            <a:r>
              <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rPr>
              <a:t>IV) </a:t>
            </a:r>
            <a:r>
              <a:rPr kumimoji="0" lang="de-CH" sz="1200" i="1" u="none" strike="noStrike" kern="1200" cap="none" spc="0" normalizeH="0" baseline="0" noProof="0" dirty="0" err="1">
                <a:ln>
                  <a:noFill/>
                </a:ln>
                <a:solidFill>
                  <a:prstClr val="white"/>
                </a:solidFill>
                <a:effectLst/>
                <a:uLnTx/>
                <a:uFillTx/>
                <a:latin typeface="Arial" panose="020B0604020202020204"/>
                <a:ea typeface="+mn-ea"/>
                <a:cs typeface="+mn-cs"/>
              </a:rPr>
              <a:t>Implications</a:t>
            </a:r>
            <a:r>
              <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u="none" strike="noStrike" kern="1200" cap="none" spc="0" normalizeH="0" baseline="0" noProof="0" dirty="0" err="1">
                <a:ln>
                  <a:noFill/>
                </a:ln>
                <a:solidFill>
                  <a:prstClr val="white"/>
                </a:solidFill>
                <a:effectLst/>
                <a:uLnTx/>
                <a:uFillTx/>
                <a:latin typeface="Arial" panose="020B0604020202020204"/>
                <a:ea typeface="+mn-ea"/>
                <a:cs typeface="+mn-cs"/>
              </a:rPr>
              <a:t>for</a:t>
            </a:r>
            <a:r>
              <a:rPr kumimoji="0" lang="de-CH" sz="120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u="none" strike="noStrike" kern="1200" cap="none" spc="0" normalizeH="0" baseline="0" noProof="0" dirty="0" err="1">
                <a:ln>
                  <a:noFill/>
                </a:ln>
                <a:solidFill>
                  <a:prstClr val="white"/>
                </a:solidFill>
                <a:effectLst/>
                <a:uLnTx/>
                <a:uFillTx/>
                <a:latin typeface="Arial" panose="020B0604020202020204"/>
                <a:ea typeface="+mn-ea"/>
                <a:cs typeface="+mn-cs"/>
              </a:rPr>
              <a:t>our</a:t>
            </a:r>
            <a:r>
              <a:rPr kumimoji="0" lang="de-CH" sz="120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u="none" strike="noStrike" kern="1200" cap="none" spc="0" normalizeH="0" baseline="0" noProof="0" dirty="0" err="1">
                <a:ln>
                  <a:noFill/>
                </a:ln>
                <a:solidFill>
                  <a:prstClr val="white"/>
                </a:solidFill>
                <a:effectLst/>
                <a:uLnTx/>
                <a:uFillTx/>
                <a:latin typeface="Arial" panose="020B0604020202020204"/>
                <a:ea typeface="+mn-ea"/>
                <a:cs typeface="+mn-cs"/>
              </a:rPr>
              <a:t>research</a:t>
            </a:r>
            <a:endParaRPr kumimoji="0" lang="de-CH" sz="1200" u="none" strike="noStrike" kern="1200" cap="none" spc="0" normalizeH="0" baseline="0" noProof="0" dirty="0">
              <a:ln>
                <a:noFill/>
              </a:ln>
              <a:solidFill>
                <a:prstClr val="white"/>
              </a:solidFill>
              <a:effectLst/>
              <a:uLnTx/>
              <a:uFillTx/>
              <a:latin typeface="Arial" panose="020B0604020202020204"/>
              <a:ea typeface="+mn-ea"/>
              <a:cs typeface="+mn-cs"/>
            </a:endParaRPr>
          </a:p>
        </p:txBody>
      </p:sp>
      <p:cxnSp>
        <p:nvCxnSpPr>
          <p:cNvPr id="3" name="Gerade Verbindung mit Pfeil 2">
            <a:extLst>
              <a:ext uri="{FF2B5EF4-FFF2-40B4-BE49-F238E27FC236}">
                <a16:creationId xmlns:a16="http://schemas.microsoft.com/office/drawing/2014/main" id="{57A918CC-E846-4585-B678-6312EFA20E4F}"/>
              </a:ext>
            </a:extLst>
          </p:cNvPr>
          <p:cNvCxnSpPr/>
          <p:nvPr/>
        </p:nvCxnSpPr>
        <p:spPr>
          <a:xfrm>
            <a:off x="5023757" y="2873828"/>
            <a:ext cx="2144486" cy="0"/>
          </a:xfrm>
          <a:prstGeom prst="straightConnector1">
            <a:avLst/>
          </a:prstGeom>
          <a:ln w="1270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Gerade Verbindung mit Pfeil 20">
            <a:extLst>
              <a:ext uri="{FF2B5EF4-FFF2-40B4-BE49-F238E27FC236}">
                <a16:creationId xmlns:a16="http://schemas.microsoft.com/office/drawing/2014/main" id="{225E809F-0412-4845-A31D-944EE578E2CB}"/>
              </a:ext>
            </a:extLst>
          </p:cNvPr>
          <p:cNvCxnSpPr>
            <a:cxnSpLocks/>
          </p:cNvCxnSpPr>
          <p:nvPr/>
        </p:nvCxnSpPr>
        <p:spPr>
          <a:xfrm flipH="1">
            <a:off x="5023757" y="3135086"/>
            <a:ext cx="2051957" cy="0"/>
          </a:xfrm>
          <a:prstGeom prst="straightConnector1">
            <a:avLst/>
          </a:prstGeom>
          <a:ln w="127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Textfeld 11">
            <a:extLst>
              <a:ext uri="{FF2B5EF4-FFF2-40B4-BE49-F238E27FC236}">
                <a16:creationId xmlns:a16="http://schemas.microsoft.com/office/drawing/2014/main" id="{F1FB99F7-7581-484C-B387-E1CAFA691516}"/>
              </a:ext>
            </a:extLst>
          </p:cNvPr>
          <p:cNvSpPr txBox="1"/>
          <p:nvPr/>
        </p:nvSpPr>
        <p:spPr>
          <a:xfrm>
            <a:off x="4799494" y="2367694"/>
            <a:ext cx="6249505" cy="369332"/>
          </a:xfrm>
          <a:prstGeom prst="rect">
            <a:avLst/>
          </a:prstGeom>
          <a:noFill/>
        </p:spPr>
        <p:txBody>
          <a:bodyPr wrap="square" rtlCol="0">
            <a:spAutoFit/>
          </a:bodyPr>
          <a:lstStyle/>
          <a:p>
            <a:r>
              <a:rPr lang="de-DE" dirty="0">
                <a:solidFill>
                  <a:schemeClr val="tx2">
                    <a:lumMod val="60000"/>
                    <a:lumOff val="40000"/>
                  </a:schemeClr>
                </a:solidFill>
              </a:rPr>
              <a:t>Not so </a:t>
            </a:r>
            <a:r>
              <a:rPr lang="de-DE" dirty="0" err="1">
                <a:solidFill>
                  <a:schemeClr val="tx2">
                    <a:lumMod val="60000"/>
                    <a:lumOff val="40000"/>
                  </a:schemeClr>
                </a:solidFill>
              </a:rPr>
              <a:t>interesting</a:t>
            </a:r>
            <a:r>
              <a:rPr lang="de-DE" dirty="0">
                <a:solidFill>
                  <a:schemeClr val="tx2">
                    <a:lumMod val="60000"/>
                    <a:lumOff val="40000"/>
                  </a:schemeClr>
                </a:solidFill>
              </a:rPr>
              <a:t> </a:t>
            </a:r>
            <a:r>
              <a:rPr lang="de-DE" dirty="0" err="1">
                <a:solidFill>
                  <a:schemeClr val="tx2">
                    <a:lumMod val="60000"/>
                    <a:lumOff val="40000"/>
                  </a:schemeClr>
                </a:solidFill>
              </a:rPr>
              <a:t>for</a:t>
            </a:r>
            <a:r>
              <a:rPr lang="de-DE" dirty="0">
                <a:solidFill>
                  <a:schemeClr val="tx2">
                    <a:lumMod val="60000"/>
                    <a:lumOff val="40000"/>
                  </a:schemeClr>
                </a:solidFill>
              </a:rPr>
              <a:t> </a:t>
            </a:r>
            <a:r>
              <a:rPr lang="de-DE" dirty="0" err="1">
                <a:solidFill>
                  <a:schemeClr val="tx2">
                    <a:lumMod val="60000"/>
                    <a:lumOff val="40000"/>
                  </a:schemeClr>
                </a:solidFill>
              </a:rPr>
              <a:t>us</a:t>
            </a:r>
            <a:r>
              <a:rPr lang="de-DE" dirty="0">
                <a:solidFill>
                  <a:schemeClr val="tx2">
                    <a:lumMod val="60000"/>
                    <a:lumOff val="40000"/>
                  </a:schemeClr>
                </a:solidFill>
              </a:rPr>
              <a:t>; </a:t>
            </a:r>
            <a:r>
              <a:rPr lang="de-DE" dirty="0" err="1">
                <a:solidFill>
                  <a:schemeClr val="tx2">
                    <a:lumMod val="60000"/>
                    <a:lumOff val="40000"/>
                  </a:schemeClr>
                </a:solidFill>
              </a:rPr>
              <a:t>see</a:t>
            </a:r>
            <a:r>
              <a:rPr lang="de-DE" dirty="0">
                <a:solidFill>
                  <a:schemeClr val="tx2">
                    <a:lumMod val="60000"/>
                    <a:lumOff val="40000"/>
                  </a:schemeClr>
                </a:solidFill>
              </a:rPr>
              <a:t> Kaddour et al. (2025; </a:t>
            </a:r>
            <a:r>
              <a:rPr lang="de-DE" dirty="0" err="1">
                <a:solidFill>
                  <a:schemeClr val="tx2">
                    <a:lumMod val="60000"/>
                    <a:lumOff val="40000"/>
                  </a:schemeClr>
                </a:solidFill>
              </a:rPr>
              <a:t>ch</a:t>
            </a:r>
            <a:r>
              <a:rPr lang="de-DE" dirty="0">
                <a:solidFill>
                  <a:schemeClr val="tx2">
                    <a:lumMod val="60000"/>
                    <a:lumOff val="40000"/>
                  </a:schemeClr>
                </a:solidFill>
              </a:rPr>
              <a:t>. 11)</a:t>
            </a:r>
          </a:p>
        </p:txBody>
      </p:sp>
      <p:sp>
        <p:nvSpPr>
          <p:cNvPr id="26" name="Textfeld 25">
            <a:extLst>
              <a:ext uri="{FF2B5EF4-FFF2-40B4-BE49-F238E27FC236}">
                <a16:creationId xmlns:a16="http://schemas.microsoft.com/office/drawing/2014/main" id="{9906C99E-91E2-4CDD-BDAB-FAAE75A59A1E}"/>
              </a:ext>
            </a:extLst>
          </p:cNvPr>
          <p:cNvSpPr txBox="1"/>
          <p:nvPr/>
        </p:nvSpPr>
        <p:spPr>
          <a:xfrm>
            <a:off x="4757057" y="3220891"/>
            <a:ext cx="3026228" cy="369332"/>
          </a:xfrm>
          <a:prstGeom prst="rect">
            <a:avLst/>
          </a:prstGeom>
          <a:noFill/>
        </p:spPr>
        <p:txBody>
          <a:bodyPr wrap="square" rtlCol="0">
            <a:spAutoFit/>
          </a:bodyPr>
          <a:lstStyle/>
          <a:p>
            <a:r>
              <a:rPr lang="de-DE" dirty="0">
                <a:solidFill>
                  <a:schemeClr val="bg1"/>
                </a:solidFill>
              </a:rPr>
              <a:t>This </a:t>
            </a:r>
            <a:r>
              <a:rPr lang="de-DE" dirty="0" err="1">
                <a:solidFill>
                  <a:schemeClr val="bg1"/>
                </a:solidFill>
              </a:rPr>
              <a:t>is</a:t>
            </a:r>
            <a:r>
              <a:rPr lang="de-DE" dirty="0">
                <a:solidFill>
                  <a:schemeClr val="bg1"/>
                </a:solidFill>
              </a:rPr>
              <a:t> </a:t>
            </a:r>
            <a:r>
              <a:rPr lang="de-DE" dirty="0" err="1">
                <a:solidFill>
                  <a:schemeClr val="bg1"/>
                </a:solidFill>
              </a:rPr>
              <a:t>interesting</a:t>
            </a:r>
            <a:r>
              <a:rPr lang="de-DE" dirty="0">
                <a:solidFill>
                  <a:schemeClr val="bg1"/>
                </a:solidFill>
              </a:rPr>
              <a:t> </a:t>
            </a:r>
            <a:r>
              <a:rPr lang="de-DE" dirty="0" err="1">
                <a:solidFill>
                  <a:schemeClr val="bg1"/>
                </a:solidFill>
              </a:rPr>
              <a:t>for</a:t>
            </a:r>
            <a:r>
              <a:rPr lang="de-DE" dirty="0">
                <a:solidFill>
                  <a:schemeClr val="bg1"/>
                </a:solidFill>
              </a:rPr>
              <a:t> </a:t>
            </a:r>
            <a:r>
              <a:rPr lang="de-DE" dirty="0" err="1">
                <a:solidFill>
                  <a:schemeClr val="bg1"/>
                </a:solidFill>
              </a:rPr>
              <a:t>today</a:t>
            </a:r>
            <a:endParaRPr lang="de-DE" dirty="0">
              <a:solidFill>
                <a:schemeClr val="bg1"/>
              </a:solidFill>
            </a:endParaRPr>
          </a:p>
        </p:txBody>
      </p:sp>
      <p:pic>
        <p:nvPicPr>
          <p:cNvPr id="27" name="Grafik 26">
            <a:extLst>
              <a:ext uri="{FF2B5EF4-FFF2-40B4-BE49-F238E27FC236}">
                <a16:creationId xmlns:a16="http://schemas.microsoft.com/office/drawing/2014/main" id="{8C07140B-DABB-485E-826F-B1E10F5E3258}"/>
              </a:ext>
            </a:extLst>
          </p:cNvPr>
          <p:cNvPicPr>
            <a:picLocks noChangeAspect="1"/>
          </p:cNvPicPr>
          <p:nvPr/>
        </p:nvPicPr>
        <p:blipFill rotWithShape="1">
          <a:blip r:embed="rId3"/>
          <a:srcRect l="1460" t="28399" r="67409" b="44350"/>
          <a:stretch/>
        </p:blipFill>
        <p:spPr>
          <a:xfrm>
            <a:off x="13922829" y="1454951"/>
            <a:ext cx="3026228" cy="1034143"/>
          </a:xfrm>
          <a:prstGeom prst="rect">
            <a:avLst/>
          </a:prstGeom>
        </p:spPr>
      </p:pic>
      <p:pic>
        <p:nvPicPr>
          <p:cNvPr id="28" name="Grafik 27">
            <a:extLst>
              <a:ext uri="{FF2B5EF4-FFF2-40B4-BE49-F238E27FC236}">
                <a16:creationId xmlns:a16="http://schemas.microsoft.com/office/drawing/2014/main" id="{3C915D6F-617A-43B2-A9BF-204C5CA9F491}"/>
              </a:ext>
            </a:extLst>
          </p:cNvPr>
          <p:cNvPicPr>
            <a:picLocks noChangeAspect="1"/>
          </p:cNvPicPr>
          <p:nvPr/>
        </p:nvPicPr>
        <p:blipFill>
          <a:blip r:embed="rId3"/>
          <a:stretch>
            <a:fillRect/>
          </a:stretch>
        </p:blipFill>
        <p:spPr>
          <a:xfrm>
            <a:off x="8385362" y="878265"/>
            <a:ext cx="3586033" cy="1399895"/>
          </a:xfrm>
          <a:prstGeom prst="rect">
            <a:avLst/>
          </a:prstGeom>
        </p:spPr>
      </p:pic>
      <p:sp>
        <p:nvSpPr>
          <p:cNvPr id="29" name="Textfeld 28">
            <a:extLst>
              <a:ext uri="{FF2B5EF4-FFF2-40B4-BE49-F238E27FC236}">
                <a16:creationId xmlns:a16="http://schemas.microsoft.com/office/drawing/2014/main" id="{CDF30741-1DDD-44F8-B812-454121C39331}"/>
              </a:ext>
            </a:extLst>
          </p:cNvPr>
          <p:cNvSpPr txBox="1"/>
          <p:nvPr/>
        </p:nvSpPr>
        <p:spPr>
          <a:xfrm>
            <a:off x="8286677" y="464166"/>
            <a:ext cx="5128623" cy="369332"/>
          </a:xfrm>
          <a:prstGeom prst="rect">
            <a:avLst/>
          </a:prstGeom>
          <a:noFill/>
        </p:spPr>
        <p:txBody>
          <a:bodyPr wrap="square" rtlCol="0">
            <a:spAutoFit/>
          </a:bodyPr>
          <a:lstStyle/>
          <a:p>
            <a:r>
              <a:rPr lang="de-DE" i="1" dirty="0" err="1">
                <a:solidFill>
                  <a:schemeClr val="tx2">
                    <a:lumMod val="60000"/>
                    <a:lumOff val="40000"/>
                  </a:schemeClr>
                </a:solidFill>
              </a:rPr>
              <a:t>Causality-infused</a:t>
            </a:r>
            <a:r>
              <a:rPr lang="de-DE" i="1" dirty="0">
                <a:solidFill>
                  <a:schemeClr val="tx2">
                    <a:lumMod val="60000"/>
                    <a:lumOff val="40000"/>
                  </a:schemeClr>
                </a:solidFill>
              </a:rPr>
              <a:t> </a:t>
            </a:r>
            <a:r>
              <a:rPr lang="de-DE" i="1" dirty="0" err="1">
                <a:solidFill>
                  <a:schemeClr val="tx2">
                    <a:lumMod val="60000"/>
                    <a:lumOff val="40000"/>
                  </a:schemeClr>
                </a:solidFill>
              </a:rPr>
              <a:t>machine</a:t>
            </a:r>
            <a:r>
              <a:rPr lang="de-DE" i="1" dirty="0">
                <a:solidFill>
                  <a:schemeClr val="tx2">
                    <a:lumMod val="60000"/>
                    <a:lumOff val="40000"/>
                  </a:schemeClr>
                </a:solidFill>
              </a:rPr>
              <a:t> </a:t>
            </a:r>
            <a:r>
              <a:rPr lang="de-DE" i="1" dirty="0" err="1">
                <a:solidFill>
                  <a:schemeClr val="tx2">
                    <a:lumMod val="60000"/>
                    <a:lumOff val="40000"/>
                  </a:schemeClr>
                </a:solidFill>
              </a:rPr>
              <a:t>learning</a:t>
            </a:r>
            <a:endParaRPr lang="de-DE" i="1" dirty="0">
              <a:solidFill>
                <a:schemeClr val="tx2">
                  <a:lumMod val="60000"/>
                  <a:lumOff val="40000"/>
                </a:schemeClr>
              </a:solidFill>
            </a:endParaRPr>
          </a:p>
        </p:txBody>
      </p:sp>
      <p:sp>
        <p:nvSpPr>
          <p:cNvPr id="30" name="Textfeld 29">
            <a:extLst>
              <a:ext uri="{FF2B5EF4-FFF2-40B4-BE49-F238E27FC236}">
                <a16:creationId xmlns:a16="http://schemas.microsoft.com/office/drawing/2014/main" id="{2045F567-BF00-4F41-8DC0-863DE27BA523}"/>
              </a:ext>
            </a:extLst>
          </p:cNvPr>
          <p:cNvSpPr txBox="1"/>
          <p:nvPr/>
        </p:nvSpPr>
        <p:spPr>
          <a:xfrm>
            <a:off x="1796143" y="1975444"/>
            <a:ext cx="3443122" cy="2031325"/>
          </a:xfrm>
          <a:prstGeom prst="rect">
            <a:avLst/>
          </a:prstGeom>
          <a:noFill/>
        </p:spPr>
        <p:txBody>
          <a:bodyPr wrap="square" rtlCol="0">
            <a:spAutoFit/>
          </a:bodyPr>
          <a:lstStyle/>
          <a:p>
            <a:r>
              <a:rPr lang="de-DE" i="1" dirty="0" err="1">
                <a:solidFill>
                  <a:schemeClr val="bg1"/>
                </a:solidFill>
              </a:rPr>
              <a:t>Machine</a:t>
            </a:r>
            <a:r>
              <a:rPr lang="de-DE" i="1" dirty="0">
                <a:solidFill>
                  <a:schemeClr val="bg1"/>
                </a:solidFill>
              </a:rPr>
              <a:t> </a:t>
            </a:r>
            <a:r>
              <a:rPr lang="de-DE" i="1" dirty="0" err="1">
                <a:solidFill>
                  <a:schemeClr val="bg1"/>
                </a:solidFill>
              </a:rPr>
              <a:t>learning-infused</a:t>
            </a:r>
            <a:r>
              <a:rPr lang="de-DE" i="1" dirty="0">
                <a:solidFill>
                  <a:schemeClr val="bg1"/>
                </a:solidFill>
              </a:rPr>
              <a:t> </a:t>
            </a:r>
            <a:r>
              <a:rPr lang="de-DE" i="1" dirty="0" err="1">
                <a:solidFill>
                  <a:schemeClr val="bg1"/>
                </a:solidFill>
              </a:rPr>
              <a:t>causal</a:t>
            </a:r>
            <a:r>
              <a:rPr lang="de-DE" i="1" dirty="0">
                <a:solidFill>
                  <a:schemeClr val="bg1"/>
                </a:solidFill>
              </a:rPr>
              <a:t> </a:t>
            </a:r>
            <a:r>
              <a:rPr lang="de-DE" i="1" dirty="0" err="1">
                <a:solidFill>
                  <a:schemeClr val="bg1"/>
                </a:solidFill>
              </a:rPr>
              <a:t>modeling</a:t>
            </a:r>
            <a:endParaRPr lang="de-DE" i="1" dirty="0">
              <a:solidFill>
                <a:schemeClr val="bg1"/>
              </a:solidFill>
            </a:endParaRPr>
          </a:p>
          <a:p>
            <a:endParaRPr lang="de-DE" i="1" dirty="0">
              <a:solidFill>
                <a:schemeClr val="bg1"/>
              </a:solidFill>
            </a:endParaRPr>
          </a:p>
          <a:p>
            <a:endParaRPr lang="de-DE" i="1" dirty="0">
              <a:solidFill>
                <a:schemeClr val="bg1"/>
              </a:solidFill>
            </a:endParaRPr>
          </a:p>
          <a:p>
            <a:endParaRPr lang="de-DE" i="1" dirty="0">
              <a:solidFill>
                <a:schemeClr val="bg1"/>
              </a:solidFill>
            </a:endParaRPr>
          </a:p>
          <a:p>
            <a:endParaRPr lang="de-DE" i="1" dirty="0">
              <a:solidFill>
                <a:schemeClr val="bg1"/>
              </a:solidFill>
            </a:endParaRPr>
          </a:p>
          <a:p>
            <a:r>
              <a:rPr lang="de-DE" i="1" dirty="0" err="1">
                <a:solidFill>
                  <a:schemeClr val="bg1"/>
                </a:solidFill>
              </a:rPr>
              <a:t>for</a:t>
            </a:r>
            <a:r>
              <a:rPr lang="de-DE" i="1" dirty="0">
                <a:solidFill>
                  <a:schemeClr val="bg1"/>
                </a:solidFill>
              </a:rPr>
              <a:t> </a:t>
            </a:r>
            <a:r>
              <a:rPr lang="de-DE" b="1" i="1" dirty="0" err="1">
                <a:solidFill>
                  <a:schemeClr val="bg1"/>
                </a:solidFill>
              </a:rPr>
              <a:t>causal</a:t>
            </a:r>
            <a:r>
              <a:rPr lang="de-DE" b="1" i="1" dirty="0">
                <a:solidFill>
                  <a:schemeClr val="bg1"/>
                </a:solidFill>
              </a:rPr>
              <a:t> </a:t>
            </a:r>
            <a:r>
              <a:rPr lang="de-DE" b="1" i="1" dirty="0" err="1">
                <a:solidFill>
                  <a:schemeClr val="bg1"/>
                </a:solidFill>
              </a:rPr>
              <a:t>estimand</a:t>
            </a:r>
            <a:r>
              <a:rPr lang="de-DE" b="1" i="1" dirty="0">
                <a:solidFill>
                  <a:schemeClr val="bg1"/>
                </a:solidFill>
              </a:rPr>
              <a:t> </a:t>
            </a:r>
            <a:r>
              <a:rPr lang="de-DE" i="1" dirty="0" err="1">
                <a:solidFill>
                  <a:schemeClr val="bg1"/>
                </a:solidFill>
              </a:rPr>
              <a:t>estimation</a:t>
            </a:r>
            <a:endParaRPr lang="de-DE" i="1" dirty="0">
              <a:solidFill>
                <a:schemeClr val="bg1"/>
              </a:solidFill>
            </a:endParaRPr>
          </a:p>
        </p:txBody>
      </p:sp>
      <p:sp>
        <p:nvSpPr>
          <p:cNvPr id="22" name="Textfeld 21">
            <a:extLst>
              <a:ext uri="{FF2B5EF4-FFF2-40B4-BE49-F238E27FC236}">
                <a16:creationId xmlns:a16="http://schemas.microsoft.com/office/drawing/2014/main" id="{392EB87D-FF35-44FD-A0AC-462B7428C056}"/>
              </a:ext>
            </a:extLst>
          </p:cNvPr>
          <p:cNvSpPr txBox="1"/>
          <p:nvPr/>
        </p:nvSpPr>
        <p:spPr>
          <a:xfrm>
            <a:off x="3191566" y="4092219"/>
            <a:ext cx="5716337" cy="830997"/>
          </a:xfrm>
          <a:prstGeom prst="rect">
            <a:avLst/>
          </a:prstGeom>
          <a:noFill/>
          <a:ln>
            <a:solidFill>
              <a:srgbClr val="C00000"/>
            </a:solidFill>
          </a:ln>
        </p:spPr>
        <p:txBody>
          <a:bodyPr wrap="square" rtlCol="0">
            <a:spAutoFit/>
          </a:bodyPr>
          <a:lstStyle/>
          <a:p>
            <a:r>
              <a:rPr lang="de-DE" sz="2400" dirty="0">
                <a:solidFill>
                  <a:schemeClr val="bg1"/>
                </a:solidFill>
              </a:rPr>
              <a:t>Do not </a:t>
            </a:r>
            <a:r>
              <a:rPr lang="de-DE" sz="2400" dirty="0" err="1">
                <a:solidFill>
                  <a:schemeClr val="bg1"/>
                </a:solidFill>
              </a:rPr>
              <a:t>confuse</a:t>
            </a:r>
            <a:r>
              <a:rPr lang="de-DE" sz="2400" dirty="0">
                <a:solidFill>
                  <a:schemeClr val="bg1"/>
                </a:solidFill>
              </a:rPr>
              <a:t> </a:t>
            </a:r>
            <a:r>
              <a:rPr lang="de-DE" sz="2400" dirty="0" err="1">
                <a:solidFill>
                  <a:schemeClr val="bg1"/>
                </a:solidFill>
              </a:rPr>
              <a:t>these</a:t>
            </a:r>
            <a:r>
              <a:rPr lang="de-DE" sz="2400" dirty="0">
                <a:solidFill>
                  <a:schemeClr val="bg1"/>
                </a:solidFill>
              </a:rPr>
              <a:t> and </a:t>
            </a:r>
            <a:r>
              <a:rPr lang="de-DE" sz="2400" dirty="0" err="1">
                <a:solidFill>
                  <a:schemeClr val="bg1"/>
                </a:solidFill>
              </a:rPr>
              <a:t>their</a:t>
            </a:r>
            <a:r>
              <a:rPr lang="de-DE" sz="2400" dirty="0">
                <a:solidFill>
                  <a:schemeClr val="bg1"/>
                </a:solidFill>
              </a:rPr>
              <a:t> </a:t>
            </a:r>
            <a:r>
              <a:rPr lang="de-DE" sz="2400" dirty="0" err="1">
                <a:solidFill>
                  <a:schemeClr val="bg1"/>
                </a:solidFill>
              </a:rPr>
              <a:t>literature</a:t>
            </a:r>
            <a:r>
              <a:rPr lang="de-DE" sz="2400" dirty="0">
                <a:solidFill>
                  <a:schemeClr val="bg1"/>
                </a:solidFill>
              </a:rPr>
              <a:t>; </a:t>
            </a:r>
            <a:r>
              <a:rPr lang="de-DE" sz="2400" dirty="0" err="1">
                <a:solidFill>
                  <a:schemeClr val="bg1"/>
                </a:solidFill>
              </a:rPr>
              <a:t>they</a:t>
            </a:r>
            <a:r>
              <a:rPr lang="de-DE" sz="2400" dirty="0">
                <a:solidFill>
                  <a:schemeClr val="bg1"/>
                </a:solidFill>
              </a:rPr>
              <a:t> </a:t>
            </a:r>
            <a:r>
              <a:rPr lang="de-DE" sz="2400" dirty="0" err="1">
                <a:solidFill>
                  <a:schemeClr val="bg1"/>
                </a:solidFill>
              </a:rPr>
              <a:t>both</a:t>
            </a:r>
            <a:r>
              <a:rPr lang="de-DE" sz="2400" dirty="0">
                <a:solidFill>
                  <a:schemeClr val="bg1"/>
                </a:solidFill>
              </a:rPr>
              <a:t> </a:t>
            </a:r>
            <a:r>
              <a:rPr lang="de-DE" sz="2400" dirty="0" err="1">
                <a:solidFill>
                  <a:schemeClr val="bg1"/>
                </a:solidFill>
              </a:rPr>
              <a:t>run</a:t>
            </a:r>
            <a:r>
              <a:rPr lang="de-DE" sz="2400" dirty="0">
                <a:solidFill>
                  <a:schemeClr val="bg1"/>
                </a:solidFill>
              </a:rPr>
              <a:t> </a:t>
            </a:r>
            <a:r>
              <a:rPr lang="de-DE" sz="2400" dirty="0" err="1">
                <a:solidFill>
                  <a:schemeClr val="bg1"/>
                </a:solidFill>
              </a:rPr>
              <a:t>under</a:t>
            </a:r>
            <a:r>
              <a:rPr lang="de-DE" sz="2400" dirty="0">
                <a:solidFill>
                  <a:schemeClr val="bg1"/>
                </a:solidFill>
              </a:rPr>
              <a:t> </a:t>
            </a:r>
            <a:r>
              <a:rPr lang="de-DE" sz="2400" dirty="0" err="1">
                <a:solidFill>
                  <a:schemeClr val="bg1"/>
                </a:solidFill>
              </a:rPr>
              <a:t>the</a:t>
            </a:r>
            <a:r>
              <a:rPr lang="de-DE" sz="2400" dirty="0">
                <a:solidFill>
                  <a:schemeClr val="bg1"/>
                </a:solidFill>
              </a:rPr>
              <a:t> </a:t>
            </a:r>
            <a:r>
              <a:rPr lang="de-DE" sz="2400" dirty="0" err="1">
                <a:solidFill>
                  <a:schemeClr val="bg1"/>
                </a:solidFill>
              </a:rPr>
              <a:t>term</a:t>
            </a:r>
            <a:r>
              <a:rPr lang="de-DE" sz="2400" dirty="0">
                <a:solidFill>
                  <a:schemeClr val="bg1"/>
                </a:solidFill>
              </a:rPr>
              <a:t> </a:t>
            </a:r>
            <a:r>
              <a:rPr lang="de-DE" sz="2400" i="1" dirty="0">
                <a:solidFill>
                  <a:schemeClr val="bg1"/>
                </a:solidFill>
              </a:rPr>
              <a:t>CML</a:t>
            </a:r>
            <a:r>
              <a:rPr lang="de-DE" sz="2400" dirty="0">
                <a:solidFill>
                  <a:schemeClr val="bg1"/>
                </a:solidFill>
              </a:rPr>
              <a:t>!</a:t>
            </a:r>
          </a:p>
        </p:txBody>
      </p:sp>
    </p:spTree>
    <p:extLst>
      <p:ext uri="{BB962C8B-B14F-4D97-AF65-F5344CB8AC3E}">
        <p14:creationId xmlns:p14="http://schemas.microsoft.com/office/powerpoint/2010/main" val="276719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6" grpId="0"/>
      <p:bldP spid="29" grpId="0"/>
      <p:bldP spid="30" grpId="0"/>
      <p:bldP spid="2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Rechteck 3"/>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2" name="Abgerundetes Rechteck 41"/>
          <p:cNvSpPr/>
          <p:nvPr/>
        </p:nvSpPr>
        <p:spPr>
          <a:xfrm>
            <a:off x="4027242" y="515394"/>
            <a:ext cx="4137515" cy="1456629"/>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CH" sz="3200" b="1" dirty="0" err="1">
                <a:solidFill>
                  <a:prstClr val="white"/>
                </a:solidFill>
                <a:latin typeface="Arial" panose="020B0604020202020204"/>
              </a:rPr>
              <a:t>Three</a:t>
            </a:r>
            <a:r>
              <a:rPr lang="de-CH" sz="3200" b="1" dirty="0">
                <a:solidFill>
                  <a:prstClr val="white"/>
                </a:solidFill>
                <a:latin typeface="Arial" panose="020B0604020202020204"/>
              </a:rPr>
              <a:t> </a:t>
            </a:r>
            <a:r>
              <a:rPr lang="de-CH" sz="3200" b="1" dirty="0" err="1">
                <a:solidFill>
                  <a:prstClr val="white"/>
                </a:solidFill>
                <a:latin typeface="Arial" panose="020B0604020202020204"/>
              </a:rPr>
              <a:t>central</a:t>
            </a:r>
            <a:r>
              <a:rPr lang="de-CH" sz="3200" b="1" dirty="0">
                <a:solidFill>
                  <a:prstClr val="white"/>
                </a:solidFill>
                <a:latin typeface="Arial" panose="020B0604020202020204"/>
              </a:rPr>
              <a:t> </a:t>
            </a:r>
            <a:r>
              <a:rPr lang="de-CH" sz="3200" b="1" dirty="0" err="1">
                <a:solidFill>
                  <a:prstClr val="white"/>
                </a:solidFill>
                <a:latin typeface="Arial" panose="020B0604020202020204"/>
              </a:rPr>
              <a:t>applications</a:t>
            </a:r>
            <a:r>
              <a:rPr lang="de-CH" sz="3200" b="1" dirty="0">
                <a:solidFill>
                  <a:prstClr val="white"/>
                </a:solidFill>
                <a:latin typeface="Arial" panose="020B0604020202020204"/>
              </a:rPr>
              <a:t> </a:t>
            </a:r>
            <a:r>
              <a:rPr lang="de-CH" sz="3200" b="1" dirty="0" err="1">
                <a:solidFill>
                  <a:prstClr val="white"/>
                </a:solidFill>
                <a:latin typeface="Arial" panose="020B0604020202020204"/>
              </a:rPr>
              <a:t>of</a:t>
            </a:r>
            <a:r>
              <a:rPr lang="de-CH" sz="3200" b="1" dirty="0">
                <a:solidFill>
                  <a:prstClr val="white"/>
                </a:solidFill>
                <a:latin typeface="Arial" panose="020B0604020202020204"/>
              </a:rPr>
              <a:t> CML</a:t>
            </a:r>
            <a:endParaRPr kumimoji="0" lang="en-US" sz="3200" b="1"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0" name="Abgerundetes Rechteck 41">
            <a:extLst>
              <a:ext uri="{FF2B5EF4-FFF2-40B4-BE49-F238E27FC236}">
                <a16:creationId xmlns:a16="http://schemas.microsoft.com/office/drawing/2014/main" id="{CB69749E-2935-4A1A-9C25-630C77EFD915}"/>
              </a:ext>
            </a:extLst>
          </p:cNvPr>
          <p:cNvSpPr/>
          <p:nvPr/>
        </p:nvSpPr>
        <p:spPr>
          <a:xfrm>
            <a:off x="9345385" y="5957917"/>
            <a:ext cx="2432957" cy="838199"/>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defTabSz="914400" rtl="0" eaLnBrk="1" fontAlgn="auto" latinLnBrk="0" hangingPunct="1">
              <a:lnSpc>
                <a:spcPct val="100000"/>
              </a:lnSpc>
              <a:spcBef>
                <a:spcPts val="0"/>
              </a:spcBef>
              <a:spcAft>
                <a:spcPts val="0"/>
              </a:spcAft>
              <a:buClrTx/>
              <a:buSzTx/>
              <a:tabLst/>
              <a:defRPr/>
            </a:pPr>
            <a:r>
              <a:rPr kumimoji="0" lang="de-CH" sz="1200" b="1" i="0" u="none" strike="noStrike" kern="1200" cap="none" spc="0" normalizeH="0" baseline="0" noProof="0" dirty="0">
                <a:ln>
                  <a:noFill/>
                </a:ln>
                <a:solidFill>
                  <a:prstClr val="white"/>
                </a:solidFill>
                <a:effectLst/>
                <a:uLnTx/>
                <a:uFillTx/>
                <a:latin typeface="Arial" panose="020B0604020202020204"/>
                <a:ea typeface="+mn-ea"/>
                <a:cs typeface="+mn-cs"/>
              </a:rPr>
              <a:t>I)   </a:t>
            </a:r>
            <a:r>
              <a:rPr kumimoji="0" lang="de-CH" sz="1200" b="1" i="0" u="none" strike="noStrike" kern="1200" cap="none" spc="0" normalizeH="0" baseline="0" noProof="0" dirty="0" err="1">
                <a:ln>
                  <a:noFill/>
                </a:ln>
                <a:solidFill>
                  <a:prstClr val="white"/>
                </a:solidFill>
                <a:effectLst/>
                <a:uLnTx/>
                <a:uFillTx/>
                <a:latin typeface="Arial" panose="020B0604020202020204"/>
                <a:ea typeface="+mn-ea"/>
                <a:cs typeface="+mn-cs"/>
              </a:rPr>
              <a:t>What</a:t>
            </a:r>
            <a:r>
              <a:rPr kumimoji="0" lang="de-CH" sz="1200" b="1"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b="1" i="1" u="none" strike="noStrike" kern="1200" cap="none" spc="0" normalizeH="0" baseline="0" noProof="0" dirty="0" err="1">
                <a:ln>
                  <a:noFill/>
                </a:ln>
                <a:solidFill>
                  <a:prstClr val="white"/>
                </a:solidFill>
                <a:effectLst/>
                <a:uLnTx/>
                <a:uFillTx/>
                <a:latin typeface="Arial" panose="020B0604020202020204"/>
                <a:ea typeface="+mn-ea"/>
                <a:cs typeface="+mn-cs"/>
              </a:rPr>
              <a:t>is</a:t>
            </a:r>
            <a:r>
              <a:rPr kumimoji="0" lang="de-CH" sz="1200" b="1" i="0" u="none" strike="noStrike" kern="1200" cap="none" spc="0" normalizeH="0" baseline="0" noProof="0" dirty="0">
                <a:ln>
                  <a:noFill/>
                </a:ln>
                <a:solidFill>
                  <a:prstClr val="white"/>
                </a:solidFill>
                <a:effectLst/>
                <a:uLnTx/>
                <a:uFillTx/>
                <a:latin typeface="Arial" panose="020B0604020202020204"/>
                <a:ea typeface="+mn-ea"/>
                <a:cs typeface="+mn-cs"/>
              </a:rPr>
              <a:t> CML</a:t>
            </a:r>
            <a:r>
              <a:rPr lang="de-CH" sz="1200" b="1" dirty="0">
                <a:solidFill>
                  <a:prstClr val="white"/>
                </a:solidFill>
                <a:latin typeface="Arial" panose="020B0604020202020204"/>
              </a:rPr>
              <a:t>?</a:t>
            </a:r>
          </a:p>
          <a:p>
            <a:pPr marR="0" lvl="0" defTabSz="914400" rtl="0" eaLnBrk="1" fontAlgn="auto" latinLnBrk="0" hangingPunct="1">
              <a:lnSpc>
                <a:spcPct val="100000"/>
              </a:lnSpc>
              <a:spcBef>
                <a:spcPts val="0"/>
              </a:spcBef>
              <a:spcAft>
                <a:spcPts val="0"/>
              </a:spcAft>
              <a:buClrTx/>
              <a:buSzTx/>
              <a:tabLst/>
              <a:defRPr/>
            </a:pPr>
            <a:r>
              <a:rPr lang="de-CH" sz="1200" dirty="0">
                <a:solidFill>
                  <a:prstClr val="white"/>
                </a:solidFill>
                <a:latin typeface="Arial" panose="020B0604020202020204"/>
              </a:rPr>
              <a:t>II)  </a:t>
            </a:r>
            <a:r>
              <a:rPr kumimoji="0" lang="de-CH" sz="1200" i="0" u="none" strike="noStrike" kern="1200" cap="none" spc="0" normalizeH="0" baseline="0" noProof="0" dirty="0">
                <a:ln>
                  <a:noFill/>
                </a:ln>
                <a:solidFill>
                  <a:prstClr val="white"/>
                </a:solidFill>
                <a:effectLst/>
                <a:uLnTx/>
                <a:uFillTx/>
                <a:latin typeface="Arial" panose="020B0604020202020204"/>
                <a:ea typeface="+mn-ea"/>
                <a:cs typeface="+mn-cs"/>
              </a:rPr>
              <a:t>The </a:t>
            </a:r>
            <a:r>
              <a:rPr kumimoji="0" lang="de-CH" sz="1200" i="1" u="none" strike="noStrike" kern="1200" cap="none" spc="0" normalizeH="0" baseline="0" noProof="0" dirty="0" err="1">
                <a:ln>
                  <a:noFill/>
                </a:ln>
                <a:solidFill>
                  <a:prstClr val="white"/>
                </a:solidFill>
                <a:effectLst/>
                <a:uLnTx/>
                <a:uFillTx/>
                <a:latin typeface="Arial" panose="020B0604020202020204"/>
                <a:ea typeface="+mn-ea"/>
                <a:cs typeface="+mn-cs"/>
              </a:rPr>
              <a:t>Bayesian</a:t>
            </a:r>
            <a:r>
              <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i="1" u="none" strike="noStrike" kern="1200" cap="none" spc="0" normalizeH="0" baseline="0" noProof="0" dirty="0" err="1">
                <a:ln>
                  <a:noFill/>
                </a:ln>
                <a:solidFill>
                  <a:prstClr val="white"/>
                </a:solidFill>
                <a:effectLst/>
                <a:uLnTx/>
                <a:uFillTx/>
                <a:latin typeface="Arial" panose="020B0604020202020204"/>
                <a:ea typeface="+mn-ea"/>
                <a:cs typeface="+mn-cs"/>
              </a:rPr>
              <a:t>causal</a:t>
            </a:r>
            <a:r>
              <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i="1" u="none" strike="noStrike" kern="1200" cap="none" spc="0" normalizeH="0" baseline="0" noProof="0" dirty="0" err="1">
                <a:ln>
                  <a:noFill/>
                </a:ln>
                <a:solidFill>
                  <a:prstClr val="white"/>
                </a:solidFill>
                <a:effectLst/>
                <a:uLnTx/>
                <a:uFillTx/>
                <a:latin typeface="Arial" panose="020B0604020202020204"/>
                <a:ea typeface="+mn-ea"/>
                <a:cs typeface="+mn-cs"/>
              </a:rPr>
              <a:t>forest</a:t>
            </a:r>
            <a:endPar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endParaRPr>
          </a:p>
          <a:p>
            <a:pPr marR="0" lvl="0" defTabSz="914400" rtl="0" eaLnBrk="1" fontAlgn="auto" latinLnBrk="0" hangingPunct="1">
              <a:lnSpc>
                <a:spcPct val="100000"/>
              </a:lnSpc>
              <a:spcBef>
                <a:spcPts val="0"/>
              </a:spcBef>
              <a:spcAft>
                <a:spcPts val="0"/>
              </a:spcAft>
              <a:buClrTx/>
              <a:buSzTx/>
              <a:tabLst/>
              <a:defRPr/>
            </a:pPr>
            <a:r>
              <a:rPr lang="de-CH" sz="1200" dirty="0">
                <a:solidFill>
                  <a:prstClr val="white"/>
                </a:solidFill>
                <a:latin typeface="Arial" panose="020B0604020202020204"/>
              </a:rPr>
              <a:t>III) </a:t>
            </a:r>
            <a:r>
              <a:rPr lang="de-CH" sz="1200" i="1" dirty="0" err="1">
                <a:solidFill>
                  <a:prstClr val="white"/>
                </a:solidFill>
                <a:latin typeface="Arial" panose="020B0604020202020204"/>
              </a:rPr>
              <a:t>Uniqueness</a:t>
            </a:r>
            <a:r>
              <a:rPr lang="de-CH" sz="1200" i="1" dirty="0">
                <a:solidFill>
                  <a:prstClr val="white"/>
                </a:solidFill>
                <a:latin typeface="Arial" panose="020B0604020202020204"/>
              </a:rPr>
              <a:t> </a:t>
            </a:r>
            <a:r>
              <a:rPr lang="de-CH" sz="1200" dirty="0" err="1">
                <a:solidFill>
                  <a:prstClr val="white"/>
                </a:solidFill>
                <a:latin typeface="Arial" panose="020B0604020202020204"/>
              </a:rPr>
              <a:t>of</a:t>
            </a:r>
            <a:r>
              <a:rPr lang="de-CH" sz="1200" dirty="0">
                <a:solidFill>
                  <a:prstClr val="white"/>
                </a:solidFill>
                <a:latin typeface="Arial" panose="020B0604020202020204"/>
              </a:rPr>
              <a:t> CML</a:t>
            </a:r>
          </a:p>
          <a:p>
            <a:pPr marR="0" lvl="0" defTabSz="914400" rtl="0" eaLnBrk="1" fontAlgn="auto" latinLnBrk="0" hangingPunct="1">
              <a:lnSpc>
                <a:spcPct val="100000"/>
              </a:lnSpc>
              <a:spcBef>
                <a:spcPts val="0"/>
              </a:spcBef>
              <a:spcAft>
                <a:spcPts val="0"/>
              </a:spcAft>
              <a:buClrTx/>
              <a:buSzTx/>
              <a:tabLst/>
              <a:defRPr/>
            </a:pPr>
            <a:r>
              <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rPr>
              <a:t>IV) </a:t>
            </a:r>
            <a:r>
              <a:rPr kumimoji="0" lang="de-CH" sz="1200" i="1" u="none" strike="noStrike" kern="1200" cap="none" spc="0" normalizeH="0" baseline="0" noProof="0" dirty="0" err="1">
                <a:ln>
                  <a:noFill/>
                </a:ln>
                <a:solidFill>
                  <a:prstClr val="white"/>
                </a:solidFill>
                <a:effectLst/>
                <a:uLnTx/>
                <a:uFillTx/>
                <a:latin typeface="Arial" panose="020B0604020202020204"/>
                <a:ea typeface="+mn-ea"/>
                <a:cs typeface="+mn-cs"/>
              </a:rPr>
              <a:t>Implications</a:t>
            </a:r>
            <a:r>
              <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u="none" strike="noStrike" kern="1200" cap="none" spc="0" normalizeH="0" baseline="0" noProof="0" dirty="0" err="1">
                <a:ln>
                  <a:noFill/>
                </a:ln>
                <a:solidFill>
                  <a:prstClr val="white"/>
                </a:solidFill>
                <a:effectLst/>
                <a:uLnTx/>
                <a:uFillTx/>
                <a:latin typeface="Arial" panose="020B0604020202020204"/>
                <a:ea typeface="+mn-ea"/>
                <a:cs typeface="+mn-cs"/>
              </a:rPr>
              <a:t>for</a:t>
            </a:r>
            <a:r>
              <a:rPr kumimoji="0" lang="de-CH" sz="120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u="none" strike="noStrike" kern="1200" cap="none" spc="0" normalizeH="0" baseline="0" noProof="0" dirty="0" err="1">
                <a:ln>
                  <a:noFill/>
                </a:ln>
                <a:solidFill>
                  <a:prstClr val="white"/>
                </a:solidFill>
                <a:effectLst/>
                <a:uLnTx/>
                <a:uFillTx/>
                <a:latin typeface="Arial" panose="020B0604020202020204"/>
                <a:ea typeface="+mn-ea"/>
                <a:cs typeface="+mn-cs"/>
              </a:rPr>
              <a:t>our</a:t>
            </a:r>
            <a:r>
              <a:rPr kumimoji="0" lang="de-CH" sz="120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u="none" strike="noStrike" kern="1200" cap="none" spc="0" normalizeH="0" baseline="0" noProof="0" dirty="0" err="1">
                <a:ln>
                  <a:noFill/>
                </a:ln>
                <a:solidFill>
                  <a:prstClr val="white"/>
                </a:solidFill>
                <a:effectLst/>
                <a:uLnTx/>
                <a:uFillTx/>
                <a:latin typeface="Arial" panose="020B0604020202020204"/>
                <a:ea typeface="+mn-ea"/>
                <a:cs typeface="+mn-cs"/>
              </a:rPr>
              <a:t>research</a:t>
            </a:r>
            <a:endParaRPr kumimoji="0" lang="de-CH" sz="120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8" name="Textfeld 17">
            <a:extLst>
              <a:ext uri="{FF2B5EF4-FFF2-40B4-BE49-F238E27FC236}">
                <a16:creationId xmlns:a16="http://schemas.microsoft.com/office/drawing/2014/main" id="{06BCDBED-8352-4C56-8BE7-4271F00265D1}"/>
              </a:ext>
            </a:extLst>
          </p:cNvPr>
          <p:cNvSpPr txBox="1"/>
          <p:nvPr/>
        </p:nvSpPr>
        <p:spPr>
          <a:xfrm>
            <a:off x="1142999" y="2172265"/>
            <a:ext cx="9906000" cy="3785652"/>
          </a:xfrm>
          <a:prstGeom prst="rect">
            <a:avLst/>
          </a:prstGeom>
          <a:noFill/>
        </p:spPr>
        <p:txBody>
          <a:bodyPr wrap="square" rtlCol="0">
            <a:spAutoFit/>
          </a:bodyPr>
          <a:lstStyle/>
          <a:p>
            <a:pPr marL="342900" indent="-342900">
              <a:buAutoNum type="arabicParenR"/>
            </a:pPr>
            <a:r>
              <a:rPr lang="de-DE" sz="2400" dirty="0">
                <a:solidFill>
                  <a:schemeClr val="bg1"/>
                </a:solidFill>
              </a:rPr>
              <a:t>Double/</a:t>
            </a:r>
            <a:r>
              <a:rPr lang="de-DE" sz="2400" dirty="0" err="1">
                <a:solidFill>
                  <a:schemeClr val="bg1"/>
                </a:solidFill>
              </a:rPr>
              <a:t>debiased</a:t>
            </a:r>
            <a:r>
              <a:rPr lang="de-DE" sz="2400" dirty="0">
                <a:solidFill>
                  <a:schemeClr val="bg1"/>
                </a:solidFill>
              </a:rPr>
              <a:t> ML (</a:t>
            </a:r>
            <a:r>
              <a:rPr lang="de-DE" sz="2400" dirty="0" err="1">
                <a:solidFill>
                  <a:schemeClr val="bg1"/>
                </a:solidFill>
              </a:rPr>
              <a:t>bit</a:t>
            </a:r>
            <a:r>
              <a:rPr lang="de-DE" sz="2400" dirty="0">
                <a:solidFill>
                  <a:schemeClr val="bg1"/>
                </a:solidFill>
              </a:rPr>
              <a:t> </a:t>
            </a:r>
            <a:r>
              <a:rPr lang="de-DE" sz="2400" dirty="0" err="1">
                <a:solidFill>
                  <a:schemeClr val="bg1"/>
                </a:solidFill>
              </a:rPr>
              <a:t>similar</a:t>
            </a:r>
            <a:r>
              <a:rPr lang="de-DE" sz="2400" dirty="0">
                <a:solidFill>
                  <a:schemeClr val="bg1"/>
                </a:solidFill>
              </a:rPr>
              <a:t>: </a:t>
            </a:r>
            <a:r>
              <a:rPr lang="de-DE" sz="2400" i="1" dirty="0" err="1">
                <a:solidFill>
                  <a:schemeClr val="bg1"/>
                </a:solidFill>
              </a:rPr>
              <a:t>doubly</a:t>
            </a:r>
            <a:r>
              <a:rPr lang="de-DE" sz="2400" i="1" dirty="0">
                <a:solidFill>
                  <a:schemeClr val="bg1"/>
                </a:solidFill>
              </a:rPr>
              <a:t> robust</a:t>
            </a:r>
            <a:r>
              <a:rPr lang="de-DE" sz="2400" dirty="0">
                <a:solidFill>
                  <a:schemeClr val="bg1"/>
                </a:solidFill>
              </a:rPr>
              <a:t> est.)</a:t>
            </a:r>
          </a:p>
          <a:p>
            <a:pPr marL="800100" lvl="1" indent="-342900">
              <a:buFont typeface="Symbol" panose="05050102010706020507" pitchFamily="18" charset="2"/>
              <a:buChar char="-"/>
            </a:pPr>
            <a:r>
              <a:rPr lang="de-DE" sz="2400" dirty="0" err="1">
                <a:solidFill>
                  <a:schemeClr val="bg1"/>
                </a:solidFill>
              </a:rPr>
              <a:t>Enables</a:t>
            </a:r>
            <a:r>
              <a:rPr lang="de-DE" sz="2400" dirty="0">
                <a:solidFill>
                  <a:schemeClr val="bg1"/>
                </a:solidFill>
              </a:rPr>
              <a:t> </a:t>
            </a:r>
            <a:r>
              <a:rPr lang="de-DE" sz="2400" b="1" dirty="0" err="1">
                <a:solidFill>
                  <a:schemeClr val="bg1"/>
                </a:solidFill>
              </a:rPr>
              <a:t>inference</a:t>
            </a:r>
            <a:r>
              <a:rPr lang="de-DE" sz="2400" dirty="0">
                <a:solidFill>
                  <a:schemeClr val="bg1"/>
                </a:solidFill>
              </a:rPr>
              <a:t> </a:t>
            </a:r>
            <a:r>
              <a:rPr lang="de-DE" sz="2400" dirty="0" err="1">
                <a:solidFill>
                  <a:schemeClr val="bg1"/>
                </a:solidFill>
              </a:rPr>
              <a:t>about</a:t>
            </a:r>
            <a:r>
              <a:rPr lang="de-DE" sz="2400" dirty="0">
                <a:solidFill>
                  <a:schemeClr val="bg1"/>
                </a:solidFill>
              </a:rPr>
              <a:t> </a:t>
            </a:r>
            <a:r>
              <a:rPr lang="de-DE" sz="2400" dirty="0" err="1">
                <a:solidFill>
                  <a:schemeClr val="bg1"/>
                </a:solidFill>
              </a:rPr>
              <a:t>uncertainty</a:t>
            </a:r>
            <a:r>
              <a:rPr lang="de-DE" sz="2400" dirty="0">
                <a:solidFill>
                  <a:schemeClr val="bg1"/>
                </a:solidFill>
              </a:rPr>
              <a:t> (</a:t>
            </a:r>
            <a:r>
              <a:rPr lang="de-DE" sz="2400" dirty="0" err="1">
                <a:solidFill>
                  <a:schemeClr val="bg1"/>
                </a:solidFill>
              </a:rPr>
              <a:t>e.g</a:t>
            </a:r>
            <a:r>
              <a:rPr lang="de-DE" sz="2400" dirty="0">
                <a:solidFill>
                  <a:schemeClr val="bg1"/>
                </a:solidFill>
              </a:rPr>
              <a:t>, CIs)</a:t>
            </a:r>
          </a:p>
          <a:p>
            <a:pPr marL="800100" lvl="1" indent="-342900">
              <a:buFont typeface="Symbol" panose="05050102010706020507" pitchFamily="18" charset="2"/>
              <a:buChar char="-"/>
            </a:pPr>
            <a:r>
              <a:rPr lang="de-DE" sz="2400" b="1" dirty="0" err="1">
                <a:solidFill>
                  <a:schemeClr val="bg1"/>
                </a:solidFill>
              </a:rPr>
              <a:t>Debiases</a:t>
            </a:r>
            <a:r>
              <a:rPr lang="de-DE" sz="2400" dirty="0">
                <a:solidFill>
                  <a:schemeClr val="bg1"/>
                </a:solidFill>
              </a:rPr>
              <a:t> </a:t>
            </a:r>
            <a:r>
              <a:rPr lang="de-DE" sz="2400" dirty="0" err="1">
                <a:solidFill>
                  <a:schemeClr val="bg1"/>
                </a:solidFill>
              </a:rPr>
              <a:t>outcome</a:t>
            </a:r>
            <a:r>
              <a:rPr lang="de-DE" sz="2400" dirty="0">
                <a:solidFill>
                  <a:schemeClr val="bg1"/>
                </a:solidFill>
              </a:rPr>
              <a:t> and </a:t>
            </a:r>
            <a:r>
              <a:rPr lang="de-DE" sz="2400" dirty="0" err="1">
                <a:solidFill>
                  <a:schemeClr val="bg1"/>
                </a:solidFill>
              </a:rPr>
              <a:t>treatment</a:t>
            </a:r>
            <a:r>
              <a:rPr lang="de-DE" sz="2400" dirty="0">
                <a:solidFill>
                  <a:schemeClr val="bg1"/>
                </a:solidFill>
              </a:rPr>
              <a:t> </a:t>
            </a:r>
            <a:r>
              <a:rPr lang="de-DE" sz="2400" dirty="0" err="1">
                <a:solidFill>
                  <a:schemeClr val="bg1"/>
                </a:solidFill>
              </a:rPr>
              <a:t>estimates</a:t>
            </a:r>
            <a:r>
              <a:rPr lang="de-DE" sz="2400" dirty="0">
                <a:solidFill>
                  <a:schemeClr val="bg1"/>
                </a:solidFill>
              </a:rPr>
              <a:t> </a:t>
            </a:r>
          </a:p>
          <a:p>
            <a:pPr marL="342900" indent="-342900">
              <a:buAutoNum type="arabicParenR"/>
            </a:pPr>
            <a:endParaRPr lang="de-DE" sz="2400" dirty="0">
              <a:solidFill>
                <a:schemeClr val="bg1"/>
              </a:solidFill>
            </a:endParaRPr>
          </a:p>
          <a:p>
            <a:pPr marL="342900" indent="-342900">
              <a:buAutoNum type="arabicParenR"/>
            </a:pPr>
            <a:r>
              <a:rPr lang="de-DE" sz="2400" dirty="0">
                <a:solidFill>
                  <a:schemeClr val="bg1"/>
                </a:solidFill>
              </a:rPr>
              <a:t>Treatment </a:t>
            </a:r>
            <a:r>
              <a:rPr lang="de-DE" sz="2400" dirty="0" err="1">
                <a:solidFill>
                  <a:schemeClr val="bg1"/>
                </a:solidFill>
              </a:rPr>
              <a:t>outcome</a:t>
            </a:r>
            <a:r>
              <a:rPr lang="de-DE" sz="2400" dirty="0">
                <a:solidFill>
                  <a:schemeClr val="bg1"/>
                </a:solidFill>
              </a:rPr>
              <a:t> </a:t>
            </a:r>
            <a:r>
              <a:rPr lang="de-DE" sz="2400" dirty="0" err="1">
                <a:solidFill>
                  <a:schemeClr val="bg1"/>
                </a:solidFill>
              </a:rPr>
              <a:t>prediction</a:t>
            </a:r>
            <a:endParaRPr lang="de-DE" sz="2400" dirty="0">
              <a:solidFill>
                <a:schemeClr val="bg1"/>
              </a:solidFill>
            </a:endParaRPr>
          </a:p>
          <a:p>
            <a:pPr marL="800100" lvl="1" indent="-342900">
              <a:buFont typeface="Symbol" panose="05050102010706020507" pitchFamily="18" charset="2"/>
              <a:buChar char="-"/>
            </a:pPr>
            <a:r>
              <a:rPr lang="de-DE" sz="2400" dirty="0" err="1">
                <a:solidFill>
                  <a:schemeClr val="bg1"/>
                </a:solidFill>
              </a:rPr>
              <a:t>Focuses</a:t>
            </a:r>
            <a:r>
              <a:rPr lang="de-DE" sz="2400" dirty="0">
                <a:solidFill>
                  <a:schemeClr val="bg1"/>
                </a:solidFill>
              </a:rPr>
              <a:t> on </a:t>
            </a:r>
            <a:r>
              <a:rPr lang="de-DE" sz="2400" b="1" dirty="0" err="1">
                <a:solidFill>
                  <a:schemeClr val="bg1"/>
                </a:solidFill>
              </a:rPr>
              <a:t>heterogeneity</a:t>
            </a:r>
            <a:r>
              <a:rPr lang="de-DE" sz="2400" dirty="0">
                <a:solidFill>
                  <a:schemeClr val="bg1"/>
                </a:solidFill>
              </a:rPr>
              <a:t> in </a:t>
            </a:r>
            <a:r>
              <a:rPr lang="de-DE" sz="2400" dirty="0" err="1">
                <a:solidFill>
                  <a:schemeClr val="bg1"/>
                </a:solidFill>
              </a:rPr>
              <a:t>treatment</a:t>
            </a:r>
            <a:r>
              <a:rPr lang="de-DE" sz="2400" dirty="0">
                <a:solidFill>
                  <a:schemeClr val="bg1"/>
                </a:solidFill>
              </a:rPr>
              <a:t> </a:t>
            </a:r>
            <a:r>
              <a:rPr lang="de-DE" sz="2400" dirty="0" err="1">
                <a:solidFill>
                  <a:schemeClr val="bg1"/>
                </a:solidFill>
              </a:rPr>
              <a:t>effects</a:t>
            </a:r>
            <a:endParaRPr lang="de-DE" sz="2400" dirty="0">
              <a:solidFill>
                <a:schemeClr val="bg1"/>
              </a:solidFill>
            </a:endParaRPr>
          </a:p>
          <a:p>
            <a:pPr marL="800100" lvl="1" indent="-342900">
              <a:buFont typeface="Symbol" panose="05050102010706020507" pitchFamily="18" charset="2"/>
              <a:buChar char="-"/>
            </a:pPr>
            <a:r>
              <a:rPr lang="de-DE" sz="2400" b="1" dirty="0" err="1">
                <a:solidFill>
                  <a:schemeClr val="bg1"/>
                </a:solidFill>
              </a:rPr>
              <a:t>C</a:t>
            </a:r>
            <a:r>
              <a:rPr lang="de-DE" sz="2400" dirty="0" err="1">
                <a:solidFill>
                  <a:schemeClr val="bg1"/>
                </a:solidFill>
              </a:rPr>
              <a:t>onditional</a:t>
            </a:r>
            <a:r>
              <a:rPr lang="de-DE" sz="2400" dirty="0">
                <a:solidFill>
                  <a:schemeClr val="bg1"/>
                </a:solidFill>
              </a:rPr>
              <a:t> /</a:t>
            </a:r>
            <a:r>
              <a:rPr lang="de-DE" sz="2400" dirty="0" err="1">
                <a:solidFill>
                  <a:schemeClr val="bg1"/>
                </a:solidFill>
              </a:rPr>
              <a:t>group</a:t>
            </a:r>
            <a:r>
              <a:rPr lang="de-DE" sz="2400" dirty="0">
                <a:solidFill>
                  <a:schemeClr val="bg1"/>
                </a:solidFill>
              </a:rPr>
              <a:t>/individual </a:t>
            </a:r>
            <a:r>
              <a:rPr lang="de-DE" sz="2400" b="1" dirty="0" err="1">
                <a:solidFill>
                  <a:schemeClr val="bg1"/>
                </a:solidFill>
              </a:rPr>
              <a:t>a</a:t>
            </a:r>
            <a:r>
              <a:rPr lang="de-DE" sz="2400" dirty="0" err="1">
                <a:solidFill>
                  <a:schemeClr val="bg1"/>
                </a:solidFill>
              </a:rPr>
              <a:t>verage</a:t>
            </a:r>
            <a:r>
              <a:rPr lang="de-DE" sz="2400" dirty="0">
                <a:solidFill>
                  <a:schemeClr val="bg1"/>
                </a:solidFill>
              </a:rPr>
              <a:t> </a:t>
            </a:r>
            <a:r>
              <a:rPr lang="de-DE" sz="2400" b="1" dirty="0" err="1">
                <a:solidFill>
                  <a:schemeClr val="bg1"/>
                </a:solidFill>
              </a:rPr>
              <a:t>t</a:t>
            </a:r>
            <a:r>
              <a:rPr lang="de-DE" sz="2400" dirty="0" err="1">
                <a:solidFill>
                  <a:schemeClr val="bg1"/>
                </a:solidFill>
              </a:rPr>
              <a:t>reatment</a:t>
            </a:r>
            <a:r>
              <a:rPr lang="de-DE" sz="2400" dirty="0">
                <a:solidFill>
                  <a:schemeClr val="bg1"/>
                </a:solidFill>
              </a:rPr>
              <a:t> </a:t>
            </a:r>
            <a:r>
              <a:rPr lang="de-DE" sz="2400" b="1" dirty="0" err="1">
                <a:solidFill>
                  <a:schemeClr val="bg1"/>
                </a:solidFill>
              </a:rPr>
              <a:t>e</a:t>
            </a:r>
            <a:r>
              <a:rPr lang="de-DE" sz="2400" dirty="0" err="1">
                <a:solidFill>
                  <a:schemeClr val="bg1"/>
                </a:solidFill>
              </a:rPr>
              <a:t>ffects</a:t>
            </a:r>
            <a:r>
              <a:rPr lang="de-DE" sz="2400" dirty="0">
                <a:solidFill>
                  <a:schemeClr val="bg1"/>
                </a:solidFill>
              </a:rPr>
              <a:t> (CATE)</a:t>
            </a:r>
          </a:p>
          <a:p>
            <a:pPr marL="342900" indent="-342900">
              <a:buAutoNum type="arabicParenR"/>
            </a:pPr>
            <a:endParaRPr lang="de-DE" sz="2400" dirty="0">
              <a:solidFill>
                <a:schemeClr val="bg1"/>
              </a:solidFill>
            </a:endParaRPr>
          </a:p>
          <a:p>
            <a:pPr marL="342900" indent="-342900">
              <a:buAutoNum type="arabicParenR"/>
            </a:pPr>
            <a:r>
              <a:rPr lang="de-DE" sz="2400" dirty="0" err="1">
                <a:solidFill>
                  <a:schemeClr val="bg1"/>
                </a:solidFill>
              </a:rPr>
              <a:t>Causal</a:t>
            </a:r>
            <a:r>
              <a:rPr lang="de-DE" sz="2400" dirty="0">
                <a:solidFill>
                  <a:schemeClr val="bg1"/>
                </a:solidFill>
              </a:rPr>
              <a:t> </a:t>
            </a:r>
            <a:r>
              <a:rPr lang="de-DE" sz="2400" dirty="0" err="1">
                <a:solidFill>
                  <a:schemeClr val="bg1"/>
                </a:solidFill>
              </a:rPr>
              <a:t>discovery</a:t>
            </a:r>
            <a:r>
              <a:rPr lang="de-DE" sz="2400" dirty="0">
                <a:solidFill>
                  <a:schemeClr val="bg1"/>
                </a:solidFill>
              </a:rPr>
              <a:t> (</a:t>
            </a:r>
            <a:r>
              <a:rPr lang="de-DE" sz="2400" dirty="0" err="1">
                <a:solidFill>
                  <a:schemeClr val="bg1"/>
                </a:solidFill>
              </a:rPr>
              <a:t>Kossakowski</a:t>
            </a:r>
            <a:r>
              <a:rPr lang="de-DE" sz="2400" dirty="0">
                <a:solidFill>
                  <a:schemeClr val="bg1"/>
                </a:solidFill>
              </a:rPr>
              <a:t> et al., 2021)</a:t>
            </a:r>
          </a:p>
          <a:p>
            <a:pPr marL="800100" lvl="1" indent="-342900">
              <a:buFont typeface="Symbol" panose="05050102010706020507" pitchFamily="18" charset="2"/>
              <a:buChar char="-"/>
            </a:pPr>
            <a:r>
              <a:rPr lang="de-DE" sz="2400" dirty="0">
                <a:solidFill>
                  <a:schemeClr val="bg1"/>
                </a:solidFill>
              </a:rPr>
              <a:t>The </a:t>
            </a:r>
            <a:r>
              <a:rPr lang="de-DE" sz="2400" i="1" dirty="0" err="1">
                <a:solidFill>
                  <a:schemeClr val="bg1"/>
                </a:solidFill>
              </a:rPr>
              <a:t>autonomous</a:t>
            </a:r>
            <a:r>
              <a:rPr lang="de-DE" sz="2400" i="1" dirty="0">
                <a:solidFill>
                  <a:schemeClr val="bg1"/>
                </a:solidFill>
              </a:rPr>
              <a:t> </a:t>
            </a:r>
            <a:r>
              <a:rPr lang="de-DE" sz="2400" dirty="0">
                <a:solidFill>
                  <a:schemeClr val="bg1"/>
                </a:solidFill>
              </a:rPr>
              <a:t>(i.e., </a:t>
            </a:r>
            <a:r>
              <a:rPr lang="de-DE" sz="2400" dirty="0" err="1">
                <a:solidFill>
                  <a:schemeClr val="bg1"/>
                </a:solidFill>
              </a:rPr>
              <a:t>data-driven</a:t>
            </a:r>
            <a:r>
              <a:rPr lang="de-DE" sz="2400" dirty="0">
                <a:solidFill>
                  <a:schemeClr val="bg1"/>
                </a:solidFill>
              </a:rPr>
              <a:t>) </a:t>
            </a:r>
            <a:r>
              <a:rPr lang="de-DE" sz="2400" i="1" dirty="0" err="1">
                <a:solidFill>
                  <a:schemeClr val="bg1"/>
                </a:solidFill>
              </a:rPr>
              <a:t>car</a:t>
            </a:r>
            <a:r>
              <a:rPr lang="de-DE" sz="2400" dirty="0">
                <a:solidFill>
                  <a:schemeClr val="bg1"/>
                </a:solidFill>
              </a:rPr>
              <a:t> </a:t>
            </a:r>
            <a:r>
              <a:rPr lang="de-DE" sz="2400" dirty="0" err="1">
                <a:solidFill>
                  <a:schemeClr val="bg1"/>
                </a:solidFill>
              </a:rPr>
              <a:t>of</a:t>
            </a:r>
            <a:r>
              <a:rPr lang="de-DE" sz="2400" dirty="0">
                <a:solidFill>
                  <a:schemeClr val="bg1"/>
                </a:solidFill>
              </a:rPr>
              <a:t> </a:t>
            </a:r>
            <a:r>
              <a:rPr lang="de-DE" sz="2400" dirty="0" err="1">
                <a:solidFill>
                  <a:schemeClr val="bg1"/>
                </a:solidFill>
              </a:rPr>
              <a:t>causal</a:t>
            </a:r>
            <a:r>
              <a:rPr lang="de-DE" sz="2400" dirty="0">
                <a:solidFill>
                  <a:schemeClr val="bg1"/>
                </a:solidFill>
              </a:rPr>
              <a:t> </a:t>
            </a:r>
            <a:r>
              <a:rPr lang="de-DE" sz="2400" dirty="0" err="1">
                <a:solidFill>
                  <a:schemeClr val="bg1"/>
                </a:solidFill>
              </a:rPr>
              <a:t>machine</a:t>
            </a:r>
            <a:r>
              <a:rPr lang="de-DE" sz="2400" dirty="0">
                <a:solidFill>
                  <a:schemeClr val="bg1"/>
                </a:solidFill>
              </a:rPr>
              <a:t> </a:t>
            </a:r>
            <a:r>
              <a:rPr lang="de-DE" sz="2400" dirty="0" err="1">
                <a:solidFill>
                  <a:schemeClr val="bg1"/>
                </a:solidFill>
              </a:rPr>
              <a:t>learning</a:t>
            </a:r>
            <a:endParaRPr lang="de-DE" sz="2400" dirty="0">
              <a:solidFill>
                <a:schemeClr val="bg1"/>
              </a:solidFill>
            </a:endParaRPr>
          </a:p>
        </p:txBody>
      </p:sp>
      <p:pic>
        <p:nvPicPr>
          <p:cNvPr id="2" name="Grafik 1">
            <a:extLst>
              <a:ext uri="{FF2B5EF4-FFF2-40B4-BE49-F238E27FC236}">
                <a16:creationId xmlns:a16="http://schemas.microsoft.com/office/drawing/2014/main" id="{59704F58-BD75-4D84-9603-C7D2C9CEB745}"/>
              </a:ext>
            </a:extLst>
          </p:cNvPr>
          <p:cNvPicPr>
            <a:picLocks noChangeAspect="1"/>
          </p:cNvPicPr>
          <p:nvPr/>
        </p:nvPicPr>
        <p:blipFill rotWithShape="1">
          <a:blip r:embed="rId3"/>
          <a:srcRect l="51967" t="85973"/>
          <a:stretch/>
        </p:blipFill>
        <p:spPr>
          <a:xfrm>
            <a:off x="8909007" y="2638318"/>
            <a:ext cx="2869335" cy="681282"/>
          </a:xfrm>
          <a:prstGeom prst="rect">
            <a:avLst/>
          </a:prstGeom>
        </p:spPr>
      </p:pic>
      <p:pic>
        <p:nvPicPr>
          <p:cNvPr id="3" name="Grafik 2">
            <a:extLst>
              <a:ext uri="{FF2B5EF4-FFF2-40B4-BE49-F238E27FC236}">
                <a16:creationId xmlns:a16="http://schemas.microsoft.com/office/drawing/2014/main" id="{3A95F04A-65A3-4D7A-8775-4B2FD4CA5BBD}"/>
              </a:ext>
            </a:extLst>
          </p:cNvPr>
          <p:cNvPicPr>
            <a:picLocks noChangeAspect="1"/>
          </p:cNvPicPr>
          <p:nvPr/>
        </p:nvPicPr>
        <p:blipFill rotWithShape="1">
          <a:blip r:embed="rId4"/>
          <a:srcRect t="10675"/>
          <a:stretch/>
        </p:blipFill>
        <p:spPr>
          <a:xfrm>
            <a:off x="8757883" y="2425550"/>
            <a:ext cx="3171581" cy="1106817"/>
          </a:xfrm>
          <a:prstGeom prst="rect">
            <a:avLst/>
          </a:prstGeom>
        </p:spPr>
      </p:pic>
      <p:sp>
        <p:nvSpPr>
          <p:cNvPr id="8" name="Textfeld 7">
            <a:hlinkClick r:id="rId5" action="ppaction://hlinkfile"/>
            <a:extLst>
              <a:ext uri="{FF2B5EF4-FFF2-40B4-BE49-F238E27FC236}">
                <a16:creationId xmlns:a16="http://schemas.microsoft.com/office/drawing/2014/main" id="{189FDEA4-EC09-438F-BFF7-6E777A9F157C}"/>
              </a:ext>
            </a:extLst>
          </p:cNvPr>
          <p:cNvSpPr txBox="1"/>
          <p:nvPr/>
        </p:nvSpPr>
        <p:spPr bwMode="auto">
          <a:xfrm>
            <a:off x="9267794" y="3584975"/>
            <a:ext cx="3288878" cy="369332"/>
          </a:xfrm>
          <a:prstGeom prst="rect">
            <a:avLst/>
          </a:prstGeom>
          <a:noFill/>
        </p:spPr>
        <p:txBody>
          <a:bodyPr wrap="square" rtlCol="0">
            <a:spAutoFit/>
          </a:bodyPr>
          <a:lstStyle/>
          <a:p>
            <a:r>
              <a:rPr lang="de-DE" dirty="0">
                <a:solidFill>
                  <a:schemeClr val="bg1"/>
                </a:solidFill>
                <a:latin typeface="Arial" panose="020B0604020202020204" pitchFamily="34" charset="0"/>
                <a:cs typeface="Arial" panose="020B0604020202020204" pitchFamily="34" charset="0"/>
                <a:hlinkClick r:id="rId5" action="ppaction://hlinkfile">
                  <a:extLst>
                    <a:ext uri="{A12FA001-AC4F-418D-AE19-62706E023703}">
                      <ahyp:hlinkClr xmlns:ahyp="http://schemas.microsoft.com/office/drawing/2018/hyperlinkcolor" val="tx"/>
                    </a:ext>
                  </a:extLst>
                </a:hlinkClick>
              </a:rPr>
              <a:t>causalml-book.org</a:t>
            </a:r>
            <a:endParaRPr lang="de-DE" dirty="0">
              <a:solidFill>
                <a:schemeClr val="bg1"/>
              </a:solidFill>
              <a:latin typeface="Arial" panose="020B0604020202020204" pitchFamily="34" charset="0"/>
              <a:cs typeface="Arial" panose="020B0604020202020204" pitchFamily="34" charset="0"/>
            </a:endParaRPr>
          </a:p>
        </p:txBody>
      </p:sp>
      <p:pic>
        <p:nvPicPr>
          <p:cNvPr id="9" name="Picture 8" descr="Jogger erschreckt Pferd – wer ist schuld? – FIT for LIFE">
            <a:extLst>
              <a:ext uri="{FF2B5EF4-FFF2-40B4-BE49-F238E27FC236}">
                <a16:creationId xmlns:a16="http://schemas.microsoft.com/office/drawing/2014/main" id="{5CCF5C79-6B88-4996-A06E-2FEDF402AB0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5610" r="37230" b="5684"/>
          <a:stretch/>
        </p:blipFill>
        <p:spPr bwMode="auto">
          <a:xfrm>
            <a:off x="9570922" y="900083"/>
            <a:ext cx="882828" cy="1317098"/>
          </a:xfrm>
          <a:prstGeom prst="rect">
            <a:avLst/>
          </a:prstGeom>
          <a:noFill/>
          <a:extLst>
            <a:ext uri="{909E8E84-426E-40DD-AFC4-6F175D3DCCD1}">
              <a14:hiddenFill xmlns:a14="http://schemas.microsoft.com/office/drawing/2010/main">
                <a:solidFill>
                  <a:srgbClr val="FFFFFF"/>
                </a:solidFill>
              </a14:hiddenFill>
            </a:ext>
          </a:extLst>
        </p:spPr>
      </p:pic>
      <p:sp>
        <p:nvSpPr>
          <p:cNvPr id="10" name="Sprechblase: oval 9">
            <a:extLst>
              <a:ext uri="{FF2B5EF4-FFF2-40B4-BE49-F238E27FC236}">
                <a16:creationId xmlns:a16="http://schemas.microsoft.com/office/drawing/2014/main" id="{59FDDD6F-B4E9-47B1-8A3B-BF1C4CDD8E58}"/>
              </a:ext>
            </a:extLst>
          </p:cNvPr>
          <p:cNvSpPr/>
          <p:nvPr/>
        </p:nvSpPr>
        <p:spPr bwMode="auto">
          <a:xfrm>
            <a:off x="10505331" y="1216207"/>
            <a:ext cx="1369369" cy="461665"/>
          </a:xfrm>
          <a:prstGeom prst="wedgeEllipseCallout">
            <a:avLst>
              <a:gd name="adj1" fmla="val -65744"/>
              <a:gd name="adj2" fmla="val 86438"/>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800">
              <a:solidFill>
                <a:schemeClr val="tx1"/>
              </a:solidFill>
            </a:endParaRPr>
          </a:p>
        </p:txBody>
      </p:sp>
      <p:sp>
        <p:nvSpPr>
          <p:cNvPr id="11" name="Titel 1">
            <a:extLst>
              <a:ext uri="{FF2B5EF4-FFF2-40B4-BE49-F238E27FC236}">
                <a16:creationId xmlns:a16="http://schemas.microsoft.com/office/drawing/2014/main" id="{210EE5AE-AC87-4E77-991B-A487B161F1D4}"/>
              </a:ext>
            </a:extLst>
          </p:cNvPr>
          <p:cNvSpPr txBox="1">
            <a:spLocks/>
          </p:cNvSpPr>
          <p:nvPr/>
        </p:nvSpPr>
        <p:spPr bwMode="auto">
          <a:xfrm>
            <a:off x="10493246" y="1185481"/>
            <a:ext cx="1369369" cy="56309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de-AT" sz="1000" i="1" dirty="0">
                <a:solidFill>
                  <a:schemeClr val="bg1"/>
                </a:solidFill>
                <a:latin typeface="Arial" panose="020B0604020202020204" pitchFamily="34" charset="0"/>
                <a:cs typeface="Arial" panose="020B0604020202020204" pitchFamily="34" charset="0"/>
              </a:rPr>
              <a:t>I do </a:t>
            </a:r>
            <a:r>
              <a:rPr lang="de-AT" sz="1000" i="1" dirty="0" err="1">
                <a:solidFill>
                  <a:schemeClr val="bg1"/>
                </a:solidFill>
                <a:latin typeface="Arial" panose="020B0604020202020204" pitchFamily="34" charset="0"/>
                <a:cs typeface="Arial" panose="020B0604020202020204" pitchFamily="34" charset="0"/>
              </a:rPr>
              <a:t>this</a:t>
            </a:r>
            <a:r>
              <a:rPr lang="de-AT" sz="1000" i="1" dirty="0">
                <a:solidFill>
                  <a:schemeClr val="bg1"/>
                </a:solidFill>
                <a:latin typeface="Arial" panose="020B0604020202020204" pitchFamily="34" charset="0"/>
                <a:cs typeface="Arial" panose="020B0604020202020204" pitchFamily="34" charset="0"/>
              </a:rPr>
              <a:t> a </a:t>
            </a:r>
            <a:r>
              <a:rPr lang="de-AT" sz="1000" i="1" dirty="0" err="1">
                <a:solidFill>
                  <a:schemeClr val="bg1"/>
                </a:solidFill>
                <a:latin typeface="Arial" panose="020B0604020202020204" pitchFamily="34" charset="0"/>
                <a:cs typeface="Arial" panose="020B0604020202020204" pitchFamily="34" charset="0"/>
              </a:rPr>
              <a:t>lot</a:t>
            </a:r>
            <a:r>
              <a:rPr lang="de-AT" sz="1000" i="1" dirty="0">
                <a:solidFill>
                  <a:schemeClr val="bg1"/>
                </a:solidFill>
                <a:latin typeface="Arial" panose="020B0604020202020204" pitchFamily="34" charset="0"/>
                <a:cs typeface="Arial" panose="020B0604020202020204" pitchFamily="34" charset="0"/>
              </a:rPr>
              <a:t>, </a:t>
            </a:r>
            <a:r>
              <a:rPr lang="de-AT" sz="1000" i="1" dirty="0" err="1">
                <a:solidFill>
                  <a:schemeClr val="bg1"/>
                </a:solidFill>
                <a:latin typeface="Arial" panose="020B0604020202020204" pitchFamily="34" charset="0"/>
                <a:cs typeface="Arial" panose="020B0604020202020204" pitchFamily="34" charset="0"/>
              </a:rPr>
              <a:t>it`s</a:t>
            </a:r>
            <a:r>
              <a:rPr lang="de-AT" sz="1000" i="1" dirty="0">
                <a:solidFill>
                  <a:schemeClr val="bg1"/>
                </a:solidFill>
                <a:latin typeface="Arial" panose="020B0604020202020204" pitchFamily="34" charset="0"/>
                <a:cs typeface="Arial" panose="020B0604020202020204" pitchFamily="34" charset="0"/>
              </a:rPr>
              <a:t> </a:t>
            </a:r>
            <a:r>
              <a:rPr lang="de-AT" sz="1000" i="1" dirty="0" err="1">
                <a:solidFill>
                  <a:schemeClr val="bg1"/>
                </a:solidFill>
                <a:latin typeface="Arial" panose="020B0604020202020204" pitchFamily="34" charset="0"/>
                <a:cs typeface="Arial" panose="020B0604020202020204" pitchFamily="34" charset="0"/>
              </a:rPr>
              <a:t>more</a:t>
            </a:r>
            <a:r>
              <a:rPr lang="de-AT" sz="1000" i="1" dirty="0">
                <a:solidFill>
                  <a:schemeClr val="bg1"/>
                </a:solidFill>
                <a:latin typeface="Arial" panose="020B0604020202020204" pitchFamily="34" charset="0"/>
                <a:cs typeface="Arial" panose="020B0604020202020204" pitchFamily="34" charset="0"/>
              </a:rPr>
              <a:t> </a:t>
            </a:r>
            <a:r>
              <a:rPr lang="de-AT" sz="1000" i="1" dirty="0" err="1">
                <a:solidFill>
                  <a:schemeClr val="bg1"/>
                </a:solidFill>
                <a:latin typeface="Arial" panose="020B0604020202020204" pitchFamily="34" charset="0"/>
                <a:cs typeface="Arial" panose="020B0604020202020204" pitchFamily="34" charset="0"/>
              </a:rPr>
              <a:t>about</a:t>
            </a:r>
            <a:r>
              <a:rPr lang="de-AT" sz="1000" i="1" dirty="0">
                <a:solidFill>
                  <a:schemeClr val="bg1"/>
                </a:solidFill>
                <a:latin typeface="Arial" panose="020B0604020202020204" pitchFamily="34" charset="0"/>
                <a:cs typeface="Arial" panose="020B0604020202020204" pitchFamily="34" charset="0"/>
              </a:rPr>
              <a:t> AVE </a:t>
            </a:r>
            <a:r>
              <a:rPr lang="de-AT" sz="1000" i="1" dirty="0" err="1">
                <a:solidFill>
                  <a:schemeClr val="bg1"/>
                </a:solidFill>
                <a:latin typeface="Arial" panose="020B0604020202020204" pitchFamily="34" charset="0"/>
                <a:cs typeface="Arial" panose="020B0604020202020204" pitchFamily="34" charset="0"/>
              </a:rPr>
              <a:t>than</a:t>
            </a:r>
            <a:r>
              <a:rPr lang="de-AT" sz="1000" i="1" dirty="0">
                <a:solidFill>
                  <a:schemeClr val="bg1"/>
                </a:solidFill>
                <a:latin typeface="Arial" panose="020B0604020202020204" pitchFamily="34" charset="0"/>
                <a:cs typeface="Arial" panose="020B0604020202020204" pitchFamily="34" charset="0"/>
              </a:rPr>
              <a:t> CAVE</a:t>
            </a:r>
          </a:p>
        </p:txBody>
      </p:sp>
      <p:sp>
        <p:nvSpPr>
          <p:cNvPr id="12" name="Sprechblase: oval 11">
            <a:extLst>
              <a:ext uri="{FF2B5EF4-FFF2-40B4-BE49-F238E27FC236}">
                <a16:creationId xmlns:a16="http://schemas.microsoft.com/office/drawing/2014/main" id="{01AA6028-17FD-4584-82DD-A3499F8FA5D7}"/>
              </a:ext>
            </a:extLst>
          </p:cNvPr>
          <p:cNvSpPr/>
          <p:nvPr/>
        </p:nvSpPr>
        <p:spPr bwMode="auto">
          <a:xfrm>
            <a:off x="10436713" y="1165492"/>
            <a:ext cx="1482437" cy="563092"/>
          </a:xfrm>
          <a:prstGeom prst="wedgeEllipseCallout">
            <a:avLst>
              <a:gd name="adj1" fmla="val -65744"/>
              <a:gd name="adj2" fmla="val 86438"/>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800">
              <a:solidFill>
                <a:schemeClr val="tx1"/>
              </a:solidFill>
            </a:endParaRPr>
          </a:p>
        </p:txBody>
      </p:sp>
      <p:cxnSp>
        <p:nvCxnSpPr>
          <p:cNvPr id="13" name="Gerade Verbindung mit Pfeil 12">
            <a:extLst>
              <a:ext uri="{FF2B5EF4-FFF2-40B4-BE49-F238E27FC236}">
                <a16:creationId xmlns:a16="http://schemas.microsoft.com/office/drawing/2014/main" id="{6DAFB014-0108-4F0B-A19F-E8F270B07F15}"/>
              </a:ext>
            </a:extLst>
          </p:cNvPr>
          <p:cNvCxnSpPr>
            <a:cxnSpLocks/>
          </p:cNvCxnSpPr>
          <p:nvPr/>
        </p:nvCxnSpPr>
        <p:spPr>
          <a:xfrm flipH="1">
            <a:off x="8605368" y="1816632"/>
            <a:ext cx="849983" cy="44004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5894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Rechteck 3"/>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2" name="Abgerundetes Rechteck 41"/>
          <p:cNvSpPr/>
          <p:nvPr/>
        </p:nvSpPr>
        <p:spPr>
          <a:xfrm>
            <a:off x="4027242" y="515394"/>
            <a:ext cx="4137515" cy="1456629"/>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CH" sz="3200" b="1" dirty="0">
                <a:solidFill>
                  <a:prstClr val="white"/>
                </a:solidFill>
                <a:latin typeface="Arial" panose="020B0604020202020204"/>
              </a:rPr>
              <a:t>II) The </a:t>
            </a:r>
            <a:r>
              <a:rPr lang="de-CH" sz="3200" b="1" i="1" dirty="0" err="1">
                <a:solidFill>
                  <a:prstClr val="white"/>
                </a:solidFill>
                <a:latin typeface="Arial" panose="020B0604020202020204"/>
              </a:rPr>
              <a:t>Bayesian</a:t>
            </a:r>
            <a:r>
              <a:rPr lang="de-CH" sz="3200" b="1" i="1" dirty="0">
                <a:solidFill>
                  <a:prstClr val="white"/>
                </a:solidFill>
                <a:latin typeface="Arial" panose="020B0604020202020204"/>
              </a:rPr>
              <a:t> </a:t>
            </a:r>
            <a:r>
              <a:rPr lang="de-CH" sz="3200" b="1" i="1" dirty="0" err="1">
                <a:solidFill>
                  <a:prstClr val="white"/>
                </a:solidFill>
                <a:latin typeface="Arial" panose="020B0604020202020204"/>
              </a:rPr>
              <a:t>causal</a:t>
            </a:r>
            <a:r>
              <a:rPr lang="de-CH" sz="3200" b="1" i="1" dirty="0">
                <a:solidFill>
                  <a:prstClr val="white"/>
                </a:solidFill>
                <a:latin typeface="Arial" panose="020B0604020202020204"/>
              </a:rPr>
              <a:t> </a:t>
            </a:r>
            <a:r>
              <a:rPr lang="de-CH" sz="3200" b="1" i="1" dirty="0" err="1">
                <a:solidFill>
                  <a:prstClr val="white"/>
                </a:solidFill>
                <a:latin typeface="Arial" panose="020B0604020202020204"/>
              </a:rPr>
              <a:t>forest</a:t>
            </a:r>
            <a:endParaRPr kumimoji="0" lang="en-US" sz="3200" b="1" i="1"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0" name="Abgerundetes Rechteck 41">
            <a:extLst>
              <a:ext uri="{FF2B5EF4-FFF2-40B4-BE49-F238E27FC236}">
                <a16:creationId xmlns:a16="http://schemas.microsoft.com/office/drawing/2014/main" id="{CB69749E-2935-4A1A-9C25-630C77EFD915}"/>
              </a:ext>
            </a:extLst>
          </p:cNvPr>
          <p:cNvSpPr/>
          <p:nvPr/>
        </p:nvSpPr>
        <p:spPr>
          <a:xfrm>
            <a:off x="9345385" y="5957917"/>
            <a:ext cx="2557055" cy="838199"/>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defTabSz="914400" rtl="0" eaLnBrk="1" fontAlgn="auto" latinLnBrk="0" hangingPunct="1">
              <a:lnSpc>
                <a:spcPct val="100000"/>
              </a:lnSpc>
              <a:spcBef>
                <a:spcPts val="0"/>
              </a:spcBef>
              <a:spcAft>
                <a:spcPts val="0"/>
              </a:spcAft>
              <a:buClrTx/>
              <a:buSzTx/>
              <a:tabLst/>
              <a:defRPr/>
            </a:pPr>
            <a:r>
              <a:rPr kumimoji="0" lang="de-CH" sz="1200" i="0" u="none" strike="noStrike" kern="1200" cap="none" spc="0" normalizeH="0" baseline="0" noProof="0" dirty="0">
                <a:ln>
                  <a:noFill/>
                </a:ln>
                <a:solidFill>
                  <a:prstClr val="white"/>
                </a:solidFill>
                <a:effectLst/>
                <a:uLnTx/>
                <a:uFillTx/>
                <a:latin typeface="Arial" panose="020B0604020202020204"/>
                <a:ea typeface="+mn-ea"/>
                <a:cs typeface="+mn-cs"/>
              </a:rPr>
              <a:t>I)   </a:t>
            </a:r>
            <a:r>
              <a:rPr kumimoji="0" lang="de-CH" sz="1200" i="0" u="none" strike="noStrike" kern="1200" cap="none" spc="0" normalizeH="0" baseline="0" noProof="0" dirty="0" err="1">
                <a:ln>
                  <a:noFill/>
                </a:ln>
                <a:solidFill>
                  <a:prstClr val="white"/>
                </a:solidFill>
                <a:effectLst/>
                <a:uLnTx/>
                <a:uFillTx/>
                <a:latin typeface="Arial" panose="020B0604020202020204"/>
                <a:ea typeface="+mn-ea"/>
                <a:cs typeface="+mn-cs"/>
              </a:rPr>
              <a:t>What</a:t>
            </a:r>
            <a:r>
              <a:rPr kumimoji="0" lang="de-CH" sz="120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i="1" u="none" strike="noStrike" kern="1200" cap="none" spc="0" normalizeH="0" baseline="0" noProof="0" dirty="0" err="1">
                <a:ln>
                  <a:noFill/>
                </a:ln>
                <a:solidFill>
                  <a:prstClr val="white"/>
                </a:solidFill>
                <a:effectLst/>
                <a:uLnTx/>
                <a:uFillTx/>
                <a:latin typeface="Arial" panose="020B0604020202020204"/>
                <a:ea typeface="+mn-ea"/>
                <a:cs typeface="+mn-cs"/>
              </a:rPr>
              <a:t>is</a:t>
            </a:r>
            <a:r>
              <a:rPr kumimoji="0" lang="de-CH" sz="1200" i="0" u="none" strike="noStrike" kern="1200" cap="none" spc="0" normalizeH="0" baseline="0" noProof="0" dirty="0">
                <a:ln>
                  <a:noFill/>
                </a:ln>
                <a:solidFill>
                  <a:prstClr val="white"/>
                </a:solidFill>
                <a:effectLst/>
                <a:uLnTx/>
                <a:uFillTx/>
                <a:latin typeface="Arial" panose="020B0604020202020204"/>
                <a:ea typeface="+mn-ea"/>
                <a:cs typeface="+mn-cs"/>
              </a:rPr>
              <a:t> CML</a:t>
            </a:r>
            <a:r>
              <a:rPr lang="de-CH" sz="1200" dirty="0">
                <a:solidFill>
                  <a:prstClr val="white"/>
                </a:solidFill>
                <a:latin typeface="Arial" panose="020B0604020202020204"/>
              </a:rPr>
              <a:t>?</a:t>
            </a:r>
          </a:p>
          <a:p>
            <a:pPr marR="0" lvl="0" defTabSz="914400" rtl="0" eaLnBrk="1" fontAlgn="auto" latinLnBrk="0" hangingPunct="1">
              <a:lnSpc>
                <a:spcPct val="100000"/>
              </a:lnSpc>
              <a:spcBef>
                <a:spcPts val="0"/>
              </a:spcBef>
              <a:spcAft>
                <a:spcPts val="0"/>
              </a:spcAft>
              <a:buClrTx/>
              <a:buSzTx/>
              <a:tabLst/>
              <a:defRPr/>
            </a:pPr>
            <a:r>
              <a:rPr lang="de-CH" sz="1200" b="1" dirty="0">
                <a:solidFill>
                  <a:prstClr val="white"/>
                </a:solidFill>
                <a:latin typeface="Arial" panose="020B0604020202020204"/>
              </a:rPr>
              <a:t>II)  </a:t>
            </a:r>
            <a:r>
              <a:rPr kumimoji="0" lang="de-CH" sz="1200" b="1" i="0" u="none" strike="noStrike" kern="1200" cap="none" spc="0" normalizeH="0" baseline="0" noProof="0" dirty="0">
                <a:ln>
                  <a:noFill/>
                </a:ln>
                <a:solidFill>
                  <a:prstClr val="white"/>
                </a:solidFill>
                <a:effectLst/>
                <a:uLnTx/>
                <a:uFillTx/>
                <a:latin typeface="Arial" panose="020B0604020202020204"/>
                <a:ea typeface="+mn-ea"/>
                <a:cs typeface="+mn-cs"/>
              </a:rPr>
              <a:t>The </a:t>
            </a:r>
            <a:r>
              <a:rPr kumimoji="0" lang="de-CH" sz="1200" b="1" i="1" u="none" strike="noStrike" kern="1200" cap="none" spc="0" normalizeH="0" baseline="0" noProof="0" dirty="0" err="1">
                <a:ln>
                  <a:noFill/>
                </a:ln>
                <a:solidFill>
                  <a:prstClr val="white"/>
                </a:solidFill>
                <a:effectLst/>
                <a:uLnTx/>
                <a:uFillTx/>
                <a:latin typeface="Arial" panose="020B0604020202020204"/>
                <a:ea typeface="+mn-ea"/>
                <a:cs typeface="+mn-cs"/>
              </a:rPr>
              <a:t>Bayesian</a:t>
            </a:r>
            <a:r>
              <a:rPr kumimoji="0" lang="de-CH" sz="1200" b="1"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b="1" i="1" u="none" strike="noStrike" kern="1200" cap="none" spc="0" normalizeH="0" baseline="0" noProof="0" dirty="0" err="1">
                <a:ln>
                  <a:noFill/>
                </a:ln>
                <a:solidFill>
                  <a:prstClr val="white"/>
                </a:solidFill>
                <a:effectLst/>
                <a:uLnTx/>
                <a:uFillTx/>
                <a:latin typeface="Arial" panose="020B0604020202020204"/>
                <a:ea typeface="+mn-ea"/>
                <a:cs typeface="+mn-cs"/>
              </a:rPr>
              <a:t>causal</a:t>
            </a:r>
            <a:r>
              <a:rPr kumimoji="0" lang="de-CH" sz="1200" b="1"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b="1" i="1" u="none" strike="noStrike" kern="1200" cap="none" spc="0" normalizeH="0" baseline="0" noProof="0" dirty="0" err="1">
                <a:ln>
                  <a:noFill/>
                </a:ln>
                <a:solidFill>
                  <a:prstClr val="white"/>
                </a:solidFill>
                <a:effectLst/>
                <a:uLnTx/>
                <a:uFillTx/>
                <a:latin typeface="Arial" panose="020B0604020202020204"/>
                <a:ea typeface="+mn-ea"/>
                <a:cs typeface="+mn-cs"/>
              </a:rPr>
              <a:t>forest</a:t>
            </a:r>
            <a:endParaRPr kumimoji="0" lang="de-CH" sz="1200" b="1" i="1" u="none" strike="noStrike" kern="1200" cap="none" spc="0" normalizeH="0" baseline="0" noProof="0" dirty="0">
              <a:ln>
                <a:noFill/>
              </a:ln>
              <a:solidFill>
                <a:prstClr val="white"/>
              </a:solidFill>
              <a:effectLst/>
              <a:uLnTx/>
              <a:uFillTx/>
              <a:latin typeface="Arial" panose="020B0604020202020204"/>
              <a:ea typeface="+mn-ea"/>
              <a:cs typeface="+mn-cs"/>
            </a:endParaRPr>
          </a:p>
          <a:p>
            <a:pPr marR="0" lvl="0" defTabSz="914400" rtl="0" eaLnBrk="1" fontAlgn="auto" latinLnBrk="0" hangingPunct="1">
              <a:lnSpc>
                <a:spcPct val="100000"/>
              </a:lnSpc>
              <a:spcBef>
                <a:spcPts val="0"/>
              </a:spcBef>
              <a:spcAft>
                <a:spcPts val="0"/>
              </a:spcAft>
              <a:buClrTx/>
              <a:buSzTx/>
              <a:tabLst/>
              <a:defRPr/>
            </a:pPr>
            <a:r>
              <a:rPr lang="de-CH" sz="1200" dirty="0">
                <a:solidFill>
                  <a:prstClr val="white"/>
                </a:solidFill>
                <a:latin typeface="Arial" panose="020B0604020202020204"/>
              </a:rPr>
              <a:t>III) </a:t>
            </a:r>
            <a:r>
              <a:rPr lang="de-CH" sz="1200" i="1" dirty="0" err="1">
                <a:solidFill>
                  <a:prstClr val="white"/>
                </a:solidFill>
                <a:latin typeface="Arial" panose="020B0604020202020204"/>
              </a:rPr>
              <a:t>Uniqueness</a:t>
            </a:r>
            <a:r>
              <a:rPr lang="de-CH" sz="1200" i="1" dirty="0">
                <a:solidFill>
                  <a:prstClr val="white"/>
                </a:solidFill>
                <a:latin typeface="Arial" panose="020B0604020202020204"/>
              </a:rPr>
              <a:t> </a:t>
            </a:r>
            <a:r>
              <a:rPr lang="de-CH" sz="1200" dirty="0" err="1">
                <a:solidFill>
                  <a:prstClr val="white"/>
                </a:solidFill>
                <a:latin typeface="Arial" panose="020B0604020202020204"/>
              </a:rPr>
              <a:t>of</a:t>
            </a:r>
            <a:r>
              <a:rPr lang="de-CH" sz="1200" dirty="0">
                <a:solidFill>
                  <a:prstClr val="white"/>
                </a:solidFill>
                <a:latin typeface="Arial" panose="020B0604020202020204"/>
              </a:rPr>
              <a:t> CML</a:t>
            </a:r>
          </a:p>
          <a:p>
            <a:pPr marR="0" lvl="0" defTabSz="914400" rtl="0" eaLnBrk="1" fontAlgn="auto" latinLnBrk="0" hangingPunct="1">
              <a:lnSpc>
                <a:spcPct val="100000"/>
              </a:lnSpc>
              <a:spcBef>
                <a:spcPts val="0"/>
              </a:spcBef>
              <a:spcAft>
                <a:spcPts val="0"/>
              </a:spcAft>
              <a:buClrTx/>
              <a:buSzTx/>
              <a:tabLst/>
              <a:defRPr/>
            </a:pPr>
            <a:r>
              <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rPr>
              <a:t>IV) </a:t>
            </a:r>
            <a:r>
              <a:rPr kumimoji="0" lang="de-CH" sz="1200" i="1" u="none" strike="noStrike" kern="1200" cap="none" spc="0" normalizeH="0" baseline="0" noProof="0" dirty="0" err="1">
                <a:ln>
                  <a:noFill/>
                </a:ln>
                <a:solidFill>
                  <a:prstClr val="white"/>
                </a:solidFill>
                <a:effectLst/>
                <a:uLnTx/>
                <a:uFillTx/>
                <a:latin typeface="Arial" panose="020B0604020202020204"/>
                <a:ea typeface="+mn-ea"/>
                <a:cs typeface="+mn-cs"/>
              </a:rPr>
              <a:t>Implications</a:t>
            </a:r>
            <a:r>
              <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u="none" strike="noStrike" kern="1200" cap="none" spc="0" normalizeH="0" baseline="0" noProof="0" dirty="0" err="1">
                <a:ln>
                  <a:noFill/>
                </a:ln>
                <a:solidFill>
                  <a:prstClr val="white"/>
                </a:solidFill>
                <a:effectLst/>
                <a:uLnTx/>
                <a:uFillTx/>
                <a:latin typeface="Arial" panose="020B0604020202020204"/>
                <a:ea typeface="+mn-ea"/>
                <a:cs typeface="+mn-cs"/>
              </a:rPr>
              <a:t>for</a:t>
            </a:r>
            <a:r>
              <a:rPr kumimoji="0" lang="de-CH" sz="120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u="none" strike="noStrike" kern="1200" cap="none" spc="0" normalizeH="0" baseline="0" noProof="0" dirty="0" err="1">
                <a:ln>
                  <a:noFill/>
                </a:ln>
                <a:solidFill>
                  <a:prstClr val="white"/>
                </a:solidFill>
                <a:effectLst/>
                <a:uLnTx/>
                <a:uFillTx/>
                <a:latin typeface="Arial" panose="020B0604020202020204"/>
                <a:ea typeface="+mn-ea"/>
                <a:cs typeface="+mn-cs"/>
              </a:rPr>
              <a:t>our</a:t>
            </a:r>
            <a:r>
              <a:rPr kumimoji="0" lang="de-CH" sz="120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u="none" strike="noStrike" kern="1200" cap="none" spc="0" normalizeH="0" baseline="0" noProof="0" dirty="0" err="1">
                <a:ln>
                  <a:noFill/>
                </a:ln>
                <a:solidFill>
                  <a:prstClr val="white"/>
                </a:solidFill>
                <a:effectLst/>
                <a:uLnTx/>
                <a:uFillTx/>
                <a:latin typeface="Arial" panose="020B0604020202020204"/>
                <a:ea typeface="+mn-ea"/>
                <a:cs typeface="+mn-cs"/>
              </a:rPr>
              <a:t>research</a:t>
            </a:r>
            <a:endParaRPr kumimoji="0" lang="de-CH" sz="120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6" name="Textfeld 5">
            <a:extLst>
              <a:ext uri="{FF2B5EF4-FFF2-40B4-BE49-F238E27FC236}">
                <a16:creationId xmlns:a16="http://schemas.microsoft.com/office/drawing/2014/main" id="{76B77028-8A20-4669-A766-39A73D17B18B}"/>
              </a:ext>
            </a:extLst>
          </p:cNvPr>
          <p:cNvSpPr txBox="1"/>
          <p:nvPr/>
        </p:nvSpPr>
        <p:spPr>
          <a:xfrm>
            <a:off x="269493" y="2946986"/>
            <a:ext cx="8397240" cy="1938992"/>
          </a:xfrm>
          <a:prstGeom prst="rect">
            <a:avLst/>
          </a:prstGeom>
          <a:noFill/>
        </p:spPr>
        <p:txBody>
          <a:bodyPr wrap="square" rtlCol="0">
            <a:spAutoFit/>
          </a:bodyPr>
          <a:lstStyle/>
          <a:p>
            <a:pPr marL="342900" indent="-342900">
              <a:buAutoNum type="arabicParenR"/>
            </a:pPr>
            <a:r>
              <a:rPr lang="de-DE" sz="2400" dirty="0">
                <a:solidFill>
                  <a:schemeClr val="bg1"/>
                </a:solidFill>
              </a:rPr>
              <a:t>Double/</a:t>
            </a:r>
            <a:r>
              <a:rPr lang="de-DE" sz="2400" dirty="0" err="1">
                <a:solidFill>
                  <a:schemeClr val="bg1"/>
                </a:solidFill>
              </a:rPr>
              <a:t>debiased</a:t>
            </a:r>
            <a:r>
              <a:rPr lang="de-DE" sz="2400" dirty="0">
                <a:solidFill>
                  <a:schemeClr val="bg1"/>
                </a:solidFill>
              </a:rPr>
              <a:t> ML (</a:t>
            </a:r>
            <a:r>
              <a:rPr lang="de-DE" sz="2400" dirty="0" err="1">
                <a:solidFill>
                  <a:schemeClr val="bg1"/>
                </a:solidFill>
              </a:rPr>
              <a:t>debiased</a:t>
            </a:r>
            <a:r>
              <a:rPr lang="de-DE" sz="2400" dirty="0">
                <a:solidFill>
                  <a:schemeClr val="bg1"/>
                </a:solidFill>
              </a:rPr>
              <a:t> &amp; </a:t>
            </a:r>
            <a:r>
              <a:rPr lang="de-DE" sz="2400" dirty="0" err="1">
                <a:solidFill>
                  <a:schemeClr val="bg1"/>
                </a:solidFill>
              </a:rPr>
              <a:t>uncertainty</a:t>
            </a:r>
            <a:r>
              <a:rPr lang="de-DE" sz="2400" dirty="0">
                <a:solidFill>
                  <a:schemeClr val="bg1"/>
                </a:solidFill>
              </a:rPr>
              <a:t>)</a:t>
            </a:r>
          </a:p>
          <a:p>
            <a:pPr marL="342900" indent="-342900">
              <a:buAutoNum type="arabicParenR"/>
            </a:pPr>
            <a:endParaRPr lang="de-DE" sz="2400" dirty="0">
              <a:solidFill>
                <a:schemeClr val="bg1"/>
              </a:solidFill>
            </a:endParaRPr>
          </a:p>
          <a:p>
            <a:pPr marL="342900" indent="-342900">
              <a:buAutoNum type="arabicParenR"/>
            </a:pPr>
            <a:r>
              <a:rPr lang="de-DE" sz="2400" dirty="0">
                <a:solidFill>
                  <a:schemeClr val="bg1"/>
                </a:solidFill>
              </a:rPr>
              <a:t>Treatment </a:t>
            </a:r>
            <a:r>
              <a:rPr lang="de-DE" sz="2400" dirty="0" err="1">
                <a:solidFill>
                  <a:schemeClr val="bg1"/>
                </a:solidFill>
              </a:rPr>
              <a:t>outcome</a:t>
            </a:r>
            <a:r>
              <a:rPr lang="de-DE" sz="2400" dirty="0">
                <a:solidFill>
                  <a:schemeClr val="bg1"/>
                </a:solidFill>
              </a:rPr>
              <a:t> </a:t>
            </a:r>
            <a:r>
              <a:rPr lang="de-DE" sz="2400" dirty="0" err="1">
                <a:solidFill>
                  <a:schemeClr val="bg1"/>
                </a:solidFill>
              </a:rPr>
              <a:t>prediction</a:t>
            </a:r>
            <a:r>
              <a:rPr lang="de-DE" sz="2400" dirty="0">
                <a:solidFill>
                  <a:schemeClr val="bg1"/>
                </a:solidFill>
              </a:rPr>
              <a:t> (</a:t>
            </a:r>
            <a:r>
              <a:rPr lang="de-DE" sz="2400" dirty="0" err="1">
                <a:solidFill>
                  <a:schemeClr val="bg1"/>
                </a:solidFill>
              </a:rPr>
              <a:t>treatment</a:t>
            </a:r>
            <a:r>
              <a:rPr lang="de-DE" sz="2400" dirty="0">
                <a:solidFill>
                  <a:schemeClr val="bg1"/>
                </a:solidFill>
              </a:rPr>
              <a:t> </a:t>
            </a:r>
            <a:r>
              <a:rPr lang="de-DE" sz="2400" dirty="0" err="1">
                <a:solidFill>
                  <a:schemeClr val="bg1"/>
                </a:solidFill>
              </a:rPr>
              <a:t>heterogeneity</a:t>
            </a:r>
            <a:r>
              <a:rPr lang="de-DE" sz="2400" dirty="0">
                <a:solidFill>
                  <a:schemeClr val="bg1"/>
                </a:solidFill>
              </a:rPr>
              <a:t>)</a:t>
            </a:r>
          </a:p>
          <a:p>
            <a:pPr marL="342900" indent="-342900">
              <a:buAutoNum type="arabicParenR"/>
            </a:pPr>
            <a:endParaRPr lang="de-DE" sz="2400" dirty="0">
              <a:solidFill>
                <a:schemeClr val="bg1"/>
              </a:solidFill>
            </a:endParaRPr>
          </a:p>
          <a:p>
            <a:pPr marL="342900" indent="-342900">
              <a:buAutoNum type="arabicParenR"/>
            </a:pPr>
            <a:r>
              <a:rPr lang="de-DE" sz="2400" dirty="0" err="1">
                <a:solidFill>
                  <a:schemeClr val="bg1"/>
                </a:solidFill>
              </a:rPr>
              <a:t>Causal</a:t>
            </a:r>
            <a:r>
              <a:rPr lang="de-DE" sz="2400" dirty="0">
                <a:solidFill>
                  <a:schemeClr val="bg1"/>
                </a:solidFill>
              </a:rPr>
              <a:t> </a:t>
            </a:r>
            <a:r>
              <a:rPr lang="de-DE" sz="2400" dirty="0" err="1">
                <a:solidFill>
                  <a:schemeClr val="bg1"/>
                </a:solidFill>
              </a:rPr>
              <a:t>discovery</a:t>
            </a:r>
            <a:r>
              <a:rPr lang="de-DE" sz="2400" dirty="0">
                <a:solidFill>
                  <a:schemeClr val="bg1"/>
                </a:solidFill>
              </a:rPr>
              <a:t> (</a:t>
            </a:r>
            <a:r>
              <a:rPr lang="de-DE" sz="2400" dirty="0" err="1">
                <a:solidFill>
                  <a:schemeClr val="bg1"/>
                </a:solidFill>
              </a:rPr>
              <a:t>data-driven</a:t>
            </a:r>
            <a:r>
              <a:rPr lang="de-DE" sz="2400" dirty="0">
                <a:solidFill>
                  <a:schemeClr val="bg1"/>
                </a:solidFill>
              </a:rPr>
              <a:t> </a:t>
            </a:r>
            <a:r>
              <a:rPr lang="de-DE" sz="2400" dirty="0" err="1">
                <a:solidFill>
                  <a:schemeClr val="bg1"/>
                </a:solidFill>
              </a:rPr>
              <a:t>causal</a:t>
            </a:r>
            <a:r>
              <a:rPr lang="de-DE" sz="2400" dirty="0">
                <a:solidFill>
                  <a:schemeClr val="bg1"/>
                </a:solidFill>
              </a:rPr>
              <a:t> </a:t>
            </a:r>
            <a:r>
              <a:rPr lang="de-DE" sz="2400" dirty="0" err="1">
                <a:solidFill>
                  <a:schemeClr val="bg1"/>
                </a:solidFill>
              </a:rPr>
              <a:t>learning</a:t>
            </a:r>
            <a:r>
              <a:rPr lang="de-DE" sz="2400" dirty="0">
                <a:solidFill>
                  <a:schemeClr val="bg1"/>
                </a:solidFill>
              </a:rPr>
              <a:t>)</a:t>
            </a:r>
          </a:p>
        </p:txBody>
      </p:sp>
      <p:sp>
        <p:nvSpPr>
          <p:cNvPr id="7" name="Textfeld 6">
            <a:extLst>
              <a:ext uri="{FF2B5EF4-FFF2-40B4-BE49-F238E27FC236}">
                <a16:creationId xmlns:a16="http://schemas.microsoft.com/office/drawing/2014/main" id="{F8E3FEDD-FFE2-4ABB-8437-1EEDC98BAAE9}"/>
              </a:ext>
            </a:extLst>
          </p:cNvPr>
          <p:cNvSpPr txBox="1"/>
          <p:nvPr/>
        </p:nvSpPr>
        <p:spPr>
          <a:xfrm>
            <a:off x="8595503" y="3685649"/>
            <a:ext cx="3525267" cy="461665"/>
          </a:xfrm>
          <a:prstGeom prst="rect">
            <a:avLst/>
          </a:prstGeom>
          <a:noFill/>
        </p:spPr>
        <p:txBody>
          <a:bodyPr wrap="square" rtlCol="0">
            <a:spAutoFit/>
          </a:bodyPr>
          <a:lstStyle/>
          <a:p>
            <a:r>
              <a:rPr lang="de-DE" sz="2400" dirty="0" err="1">
                <a:solidFill>
                  <a:schemeClr val="bg1"/>
                </a:solidFill>
              </a:rPr>
              <a:t>Bayesian</a:t>
            </a:r>
            <a:r>
              <a:rPr lang="de-DE" sz="2400" dirty="0">
                <a:solidFill>
                  <a:schemeClr val="bg1"/>
                </a:solidFill>
              </a:rPr>
              <a:t> </a:t>
            </a:r>
            <a:r>
              <a:rPr lang="de-DE" sz="2400" dirty="0" err="1">
                <a:solidFill>
                  <a:schemeClr val="bg1"/>
                </a:solidFill>
              </a:rPr>
              <a:t>causal</a:t>
            </a:r>
            <a:r>
              <a:rPr lang="de-DE" sz="2400" dirty="0">
                <a:solidFill>
                  <a:schemeClr val="bg1"/>
                </a:solidFill>
              </a:rPr>
              <a:t> </a:t>
            </a:r>
            <a:r>
              <a:rPr lang="de-DE" sz="2400" dirty="0" err="1">
                <a:solidFill>
                  <a:schemeClr val="bg1"/>
                </a:solidFill>
              </a:rPr>
              <a:t>forest</a:t>
            </a:r>
            <a:endParaRPr lang="de-DE" sz="2400" dirty="0">
              <a:solidFill>
                <a:schemeClr val="bg1"/>
              </a:solidFill>
            </a:endParaRPr>
          </a:p>
        </p:txBody>
      </p:sp>
      <p:cxnSp>
        <p:nvCxnSpPr>
          <p:cNvPr id="3" name="Gerade Verbindung mit Pfeil 2">
            <a:extLst>
              <a:ext uri="{FF2B5EF4-FFF2-40B4-BE49-F238E27FC236}">
                <a16:creationId xmlns:a16="http://schemas.microsoft.com/office/drawing/2014/main" id="{CE95E2A4-D251-4803-904F-1638FF36C240}"/>
              </a:ext>
            </a:extLst>
          </p:cNvPr>
          <p:cNvCxnSpPr>
            <a:cxnSpLocks/>
          </p:cNvCxnSpPr>
          <p:nvPr/>
        </p:nvCxnSpPr>
        <p:spPr>
          <a:xfrm flipH="1" flipV="1">
            <a:off x="7254241" y="3291840"/>
            <a:ext cx="1412492" cy="46166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Gerade Verbindung mit Pfeil 10">
            <a:extLst>
              <a:ext uri="{FF2B5EF4-FFF2-40B4-BE49-F238E27FC236}">
                <a16:creationId xmlns:a16="http://schemas.microsoft.com/office/drawing/2014/main" id="{5778649F-2584-4F29-AD87-74156C9ED868}"/>
              </a:ext>
            </a:extLst>
          </p:cNvPr>
          <p:cNvCxnSpPr>
            <a:cxnSpLocks/>
          </p:cNvCxnSpPr>
          <p:nvPr/>
        </p:nvCxnSpPr>
        <p:spPr>
          <a:xfrm flipH="1">
            <a:off x="7320280" y="4147314"/>
            <a:ext cx="1346453" cy="45516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Gerade Verbindung mit Pfeil 14">
            <a:extLst>
              <a:ext uri="{FF2B5EF4-FFF2-40B4-BE49-F238E27FC236}">
                <a16:creationId xmlns:a16="http://schemas.microsoft.com/office/drawing/2014/main" id="{6973066D-1EA1-4C67-9ABC-1ABA615404B5}"/>
              </a:ext>
            </a:extLst>
          </p:cNvPr>
          <p:cNvCxnSpPr>
            <a:cxnSpLocks/>
            <a:stCxn id="7" idx="1"/>
          </p:cNvCxnSpPr>
          <p:nvPr/>
        </p:nvCxnSpPr>
        <p:spPr>
          <a:xfrm flipH="1">
            <a:off x="8275320" y="3916482"/>
            <a:ext cx="320183"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1" name="Textfeld 20">
            <a:extLst>
              <a:ext uri="{FF2B5EF4-FFF2-40B4-BE49-F238E27FC236}">
                <a16:creationId xmlns:a16="http://schemas.microsoft.com/office/drawing/2014/main" id="{F3472F81-868E-4020-8BFC-91239804D8D4}"/>
              </a:ext>
            </a:extLst>
          </p:cNvPr>
          <p:cNvSpPr txBox="1"/>
          <p:nvPr/>
        </p:nvSpPr>
        <p:spPr>
          <a:xfrm>
            <a:off x="7931372" y="4308896"/>
            <a:ext cx="400410" cy="461665"/>
          </a:xfrm>
          <a:prstGeom prst="rect">
            <a:avLst/>
          </a:prstGeom>
          <a:noFill/>
        </p:spPr>
        <p:txBody>
          <a:bodyPr wrap="square" rtlCol="0">
            <a:spAutoFit/>
          </a:bodyPr>
          <a:lstStyle/>
          <a:p>
            <a:r>
              <a:rPr lang="de-DE" sz="2400" dirty="0">
                <a:solidFill>
                  <a:schemeClr val="bg1"/>
                </a:solidFill>
              </a:rPr>
              <a:t>?</a:t>
            </a:r>
          </a:p>
        </p:txBody>
      </p:sp>
      <p:sp>
        <p:nvSpPr>
          <p:cNvPr id="22" name="Textfeld 21">
            <a:extLst>
              <a:ext uri="{FF2B5EF4-FFF2-40B4-BE49-F238E27FC236}">
                <a16:creationId xmlns:a16="http://schemas.microsoft.com/office/drawing/2014/main" id="{CC2A90C5-48A0-4275-97C9-2CEC7CD63F34}"/>
              </a:ext>
            </a:extLst>
          </p:cNvPr>
          <p:cNvSpPr txBox="1"/>
          <p:nvPr/>
        </p:nvSpPr>
        <p:spPr>
          <a:xfrm>
            <a:off x="7931372" y="3176423"/>
            <a:ext cx="400410" cy="461665"/>
          </a:xfrm>
          <a:prstGeom prst="rect">
            <a:avLst/>
          </a:prstGeom>
          <a:noFill/>
        </p:spPr>
        <p:txBody>
          <a:bodyPr wrap="square" rtlCol="0">
            <a:spAutoFit/>
          </a:bodyPr>
          <a:lstStyle/>
          <a:p>
            <a:r>
              <a:rPr lang="de-DE" sz="2400" dirty="0">
                <a:solidFill>
                  <a:schemeClr val="bg1"/>
                </a:solidFill>
              </a:rPr>
              <a:t>?</a:t>
            </a:r>
          </a:p>
        </p:txBody>
      </p:sp>
      <p:pic>
        <p:nvPicPr>
          <p:cNvPr id="12" name="Grafik 11">
            <a:extLst>
              <a:ext uri="{FF2B5EF4-FFF2-40B4-BE49-F238E27FC236}">
                <a16:creationId xmlns:a16="http://schemas.microsoft.com/office/drawing/2014/main" id="{26BDEDD6-4221-4C28-A486-565EFBB6A391}"/>
              </a:ext>
            </a:extLst>
          </p:cNvPr>
          <p:cNvPicPr>
            <a:picLocks noChangeAspect="1"/>
          </p:cNvPicPr>
          <p:nvPr/>
        </p:nvPicPr>
        <p:blipFill>
          <a:blip r:embed="rId3"/>
          <a:stretch>
            <a:fillRect/>
          </a:stretch>
        </p:blipFill>
        <p:spPr bwMode="auto">
          <a:xfrm>
            <a:off x="238277" y="392688"/>
            <a:ext cx="3294908" cy="1771391"/>
          </a:xfrm>
          <a:prstGeom prst="rect">
            <a:avLst/>
          </a:prstGeom>
        </p:spPr>
      </p:pic>
      <p:cxnSp>
        <p:nvCxnSpPr>
          <p:cNvPr id="5" name="Gerader Verbinder 4">
            <a:extLst>
              <a:ext uri="{FF2B5EF4-FFF2-40B4-BE49-F238E27FC236}">
                <a16:creationId xmlns:a16="http://schemas.microsoft.com/office/drawing/2014/main" id="{D75FD223-7704-4C8C-BCD1-2BB2E094EE19}"/>
              </a:ext>
            </a:extLst>
          </p:cNvPr>
          <p:cNvCxnSpPr/>
          <p:nvPr/>
        </p:nvCxnSpPr>
        <p:spPr>
          <a:xfrm>
            <a:off x="548640" y="1375410"/>
            <a:ext cx="316230" cy="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9574BEE6-3942-42C0-8BF5-71E36FDC61FC}"/>
              </a:ext>
            </a:extLst>
          </p:cNvPr>
          <p:cNvCxnSpPr>
            <a:cxnSpLocks/>
          </p:cNvCxnSpPr>
          <p:nvPr/>
        </p:nvCxnSpPr>
        <p:spPr>
          <a:xfrm>
            <a:off x="2827020" y="1360170"/>
            <a:ext cx="655320" cy="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D53B5630-93CE-478B-93A3-13C99D709013}"/>
              </a:ext>
            </a:extLst>
          </p:cNvPr>
          <p:cNvCxnSpPr>
            <a:cxnSpLocks/>
          </p:cNvCxnSpPr>
          <p:nvPr/>
        </p:nvCxnSpPr>
        <p:spPr>
          <a:xfrm flipV="1">
            <a:off x="628650" y="2030730"/>
            <a:ext cx="2045970" cy="2667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974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 name="Rechteck 3">
            <a:extLst>
              <a:ext uri="{FF2B5EF4-FFF2-40B4-BE49-F238E27FC236}">
                <a16:creationId xmlns:a16="http://schemas.microsoft.com/office/drawing/2014/main" id="{7524DA9A-46A3-4912-BF4E-032E888E93B0}"/>
              </a:ext>
            </a:extLst>
          </p:cNvPr>
          <p:cNvSpPr/>
          <p:nvPr/>
        </p:nvSpPr>
        <p:spPr>
          <a:xfrm>
            <a:off x="119336" y="585247"/>
            <a:ext cx="11953328" cy="56166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pic>
        <p:nvPicPr>
          <p:cNvPr id="2" name="Grafik 1">
            <a:extLst>
              <a:ext uri="{FF2B5EF4-FFF2-40B4-BE49-F238E27FC236}">
                <a16:creationId xmlns:a16="http://schemas.microsoft.com/office/drawing/2014/main" id="{B56464A0-342D-4D87-B5D6-11B1D44D8C40}"/>
              </a:ext>
            </a:extLst>
          </p:cNvPr>
          <p:cNvPicPr>
            <a:picLocks noChangeAspect="1"/>
          </p:cNvPicPr>
          <p:nvPr/>
        </p:nvPicPr>
        <p:blipFill>
          <a:blip r:embed="rId3"/>
          <a:stretch>
            <a:fillRect/>
          </a:stretch>
        </p:blipFill>
        <p:spPr>
          <a:xfrm>
            <a:off x="207182" y="793461"/>
            <a:ext cx="2988482" cy="1435834"/>
          </a:xfrm>
          <a:prstGeom prst="rect">
            <a:avLst/>
          </a:prstGeom>
        </p:spPr>
      </p:pic>
      <p:cxnSp>
        <p:nvCxnSpPr>
          <p:cNvPr id="13" name="Gerade Verbindung mit Pfeil 12">
            <a:extLst>
              <a:ext uri="{FF2B5EF4-FFF2-40B4-BE49-F238E27FC236}">
                <a16:creationId xmlns:a16="http://schemas.microsoft.com/office/drawing/2014/main" id="{89786B7B-C2C7-4FED-A096-A9A5D478191A}"/>
              </a:ext>
            </a:extLst>
          </p:cNvPr>
          <p:cNvCxnSpPr>
            <a:cxnSpLocks/>
          </p:cNvCxnSpPr>
          <p:nvPr/>
        </p:nvCxnSpPr>
        <p:spPr>
          <a:xfrm flipV="1">
            <a:off x="2075543" y="3237051"/>
            <a:ext cx="0" cy="5601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feld 18">
            <a:extLst>
              <a:ext uri="{FF2B5EF4-FFF2-40B4-BE49-F238E27FC236}">
                <a16:creationId xmlns:a16="http://schemas.microsoft.com/office/drawing/2014/main" id="{1DB05A2F-2DD7-489B-B316-9D10D9CC53CC}"/>
              </a:ext>
            </a:extLst>
          </p:cNvPr>
          <p:cNvSpPr txBox="1"/>
          <p:nvPr/>
        </p:nvSpPr>
        <p:spPr>
          <a:xfrm>
            <a:off x="881001" y="3651007"/>
            <a:ext cx="2389084" cy="1477328"/>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a:t>
            </a:r>
            <a:r>
              <a:rPr lang="de-DE" dirty="0" err="1">
                <a:latin typeface="Arial" panose="020B0604020202020204" pitchFamily="34" charset="0"/>
                <a:cs typeface="Arial" panose="020B0604020202020204" pitchFamily="34" charset="0"/>
              </a:rPr>
              <a:t>Intercept</a:t>
            </a:r>
            <a:r>
              <a:rPr lang="de-DE" dirty="0">
                <a:latin typeface="Arial" panose="020B0604020202020204" pitchFamily="34" charset="0"/>
                <a:cs typeface="Arial" panose="020B0604020202020204" pitchFamily="34" charset="0"/>
              </a:rPr>
              <a:t>“ (but </a:t>
            </a:r>
            <a:r>
              <a:rPr lang="de-DE" dirty="0" err="1">
                <a:latin typeface="Arial" panose="020B0604020202020204" pitchFamily="34" charset="0"/>
                <a:cs typeface="Arial" panose="020B0604020202020204" pitchFamily="34" charset="0"/>
              </a:rPr>
              <a:t>uses</a:t>
            </a:r>
            <a:r>
              <a:rPr lang="de-DE" dirty="0">
                <a:latin typeface="Arial" panose="020B0604020202020204" pitchFamily="34" charset="0"/>
                <a:cs typeface="Arial" panose="020B0604020202020204" pitchFamily="34" charset="0"/>
              </a:rPr>
              <a:t> all </a:t>
            </a:r>
            <a:r>
              <a:rPr lang="de-DE" dirty="0" err="1">
                <a:latin typeface="Arial" panose="020B0604020202020204" pitchFamily="34" charset="0"/>
                <a:cs typeface="Arial" panose="020B0604020202020204" pitchFamily="34" charset="0"/>
              </a:rPr>
              <a:t>data</a:t>
            </a:r>
            <a:r>
              <a:rPr lang="de-DE" dirty="0">
                <a:latin typeface="Arial" panose="020B0604020202020204" pitchFamily="34" charset="0"/>
                <a:cs typeface="Arial" panose="020B0604020202020204" pitchFamily="34" charset="0"/>
              </a:rPr>
              <a:t>):</a:t>
            </a:r>
          </a:p>
          <a:p>
            <a:r>
              <a:rPr lang="de-DE" dirty="0">
                <a:latin typeface="Arial" panose="020B0604020202020204" pitchFamily="34" charset="0"/>
                <a:cs typeface="Arial" panose="020B0604020202020204" pitchFamily="34" charset="0"/>
              </a:rPr>
              <a:t>Baseline </a:t>
            </a:r>
            <a:r>
              <a:rPr lang="de-DE" dirty="0" err="1">
                <a:latin typeface="Arial" panose="020B0604020202020204" pitchFamily="34" charset="0"/>
                <a:cs typeface="Arial" panose="020B0604020202020204" pitchFamily="34" charset="0"/>
              </a:rPr>
              <a:t>outcome</a:t>
            </a:r>
            <a:r>
              <a:rPr lang="de-DE" dirty="0">
                <a:latin typeface="Arial" panose="020B0604020202020204" pitchFamily="34" charset="0"/>
                <a:cs typeface="Arial" panose="020B0604020202020204" pitchFamily="34" charset="0"/>
              </a:rPr>
              <a:t> </a:t>
            </a:r>
            <a:r>
              <a:rPr lang="de-DE" dirty="0" err="1">
                <a:latin typeface="Arial" panose="020B0604020202020204" pitchFamily="34" charset="0"/>
                <a:cs typeface="Arial" panose="020B0604020202020204" pitchFamily="34" charset="0"/>
              </a:rPr>
              <a:t>surface</a:t>
            </a:r>
            <a:r>
              <a:rPr lang="de-DE" dirty="0">
                <a:latin typeface="Arial" panose="020B0604020202020204" pitchFamily="34" charset="0"/>
                <a:cs typeface="Arial" panose="020B0604020202020204" pitchFamily="34" charset="0"/>
              </a:rPr>
              <a:t> </a:t>
            </a:r>
            <a:r>
              <a:rPr lang="de-DE" dirty="0" err="1">
                <a:latin typeface="Arial" panose="020B0604020202020204" pitchFamily="34" charset="0"/>
                <a:cs typeface="Arial" panose="020B0604020202020204" pitchFamily="34" charset="0"/>
              </a:rPr>
              <a:t>given</a:t>
            </a:r>
            <a:r>
              <a:rPr lang="de-DE" dirty="0">
                <a:latin typeface="Arial" panose="020B0604020202020204" pitchFamily="34" charset="0"/>
                <a:cs typeface="Arial" panose="020B0604020202020204" pitchFamily="34" charset="0"/>
              </a:rPr>
              <a:t> </a:t>
            </a:r>
            <a:r>
              <a:rPr lang="de-DE" dirty="0" err="1">
                <a:latin typeface="Arial" panose="020B0604020202020204" pitchFamily="34" charset="0"/>
                <a:cs typeface="Arial" panose="020B0604020202020204" pitchFamily="34" charset="0"/>
              </a:rPr>
              <a:t>covariates</a:t>
            </a:r>
            <a:endParaRPr lang="de-DE" dirty="0">
              <a:latin typeface="Arial" panose="020B0604020202020204" pitchFamily="34" charset="0"/>
              <a:cs typeface="Arial" panose="020B0604020202020204" pitchFamily="34" charset="0"/>
            </a:endParaRPr>
          </a:p>
        </p:txBody>
      </p:sp>
      <p:cxnSp>
        <p:nvCxnSpPr>
          <p:cNvPr id="27" name="Gerade Verbindung mit Pfeil 26">
            <a:extLst>
              <a:ext uri="{FF2B5EF4-FFF2-40B4-BE49-F238E27FC236}">
                <a16:creationId xmlns:a16="http://schemas.microsoft.com/office/drawing/2014/main" id="{1451A018-6E9F-4E0E-B4FB-D9FFD77A9CCD}"/>
              </a:ext>
            </a:extLst>
          </p:cNvPr>
          <p:cNvCxnSpPr>
            <a:cxnSpLocks/>
            <a:stCxn id="22" idx="1"/>
          </p:cNvCxnSpPr>
          <p:nvPr/>
        </p:nvCxnSpPr>
        <p:spPr bwMode="auto">
          <a:xfrm flipH="1" flipV="1">
            <a:off x="6499858" y="4279392"/>
            <a:ext cx="350546" cy="104856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Abgerundetes Rechteck 41">
            <a:extLst>
              <a:ext uri="{FF2B5EF4-FFF2-40B4-BE49-F238E27FC236}">
                <a16:creationId xmlns:a16="http://schemas.microsoft.com/office/drawing/2014/main" id="{2846C80A-C560-48BE-A8FF-2B9AA7CD0516}"/>
              </a:ext>
            </a:extLst>
          </p:cNvPr>
          <p:cNvSpPr/>
          <p:nvPr/>
        </p:nvSpPr>
        <p:spPr>
          <a:xfrm>
            <a:off x="4027242" y="716109"/>
            <a:ext cx="4137515" cy="145662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CH" sz="3200" b="1" dirty="0">
                <a:solidFill>
                  <a:schemeClr val="tx1"/>
                </a:solidFill>
                <a:latin typeface="Arial" panose="020B0604020202020204"/>
              </a:rPr>
              <a:t>II) The </a:t>
            </a:r>
            <a:r>
              <a:rPr lang="de-CH" sz="3200" b="1" i="1" dirty="0" err="1">
                <a:solidFill>
                  <a:schemeClr val="tx1"/>
                </a:solidFill>
                <a:latin typeface="Arial" panose="020B0604020202020204"/>
              </a:rPr>
              <a:t>Bayesian</a:t>
            </a:r>
            <a:r>
              <a:rPr lang="de-CH" sz="3200" b="1" i="1" dirty="0">
                <a:solidFill>
                  <a:schemeClr val="tx1"/>
                </a:solidFill>
                <a:latin typeface="Arial" panose="020B0604020202020204"/>
              </a:rPr>
              <a:t> </a:t>
            </a:r>
            <a:r>
              <a:rPr lang="de-CH" sz="3200" b="1" i="1" dirty="0" err="1">
                <a:solidFill>
                  <a:schemeClr val="tx1"/>
                </a:solidFill>
                <a:latin typeface="Arial" panose="020B0604020202020204"/>
              </a:rPr>
              <a:t>causal</a:t>
            </a:r>
            <a:r>
              <a:rPr lang="de-CH" sz="3200" b="1" i="1" dirty="0">
                <a:solidFill>
                  <a:schemeClr val="tx1"/>
                </a:solidFill>
                <a:latin typeface="Arial" panose="020B0604020202020204"/>
              </a:rPr>
              <a:t> </a:t>
            </a:r>
            <a:r>
              <a:rPr lang="de-CH" sz="3200" b="1" i="1" dirty="0" err="1">
                <a:solidFill>
                  <a:schemeClr val="tx1"/>
                </a:solidFill>
                <a:latin typeface="Arial" panose="020B0604020202020204"/>
              </a:rPr>
              <a:t>forest</a:t>
            </a:r>
            <a:endParaRPr kumimoji="0" lang="en-US" sz="3200" b="1" i="1" u="none" strike="noStrike" kern="1200" cap="none" spc="0" normalizeH="0" baseline="0" noProof="0" dirty="0">
              <a:ln>
                <a:noFill/>
              </a:ln>
              <a:solidFill>
                <a:schemeClr val="tx1"/>
              </a:solidFill>
              <a:effectLst/>
              <a:uLnTx/>
              <a:uFillTx/>
              <a:latin typeface="Arial" panose="020B0604020202020204"/>
            </a:endParaRPr>
          </a:p>
        </p:txBody>
      </p:sp>
      <p:sp>
        <p:nvSpPr>
          <p:cNvPr id="21" name="Textfeld 20">
            <a:extLst>
              <a:ext uri="{FF2B5EF4-FFF2-40B4-BE49-F238E27FC236}">
                <a16:creationId xmlns:a16="http://schemas.microsoft.com/office/drawing/2014/main" id="{B5C93621-CA49-4C8B-8740-693B61725A11}"/>
              </a:ext>
            </a:extLst>
          </p:cNvPr>
          <p:cNvSpPr txBox="1"/>
          <p:nvPr/>
        </p:nvSpPr>
        <p:spPr bwMode="auto">
          <a:xfrm>
            <a:off x="3303060" y="3817727"/>
            <a:ext cx="2389084" cy="1200329"/>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Mu and tau </a:t>
            </a:r>
            <a:r>
              <a:rPr lang="de-DE" dirty="0" err="1">
                <a:latin typeface="Arial" panose="020B0604020202020204" pitchFamily="34" charset="0"/>
                <a:cs typeface="Arial" panose="020B0604020202020204" pitchFamily="34" charset="0"/>
              </a:rPr>
              <a:t>are</a:t>
            </a:r>
            <a:r>
              <a:rPr lang="de-DE" dirty="0">
                <a:latin typeface="Arial" panose="020B0604020202020204" pitchFamily="34" charset="0"/>
                <a:cs typeface="Arial" panose="020B0604020202020204" pitchFamily="34" charset="0"/>
              </a:rPr>
              <a:t> </a:t>
            </a:r>
            <a:r>
              <a:rPr lang="de-DE" dirty="0" err="1">
                <a:latin typeface="Arial" panose="020B0604020202020204" pitchFamily="34" charset="0"/>
                <a:cs typeface="Arial" panose="020B0604020202020204" pitchFamily="34" charset="0"/>
              </a:rPr>
              <a:t>functions</a:t>
            </a:r>
            <a:r>
              <a:rPr lang="de-DE" dirty="0">
                <a:latin typeface="Arial" panose="020B0604020202020204" pitchFamily="34" charset="0"/>
                <a:cs typeface="Arial" panose="020B0604020202020204" pitchFamily="34" charset="0"/>
              </a:rPr>
              <a:t>:</a:t>
            </a:r>
          </a:p>
          <a:p>
            <a:r>
              <a:rPr lang="de-DE" dirty="0" err="1">
                <a:latin typeface="Arial" panose="020B0604020202020204" pitchFamily="34" charset="0"/>
                <a:cs typeface="Arial" panose="020B0604020202020204" pitchFamily="34" charset="0"/>
              </a:rPr>
              <a:t>Bayesian</a:t>
            </a:r>
            <a:r>
              <a:rPr lang="de-DE" dirty="0">
                <a:latin typeface="Arial" panose="020B0604020202020204" pitchFamily="34" charset="0"/>
                <a:cs typeface="Arial" panose="020B0604020202020204" pitchFamily="34" charset="0"/>
              </a:rPr>
              <a:t> additive </a:t>
            </a:r>
            <a:r>
              <a:rPr lang="de-DE" dirty="0" err="1">
                <a:latin typeface="Arial" panose="020B0604020202020204" pitchFamily="34" charset="0"/>
                <a:cs typeface="Arial" panose="020B0604020202020204" pitchFamily="34" charset="0"/>
              </a:rPr>
              <a:t>regression</a:t>
            </a:r>
            <a:r>
              <a:rPr lang="de-DE" dirty="0">
                <a:latin typeface="Arial" panose="020B0604020202020204" pitchFamily="34" charset="0"/>
                <a:cs typeface="Arial" panose="020B0604020202020204" pitchFamily="34" charset="0"/>
              </a:rPr>
              <a:t> </a:t>
            </a:r>
            <a:r>
              <a:rPr lang="de-DE" dirty="0" err="1">
                <a:latin typeface="Arial" panose="020B0604020202020204" pitchFamily="34" charset="0"/>
                <a:cs typeface="Arial" panose="020B0604020202020204" pitchFamily="34" charset="0"/>
              </a:rPr>
              <a:t>trees</a:t>
            </a:r>
            <a:r>
              <a:rPr lang="de-DE" dirty="0">
                <a:latin typeface="Arial" panose="020B0604020202020204" pitchFamily="34" charset="0"/>
                <a:cs typeface="Arial" panose="020B0604020202020204" pitchFamily="34" charset="0"/>
              </a:rPr>
              <a:t>	</a:t>
            </a:r>
          </a:p>
        </p:txBody>
      </p:sp>
      <p:pic>
        <p:nvPicPr>
          <p:cNvPr id="8" name="Grafik 7">
            <a:extLst>
              <a:ext uri="{FF2B5EF4-FFF2-40B4-BE49-F238E27FC236}">
                <a16:creationId xmlns:a16="http://schemas.microsoft.com/office/drawing/2014/main" id="{7844CF36-7931-4286-8627-8B2899DD4955}"/>
              </a:ext>
            </a:extLst>
          </p:cNvPr>
          <p:cNvPicPr>
            <a:picLocks noChangeAspect="1"/>
          </p:cNvPicPr>
          <p:nvPr/>
        </p:nvPicPr>
        <p:blipFill>
          <a:blip r:embed="rId4"/>
          <a:stretch>
            <a:fillRect/>
          </a:stretch>
        </p:blipFill>
        <p:spPr>
          <a:xfrm>
            <a:off x="5692144" y="2271576"/>
            <a:ext cx="5852156" cy="1975549"/>
          </a:xfrm>
          <a:prstGeom prst="rect">
            <a:avLst/>
          </a:prstGeom>
        </p:spPr>
      </p:pic>
      <p:sp>
        <p:nvSpPr>
          <p:cNvPr id="22" name="Textfeld 21">
            <a:extLst>
              <a:ext uri="{FF2B5EF4-FFF2-40B4-BE49-F238E27FC236}">
                <a16:creationId xmlns:a16="http://schemas.microsoft.com/office/drawing/2014/main" id="{9C6C5B86-9B48-40E8-8725-0D962E0CF406}"/>
              </a:ext>
            </a:extLst>
          </p:cNvPr>
          <p:cNvSpPr txBox="1"/>
          <p:nvPr/>
        </p:nvSpPr>
        <p:spPr bwMode="auto">
          <a:xfrm>
            <a:off x="6850404" y="4866294"/>
            <a:ext cx="3885140" cy="923330"/>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Many such </a:t>
            </a:r>
            <a:r>
              <a:rPr lang="de-DE" dirty="0" err="1">
                <a:latin typeface="Arial" panose="020B0604020202020204" pitchFamily="34" charset="0"/>
                <a:cs typeface="Arial" panose="020B0604020202020204" pitchFamily="34" charset="0"/>
              </a:rPr>
              <a:t>trees</a:t>
            </a:r>
            <a:r>
              <a:rPr lang="de-DE" dirty="0">
                <a:latin typeface="Arial" panose="020B0604020202020204" pitchFamily="34" charset="0"/>
                <a:cs typeface="Arial" panose="020B0604020202020204" pitchFamily="34" charset="0"/>
              </a:rPr>
              <a:t>, </a:t>
            </a:r>
            <a:r>
              <a:rPr lang="de-DE" dirty="0" err="1">
                <a:latin typeface="Arial" panose="020B0604020202020204" pitchFamily="34" charset="0"/>
                <a:cs typeface="Arial" panose="020B0604020202020204" pitchFamily="34" charset="0"/>
              </a:rPr>
              <a:t>each</a:t>
            </a:r>
            <a:r>
              <a:rPr lang="de-DE" dirty="0">
                <a:latin typeface="Arial" panose="020B0604020202020204" pitchFamily="34" charset="0"/>
                <a:cs typeface="Arial" panose="020B0604020202020204" pitchFamily="34" charset="0"/>
              </a:rPr>
              <a:t> </a:t>
            </a:r>
            <a:r>
              <a:rPr lang="de-DE" dirty="0" err="1">
                <a:latin typeface="Arial" panose="020B0604020202020204" pitchFamily="34" charset="0"/>
                <a:cs typeface="Arial" panose="020B0604020202020204" pitchFamily="34" charset="0"/>
              </a:rPr>
              <a:t>with</a:t>
            </a:r>
            <a:r>
              <a:rPr lang="de-DE" dirty="0">
                <a:latin typeface="Arial" panose="020B0604020202020204" pitchFamily="34" charset="0"/>
                <a:cs typeface="Arial" panose="020B0604020202020204" pitchFamily="34" charset="0"/>
              </a:rPr>
              <a:t> </a:t>
            </a:r>
            <a:r>
              <a:rPr lang="de-DE" dirty="0" err="1">
                <a:latin typeface="Arial" panose="020B0604020202020204" pitchFamily="34" charset="0"/>
                <a:cs typeface="Arial" panose="020B0604020202020204" pitchFamily="34" charset="0"/>
              </a:rPr>
              <a:t>little</a:t>
            </a:r>
            <a:r>
              <a:rPr lang="de-DE" dirty="0">
                <a:latin typeface="Arial" panose="020B0604020202020204" pitchFamily="34" charset="0"/>
                <a:cs typeface="Arial" panose="020B0604020202020204" pitchFamily="34" charset="0"/>
              </a:rPr>
              <a:t> </a:t>
            </a:r>
            <a:r>
              <a:rPr lang="de-DE" dirty="0" err="1">
                <a:latin typeface="Arial" panose="020B0604020202020204" pitchFamily="34" charset="0"/>
                <a:cs typeface="Arial" panose="020B0604020202020204" pitchFamily="34" charset="0"/>
              </a:rPr>
              <a:t>predictive</a:t>
            </a:r>
            <a:r>
              <a:rPr lang="de-DE" dirty="0">
                <a:latin typeface="Arial" panose="020B0604020202020204" pitchFamily="34" charset="0"/>
                <a:cs typeface="Arial" panose="020B0604020202020204" pitchFamily="34" charset="0"/>
              </a:rPr>
              <a:t> power, </a:t>
            </a:r>
            <a:r>
              <a:rPr lang="de-DE" dirty="0" err="1">
                <a:latin typeface="Arial" panose="020B0604020202020204" pitchFamily="34" charset="0"/>
                <a:cs typeface="Arial" panose="020B0604020202020204" pitchFamily="34" charset="0"/>
              </a:rPr>
              <a:t>are</a:t>
            </a:r>
            <a:r>
              <a:rPr lang="de-DE" dirty="0">
                <a:latin typeface="Arial" panose="020B0604020202020204" pitchFamily="34" charset="0"/>
                <a:cs typeface="Arial" panose="020B0604020202020204" pitchFamily="34" charset="0"/>
              </a:rPr>
              <a:t> </a:t>
            </a:r>
            <a:r>
              <a:rPr lang="de-DE" dirty="0" err="1">
                <a:latin typeface="Arial" panose="020B0604020202020204" pitchFamily="34" charset="0"/>
                <a:cs typeface="Arial" panose="020B0604020202020204" pitchFamily="34" charset="0"/>
              </a:rPr>
              <a:t>added</a:t>
            </a:r>
            <a:r>
              <a:rPr lang="de-DE" dirty="0">
                <a:latin typeface="Arial" panose="020B0604020202020204" pitchFamily="34" charset="0"/>
                <a:cs typeface="Arial" panose="020B0604020202020204" pitchFamily="34" charset="0"/>
              </a:rPr>
              <a:t> </a:t>
            </a:r>
            <a:r>
              <a:rPr lang="de-DE" dirty="0" err="1">
                <a:latin typeface="Arial" panose="020B0604020202020204" pitchFamily="34" charset="0"/>
                <a:cs typeface="Arial" panose="020B0604020202020204" pitchFamily="34" charset="0"/>
              </a:rPr>
              <a:t>up</a:t>
            </a:r>
            <a:r>
              <a:rPr lang="de-DE" dirty="0">
                <a:latin typeface="Arial" panose="020B0604020202020204" pitchFamily="34" charset="0"/>
                <a:cs typeface="Arial" panose="020B0604020202020204" pitchFamily="34" charset="0"/>
              </a:rPr>
              <a:t> </a:t>
            </a:r>
            <a:r>
              <a:rPr lang="de-DE" dirty="0" err="1">
                <a:latin typeface="Arial" panose="020B0604020202020204" pitchFamily="34" charset="0"/>
                <a:cs typeface="Arial" panose="020B0604020202020204" pitchFamily="34" charset="0"/>
              </a:rPr>
              <a:t>for</a:t>
            </a:r>
            <a:r>
              <a:rPr lang="de-DE" dirty="0">
                <a:latin typeface="Arial" panose="020B0604020202020204" pitchFamily="34" charset="0"/>
                <a:cs typeface="Arial" panose="020B0604020202020204" pitchFamily="34" charset="0"/>
              </a:rPr>
              <a:t> </a:t>
            </a:r>
            <a:r>
              <a:rPr lang="de-DE" i="1" dirty="0" err="1">
                <a:latin typeface="Arial" panose="020B0604020202020204" pitchFamily="34" charset="0"/>
                <a:cs typeface="Arial" panose="020B0604020202020204" pitchFamily="34" charset="0"/>
              </a:rPr>
              <a:t>awesome</a:t>
            </a:r>
            <a:r>
              <a:rPr lang="de-DE" i="1" dirty="0">
                <a:latin typeface="Arial" panose="020B0604020202020204" pitchFamily="34" charset="0"/>
                <a:cs typeface="Arial" panose="020B0604020202020204" pitchFamily="34" charset="0"/>
              </a:rPr>
              <a:t> </a:t>
            </a:r>
            <a:r>
              <a:rPr lang="de-DE" i="1" dirty="0" err="1">
                <a:latin typeface="Arial" panose="020B0604020202020204" pitchFamily="34" charset="0"/>
                <a:cs typeface="Arial" panose="020B0604020202020204" pitchFamily="34" charset="0"/>
              </a:rPr>
              <a:t>predictive</a:t>
            </a:r>
            <a:r>
              <a:rPr lang="de-DE" i="1" dirty="0">
                <a:latin typeface="Arial" panose="020B0604020202020204" pitchFamily="34" charset="0"/>
                <a:cs typeface="Arial" panose="020B0604020202020204" pitchFamily="34" charset="0"/>
              </a:rPr>
              <a:t> power</a:t>
            </a:r>
          </a:p>
        </p:txBody>
      </p:sp>
      <p:cxnSp>
        <p:nvCxnSpPr>
          <p:cNvPr id="23" name="Gerade Verbindung mit Pfeil 22">
            <a:extLst>
              <a:ext uri="{FF2B5EF4-FFF2-40B4-BE49-F238E27FC236}">
                <a16:creationId xmlns:a16="http://schemas.microsoft.com/office/drawing/2014/main" id="{B0E537C9-B9A3-4AA8-A98F-38C7A786DA39}"/>
              </a:ext>
            </a:extLst>
          </p:cNvPr>
          <p:cNvCxnSpPr>
            <a:cxnSpLocks/>
          </p:cNvCxnSpPr>
          <p:nvPr/>
        </p:nvCxnSpPr>
        <p:spPr bwMode="auto">
          <a:xfrm flipH="1" flipV="1">
            <a:off x="2261872" y="3259350"/>
            <a:ext cx="1056553" cy="6903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feld 16">
            <a:extLst>
              <a:ext uri="{FF2B5EF4-FFF2-40B4-BE49-F238E27FC236}">
                <a16:creationId xmlns:a16="http://schemas.microsoft.com/office/drawing/2014/main" id="{4E8A3AA2-AFE7-49FA-ABAB-3AAAB764109A}"/>
              </a:ext>
            </a:extLst>
          </p:cNvPr>
          <p:cNvSpPr txBox="1"/>
          <p:nvPr/>
        </p:nvSpPr>
        <p:spPr>
          <a:xfrm>
            <a:off x="6850404" y="4115589"/>
            <a:ext cx="4325596" cy="646331"/>
          </a:xfrm>
          <a:prstGeom prst="rect">
            <a:avLst/>
          </a:prstGeom>
          <a:noFill/>
        </p:spPr>
        <p:txBody>
          <a:bodyPr wrap="square" rtlCol="0">
            <a:spAutoFit/>
          </a:bodyPr>
          <a:lstStyle/>
          <a:p>
            <a:r>
              <a:rPr lang="de-DE" dirty="0"/>
              <a:t>Outcome at </a:t>
            </a:r>
            <a:r>
              <a:rPr lang="de-DE" dirty="0" err="1"/>
              <a:t>little</a:t>
            </a:r>
            <a:r>
              <a:rPr lang="de-DE" dirty="0"/>
              <a:t> </a:t>
            </a:r>
            <a:r>
              <a:rPr lang="de-DE" dirty="0" err="1"/>
              <a:t>homework</a:t>
            </a:r>
            <a:r>
              <a:rPr lang="de-DE" dirty="0"/>
              <a:t> (</a:t>
            </a:r>
            <a:r>
              <a:rPr lang="de-DE" i="1" dirty="0" err="1"/>
              <a:t>mu</a:t>
            </a:r>
            <a:r>
              <a:rPr lang="de-DE" dirty="0"/>
              <a:t>) resp. </a:t>
            </a:r>
            <a:r>
              <a:rPr lang="de-DE" dirty="0" err="1"/>
              <a:t>difference</a:t>
            </a:r>
            <a:r>
              <a:rPr lang="de-DE" dirty="0"/>
              <a:t> </a:t>
            </a:r>
            <a:r>
              <a:rPr lang="de-DE" dirty="0" err="1"/>
              <a:t>when</a:t>
            </a:r>
            <a:r>
              <a:rPr lang="de-DE" dirty="0"/>
              <a:t> </a:t>
            </a:r>
            <a:r>
              <a:rPr lang="de-DE" dirty="0" err="1"/>
              <a:t>there</a:t>
            </a:r>
            <a:r>
              <a:rPr lang="de-DE" dirty="0"/>
              <a:t> </a:t>
            </a:r>
            <a:r>
              <a:rPr lang="de-DE" dirty="0" err="1"/>
              <a:t>is</a:t>
            </a:r>
            <a:r>
              <a:rPr lang="de-DE" dirty="0"/>
              <a:t> </a:t>
            </a:r>
            <a:r>
              <a:rPr lang="de-DE" dirty="0" err="1"/>
              <a:t>homework</a:t>
            </a:r>
            <a:r>
              <a:rPr lang="de-DE" dirty="0"/>
              <a:t> (</a:t>
            </a:r>
            <a:r>
              <a:rPr lang="de-DE" i="1" dirty="0"/>
              <a:t>tau</a:t>
            </a:r>
            <a:r>
              <a:rPr lang="de-DE" dirty="0"/>
              <a:t>)</a:t>
            </a:r>
          </a:p>
        </p:txBody>
      </p:sp>
      <p:cxnSp>
        <p:nvCxnSpPr>
          <p:cNvPr id="34" name="Gerade Verbindung mit Pfeil 33">
            <a:extLst>
              <a:ext uri="{FF2B5EF4-FFF2-40B4-BE49-F238E27FC236}">
                <a16:creationId xmlns:a16="http://schemas.microsoft.com/office/drawing/2014/main" id="{DEAA938C-BBCC-4B25-AAB4-B19CE2B8619B}"/>
              </a:ext>
            </a:extLst>
          </p:cNvPr>
          <p:cNvCxnSpPr>
            <a:cxnSpLocks/>
          </p:cNvCxnSpPr>
          <p:nvPr/>
        </p:nvCxnSpPr>
        <p:spPr bwMode="auto">
          <a:xfrm flipH="1">
            <a:off x="4531895" y="3650448"/>
            <a:ext cx="1323821" cy="29925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0" name="Grafik 29">
            <a:extLst>
              <a:ext uri="{FF2B5EF4-FFF2-40B4-BE49-F238E27FC236}">
                <a16:creationId xmlns:a16="http://schemas.microsoft.com/office/drawing/2014/main" id="{30AFC7BB-4446-4CA0-9040-EAD4504FB55C}"/>
              </a:ext>
            </a:extLst>
          </p:cNvPr>
          <p:cNvPicPr>
            <a:picLocks noChangeAspect="1"/>
          </p:cNvPicPr>
          <p:nvPr/>
        </p:nvPicPr>
        <p:blipFill>
          <a:blip r:embed="rId5"/>
          <a:stretch>
            <a:fillRect/>
          </a:stretch>
        </p:blipFill>
        <p:spPr>
          <a:xfrm>
            <a:off x="1132281" y="2734227"/>
            <a:ext cx="3600445" cy="459893"/>
          </a:xfrm>
          <a:prstGeom prst="rect">
            <a:avLst/>
          </a:prstGeom>
        </p:spPr>
      </p:pic>
      <p:sp>
        <p:nvSpPr>
          <p:cNvPr id="43" name="Abgerundetes Rechteck 41">
            <a:extLst>
              <a:ext uri="{FF2B5EF4-FFF2-40B4-BE49-F238E27FC236}">
                <a16:creationId xmlns:a16="http://schemas.microsoft.com/office/drawing/2014/main" id="{96E33CDC-5BE3-4361-9289-0979E81199C0}"/>
              </a:ext>
            </a:extLst>
          </p:cNvPr>
          <p:cNvSpPr/>
          <p:nvPr/>
        </p:nvSpPr>
        <p:spPr bwMode="auto">
          <a:xfrm>
            <a:off x="9779666" y="6211669"/>
            <a:ext cx="2114514" cy="64633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defTabSz="914400" rtl="0" eaLnBrk="1" fontAlgn="auto" latinLnBrk="0" hangingPunct="1">
              <a:lnSpc>
                <a:spcPct val="100000"/>
              </a:lnSpc>
              <a:spcBef>
                <a:spcPts val="0"/>
              </a:spcBef>
              <a:spcAft>
                <a:spcPts val="0"/>
              </a:spcAft>
              <a:buClrTx/>
              <a:buSzTx/>
              <a:tabLst/>
              <a:defRPr/>
            </a:pP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I)   </a:t>
            </a:r>
            <a:r>
              <a:rPr kumimoji="0" lang="de-CH" sz="1000" i="0" u="none" strike="noStrike" kern="1200" cap="none" spc="0" normalizeH="0" baseline="0" noProof="0" dirty="0" err="1">
                <a:ln>
                  <a:noFill/>
                </a:ln>
                <a:solidFill>
                  <a:schemeClr val="tx1"/>
                </a:solidFill>
                <a:effectLst/>
                <a:uLnTx/>
                <a:uFillTx/>
                <a:latin typeface="Arial" panose="020B0604020202020204"/>
                <a:ea typeface="+mn-ea"/>
                <a:cs typeface="+mn-cs"/>
              </a:rPr>
              <a:t>What</a:t>
            </a: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is</a:t>
            </a: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 CML</a:t>
            </a:r>
            <a:r>
              <a:rPr lang="de-CH" sz="1000" dirty="0">
                <a:solidFill>
                  <a:schemeClr val="tx1"/>
                </a:solidFill>
                <a:latin typeface="Arial" panose="020B0604020202020204"/>
              </a:rPr>
              <a:t>?</a:t>
            </a:r>
          </a:p>
          <a:p>
            <a:pPr marR="0" lvl="0" defTabSz="914400" rtl="0" eaLnBrk="1" fontAlgn="auto" latinLnBrk="0" hangingPunct="1">
              <a:lnSpc>
                <a:spcPct val="100000"/>
              </a:lnSpc>
              <a:spcBef>
                <a:spcPts val="0"/>
              </a:spcBef>
              <a:spcAft>
                <a:spcPts val="0"/>
              </a:spcAft>
              <a:buClrTx/>
              <a:buSzTx/>
              <a:tabLst/>
              <a:defRPr/>
            </a:pPr>
            <a:r>
              <a:rPr lang="de-CH" sz="1000" b="1" dirty="0">
                <a:solidFill>
                  <a:schemeClr val="tx1"/>
                </a:solidFill>
                <a:latin typeface="Arial" panose="020B0604020202020204"/>
              </a:rPr>
              <a:t>II)  </a:t>
            </a:r>
            <a:r>
              <a:rPr kumimoji="0" lang="de-CH" sz="1000" b="1" i="0" u="none" strike="noStrike" kern="1200" cap="none" spc="0" normalizeH="0" baseline="0" noProof="0" dirty="0">
                <a:ln>
                  <a:noFill/>
                </a:ln>
                <a:solidFill>
                  <a:schemeClr val="tx1"/>
                </a:solidFill>
                <a:effectLst/>
                <a:uLnTx/>
                <a:uFillTx/>
                <a:latin typeface="Arial" panose="020B0604020202020204"/>
                <a:ea typeface="+mn-ea"/>
                <a:cs typeface="+mn-cs"/>
              </a:rPr>
              <a:t>The </a:t>
            </a:r>
            <a:r>
              <a:rPr kumimoji="0" lang="de-CH" sz="1000" b="1" i="1" u="none" strike="noStrike" kern="1200" cap="none" spc="0" normalizeH="0" baseline="0" noProof="0" dirty="0" err="1">
                <a:ln>
                  <a:noFill/>
                </a:ln>
                <a:solidFill>
                  <a:schemeClr val="tx1"/>
                </a:solidFill>
                <a:effectLst/>
                <a:uLnTx/>
                <a:uFillTx/>
                <a:latin typeface="Arial" panose="020B0604020202020204"/>
                <a:ea typeface="+mn-ea"/>
                <a:cs typeface="+mn-cs"/>
              </a:rPr>
              <a:t>Bayesian</a:t>
            </a:r>
            <a:r>
              <a:rPr kumimoji="0" lang="de-CH" sz="1000" b="1" i="1"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b="1" i="1" u="none" strike="noStrike" kern="1200" cap="none" spc="0" normalizeH="0" baseline="0" noProof="0" dirty="0" err="1">
                <a:ln>
                  <a:noFill/>
                </a:ln>
                <a:solidFill>
                  <a:schemeClr val="tx1"/>
                </a:solidFill>
                <a:effectLst/>
                <a:uLnTx/>
                <a:uFillTx/>
                <a:latin typeface="Arial" panose="020B0604020202020204"/>
                <a:ea typeface="+mn-ea"/>
                <a:cs typeface="+mn-cs"/>
              </a:rPr>
              <a:t>causal</a:t>
            </a:r>
            <a:r>
              <a:rPr kumimoji="0" lang="de-CH" sz="1000" b="1" i="1"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b="1" i="1" u="none" strike="noStrike" kern="1200" cap="none" spc="0" normalizeH="0" baseline="0" noProof="0" dirty="0" err="1">
                <a:ln>
                  <a:noFill/>
                </a:ln>
                <a:solidFill>
                  <a:schemeClr val="tx1"/>
                </a:solidFill>
                <a:effectLst/>
                <a:uLnTx/>
                <a:uFillTx/>
                <a:latin typeface="Arial" panose="020B0604020202020204"/>
                <a:ea typeface="+mn-ea"/>
                <a:cs typeface="+mn-cs"/>
              </a:rPr>
              <a:t>forest</a:t>
            </a:r>
            <a:endParaRPr kumimoji="0" lang="de-CH" sz="1000" b="1" i="1" u="none" strike="noStrike" kern="1200" cap="none" spc="0" normalizeH="0" baseline="0" noProof="0" dirty="0">
              <a:ln>
                <a:noFill/>
              </a:ln>
              <a:solidFill>
                <a:schemeClr val="tx1"/>
              </a:solidFill>
              <a:effectLst/>
              <a:uLnTx/>
              <a:uFillTx/>
              <a:latin typeface="Arial" panose="020B0604020202020204"/>
              <a:ea typeface="+mn-ea"/>
              <a:cs typeface="+mn-cs"/>
            </a:endParaRPr>
          </a:p>
          <a:p>
            <a:pPr marR="0" lvl="0" defTabSz="914400" rtl="0" eaLnBrk="1" fontAlgn="auto" latinLnBrk="0" hangingPunct="1">
              <a:lnSpc>
                <a:spcPct val="100000"/>
              </a:lnSpc>
              <a:spcBef>
                <a:spcPts val="0"/>
              </a:spcBef>
              <a:spcAft>
                <a:spcPts val="0"/>
              </a:spcAft>
              <a:buClrTx/>
              <a:buSzTx/>
              <a:tabLst/>
              <a:defRPr/>
            </a:pPr>
            <a:r>
              <a:rPr lang="de-CH" sz="1000" dirty="0">
                <a:solidFill>
                  <a:schemeClr val="tx1"/>
                </a:solidFill>
                <a:latin typeface="Arial" panose="020B0604020202020204"/>
              </a:rPr>
              <a:t>III) </a:t>
            </a:r>
            <a:r>
              <a:rPr lang="de-CH" sz="1000" i="1" dirty="0" err="1">
                <a:solidFill>
                  <a:schemeClr val="tx1"/>
                </a:solidFill>
                <a:latin typeface="Arial" panose="020B0604020202020204"/>
              </a:rPr>
              <a:t>Uniqueness</a:t>
            </a:r>
            <a:r>
              <a:rPr lang="de-CH" sz="1000" i="1" dirty="0">
                <a:solidFill>
                  <a:schemeClr val="tx1"/>
                </a:solidFill>
                <a:latin typeface="Arial" panose="020B0604020202020204"/>
              </a:rPr>
              <a:t> </a:t>
            </a:r>
            <a:r>
              <a:rPr lang="de-CH" sz="1000" dirty="0" err="1">
                <a:solidFill>
                  <a:schemeClr val="tx1"/>
                </a:solidFill>
                <a:latin typeface="Arial" panose="020B0604020202020204"/>
              </a:rPr>
              <a:t>of</a:t>
            </a:r>
            <a:r>
              <a:rPr lang="de-CH" sz="1000" dirty="0">
                <a:solidFill>
                  <a:schemeClr val="tx1"/>
                </a:solidFill>
                <a:latin typeface="Arial" panose="020B0604020202020204"/>
              </a:rPr>
              <a:t> CML</a:t>
            </a:r>
          </a:p>
          <a:p>
            <a:pPr marR="0" lvl="0" defTabSz="914400" rtl="0" eaLnBrk="1" fontAlgn="auto" latinLnBrk="0" hangingPunct="1">
              <a:lnSpc>
                <a:spcPct val="100000"/>
              </a:lnSpc>
              <a:spcBef>
                <a:spcPts val="0"/>
              </a:spcBef>
              <a:spcAft>
                <a:spcPts val="0"/>
              </a:spcAft>
              <a:buClrTx/>
              <a:buSzTx/>
              <a:tabLst/>
              <a:defRPr/>
            </a:pP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IV)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Implications</a:t>
            </a: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u="none" strike="noStrike" kern="1200" cap="none" spc="0" normalizeH="0" baseline="0" noProof="0" dirty="0" err="1">
                <a:ln>
                  <a:noFill/>
                </a:ln>
                <a:solidFill>
                  <a:schemeClr val="tx1"/>
                </a:solidFill>
                <a:effectLst/>
                <a:uLnTx/>
                <a:uFillTx/>
                <a:latin typeface="Arial" panose="020B0604020202020204"/>
                <a:ea typeface="+mn-ea"/>
                <a:cs typeface="+mn-cs"/>
              </a:rPr>
              <a:t>for</a:t>
            </a:r>
            <a:r>
              <a:rPr kumimoji="0" lang="de-CH" sz="1000"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u="none" strike="noStrike" kern="1200" cap="none" spc="0" normalizeH="0" baseline="0" noProof="0" dirty="0" err="1">
                <a:ln>
                  <a:noFill/>
                </a:ln>
                <a:solidFill>
                  <a:schemeClr val="tx1"/>
                </a:solidFill>
                <a:effectLst/>
                <a:uLnTx/>
                <a:uFillTx/>
                <a:latin typeface="Arial" panose="020B0604020202020204"/>
                <a:ea typeface="+mn-ea"/>
                <a:cs typeface="+mn-cs"/>
              </a:rPr>
              <a:t>our</a:t>
            </a:r>
            <a:r>
              <a:rPr kumimoji="0" lang="de-CH" sz="1000"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u="none" strike="noStrike" kern="1200" cap="none" spc="0" normalizeH="0" baseline="0" noProof="0" dirty="0" err="1">
                <a:ln>
                  <a:noFill/>
                </a:ln>
                <a:solidFill>
                  <a:schemeClr val="tx1"/>
                </a:solidFill>
                <a:effectLst/>
                <a:uLnTx/>
                <a:uFillTx/>
                <a:latin typeface="Arial" panose="020B0604020202020204"/>
                <a:ea typeface="+mn-ea"/>
                <a:cs typeface="+mn-cs"/>
              </a:rPr>
              <a:t>research</a:t>
            </a:r>
            <a:endParaRPr kumimoji="0" lang="de-CH" sz="1000" u="none" strike="noStrike" kern="1200" cap="none" spc="0" normalizeH="0" baseline="0" noProof="0" dirty="0">
              <a:ln>
                <a:noFill/>
              </a:ln>
              <a:solidFill>
                <a:schemeClr val="tx1"/>
              </a:solidFill>
              <a:effectLst/>
              <a:uLnTx/>
              <a:uFillTx/>
              <a:latin typeface="Arial" panose="020B0604020202020204"/>
              <a:ea typeface="+mn-ea"/>
              <a:cs typeface="+mn-cs"/>
            </a:endParaRPr>
          </a:p>
        </p:txBody>
      </p:sp>
      <p:sp>
        <p:nvSpPr>
          <p:cNvPr id="16" name="Textfeld 15">
            <a:extLst>
              <a:ext uri="{FF2B5EF4-FFF2-40B4-BE49-F238E27FC236}">
                <a16:creationId xmlns:a16="http://schemas.microsoft.com/office/drawing/2014/main" id="{E8066B41-75DC-4D02-B3F1-999F11E1D55D}"/>
              </a:ext>
            </a:extLst>
          </p:cNvPr>
          <p:cNvSpPr txBox="1"/>
          <p:nvPr/>
        </p:nvSpPr>
        <p:spPr bwMode="auto">
          <a:xfrm>
            <a:off x="1222369" y="2206214"/>
            <a:ext cx="2237477" cy="646331"/>
          </a:xfrm>
          <a:prstGeom prst="rect">
            <a:avLst/>
          </a:prstGeom>
          <a:noFill/>
        </p:spPr>
        <p:txBody>
          <a:bodyPr wrap="square" rtlCol="0">
            <a:spAutoFit/>
          </a:bodyPr>
          <a:lstStyle/>
          <a:p>
            <a:r>
              <a:rPr lang="de-DE" i="1" dirty="0">
                <a:latin typeface="Arial" panose="020B0604020202020204" pitchFamily="34" charset="0"/>
                <a:cs typeface="Arial" panose="020B0604020202020204" pitchFamily="34" charset="0"/>
              </a:rPr>
              <a:t>Baseline/</a:t>
            </a:r>
            <a:r>
              <a:rPr lang="de-DE" i="1" dirty="0" err="1">
                <a:latin typeface="Arial" panose="020B0604020202020204" pitchFamily="34" charset="0"/>
                <a:cs typeface="Arial" panose="020B0604020202020204" pitchFamily="34" charset="0"/>
              </a:rPr>
              <a:t>prognostic</a:t>
            </a:r>
            <a:r>
              <a:rPr lang="de-DE" i="1" dirty="0">
                <a:latin typeface="Arial" panose="020B0604020202020204" pitchFamily="34" charset="0"/>
                <a:cs typeface="Arial" panose="020B0604020202020204" pitchFamily="34" charset="0"/>
              </a:rPr>
              <a:t> </a:t>
            </a:r>
            <a:r>
              <a:rPr lang="de-DE" i="1" dirty="0" err="1">
                <a:latin typeface="Arial" panose="020B0604020202020204" pitchFamily="34" charset="0"/>
                <a:cs typeface="Arial" panose="020B0604020202020204" pitchFamily="34" charset="0"/>
              </a:rPr>
              <a:t>function</a:t>
            </a:r>
            <a:endParaRPr lang="de-DE" i="1" dirty="0">
              <a:latin typeface="Arial" panose="020B0604020202020204" pitchFamily="34" charset="0"/>
              <a:cs typeface="Arial" panose="020B0604020202020204" pitchFamily="34" charset="0"/>
            </a:endParaRPr>
          </a:p>
        </p:txBody>
      </p:sp>
      <p:sp>
        <p:nvSpPr>
          <p:cNvPr id="18" name="Textfeld 17">
            <a:extLst>
              <a:ext uri="{FF2B5EF4-FFF2-40B4-BE49-F238E27FC236}">
                <a16:creationId xmlns:a16="http://schemas.microsoft.com/office/drawing/2014/main" id="{BF1D7073-C176-4352-AA93-14670B08F98D}"/>
              </a:ext>
            </a:extLst>
          </p:cNvPr>
          <p:cNvSpPr txBox="1"/>
          <p:nvPr/>
        </p:nvSpPr>
        <p:spPr bwMode="auto">
          <a:xfrm>
            <a:off x="3441910" y="2206214"/>
            <a:ext cx="2237477" cy="369332"/>
          </a:xfrm>
          <a:prstGeom prst="rect">
            <a:avLst/>
          </a:prstGeom>
          <a:noFill/>
        </p:spPr>
        <p:txBody>
          <a:bodyPr wrap="square" rtlCol="0">
            <a:spAutoFit/>
          </a:bodyPr>
          <a:lstStyle/>
          <a:p>
            <a:r>
              <a:rPr lang="de-DE" i="1" dirty="0" err="1">
                <a:latin typeface="Arial" panose="020B0604020202020204" pitchFamily="34" charset="0"/>
                <a:cs typeface="Arial" panose="020B0604020202020204" pitchFamily="34" charset="0"/>
              </a:rPr>
              <a:t>treatment</a:t>
            </a:r>
            <a:r>
              <a:rPr lang="de-DE" i="1" dirty="0">
                <a:latin typeface="Arial" panose="020B0604020202020204" pitchFamily="34" charset="0"/>
                <a:cs typeface="Arial" panose="020B0604020202020204" pitchFamily="34" charset="0"/>
              </a:rPr>
              <a:t> </a:t>
            </a:r>
            <a:r>
              <a:rPr lang="de-DE" i="1" dirty="0" err="1">
                <a:latin typeface="Arial" panose="020B0604020202020204" pitchFamily="34" charset="0"/>
                <a:cs typeface="Arial" panose="020B0604020202020204" pitchFamily="34" charset="0"/>
              </a:rPr>
              <a:t>function</a:t>
            </a:r>
            <a:endParaRPr lang="de-DE" i="1" dirty="0">
              <a:latin typeface="Arial" panose="020B0604020202020204" pitchFamily="34" charset="0"/>
              <a:cs typeface="Arial" panose="020B0604020202020204" pitchFamily="34" charset="0"/>
            </a:endParaRPr>
          </a:p>
        </p:txBody>
      </p:sp>
      <p:cxnSp>
        <p:nvCxnSpPr>
          <p:cNvPr id="24" name="Gerade Verbindung mit Pfeil 23">
            <a:extLst>
              <a:ext uri="{FF2B5EF4-FFF2-40B4-BE49-F238E27FC236}">
                <a16:creationId xmlns:a16="http://schemas.microsoft.com/office/drawing/2014/main" id="{20DEE903-E0E6-42C9-ADC4-C8E89E0FC1E0}"/>
              </a:ext>
            </a:extLst>
          </p:cNvPr>
          <p:cNvCxnSpPr>
            <a:cxnSpLocks/>
          </p:cNvCxnSpPr>
          <p:nvPr/>
        </p:nvCxnSpPr>
        <p:spPr bwMode="auto">
          <a:xfrm flipH="1" flipV="1">
            <a:off x="3318426" y="3128212"/>
            <a:ext cx="202816" cy="6895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Gerade Verbindung mit Pfeil 24">
            <a:extLst>
              <a:ext uri="{FF2B5EF4-FFF2-40B4-BE49-F238E27FC236}">
                <a16:creationId xmlns:a16="http://schemas.microsoft.com/office/drawing/2014/main" id="{F5FC49F6-2EA6-48F3-BF1F-8F33B0E50611}"/>
              </a:ext>
            </a:extLst>
          </p:cNvPr>
          <p:cNvCxnSpPr>
            <a:cxnSpLocks/>
          </p:cNvCxnSpPr>
          <p:nvPr/>
        </p:nvCxnSpPr>
        <p:spPr bwMode="auto">
          <a:xfrm flipH="1" flipV="1">
            <a:off x="3983526" y="3128213"/>
            <a:ext cx="42050" cy="22458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feld 25">
            <a:extLst>
              <a:ext uri="{FF2B5EF4-FFF2-40B4-BE49-F238E27FC236}">
                <a16:creationId xmlns:a16="http://schemas.microsoft.com/office/drawing/2014/main" id="{32AB64B6-D702-47C1-A724-45F7B6BDA724}"/>
              </a:ext>
            </a:extLst>
          </p:cNvPr>
          <p:cNvSpPr txBox="1"/>
          <p:nvPr/>
        </p:nvSpPr>
        <p:spPr bwMode="auto">
          <a:xfrm>
            <a:off x="3690429" y="3304193"/>
            <a:ext cx="2389084" cy="369332"/>
          </a:xfrm>
          <a:prstGeom prst="rect">
            <a:avLst/>
          </a:prstGeom>
          <a:noFill/>
        </p:spPr>
        <p:txBody>
          <a:bodyPr wrap="square" rtlCol="0">
            <a:spAutoFit/>
          </a:bodyPr>
          <a:lstStyle/>
          <a:p>
            <a:r>
              <a:rPr lang="de-DE" dirty="0" err="1">
                <a:latin typeface="Arial" panose="020B0604020202020204" pitchFamily="34" charset="0"/>
                <a:cs typeface="Arial" panose="020B0604020202020204" pitchFamily="34" charset="0"/>
              </a:rPr>
              <a:t>treatment</a:t>
            </a:r>
            <a:endParaRPr lang="de-D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14187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 name="Rechteck 3">
            <a:extLst>
              <a:ext uri="{FF2B5EF4-FFF2-40B4-BE49-F238E27FC236}">
                <a16:creationId xmlns:a16="http://schemas.microsoft.com/office/drawing/2014/main" id="{7524DA9A-46A3-4912-BF4E-032E888E93B0}"/>
              </a:ext>
            </a:extLst>
          </p:cNvPr>
          <p:cNvSpPr/>
          <p:nvPr/>
        </p:nvSpPr>
        <p:spPr>
          <a:xfrm>
            <a:off x="119336" y="585247"/>
            <a:ext cx="11953328" cy="56166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pic>
        <p:nvPicPr>
          <p:cNvPr id="2" name="Grafik 1">
            <a:extLst>
              <a:ext uri="{FF2B5EF4-FFF2-40B4-BE49-F238E27FC236}">
                <a16:creationId xmlns:a16="http://schemas.microsoft.com/office/drawing/2014/main" id="{B56464A0-342D-4D87-B5D6-11B1D44D8C40}"/>
              </a:ext>
            </a:extLst>
          </p:cNvPr>
          <p:cNvPicPr>
            <a:picLocks noChangeAspect="1"/>
          </p:cNvPicPr>
          <p:nvPr/>
        </p:nvPicPr>
        <p:blipFill>
          <a:blip r:embed="rId3"/>
          <a:stretch>
            <a:fillRect/>
          </a:stretch>
        </p:blipFill>
        <p:spPr>
          <a:xfrm>
            <a:off x="207182" y="793461"/>
            <a:ext cx="2988482" cy="1435834"/>
          </a:xfrm>
          <a:prstGeom prst="rect">
            <a:avLst/>
          </a:prstGeom>
        </p:spPr>
      </p:pic>
      <p:sp>
        <p:nvSpPr>
          <p:cNvPr id="20" name="Abgerundetes Rechteck 41">
            <a:extLst>
              <a:ext uri="{FF2B5EF4-FFF2-40B4-BE49-F238E27FC236}">
                <a16:creationId xmlns:a16="http://schemas.microsoft.com/office/drawing/2014/main" id="{2846C80A-C560-48BE-A8FF-2B9AA7CD0516}"/>
              </a:ext>
            </a:extLst>
          </p:cNvPr>
          <p:cNvSpPr/>
          <p:nvPr/>
        </p:nvSpPr>
        <p:spPr>
          <a:xfrm>
            <a:off x="4027242" y="716109"/>
            <a:ext cx="4137515" cy="145662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CH" sz="3200" b="1" dirty="0">
                <a:solidFill>
                  <a:schemeClr val="tx1"/>
                </a:solidFill>
                <a:latin typeface="Arial" panose="020B0604020202020204"/>
              </a:rPr>
              <a:t>II) The </a:t>
            </a:r>
            <a:r>
              <a:rPr lang="de-CH" sz="3200" b="1" i="1" dirty="0" err="1">
                <a:solidFill>
                  <a:schemeClr val="tx1"/>
                </a:solidFill>
                <a:latin typeface="Arial" panose="020B0604020202020204"/>
              </a:rPr>
              <a:t>Bayesian</a:t>
            </a:r>
            <a:r>
              <a:rPr lang="de-CH" sz="3200" b="1" i="1" dirty="0">
                <a:solidFill>
                  <a:schemeClr val="tx1"/>
                </a:solidFill>
                <a:latin typeface="Arial" panose="020B0604020202020204"/>
              </a:rPr>
              <a:t> </a:t>
            </a:r>
            <a:r>
              <a:rPr lang="de-CH" sz="3200" b="1" i="1" dirty="0" err="1">
                <a:solidFill>
                  <a:schemeClr val="tx1"/>
                </a:solidFill>
                <a:latin typeface="Arial" panose="020B0604020202020204"/>
              </a:rPr>
              <a:t>causal</a:t>
            </a:r>
            <a:r>
              <a:rPr lang="de-CH" sz="3200" b="1" i="1" dirty="0">
                <a:solidFill>
                  <a:schemeClr val="tx1"/>
                </a:solidFill>
                <a:latin typeface="Arial" panose="020B0604020202020204"/>
              </a:rPr>
              <a:t> </a:t>
            </a:r>
            <a:r>
              <a:rPr lang="de-CH" sz="3200" b="1" i="1" dirty="0" err="1">
                <a:solidFill>
                  <a:schemeClr val="tx1"/>
                </a:solidFill>
                <a:latin typeface="Arial" panose="020B0604020202020204"/>
              </a:rPr>
              <a:t>forest</a:t>
            </a:r>
            <a:endParaRPr kumimoji="0" lang="en-US" sz="3200" b="1" i="1" u="none" strike="noStrike" kern="1200" cap="none" spc="0" normalizeH="0" baseline="0" noProof="0" dirty="0">
              <a:ln>
                <a:noFill/>
              </a:ln>
              <a:solidFill>
                <a:schemeClr val="tx1"/>
              </a:solidFill>
              <a:effectLst/>
              <a:uLnTx/>
              <a:uFillTx/>
              <a:latin typeface="Arial" panose="020B0604020202020204"/>
            </a:endParaRPr>
          </a:p>
        </p:txBody>
      </p:sp>
      <p:pic>
        <p:nvPicPr>
          <p:cNvPr id="30" name="Grafik 29">
            <a:extLst>
              <a:ext uri="{FF2B5EF4-FFF2-40B4-BE49-F238E27FC236}">
                <a16:creationId xmlns:a16="http://schemas.microsoft.com/office/drawing/2014/main" id="{30AFC7BB-4446-4CA0-9040-EAD4504FB55C}"/>
              </a:ext>
            </a:extLst>
          </p:cNvPr>
          <p:cNvPicPr>
            <a:picLocks noChangeAspect="1"/>
          </p:cNvPicPr>
          <p:nvPr/>
        </p:nvPicPr>
        <p:blipFill>
          <a:blip r:embed="rId4"/>
          <a:stretch>
            <a:fillRect/>
          </a:stretch>
        </p:blipFill>
        <p:spPr>
          <a:xfrm>
            <a:off x="2898328" y="4051422"/>
            <a:ext cx="3600445" cy="459893"/>
          </a:xfrm>
          <a:prstGeom prst="rect">
            <a:avLst/>
          </a:prstGeom>
        </p:spPr>
      </p:pic>
      <p:cxnSp>
        <p:nvCxnSpPr>
          <p:cNvPr id="5" name="Gerade Verbindung mit Pfeil 4">
            <a:extLst>
              <a:ext uri="{FF2B5EF4-FFF2-40B4-BE49-F238E27FC236}">
                <a16:creationId xmlns:a16="http://schemas.microsoft.com/office/drawing/2014/main" id="{FD2ADE5F-E76B-4DB1-BD01-52C39D027E18}"/>
              </a:ext>
            </a:extLst>
          </p:cNvPr>
          <p:cNvCxnSpPr/>
          <p:nvPr/>
        </p:nvCxnSpPr>
        <p:spPr>
          <a:xfrm>
            <a:off x="3283697" y="3482545"/>
            <a:ext cx="476250" cy="5688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Gerade Verbindung mit Pfeil 17">
            <a:extLst>
              <a:ext uri="{FF2B5EF4-FFF2-40B4-BE49-F238E27FC236}">
                <a16:creationId xmlns:a16="http://schemas.microsoft.com/office/drawing/2014/main" id="{8A7A6248-8F53-4779-99FB-A876991F23A6}"/>
              </a:ext>
            </a:extLst>
          </p:cNvPr>
          <p:cNvCxnSpPr>
            <a:cxnSpLocks/>
          </p:cNvCxnSpPr>
          <p:nvPr/>
        </p:nvCxnSpPr>
        <p:spPr bwMode="auto">
          <a:xfrm>
            <a:off x="3467847" y="3482545"/>
            <a:ext cx="1581150" cy="5688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feld 8">
            <a:extLst>
              <a:ext uri="{FF2B5EF4-FFF2-40B4-BE49-F238E27FC236}">
                <a16:creationId xmlns:a16="http://schemas.microsoft.com/office/drawing/2014/main" id="{7C0C7DE4-E34E-4847-BE8A-4E720BB58C10}"/>
              </a:ext>
            </a:extLst>
          </p:cNvPr>
          <p:cNvSpPr txBox="1"/>
          <p:nvPr/>
        </p:nvSpPr>
        <p:spPr>
          <a:xfrm>
            <a:off x="514399" y="2771273"/>
            <a:ext cx="4862119" cy="923330"/>
          </a:xfrm>
          <a:prstGeom prst="rect">
            <a:avLst/>
          </a:prstGeom>
          <a:noFill/>
        </p:spPr>
        <p:txBody>
          <a:bodyPr wrap="square" rtlCol="0">
            <a:spAutoFit/>
          </a:bodyPr>
          <a:lstStyle/>
          <a:p>
            <a:r>
              <a:rPr lang="de-DE" dirty="0"/>
              <a:t>1) Fully </a:t>
            </a:r>
            <a:r>
              <a:rPr lang="de-DE" dirty="0" err="1"/>
              <a:t>distinct</a:t>
            </a:r>
            <a:r>
              <a:rPr lang="de-DE" dirty="0"/>
              <a:t> </a:t>
            </a:r>
            <a:r>
              <a:rPr lang="de-DE" dirty="0" err="1"/>
              <a:t>functions</a:t>
            </a:r>
            <a:r>
              <a:rPr lang="de-DE" dirty="0"/>
              <a:t> (i.e., </a:t>
            </a:r>
            <a:r>
              <a:rPr lang="de-DE" i="1" dirty="0" err="1"/>
              <a:t>moderation</a:t>
            </a:r>
            <a:r>
              <a:rPr lang="de-DE" dirty="0"/>
              <a:t>) </a:t>
            </a:r>
            <a:r>
              <a:rPr lang="de-DE" dirty="0" err="1"/>
              <a:t>for</a:t>
            </a:r>
            <a:r>
              <a:rPr lang="de-DE" dirty="0"/>
              <a:t> </a:t>
            </a:r>
            <a:r>
              <a:rPr lang="de-DE" dirty="0" err="1"/>
              <a:t>mu</a:t>
            </a:r>
            <a:r>
              <a:rPr lang="de-DE" dirty="0"/>
              <a:t> (</a:t>
            </a:r>
            <a:r>
              <a:rPr lang="de-DE" dirty="0" err="1"/>
              <a:t>baseline</a:t>
            </a:r>
            <a:r>
              <a:rPr lang="de-DE" dirty="0"/>
              <a:t>/</a:t>
            </a:r>
            <a:r>
              <a:rPr lang="de-DE" dirty="0" err="1"/>
              <a:t>prognostic</a:t>
            </a:r>
            <a:r>
              <a:rPr lang="de-DE" dirty="0"/>
              <a:t>) and tau (</a:t>
            </a:r>
            <a:r>
              <a:rPr lang="de-DE" dirty="0" err="1"/>
              <a:t>intervention</a:t>
            </a:r>
            <a:r>
              <a:rPr lang="de-DE" dirty="0"/>
              <a:t> </a:t>
            </a:r>
            <a:r>
              <a:rPr lang="de-DE" dirty="0" err="1"/>
              <a:t>effect</a:t>
            </a:r>
            <a:r>
              <a:rPr lang="de-DE" dirty="0"/>
              <a:t>) </a:t>
            </a:r>
            <a:r>
              <a:rPr lang="de-DE" dirty="0" err="1"/>
              <a:t>parts</a:t>
            </a:r>
            <a:r>
              <a:rPr lang="de-DE" dirty="0"/>
              <a:t> </a:t>
            </a:r>
            <a:r>
              <a:rPr lang="de-DE" dirty="0" err="1"/>
              <a:t>of</a:t>
            </a:r>
            <a:r>
              <a:rPr lang="de-DE" dirty="0"/>
              <a:t> </a:t>
            </a:r>
            <a:r>
              <a:rPr lang="de-DE" dirty="0" err="1"/>
              <a:t>the</a:t>
            </a:r>
            <a:r>
              <a:rPr lang="de-DE" dirty="0"/>
              <a:t> </a:t>
            </a:r>
            <a:r>
              <a:rPr lang="de-DE" dirty="0" err="1"/>
              <a:t>model</a:t>
            </a:r>
            <a:endParaRPr lang="de-DE" dirty="0"/>
          </a:p>
        </p:txBody>
      </p:sp>
      <p:sp>
        <p:nvSpPr>
          <p:cNvPr id="24" name="Textfeld 23">
            <a:extLst>
              <a:ext uri="{FF2B5EF4-FFF2-40B4-BE49-F238E27FC236}">
                <a16:creationId xmlns:a16="http://schemas.microsoft.com/office/drawing/2014/main" id="{70AC138F-45B5-4C07-98B9-FABA056B74CD}"/>
              </a:ext>
            </a:extLst>
          </p:cNvPr>
          <p:cNvSpPr txBox="1"/>
          <p:nvPr/>
        </p:nvSpPr>
        <p:spPr bwMode="auto">
          <a:xfrm>
            <a:off x="3158678" y="5283757"/>
            <a:ext cx="4849419" cy="646331"/>
          </a:xfrm>
          <a:prstGeom prst="rect">
            <a:avLst/>
          </a:prstGeom>
          <a:noFill/>
        </p:spPr>
        <p:txBody>
          <a:bodyPr wrap="square" rtlCol="0">
            <a:spAutoFit/>
          </a:bodyPr>
          <a:lstStyle/>
          <a:p>
            <a:r>
              <a:rPr lang="de-DE" dirty="0"/>
              <a:t>2) Both </a:t>
            </a:r>
            <a:r>
              <a:rPr lang="de-DE" dirty="0" err="1"/>
              <a:t>functions</a:t>
            </a:r>
            <a:r>
              <a:rPr lang="de-DE" dirty="0"/>
              <a:t> </a:t>
            </a:r>
            <a:r>
              <a:rPr lang="de-DE" dirty="0" err="1"/>
              <a:t>are</a:t>
            </a:r>
            <a:r>
              <a:rPr lang="de-DE" dirty="0"/>
              <a:t> </a:t>
            </a:r>
            <a:r>
              <a:rPr lang="de-DE" i="1" dirty="0" err="1"/>
              <a:t>highly</a:t>
            </a:r>
            <a:r>
              <a:rPr lang="de-DE" i="1" dirty="0"/>
              <a:t> flexible </a:t>
            </a:r>
            <a:r>
              <a:rPr lang="de-DE" dirty="0"/>
              <a:t>(</a:t>
            </a:r>
            <a:r>
              <a:rPr lang="de-DE" dirty="0" err="1"/>
              <a:t>Bayesian</a:t>
            </a:r>
            <a:r>
              <a:rPr lang="de-DE" dirty="0"/>
              <a:t> additive </a:t>
            </a:r>
            <a:r>
              <a:rPr lang="de-DE" dirty="0" err="1"/>
              <a:t>regression</a:t>
            </a:r>
            <a:r>
              <a:rPr lang="de-DE" dirty="0"/>
              <a:t> </a:t>
            </a:r>
            <a:r>
              <a:rPr lang="de-DE" dirty="0" err="1"/>
              <a:t>trees</a:t>
            </a:r>
            <a:r>
              <a:rPr lang="de-DE" dirty="0"/>
              <a:t>)</a:t>
            </a:r>
          </a:p>
        </p:txBody>
      </p:sp>
      <p:cxnSp>
        <p:nvCxnSpPr>
          <p:cNvPr id="26" name="Gerade Verbindung mit Pfeil 25">
            <a:extLst>
              <a:ext uri="{FF2B5EF4-FFF2-40B4-BE49-F238E27FC236}">
                <a16:creationId xmlns:a16="http://schemas.microsoft.com/office/drawing/2014/main" id="{D4B5F21C-34FB-4089-BFCA-B9359B85DA77}"/>
              </a:ext>
            </a:extLst>
          </p:cNvPr>
          <p:cNvCxnSpPr>
            <a:cxnSpLocks/>
          </p:cNvCxnSpPr>
          <p:nvPr/>
        </p:nvCxnSpPr>
        <p:spPr bwMode="auto">
          <a:xfrm flipH="1" flipV="1">
            <a:off x="3925047" y="4479603"/>
            <a:ext cx="1244600" cy="8041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Gerade Verbindung mit Pfeil 27">
            <a:extLst>
              <a:ext uri="{FF2B5EF4-FFF2-40B4-BE49-F238E27FC236}">
                <a16:creationId xmlns:a16="http://schemas.microsoft.com/office/drawing/2014/main" id="{CFBB2F8C-C71C-4F80-AF01-B975BA08225E}"/>
              </a:ext>
            </a:extLst>
          </p:cNvPr>
          <p:cNvCxnSpPr>
            <a:cxnSpLocks/>
            <a:stCxn id="24" idx="0"/>
          </p:cNvCxnSpPr>
          <p:nvPr/>
        </p:nvCxnSpPr>
        <p:spPr bwMode="auto">
          <a:xfrm flipH="1" flipV="1">
            <a:off x="5169648" y="4473769"/>
            <a:ext cx="413740" cy="8099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Textfeld 28">
            <a:extLst>
              <a:ext uri="{FF2B5EF4-FFF2-40B4-BE49-F238E27FC236}">
                <a16:creationId xmlns:a16="http://schemas.microsoft.com/office/drawing/2014/main" id="{58895F11-7C82-4EFF-8404-B5E34E3C2057}"/>
              </a:ext>
            </a:extLst>
          </p:cNvPr>
          <p:cNvSpPr txBox="1"/>
          <p:nvPr/>
        </p:nvSpPr>
        <p:spPr bwMode="auto">
          <a:xfrm>
            <a:off x="6013245" y="2229295"/>
            <a:ext cx="4862119" cy="1200329"/>
          </a:xfrm>
          <a:prstGeom prst="rect">
            <a:avLst/>
          </a:prstGeom>
          <a:noFill/>
        </p:spPr>
        <p:txBody>
          <a:bodyPr wrap="square" rtlCol="0">
            <a:spAutoFit/>
          </a:bodyPr>
          <a:lstStyle/>
          <a:p>
            <a:r>
              <a:rPr lang="de-DE" dirty="0"/>
              <a:t>3) Mu </a:t>
            </a:r>
            <a:r>
              <a:rPr lang="de-DE" dirty="0" err="1"/>
              <a:t>function</a:t>
            </a:r>
            <a:r>
              <a:rPr lang="de-DE" dirty="0"/>
              <a:t> </a:t>
            </a:r>
            <a:r>
              <a:rPr lang="de-DE" dirty="0" err="1"/>
              <a:t>uses</a:t>
            </a:r>
            <a:r>
              <a:rPr lang="de-DE" dirty="0"/>
              <a:t> </a:t>
            </a:r>
            <a:r>
              <a:rPr lang="de-DE" dirty="0" err="1"/>
              <a:t>propensity</a:t>
            </a:r>
            <a:r>
              <a:rPr lang="de-DE" dirty="0"/>
              <a:t> score </a:t>
            </a:r>
            <a:r>
              <a:rPr lang="de-DE" dirty="0" err="1"/>
              <a:t>to</a:t>
            </a:r>
            <a:r>
              <a:rPr lang="de-DE" dirty="0"/>
              <a:t> </a:t>
            </a:r>
            <a:r>
              <a:rPr lang="de-DE" dirty="0" err="1"/>
              <a:t>avoid</a:t>
            </a:r>
            <a:r>
              <a:rPr lang="de-DE" dirty="0"/>
              <a:t> </a:t>
            </a:r>
            <a:r>
              <a:rPr lang="de-DE" dirty="0" err="1"/>
              <a:t>regularization-induced</a:t>
            </a:r>
            <a:r>
              <a:rPr lang="de-DE" dirty="0"/>
              <a:t> </a:t>
            </a:r>
            <a:r>
              <a:rPr lang="de-DE" dirty="0" err="1"/>
              <a:t>bias</a:t>
            </a:r>
            <a:r>
              <a:rPr lang="de-DE" dirty="0"/>
              <a:t> (tau </a:t>
            </a:r>
            <a:r>
              <a:rPr lang="de-DE" dirty="0" err="1"/>
              <a:t>absorbing</a:t>
            </a:r>
            <a:r>
              <a:rPr lang="de-DE" dirty="0"/>
              <a:t> </a:t>
            </a:r>
            <a:r>
              <a:rPr lang="de-DE" dirty="0" err="1"/>
              <a:t>higher</a:t>
            </a:r>
            <a:r>
              <a:rPr lang="de-DE" dirty="0"/>
              <a:t> </a:t>
            </a:r>
            <a:r>
              <a:rPr lang="de-DE" dirty="0" err="1"/>
              <a:t>treatment</a:t>
            </a:r>
            <a:r>
              <a:rPr lang="de-DE" dirty="0"/>
              <a:t> </a:t>
            </a:r>
            <a:r>
              <a:rPr lang="de-DE" dirty="0" err="1"/>
              <a:t>probability</a:t>
            </a:r>
            <a:r>
              <a:rPr lang="de-DE" dirty="0"/>
              <a:t> </a:t>
            </a:r>
            <a:r>
              <a:rPr lang="de-DE" dirty="0" err="1"/>
              <a:t>caused</a:t>
            </a:r>
            <a:r>
              <a:rPr lang="de-DE" dirty="0"/>
              <a:t> </a:t>
            </a:r>
            <a:r>
              <a:rPr lang="de-DE" dirty="0" err="1"/>
              <a:t>by</a:t>
            </a:r>
            <a:r>
              <a:rPr lang="de-DE" dirty="0"/>
              <a:t> Xi </a:t>
            </a:r>
            <a:r>
              <a:rPr lang="de-DE" dirty="0" err="1"/>
              <a:t>being</a:t>
            </a:r>
            <a:r>
              <a:rPr lang="de-DE" dirty="0"/>
              <a:t> </a:t>
            </a:r>
            <a:r>
              <a:rPr lang="de-DE" dirty="0" err="1"/>
              <a:t>predictive</a:t>
            </a:r>
            <a:r>
              <a:rPr lang="de-DE" dirty="0"/>
              <a:t> </a:t>
            </a:r>
            <a:r>
              <a:rPr lang="de-DE" dirty="0" err="1"/>
              <a:t>of</a:t>
            </a:r>
            <a:r>
              <a:rPr lang="de-DE" dirty="0"/>
              <a:t> </a:t>
            </a:r>
            <a:r>
              <a:rPr lang="de-DE" dirty="0" err="1"/>
              <a:t>low</a:t>
            </a:r>
            <a:r>
              <a:rPr lang="de-DE" dirty="0"/>
              <a:t> </a:t>
            </a:r>
            <a:r>
              <a:rPr lang="de-DE" dirty="0" err="1"/>
              <a:t>prognostic</a:t>
            </a:r>
            <a:r>
              <a:rPr lang="de-DE" dirty="0"/>
              <a:t> </a:t>
            </a:r>
            <a:r>
              <a:rPr lang="de-DE" dirty="0" err="1"/>
              <a:t>value</a:t>
            </a:r>
            <a:r>
              <a:rPr lang="de-DE" dirty="0"/>
              <a:t>)	 </a:t>
            </a:r>
          </a:p>
        </p:txBody>
      </p:sp>
      <p:cxnSp>
        <p:nvCxnSpPr>
          <p:cNvPr id="31" name="Gerade Verbindung mit Pfeil 30">
            <a:extLst>
              <a:ext uri="{FF2B5EF4-FFF2-40B4-BE49-F238E27FC236}">
                <a16:creationId xmlns:a16="http://schemas.microsoft.com/office/drawing/2014/main" id="{33DF7DC7-914A-4E56-8BED-BA84DA479573}"/>
              </a:ext>
            </a:extLst>
          </p:cNvPr>
          <p:cNvCxnSpPr>
            <a:cxnSpLocks/>
            <a:stCxn id="29" idx="1"/>
          </p:cNvCxnSpPr>
          <p:nvPr/>
        </p:nvCxnSpPr>
        <p:spPr bwMode="auto">
          <a:xfrm flipH="1">
            <a:off x="4471147" y="2829460"/>
            <a:ext cx="1542098" cy="12874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 name="Textfeld 32">
            <a:extLst>
              <a:ext uri="{FF2B5EF4-FFF2-40B4-BE49-F238E27FC236}">
                <a16:creationId xmlns:a16="http://schemas.microsoft.com/office/drawing/2014/main" id="{2E60D577-2886-40B5-955E-7EFA9DC7F6B4}"/>
              </a:ext>
            </a:extLst>
          </p:cNvPr>
          <p:cNvSpPr txBox="1"/>
          <p:nvPr/>
        </p:nvSpPr>
        <p:spPr bwMode="auto">
          <a:xfrm>
            <a:off x="6724445" y="3393669"/>
            <a:ext cx="5240400" cy="2031325"/>
          </a:xfrm>
          <a:prstGeom prst="rect">
            <a:avLst/>
          </a:prstGeom>
          <a:noFill/>
        </p:spPr>
        <p:txBody>
          <a:bodyPr wrap="square" rtlCol="0">
            <a:spAutoFit/>
          </a:bodyPr>
          <a:lstStyle/>
          <a:p>
            <a:r>
              <a:rPr lang="de-DE" dirty="0"/>
              <a:t>4) The </a:t>
            </a:r>
            <a:r>
              <a:rPr lang="de-DE" dirty="0" err="1"/>
              <a:t>model</a:t>
            </a:r>
            <a:r>
              <a:rPr lang="de-DE" dirty="0"/>
              <a:t> </a:t>
            </a:r>
            <a:r>
              <a:rPr lang="de-DE" dirty="0" err="1"/>
              <a:t>is</a:t>
            </a:r>
            <a:r>
              <a:rPr lang="de-DE" dirty="0"/>
              <a:t> </a:t>
            </a:r>
            <a:r>
              <a:rPr lang="de-DE" b="1" dirty="0" err="1"/>
              <a:t>Bayesian</a:t>
            </a:r>
            <a:r>
              <a:rPr lang="de-DE" b="1" dirty="0"/>
              <a:t>,</a:t>
            </a:r>
            <a:r>
              <a:rPr lang="de-DE" dirty="0"/>
              <a:t> </a:t>
            </a:r>
            <a:r>
              <a:rPr lang="de-DE" dirty="0" err="1"/>
              <a:t>using</a:t>
            </a:r>
            <a:r>
              <a:rPr lang="de-DE" dirty="0"/>
              <a:t> </a:t>
            </a:r>
            <a:r>
              <a:rPr lang="de-DE" b="1" dirty="0" err="1"/>
              <a:t>priors</a:t>
            </a:r>
            <a:r>
              <a:rPr lang="de-DE" dirty="0"/>
              <a:t>:</a:t>
            </a:r>
          </a:p>
          <a:p>
            <a:pPr marL="285750" indent="-285750">
              <a:buFontTx/>
              <a:buChar char="-"/>
            </a:pPr>
            <a:r>
              <a:rPr lang="de-DE" dirty="0" err="1"/>
              <a:t>Less</a:t>
            </a:r>
            <a:r>
              <a:rPr lang="de-DE" dirty="0"/>
              <a:t> informative (i.e., </a:t>
            </a:r>
            <a:r>
              <a:rPr lang="de-DE" dirty="0" err="1"/>
              <a:t>more</a:t>
            </a:r>
            <a:r>
              <a:rPr lang="de-DE" dirty="0"/>
              <a:t> flexible) </a:t>
            </a:r>
            <a:r>
              <a:rPr lang="de-DE" dirty="0" err="1"/>
              <a:t>for</a:t>
            </a:r>
            <a:r>
              <a:rPr lang="de-DE" dirty="0"/>
              <a:t> </a:t>
            </a:r>
            <a:r>
              <a:rPr lang="de-DE" dirty="0" err="1"/>
              <a:t>mu</a:t>
            </a:r>
            <a:endParaRPr lang="de-DE" dirty="0"/>
          </a:p>
          <a:p>
            <a:pPr marL="285750" indent="-285750">
              <a:buFontTx/>
              <a:buChar char="-"/>
            </a:pPr>
            <a:r>
              <a:rPr lang="de-DE" dirty="0"/>
              <a:t>More informative (</a:t>
            </a:r>
            <a:r>
              <a:rPr lang="de-DE" dirty="0" err="1"/>
              <a:t>regularizing</a:t>
            </a:r>
            <a:r>
              <a:rPr lang="de-DE" dirty="0"/>
              <a:t>) </a:t>
            </a:r>
            <a:r>
              <a:rPr lang="de-DE" dirty="0" err="1"/>
              <a:t>for</a:t>
            </a:r>
            <a:r>
              <a:rPr lang="de-DE" dirty="0"/>
              <a:t> tau</a:t>
            </a:r>
          </a:p>
          <a:p>
            <a:pPr marL="285750" indent="-285750">
              <a:buFontTx/>
              <a:buChar char="-"/>
            </a:pPr>
            <a:r>
              <a:rPr lang="de-DE" dirty="0"/>
              <a:t>This </a:t>
            </a:r>
            <a:r>
              <a:rPr lang="de-DE" dirty="0" err="1"/>
              <a:t>is</a:t>
            </a:r>
            <a:r>
              <a:rPr lang="de-DE" dirty="0"/>
              <a:t> </a:t>
            </a:r>
            <a:r>
              <a:rPr lang="de-DE" dirty="0" err="1"/>
              <a:t>great</a:t>
            </a:r>
            <a:r>
              <a:rPr lang="de-DE" dirty="0"/>
              <a:t> </a:t>
            </a:r>
            <a:r>
              <a:rPr lang="de-DE" dirty="0" err="1"/>
              <a:t>for</a:t>
            </a:r>
            <a:r>
              <a:rPr lang="de-DE" dirty="0"/>
              <a:t> </a:t>
            </a:r>
            <a:r>
              <a:rPr lang="de-DE" dirty="0" err="1"/>
              <a:t>preventing</a:t>
            </a:r>
            <a:r>
              <a:rPr lang="de-DE" dirty="0"/>
              <a:t> </a:t>
            </a:r>
            <a:r>
              <a:rPr lang="de-DE" dirty="0" err="1"/>
              <a:t>overestimation</a:t>
            </a:r>
            <a:r>
              <a:rPr lang="de-DE" dirty="0"/>
              <a:t> </a:t>
            </a:r>
            <a:r>
              <a:rPr lang="de-DE" dirty="0" err="1"/>
              <a:t>of</a:t>
            </a:r>
            <a:r>
              <a:rPr lang="de-DE" dirty="0"/>
              <a:t> </a:t>
            </a:r>
            <a:r>
              <a:rPr lang="de-DE" dirty="0" err="1"/>
              <a:t>heterogeneity</a:t>
            </a:r>
            <a:r>
              <a:rPr lang="de-DE" dirty="0"/>
              <a:t> in </a:t>
            </a:r>
            <a:r>
              <a:rPr lang="de-DE" dirty="0" err="1"/>
              <a:t>treatment</a:t>
            </a:r>
            <a:r>
              <a:rPr lang="de-DE" dirty="0"/>
              <a:t> </a:t>
            </a:r>
            <a:r>
              <a:rPr lang="de-DE" dirty="0" err="1"/>
              <a:t>effects</a:t>
            </a:r>
            <a:endParaRPr lang="de-DE" dirty="0"/>
          </a:p>
          <a:p>
            <a:pPr marL="285750" indent="-285750">
              <a:buFontTx/>
              <a:buChar char="-"/>
            </a:pPr>
            <a:r>
              <a:rPr lang="de-DE" dirty="0"/>
              <a:t>And </a:t>
            </a:r>
            <a:r>
              <a:rPr lang="de-DE" dirty="0" err="1"/>
              <a:t>it</a:t>
            </a:r>
            <a:r>
              <a:rPr lang="de-DE" dirty="0"/>
              <a:t> </a:t>
            </a:r>
            <a:r>
              <a:rPr lang="de-DE" dirty="0" err="1"/>
              <a:t>provides</a:t>
            </a:r>
            <a:r>
              <a:rPr lang="de-DE" dirty="0"/>
              <a:t> </a:t>
            </a:r>
            <a:r>
              <a:rPr lang="de-DE" dirty="0" err="1"/>
              <a:t>full</a:t>
            </a:r>
            <a:r>
              <a:rPr lang="de-DE" dirty="0"/>
              <a:t> </a:t>
            </a:r>
            <a:r>
              <a:rPr lang="de-DE" dirty="0" err="1"/>
              <a:t>posteriors</a:t>
            </a:r>
            <a:r>
              <a:rPr lang="de-DE" dirty="0"/>
              <a:t> (i.e., </a:t>
            </a:r>
            <a:r>
              <a:rPr lang="de-DE" dirty="0" err="1"/>
              <a:t>inference</a:t>
            </a:r>
            <a:r>
              <a:rPr lang="de-DE" dirty="0"/>
              <a:t> – </a:t>
            </a:r>
            <a:r>
              <a:rPr lang="de-DE" dirty="0" err="1"/>
              <a:t>similar</a:t>
            </a:r>
            <a:r>
              <a:rPr lang="de-DE" dirty="0"/>
              <a:t> </a:t>
            </a:r>
            <a:r>
              <a:rPr lang="de-DE" dirty="0" err="1"/>
              <a:t>to</a:t>
            </a:r>
            <a:r>
              <a:rPr lang="de-DE" dirty="0"/>
              <a:t> double/</a:t>
            </a:r>
            <a:r>
              <a:rPr lang="de-DE" dirty="0" err="1"/>
              <a:t>debiased</a:t>
            </a:r>
            <a:r>
              <a:rPr lang="de-DE" dirty="0"/>
              <a:t> ML)</a:t>
            </a:r>
          </a:p>
        </p:txBody>
      </p:sp>
      <p:sp>
        <p:nvSpPr>
          <p:cNvPr id="35" name="Abgerundetes Rechteck 41">
            <a:extLst>
              <a:ext uri="{FF2B5EF4-FFF2-40B4-BE49-F238E27FC236}">
                <a16:creationId xmlns:a16="http://schemas.microsoft.com/office/drawing/2014/main" id="{FA2E685B-AB7C-4AAB-9ACC-CB22E47FE65A}"/>
              </a:ext>
            </a:extLst>
          </p:cNvPr>
          <p:cNvSpPr/>
          <p:nvPr/>
        </p:nvSpPr>
        <p:spPr bwMode="auto">
          <a:xfrm>
            <a:off x="9779666" y="6211669"/>
            <a:ext cx="2114514" cy="64633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defTabSz="914400" rtl="0" eaLnBrk="1" fontAlgn="auto" latinLnBrk="0" hangingPunct="1">
              <a:lnSpc>
                <a:spcPct val="100000"/>
              </a:lnSpc>
              <a:spcBef>
                <a:spcPts val="0"/>
              </a:spcBef>
              <a:spcAft>
                <a:spcPts val="0"/>
              </a:spcAft>
              <a:buClrTx/>
              <a:buSzTx/>
              <a:tabLst/>
              <a:defRPr/>
            </a:pP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I)   </a:t>
            </a:r>
            <a:r>
              <a:rPr kumimoji="0" lang="de-CH" sz="1000" i="0" u="none" strike="noStrike" kern="1200" cap="none" spc="0" normalizeH="0" baseline="0" noProof="0" dirty="0" err="1">
                <a:ln>
                  <a:noFill/>
                </a:ln>
                <a:solidFill>
                  <a:schemeClr val="tx1"/>
                </a:solidFill>
                <a:effectLst/>
                <a:uLnTx/>
                <a:uFillTx/>
                <a:latin typeface="Arial" panose="020B0604020202020204"/>
                <a:ea typeface="+mn-ea"/>
                <a:cs typeface="+mn-cs"/>
              </a:rPr>
              <a:t>What</a:t>
            </a: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is</a:t>
            </a: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 CML</a:t>
            </a:r>
            <a:r>
              <a:rPr lang="de-CH" sz="1000" dirty="0">
                <a:solidFill>
                  <a:schemeClr val="tx1"/>
                </a:solidFill>
                <a:latin typeface="Arial" panose="020B0604020202020204"/>
              </a:rPr>
              <a:t>?</a:t>
            </a:r>
          </a:p>
          <a:p>
            <a:pPr marR="0" lvl="0" defTabSz="914400" rtl="0" eaLnBrk="1" fontAlgn="auto" latinLnBrk="0" hangingPunct="1">
              <a:lnSpc>
                <a:spcPct val="100000"/>
              </a:lnSpc>
              <a:spcBef>
                <a:spcPts val="0"/>
              </a:spcBef>
              <a:spcAft>
                <a:spcPts val="0"/>
              </a:spcAft>
              <a:buClrTx/>
              <a:buSzTx/>
              <a:tabLst/>
              <a:defRPr/>
            </a:pPr>
            <a:r>
              <a:rPr lang="de-CH" sz="1000" b="1" dirty="0">
                <a:solidFill>
                  <a:schemeClr val="tx1"/>
                </a:solidFill>
                <a:latin typeface="Arial" panose="020B0604020202020204"/>
              </a:rPr>
              <a:t>II)  </a:t>
            </a:r>
            <a:r>
              <a:rPr kumimoji="0" lang="de-CH" sz="1000" b="1" i="0" u="none" strike="noStrike" kern="1200" cap="none" spc="0" normalizeH="0" baseline="0" noProof="0" dirty="0">
                <a:ln>
                  <a:noFill/>
                </a:ln>
                <a:solidFill>
                  <a:schemeClr val="tx1"/>
                </a:solidFill>
                <a:effectLst/>
                <a:uLnTx/>
                <a:uFillTx/>
                <a:latin typeface="Arial" panose="020B0604020202020204"/>
                <a:ea typeface="+mn-ea"/>
                <a:cs typeface="+mn-cs"/>
              </a:rPr>
              <a:t>The </a:t>
            </a:r>
            <a:r>
              <a:rPr kumimoji="0" lang="de-CH" sz="1000" b="1" i="1" u="none" strike="noStrike" kern="1200" cap="none" spc="0" normalizeH="0" baseline="0" noProof="0" dirty="0" err="1">
                <a:ln>
                  <a:noFill/>
                </a:ln>
                <a:solidFill>
                  <a:schemeClr val="tx1"/>
                </a:solidFill>
                <a:effectLst/>
                <a:uLnTx/>
                <a:uFillTx/>
                <a:latin typeface="Arial" panose="020B0604020202020204"/>
                <a:ea typeface="+mn-ea"/>
                <a:cs typeface="+mn-cs"/>
              </a:rPr>
              <a:t>Bayesian</a:t>
            </a:r>
            <a:r>
              <a:rPr kumimoji="0" lang="de-CH" sz="1000" b="1" i="1"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b="1" i="1" u="none" strike="noStrike" kern="1200" cap="none" spc="0" normalizeH="0" baseline="0" noProof="0" dirty="0" err="1">
                <a:ln>
                  <a:noFill/>
                </a:ln>
                <a:solidFill>
                  <a:schemeClr val="tx1"/>
                </a:solidFill>
                <a:effectLst/>
                <a:uLnTx/>
                <a:uFillTx/>
                <a:latin typeface="Arial" panose="020B0604020202020204"/>
                <a:ea typeface="+mn-ea"/>
                <a:cs typeface="+mn-cs"/>
              </a:rPr>
              <a:t>causal</a:t>
            </a:r>
            <a:r>
              <a:rPr kumimoji="0" lang="de-CH" sz="1000" b="1" i="1"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b="1" i="1" u="none" strike="noStrike" kern="1200" cap="none" spc="0" normalizeH="0" baseline="0" noProof="0" dirty="0" err="1">
                <a:ln>
                  <a:noFill/>
                </a:ln>
                <a:solidFill>
                  <a:schemeClr val="tx1"/>
                </a:solidFill>
                <a:effectLst/>
                <a:uLnTx/>
                <a:uFillTx/>
                <a:latin typeface="Arial" panose="020B0604020202020204"/>
                <a:ea typeface="+mn-ea"/>
                <a:cs typeface="+mn-cs"/>
              </a:rPr>
              <a:t>forest</a:t>
            </a:r>
            <a:endParaRPr kumimoji="0" lang="de-CH" sz="1000" b="1" i="1" u="none" strike="noStrike" kern="1200" cap="none" spc="0" normalizeH="0" baseline="0" noProof="0" dirty="0">
              <a:ln>
                <a:noFill/>
              </a:ln>
              <a:solidFill>
                <a:schemeClr val="tx1"/>
              </a:solidFill>
              <a:effectLst/>
              <a:uLnTx/>
              <a:uFillTx/>
              <a:latin typeface="Arial" panose="020B0604020202020204"/>
              <a:ea typeface="+mn-ea"/>
              <a:cs typeface="+mn-cs"/>
            </a:endParaRPr>
          </a:p>
          <a:p>
            <a:pPr marR="0" lvl="0" defTabSz="914400" rtl="0" eaLnBrk="1" fontAlgn="auto" latinLnBrk="0" hangingPunct="1">
              <a:lnSpc>
                <a:spcPct val="100000"/>
              </a:lnSpc>
              <a:spcBef>
                <a:spcPts val="0"/>
              </a:spcBef>
              <a:spcAft>
                <a:spcPts val="0"/>
              </a:spcAft>
              <a:buClrTx/>
              <a:buSzTx/>
              <a:tabLst/>
              <a:defRPr/>
            </a:pPr>
            <a:r>
              <a:rPr lang="de-CH" sz="1000" dirty="0">
                <a:solidFill>
                  <a:schemeClr val="tx1"/>
                </a:solidFill>
                <a:latin typeface="Arial" panose="020B0604020202020204"/>
              </a:rPr>
              <a:t>III) </a:t>
            </a:r>
            <a:r>
              <a:rPr lang="de-CH" sz="1000" i="1" dirty="0" err="1">
                <a:solidFill>
                  <a:schemeClr val="tx1"/>
                </a:solidFill>
                <a:latin typeface="Arial" panose="020B0604020202020204"/>
              </a:rPr>
              <a:t>Uniqueness</a:t>
            </a:r>
            <a:r>
              <a:rPr lang="de-CH" sz="1000" i="1" dirty="0">
                <a:solidFill>
                  <a:schemeClr val="tx1"/>
                </a:solidFill>
                <a:latin typeface="Arial" panose="020B0604020202020204"/>
              </a:rPr>
              <a:t> </a:t>
            </a:r>
            <a:r>
              <a:rPr lang="de-CH" sz="1000" dirty="0" err="1">
                <a:solidFill>
                  <a:schemeClr val="tx1"/>
                </a:solidFill>
                <a:latin typeface="Arial" panose="020B0604020202020204"/>
              </a:rPr>
              <a:t>of</a:t>
            </a:r>
            <a:r>
              <a:rPr lang="de-CH" sz="1000" dirty="0">
                <a:solidFill>
                  <a:schemeClr val="tx1"/>
                </a:solidFill>
                <a:latin typeface="Arial" panose="020B0604020202020204"/>
              </a:rPr>
              <a:t> CML</a:t>
            </a:r>
          </a:p>
          <a:p>
            <a:pPr marR="0" lvl="0" defTabSz="914400" rtl="0" eaLnBrk="1" fontAlgn="auto" latinLnBrk="0" hangingPunct="1">
              <a:lnSpc>
                <a:spcPct val="100000"/>
              </a:lnSpc>
              <a:spcBef>
                <a:spcPts val="0"/>
              </a:spcBef>
              <a:spcAft>
                <a:spcPts val="0"/>
              </a:spcAft>
              <a:buClrTx/>
              <a:buSzTx/>
              <a:tabLst/>
              <a:defRPr/>
            </a:pP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IV)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Implications</a:t>
            </a: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u="none" strike="noStrike" kern="1200" cap="none" spc="0" normalizeH="0" baseline="0" noProof="0" dirty="0" err="1">
                <a:ln>
                  <a:noFill/>
                </a:ln>
                <a:solidFill>
                  <a:schemeClr val="tx1"/>
                </a:solidFill>
                <a:effectLst/>
                <a:uLnTx/>
                <a:uFillTx/>
                <a:latin typeface="Arial" panose="020B0604020202020204"/>
                <a:ea typeface="+mn-ea"/>
                <a:cs typeface="+mn-cs"/>
              </a:rPr>
              <a:t>for</a:t>
            </a:r>
            <a:r>
              <a:rPr kumimoji="0" lang="de-CH" sz="1000"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u="none" strike="noStrike" kern="1200" cap="none" spc="0" normalizeH="0" baseline="0" noProof="0" dirty="0" err="1">
                <a:ln>
                  <a:noFill/>
                </a:ln>
                <a:solidFill>
                  <a:schemeClr val="tx1"/>
                </a:solidFill>
                <a:effectLst/>
                <a:uLnTx/>
                <a:uFillTx/>
                <a:latin typeface="Arial" panose="020B0604020202020204"/>
                <a:ea typeface="+mn-ea"/>
                <a:cs typeface="+mn-cs"/>
              </a:rPr>
              <a:t>our</a:t>
            </a:r>
            <a:r>
              <a:rPr kumimoji="0" lang="de-CH" sz="1000"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u="none" strike="noStrike" kern="1200" cap="none" spc="0" normalizeH="0" baseline="0" noProof="0" dirty="0" err="1">
                <a:ln>
                  <a:noFill/>
                </a:ln>
                <a:solidFill>
                  <a:schemeClr val="tx1"/>
                </a:solidFill>
                <a:effectLst/>
                <a:uLnTx/>
                <a:uFillTx/>
                <a:latin typeface="Arial" panose="020B0604020202020204"/>
                <a:ea typeface="+mn-ea"/>
                <a:cs typeface="+mn-cs"/>
              </a:rPr>
              <a:t>research</a:t>
            </a:r>
            <a:endParaRPr kumimoji="0" lang="de-CH" sz="1000" u="none" strike="noStrike" kern="1200" cap="none" spc="0" normalizeH="0" baseline="0" noProof="0" dirty="0">
              <a:ln>
                <a:noFill/>
              </a:ln>
              <a:solidFill>
                <a:schemeClr val="tx1"/>
              </a:solidFill>
              <a:effectLst/>
              <a:uLnTx/>
              <a:uFillTx/>
              <a:latin typeface="Arial" panose="020B0604020202020204"/>
              <a:ea typeface="+mn-ea"/>
              <a:cs typeface="+mn-cs"/>
            </a:endParaRPr>
          </a:p>
        </p:txBody>
      </p:sp>
      <p:sp>
        <p:nvSpPr>
          <p:cNvPr id="16" name="Textfeld 15">
            <a:extLst>
              <a:ext uri="{FF2B5EF4-FFF2-40B4-BE49-F238E27FC236}">
                <a16:creationId xmlns:a16="http://schemas.microsoft.com/office/drawing/2014/main" id="{092F070E-CB99-4D6A-8982-C00A02FA52EC}"/>
              </a:ext>
            </a:extLst>
          </p:cNvPr>
          <p:cNvSpPr txBox="1"/>
          <p:nvPr/>
        </p:nvSpPr>
        <p:spPr bwMode="auto">
          <a:xfrm>
            <a:off x="186878" y="2252843"/>
            <a:ext cx="4862119" cy="369332"/>
          </a:xfrm>
          <a:prstGeom prst="rect">
            <a:avLst/>
          </a:prstGeom>
          <a:noFill/>
        </p:spPr>
        <p:txBody>
          <a:bodyPr wrap="square" rtlCol="0">
            <a:spAutoFit/>
          </a:bodyPr>
          <a:lstStyle/>
          <a:p>
            <a:r>
              <a:rPr lang="de-DE" b="1" dirty="0" err="1"/>
              <a:t>Strengths</a:t>
            </a:r>
            <a:r>
              <a:rPr lang="de-DE" b="1" dirty="0"/>
              <a:t> </a:t>
            </a:r>
            <a:r>
              <a:rPr lang="de-DE" dirty="0"/>
              <a:t>(</a:t>
            </a:r>
            <a:r>
              <a:rPr lang="de-DE" dirty="0" err="1"/>
              <a:t>comp.</a:t>
            </a:r>
            <a:r>
              <a:rPr lang="de-DE" dirty="0"/>
              <a:t> </a:t>
            </a:r>
            <a:r>
              <a:rPr lang="de-DE" dirty="0" err="1"/>
              <a:t>to</a:t>
            </a:r>
            <a:r>
              <a:rPr lang="de-DE" dirty="0"/>
              <a:t> GLM)</a:t>
            </a:r>
            <a:r>
              <a:rPr lang="de-DE" b="1" dirty="0"/>
              <a:t>:</a:t>
            </a:r>
          </a:p>
        </p:txBody>
      </p:sp>
    </p:spTree>
    <p:extLst>
      <p:ext uri="{BB962C8B-B14F-4D97-AF65-F5344CB8AC3E}">
        <p14:creationId xmlns:p14="http://schemas.microsoft.com/office/powerpoint/2010/main" val="34834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4" grpId="0"/>
      <p:bldP spid="29" grpId="0"/>
      <p:bldP spid="33" grpId="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 name="Rechteck 3">
            <a:extLst>
              <a:ext uri="{FF2B5EF4-FFF2-40B4-BE49-F238E27FC236}">
                <a16:creationId xmlns:a16="http://schemas.microsoft.com/office/drawing/2014/main" id="{7524DA9A-46A3-4912-BF4E-032E888E93B0}"/>
              </a:ext>
            </a:extLst>
          </p:cNvPr>
          <p:cNvSpPr/>
          <p:nvPr/>
        </p:nvSpPr>
        <p:spPr>
          <a:xfrm>
            <a:off x="119336" y="585247"/>
            <a:ext cx="11953328" cy="56166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pic>
        <p:nvPicPr>
          <p:cNvPr id="2" name="Grafik 1">
            <a:extLst>
              <a:ext uri="{FF2B5EF4-FFF2-40B4-BE49-F238E27FC236}">
                <a16:creationId xmlns:a16="http://schemas.microsoft.com/office/drawing/2014/main" id="{B56464A0-342D-4D87-B5D6-11B1D44D8C40}"/>
              </a:ext>
            </a:extLst>
          </p:cNvPr>
          <p:cNvPicPr>
            <a:picLocks noChangeAspect="1"/>
          </p:cNvPicPr>
          <p:nvPr/>
        </p:nvPicPr>
        <p:blipFill>
          <a:blip r:embed="rId3"/>
          <a:stretch>
            <a:fillRect/>
          </a:stretch>
        </p:blipFill>
        <p:spPr>
          <a:xfrm>
            <a:off x="207182" y="793461"/>
            <a:ext cx="2988482" cy="1435834"/>
          </a:xfrm>
          <a:prstGeom prst="rect">
            <a:avLst/>
          </a:prstGeom>
        </p:spPr>
      </p:pic>
      <p:pic>
        <p:nvPicPr>
          <p:cNvPr id="5" name="Grafik 4">
            <a:extLst>
              <a:ext uri="{FF2B5EF4-FFF2-40B4-BE49-F238E27FC236}">
                <a16:creationId xmlns:a16="http://schemas.microsoft.com/office/drawing/2014/main" id="{108590C7-2582-4485-B569-69D175EB972E}"/>
              </a:ext>
            </a:extLst>
          </p:cNvPr>
          <p:cNvPicPr>
            <a:picLocks noChangeAspect="1"/>
          </p:cNvPicPr>
          <p:nvPr/>
        </p:nvPicPr>
        <p:blipFill>
          <a:blip r:embed="rId4"/>
          <a:stretch>
            <a:fillRect/>
          </a:stretch>
        </p:blipFill>
        <p:spPr>
          <a:xfrm>
            <a:off x="890383" y="2643251"/>
            <a:ext cx="10813143" cy="593800"/>
          </a:xfrm>
          <a:prstGeom prst="rect">
            <a:avLst/>
          </a:prstGeom>
        </p:spPr>
      </p:pic>
      <p:cxnSp>
        <p:nvCxnSpPr>
          <p:cNvPr id="13" name="Gerade Verbindung mit Pfeil 12">
            <a:extLst>
              <a:ext uri="{FF2B5EF4-FFF2-40B4-BE49-F238E27FC236}">
                <a16:creationId xmlns:a16="http://schemas.microsoft.com/office/drawing/2014/main" id="{89786B7B-C2C7-4FED-A096-A9A5D478191A}"/>
              </a:ext>
            </a:extLst>
          </p:cNvPr>
          <p:cNvCxnSpPr>
            <a:cxnSpLocks/>
          </p:cNvCxnSpPr>
          <p:nvPr/>
        </p:nvCxnSpPr>
        <p:spPr>
          <a:xfrm flipV="1">
            <a:off x="1914479" y="3198331"/>
            <a:ext cx="20339" cy="50923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feld 18">
            <a:extLst>
              <a:ext uri="{FF2B5EF4-FFF2-40B4-BE49-F238E27FC236}">
                <a16:creationId xmlns:a16="http://schemas.microsoft.com/office/drawing/2014/main" id="{1DB05A2F-2DD7-489B-B316-9D10D9CC53CC}"/>
              </a:ext>
            </a:extLst>
          </p:cNvPr>
          <p:cNvSpPr txBox="1"/>
          <p:nvPr/>
        </p:nvSpPr>
        <p:spPr>
          <a:xfrm>
            <a:off x="696354" y="3651007"/>
            <a:ext cx="2654272" cy="2031325"/>
          </a:xfrm>
          <a:prstGeom prst="rect">
            <a:avLst/>
          </a:prstGeom>
          <a:noFill/>
        </p:spPr>
        <p:txBody>
          <a:bodyPr wrap="square" rtlCol="0">
            <a:spAutoFit/>
          </a:bodyPr>
          <a:lstStyle/>
          <a:p>
            <a:r>
              <a:rPr lang="de-DE" dirty="0" err="1">
                <a:latin typeface="Arial" panose="020B0604020202020204" pitchFamily="34" charset="0"/>
                <a:cs typeface="Arial" panose="020B0604020202020204" pitchFamily="34" charset="0"/>
              </a:rPr>
              <a:t>Prediction</a:t>
            </a:r>
            <a:r>
              <a:rPr lang="de-DE" dirty="0">
                <a:latin typeface="Arial" panose="020B0604020202020204" pitchFamily="34" charset="0"/>
                <a:cs typeface="Arial" panose="020B0604020202020204" pitchFamily="34" charset="0"/>
              </a:rPr>
              <a:t> </a:t>
            </a:r>
            <a:r>
              <a:rPr lang="de-DE" dirty="0" err="1">
                <a:latin typeface="Arial" panose="020B0604020202020204" pitchFamily="34" charset="0"/>
                <a:cs typeface="Arial" panose="020B0604020202020204" pitchFamily="34" charset="0"/>
              </a:rPr>
              <a:t>function</a:t>
            </a:r>
            <a:r>
              <a:rPr lang="de-DE" dirty="0">
                <a:latin typeface="Arial" panose="020B0604020202020204" pitchFamily="34" charset="0"/>
                <a:cs typeface="Arial" panose="020B0604020202020204" pitchFamily="34" charset="0"/>
              </a:rPr>
              <a:t> </a:t>
            </a:r>
            <a:r>
              <a:rPr lang="de-DE" dirty="0" err="1">
                <a:latin typeface="Arial" panose="020B0604020202020204" pitchFamily="34" charset="0"/>
                <a:cs typeface="Arial" panose="020B0604020202020204" pitchFamily="34" charset="0"/>
              </a:rPr>
              <a:t>independently</a:t>
            </a:r>
            <a:r>
              <a:rPr lang="de-DE" dirty="0">
                <a:latin typeface="Arial" panose="020B0604020202020204" pitchFamily="34" charset="0"/>
                <a:cs typeface="Arial" panose="020B0604020202020204" pitchFamily="34" charset="0"/>
              </a:rPr>
              <a:t> </a:t>
            </a:r>
            <a:r>
              <a:rPr lang="de-DE" dirty="0" err="1">
                <a:latin typeface="Arial" panose="020B0604020202020204" pitchFamily="34" charset="0"/>
                <a:cs typeface="Arial" panose="020B0604020202020204" pitchFamily="34" charset="0"/>
              </a:rPr>
              <a:t>of</a:t>
            </a:r>
            <a:r>
              <a:rPr lang="de-DE" dirty="0">
                <a:latin typeface="Arial" panose="020B0604020202020204" pitchFamily="34" charset="0"/>
                <a:cs typeface="Arial" panose="020B0604020202020204" pitchFamily="34" charset="0"/>
              </a:rPr>
              <a:t> </a:t>
            </a:r>
            <a:r>
              <a:rPr lang="de-DE" dirty="0" err="1">
                <a:latin typeface="Arial" panose="020B0604020202020204" pitchFamily="34" charset="0"/>
                <a:cs typeface="Arial" panose="020B0604020202020204" pitchFamily="34" charset="0"/>
              </a:rPr>
              <a:t>treatment</a:t>
            </a:r>
            <a:r>
              <a:rPr lang="de-DE" dirty="0">
                <a:latin typeface="Arial" panose="020B0604020202020204" pitchFamily="34" charset="0"/>
                <a:cs typeface="Arial" panose="020B0604020202020204" pitchFamily="34" charset="0"/>
              </a:rPr>
              <a:t> (but </a:t>
            </a:r>
            <a:r>
              <a:rPr lang="de-DE" dirty="0" err="1">
                <a:latin typeface="Arial" panose="020B0604020202020204" pitchFamily="34" charset="0"/>
                <a:cs typeface="Arial" panose="020B0604020202020204" pitchFamily="34" charset="0"/>
              </a:rPr>
              <a:t>impliticly</a:t>
            </a:r>
            <a:r>
              <a:rPr lang="de-DE" dirty="0">
                <a:latin typeface="Arial" panose="020B0604020202020204" pitchFamily="34" charset="0"/>
                <a:cs typeface="Arial" panose="020B0604020202020204" pitchFamily="34" charset="0"/>
              </a:rPr>
              <a:t> </a:t>
            </a:r>
            <a:r>
              <a:rPr lang="de-DE" dirty="0" err="1">
                <a:latin typeface="Arial" panose="020B0604020202020204" pitchFamily="34" charset="0"/>
                <a:cs typeface="Arial" panose="020B0604020202020204" pitchFamily="34" charset="0"/>
              </a:rPr>
              <a:t>defined</a:t>
            </a:r>
            <a:r>
              <a:rPr lang="de-DE" dirty="0">
                <a:latin typeface="Arial" panose="020B0604020202020204" pitchFamily="34" charset="0"/>
                <a:cs typeface="Arial" panose="020B0604020202020204" pitchFamily="34" charset="0"/>
              </a:rPr>
              <a:t> </a:t>
            </a:r>
            <a:r>
              <a:rPr lang="de-DE" dirty="0" err="1">
                <a:latin typeface="Arial" panose="020B0604020202020204" pitchFamily="34" charset="0"/>
                <a:cs typeface="Arial" panose="020B0604020202020204" pitchFamily="34" charset="0"/>
              </a:rPr>
              <a:t>as</a:t>
            </a:r>
            <a:r>
              <a:rPr lang="de-DE" dirty="0">
                <a:latin typeface="Arial" panose="020B0604020202020204" pitchFamily="34" charset="0"/>
                <a:cs typeface="Arial" panose="020B0604020202020204" pitchFamily="34" charset="0"/>
              </a:rPr>
              <a:t> </a:t>
            </a:r>
            <a:r>
              <a:rPr lang="de-DE" dirty="0" err="1">
                <a:latin typeface="Arial" panose="020B0604020202020204" pitchFamily="34" charset="0"/>
                <a:cs typeface="Arial" panose="020B0604020202020204" pitchFamily="34" charset="0"/>
              </a:rPr>
              <a:t>intercept</a:t>
            </a:r>
            <a:r>
              <a:rPr lang="de-DE" dirty="0">
                <a:latin typeface="Arial" panose="020B0604020202020204" pitchFamily="34" charset="0"/>
                <a:cs typeface="Arial" panose="020B0604020202020204" pitchFamily="34" charset="0"/>
              </a:rPr>
              <a:t>; </a:t>
            </a:r>
            <a:r>
              <a:rPr lang="de-DE" dirty="0" err="1">
                <a:latin typeface="Arial" panose="020B0604020202020204" pitchFamily="34" charset="0"/>
                <a:cs typeface="Arial" panose="020B0604020202020204" pitchFamily="34" charset="0"/>
              </a:rPr>
              <a:t>frequency</a:t>
            </a:r>
            <a:r>
              <a:rPr lang="de-DE" dirty="0">
                <a:latin typeface="Arial" panose="020B0604020202020204" pitchFamily="34" charset="0"/>
                <a:cs typeface="Arial" panose="020B0604020202020204" pitchFamily="34" charset="0"/>
              </a:rPr>
              <a:t> &lt; 3 </a:t>
            </a:r>
            <a:r>
              <a:rPr lang="de-DE" dirty="0" err="1">
                <a:latin typeface="Arial" panose="020B0604020202020204" pitchFamily="34" charset="0"/>
                <a:cs typeface="Arial" panose="020B0604020202020204" pitchFamily="34" charset="0"/>
              </a:rPr>
              <a:t>times</a:t>
            </a:r>
            <a:r>
              <a:rPr lang="de-DE" dirty="0">
                <a:latin typeface="Arial" panose="020B0604020202020204" pitchFamily="34" charset="0"/>
                <a:cs typeface="Arial" panose="020B0604020202020204" pitchFamily="34" charset="0"/>
              </a:rPr>
              <a:t>, </a:t>
            </a:r>
            <a:r>
              <a:rPr lang="de-DE" dirty="0" err="1">
                <a:latin typeface="Arial" panose="020B0604020202020204" pitchFamily="34" charset="0"/>
                <a:cs typeface="Arial" panose="020B0604020202020204" pitchFamily="34" charset="0"/>
              </a:rPr>
              <a:t>duration</a:t>
            </a:r>
            <a:r>
              <a:rPr lang="de-DE" dirty="0">
                <a:latin typeface="Arial" panose="020B0604020202020204" pitchFamily="34" charset="0"/>
                <a:cs typeface="Arial" panose="020B0604020202020204" pitchFamily="34" charset="0"/>
              </a:rPr>
              <a:t> &lt; 15 min); </a:t>
            </a:r>
            <a:r>
              <a:rPr lang="de-DE" dirty="0" err="1">
                <a:latin typeface="Arial" panose="020B0604020202020204" pitchFamily="34" charset="0"/>
                <a:cs typeface="Arial" panose="020B0604020202020204" pitchFamily="34" charset="0"/>
              </a:rPr>
              <a:t>uses</a:t>
            </a:r>
            <a:r>
              <a:rPr lang="de-DE" dirty="0">
                <a:latin typeface="Arial" panose="020B0604020202020204" pitchFamily="34" charset="0"/>
                <a:cs typeface="Arial" panose="020B0604020202020204" pitchFamily="34" charset="0"/>
              </a:rPr>
              <a:t> </a:t>
            </a:r>
            <a:r>
              <a:rPr lang="de-DE" dirty="0" err="1">
                <a:latin typeface="Arial" panose="020B0604020202020204" pitchFamily="34" charset="0"/>
                <a:cs typeface="Arial" panose="020B0604020202020204" pitchFamily="34" charset="0"/>
              </a:rPr>
              <a:t>pi</a:t>
            </a:r>
            <a:r>
              <a:rPr lang="de-DE" dirty="0">
                <a:latin typeface="Arial" panose="020B0604020202020204" pitchFamily="34" charset="0"/>
                <a:cs typeface="Arial" panose="020B0604020202020204" pitchFamily="34" charset="0"/>
              </a:rPr>
              <a:t> (</a:t>
            </a:r>
            <a:r>
              <a:rPr lang="de-DE" dirty="0" err="1">
                <a:latin typeface="Arial" panose="020B0604020202020204" pitchFamily="34" charset="0"/>
                <a:cs typeface="Arial" panose="020B0604020202020204" pitchFamily="34" charset="0"/>
              </a:rPr>
              <a:t>propensity</a:t>
            </a:r>
            <a:r>
              <a:rPr lang="de-DE" dirty="0">
                <a:latin typeface="Arial" panose="020B0604020202020204" pitchFamily="34" charset="0"/>
                <a:cs typeface="Arial" panose="020B0604020202020204" pitchFamily="34" charset="0"/>
              </a:rPr>
              <a:t> score)</a:t>
            </a:r>
          </a:p>
        </p:txBody>
      </p:sp>
      <p:sp>
        <p:nvSpPr>
          <p:cNvPr id="25" name="Textfeld 24">
            <a:extLst>
              <a:ext uri="{FF2B5EF4-FFF2-40B4-BE49-F238E27FC236}">
                <a16:creationId xmlns:a16="http://schemas.microsoft.com/office/drawing/2014/main" id="{7E508199-3B5E-4583-990E-970DC288D213}"/>
              </a:ext>
            </a:extLst>
          </p:cNvPr>
          <p:cNvSpPr txBox="1"/>
          <p:nvPr/>
        </p:nvSpPr>
        <p:spPr bwMode="auto">
          <a:xfrm>
            <a:off x="3331029" y="3789506"/>
            <a:ext cx="2389084" cy="923330"/>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Treatment:</a:t>
            </a:r>
          </a:p>
          <a:p>
            <a:r>
              <a:rPr lang="de-DE" dirty="0" err="1">
                <a:latin typeface="Arial" panose="020B0604020202020204" pitchFamily="34" charset="0"/>
                <a:cs typeface="Arial" panose="020B0604020202020204" pitchFamily="34" charset="0"/>
              </a:rPr>
              <a:t>Frequency</a:t>
            </a:r>
            <a:r>
              <a:rPr lang="de-DE" dirty="0">
                <a:latin typeface="Arial" panose="020B0604020202020204" pitchFamily="34" charset="0"/>
                <a:cs typeface="Arial" panose="020B0604020202020204" pitchFamily="34" charset="0"/>
              </a:rPr>
              <a:t> 3/4 </a:t>
            </a:r>
            <a:r>
              <a:rPr lang="de-DE" dirty="0" err="1">
                <a:latin typeface="Arial" panose="020B0604020202020204" pitchFamily="34" charset="0"/>
                <a:cs typeface="Arial" panose="020B0604020202020204" pitchFamily="34" charset="0"/>
              </a:rPr>
              <a:t>or</a:t>
            </a:r>
            <a:r>
              <a:rPr lang="de-DE" dirty="0">
                <a:latin typeface="Arial" panose="020B0604020202020204" pitchFamily="34" charset="0"/>
                <a:cs typeface="Arial" panose="020B0604020202020204" pitchFamily="34" charset="0"/>
              </a:rPr>
              <a:t> 5 </a:t>
            </a:r>
            <a:r>
              <a:rPr lang="de-DE" dirty="0" err="1">
                <a:latin typeface="Arial" panose="020B0604020202020204" pitchFamily="34" charset="0"/>
                <a:cs typeface="Arial" panose="020B0604020202020204" pitchFamily="34" charset="0"/>
              </a:rPr>
              <a:t>times</a:t>
            </a:r>
            <a:r>
              <a:rPr lang="de-DE" dirty="0">
                <a:latin typeface="Arial" panose="020B0604020202020204" pitchFamily="34" charset="0"/>
                <a:cs typeface="Arial" panose="020B0604020202020204" pitchFamily="34" charset="0"/>
              </a:rPr>
              <a:t> per </a:t>
            </a:r>
            <a:r>
              <a:rPr lang="de-DE" dirty="0" err="1">
                <a:latin typeface="Arial" panose="020B0604020202020204" pitchFamily="34" charset="0"/>
                <a:cs typeface="Arial" panose="020B0604020202020204" pitchFamily="34" charset="0"/>
              </a:rPr>
              <a:t>week</a:t>
            </a:r>
            <a:endParaRPr lang="de-DE" dirty="0">
              <a:latin typeface="Arial" panose="020B0604020202020204" pitchFamily="34" charset="0"/>
              <a:cs typeface="Arial" panose="020B0604020202020204" pitchFamily="34" charset="0"/>
            </a:endParaRPr>
          </a:p>
        </p:txBody>
      </p:sp>
      <p:cxnSp>
        <p:nvCxnSpPr>
          <p:cNvPr id="27" name="Gerade Verbindung mit Pfeil 26">
            <a:extLst>
              <a:ext uri="{FF2B5EF4-FFF2-40B4-BE49-F238E27FC236}">
                <a16:creationId xmlns:a16="http://schemas.microsoft.com/office/drawing/2014/main" id="{1451A018-6E9F-4E0E-B4FB-D9FFD77A9CCD}"/>
              </a:ext>
            </a:extLst>
          </p:cNvPr>
          <p:cNvCxnSpPr>
            <a:cxnSpLocks/>
          </p:cNvCxnSpPr>
          <p:nvPr/>
        </p:nvCxnSpPr>
        <p:spPr bwMode="auto">
          <a:xfrm flipH="1" flipV="1">
            <a:off x="3135305" y="3159611"/>
            <a:ext cx="335510" cy="53877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Gerade Verbindung mit Pfeil 27">
            <a:extLst>
              <a:ext uri="{FF2B5EF4-FFF2-40B4-BE49-F238E27FC236}">
                <a16:creationId xmlns:a16="http://schemas.microsoft.com/office/drawing/2014/main" id="{AC444DD8-68EE-42A8-A621-EC0769380A09}"/>
              </a:ext>
            </a:extLst>
          </p:cNvPr>
          <p:cNvCxnSpPr>
            <a:cxnSpLocks/>
          </p:cNvCxnSpPr>
          <p:nvPr/>
        </p:nvCxnSpPr>
        <p:spPr bwMode="auto">
          <a:xfrm flipH="1" flipV="1">
            <a:off x="4900752" y="3198330"/>
            <a:ext cx="377330" cy="9220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Textfeld 30">
            <a:extLst>
              <a:ext uri="{FF2B5EF4-FFF2-40B4-BE49-F238E27FC236}">
                <a16:creationId xmlns:a16="http://schemas.microsoft.com/office/drawing/2014/main" id="{1135C928-23B0-47FC-A7F2-FDD3BB42ADDF}"/>
              </a:ext>
            </a:extLst>
          </p:cNvPr>
          <p:cNvSpPr txBox="1"/>
          <p:nvPr/>
        </p:nvSpPr>
        <p:spPr bwMode="auto">
          <a:xfrm>
            <a:off x="7162802" y="3698390"/>
            <a:ext cx="2389084" cy="923330"/>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Treatment:</a:t>
            </a:r>
          </a:p>
          <a:p>
            <a:r>
              <a:rPr lang="de-DE" dirty="0">
                <a:latin typeface="Arial" panose="020B0604020202020204" pitchFamily="34" charset="0"/>
                <a:cs typeface="Arial" panose="020B0604020202020204" pitchFamily="34" charset="0"/>
              </a:rPr>
              <a:t>Duration </a:t>
            </a:r>
            <a:r>
              <a:rPr lang="de-DE" dirty="0" err="1">
                <a:latin typeface="Arial" panose="020B0604020202020204" pitchFamily="34" charset="0"/>
                <a:cs typeface="Arial" panose="020B0604020202020204" pitchFamily="34" charset="0"/>
              </a:rPr>
              <a:t>above</a:t>
            </a:r>
            <a:r>
              <a:rPr lang="de-DE" dirty="0">
                <a:latin typeface="Arial" panose="020B0604020202020204" pitchFamily="34" charset="0"/>
                <a:cs typeface="Arial" panose="020B0604020202020204" pitchFamily="34" charset="0"/>
              </a:rPr>
              <a:t> 15/</a:t>
            </a:r>
            <a:r>
              <a:rPr lang="de-DE" dirty="0" err="1">
                <a:latin typeface="Arial" panose="020B0604020202020204" pitchFamily="34" charset="0"/>
                <a:cs typeface="Arial" panose="020B0604020202020204" pitchFamily="34" charset="0"/>
              </a:rPr>
              <a:t>above</a:t>
            </a:r>
            <a:r>
              <a:rPr lang="de-DE" dirty="0">
                <a:latin typeface="Arial" panose="020B0604020202020204" pitchFamily="34" charset="0"/>
                <a:cs typeface="Arial" panose="020B0604020202020204" pitchFamily="34" charset="0"/>
              </a:rPr>
              <a:t> 30 </a:t>
            </a:r>
            <a:r>
              <a:rPr lang="de-DE" dirty="0" err="1">
                <a:latin typeface="Arial" panose="020B0604020202020204" pitchFamily="34" charset="0"/>
                <a:cs typeface="Arial" panose="020B0604020202020204" pitchFamily="34" charset="0"/>
              </a:rPr>
              <a:t>minutes</a:t>
            </a:r>
            <a:endParaRPr lang="de-DE" dirty="0">
              <a:latin typeface="Arial" panose="020B0604020202020204" pitchFamily="34" charset="0"/>
              <a:cs typeface="Arial" panose="020B0604020202020204" pitchFamily="34" charset="0"/>
            </a:endParaRPr>
          </a:p>
        </p:txBody>
      </p:sp>
      <p:cxnSp>
        <p:nvCxnSpPr>
          <p:cNvPr id="32" name="Gerade Verbindung mit Pfeil 31">
            <a:extLst>
              <a:ext uri="{FF2B5EF4-FFF2-40B4-BE49-F238E27FC236}">
                <a16:creationId xmlns:a16="http://schemas.microsoft.com/office/drawing/2014/main" id="{3A02432F-3EF4-4F73-B604-47CE7AFD41CB}"/>
              </a:ext>
            </a:extLst>
          </p:cNvPr>
          <p:cNvCxnSpPr>
            <a:cxnSpLocks/>
          </p:cNvCxnSpPr>
          <p:nvPr/>
        </p:nvCxnSpPr>
        <p:spPr bwMode="auto">
          <a:xfrm flipH="1" flipV="1">
            <a:off x="6689658" y="3132961"/>
            <a:ext cx="473144" cy="48798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Gerade Verbindung mit Pfeil 32">
            <a:extLst>
              <a:ext uri="{FF2B5EF4-FFF2-40B4-BE49-F238E27FC236}">
                <a16:creationId xmlns:a16="http://schemas.microsoft.com/office/drawing/2014/main" id="{027A970F-63B1-4615-8D9E-C5ACDE411963}"/>
              </a:ext>
            </a:extLst>
          </p:cNvPr>
          <p:cNvCxnSpPr>
            <a:cxnSpLocks/>
          </p:cNvCxnSpPr>
          <p:nvPr/>
        </p:nvCxnSpPr>
        <p:spPr bwMode="auto">
          <a:xfrm flipV="1">
            <a:off x="8264355" y="3159610"/>
            <a:ext cx="153932" cy="4613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Textfeld 40">
            <a:extLst>
              <a:ext uri="{FF2B5EF4-FFF2-40B4-BE49-F238E27FC236}">
                <a16:creationId xmlns:a16="http://schemas.microsoft.com/office/drawing/2014/main" id="{47C74079-1B00-485C-8C4C-64D8728E8AEB}"/>
              </a:ext>
            </a:extLst>
          </p:cNvPr>
          <p:cNvSpPr txBox="1"/>
          <p:nvPr/>
        </p:nvSpPr>
        <p:spPr bwMode="auto">
          <a:xfrm>
            <a:off x="9187103" y="3474063"/>
            <a:ext cx="2389084" cy="646331"/>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Random </a:t>
            </a:r>
            <a:r>
              <a:rPr lang="de-DE" dirty="0" err="1">
                <a:latin typeface="Arial" panose="020B0604020202020204" pitchFamily="34" charset="0"/>
                <a:cs typeface="Arial" panose="020B0604020202020204" pitchFamily="34" charset="0"/>
              </a:rPr>
              <a:t>classroom</a:t>
            </a:r>
            <a:r>
              <a:rPr lang="de-DE" dirty="0">
                <a:latin typeface="Arial" panose="020B0604020202020204" pitchFamily="34" charset="0"/>
                <a:cs typeface="Arial" panose="020B0604020202020204" pitchFamily="34" charset="0"/>
              </a:rPr>
              <a:t> </a:t>
            </a:r>
            <a:r>
              <a:rPr lang="de-DE" dirty="0" err="1">
                <a:latin typeface="Arial" panose="020B0604020202020204" pitchFamily="34" charset="0"/>
                <a:cs typeface="Arial" panose="020B0604020202020204" pitchFamily="34" charset="0"/>
              </a:rPr>
              <a:t>intercept</a:t>
            </a:r>
            <a:endParaRPr lang="de-DE" dirty="0">
              <a:latin typeface="Arial" panose="020B0604020202020204" pitchFamily="34" charset="0"/>
              <a:cs typeface="Arial" panose="020B0604020202020204" pitchFamily="34" charset="0"/>
            </a:endParaRPr>
          </a:p>
        </p:txBody>
      </p:sp>
      <p:cxnSp>
        <p:nvCxnSpPr>
          <p:cNvPr id="42" name="Gerade Verbindung mit Pfeil 41">
            <a:extLst>
              <a:ext uri="{FF2B5EF4-FFF2-40B4-BE49-F238E27FC236}">
                <a16:creationId xmlns:a16="http://schemas.microsoft.com/office/drawing/2014/main" id="{4AD3BC9E-B655-4270-BC58-CEB124364681}"/>
              </a:ext>
            </a:extLst>
          </p:cNvPr>
          <p:cNvCxnSpPr>
            <a:cxnSpLocks/>
          </p:cNvCxnSpPr>
          <p:nvPr/>
        </p:nvCxnSpPr>
        <p:spPr bwMode="auto">
          <a:xfrm flipV="1">
            <a:off x="10168509" y="3132961"/>
            <a:ext cx="0" cy="38417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Abgerundetes Rechteck 41">
            <a:extLst>
              <a:ext uri="{FF2B5EF4-FFF2-40B4-BE49-F238E27FC236}">
                <a16:creationId xmlns:a16="http://schemas.microsoft.com/office/drawing/2014/main" id="{B3169200-3B68-43ED-9496-047152E94B3E}"/>
              </a:ext>
            </a:extLst>
          </p:cNvPr>
          <p:cNvSpPr/>
          <p:nvPr/>
        </p:nvSpPr>
        <p:spPr bwMode="auto">
          <a:xfrm>
            <a:off x="4027242" y="716109"/>
            <a:ext cx="4137515" cy="145662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CH" sz="3200" b="1" dirty="0">
                <a:solidFill>
                  <a:schemeClr val="tx1"/>
                </a:solidFill>
                <a:latin typeface="Arial" panose="020B0604020202020204"/>
              </a:rPr>
              <a:t>II) The </a:t>
            </a:r>
            <a:r>
              <a:rPr lang="de-CH" sz="3200" b="1" i="1" dirty="0" err="1">
                <a:solidFill>
                  <a:schemeClr val="tx1"/>
                </a:solidFill>
                <a:latin typeface="Arial" panose="020B0604020202020204"/>
              </a:rPr>
              <a:t>Bayesian</a:t>
            </a:r>
            <a:r>
              <a:rPr lang="de-CH" sz="3200" b="1" i="1" dirty="0">
                <a:solidFill>
                  <a:schemeClr val="tx1"/>
                </a:solidFill>
                <a:latin typeface="Arial" panose="020B0604020202020204"/>
              </a:rPr>
              <a:t> </a:t>
            </a:r>
            <a:r>
              <a:rPr lang="de-CH" sz="3200" b="1" i="1" dirty="0" err="1">
                <a:solidFill>
                  <a:schemeClr val="tx1"/>
                </a:solidFill>
                <a:latin typeface="Arial" panose="020B0604020202020204"/>
              </a:rPr>
              <a:t>causal</a:t>
            </a:r>
            <a:r>
              <a:rPr lang="de-CH" sz="3200" b="1" i="1" dirty="0">
                <a:solidFill>
                  <a:schemeClr val="tx1"/>
                </a:solidFill>
                <a:latin typeface="Arial" panose="020B0604020202020204"/>
              </a:rPr>
              <a:t> </a:t>
            </a:r>
            <a:r>
              <a:rPr lang="de-CH" sz="3200" b="1" i="1" dirty="0" err="1">
                <a:solidFill>
                  <a:schemeClr val="tx1"/>
                </a:solidFill>
                <a:latin typeface="Arial" panose="020B0604020202020204"/>
              </a:rPr>
              <a:t>forest</a:t>
            </a:r>
            <a:endParaRPr kumimoji="0" lang="en-US" sz="3200" b="1" i="1" u="none" strike="noStrike" kern="1200" cap="none" spc="0" normalizeH="0" baseline="0" noProof="0" dirty="0">
              <a:ln>
                <a:noFill/>
              </a:ln>
              <a:solidFill>
                <a:schemeClr val="tx1"/>
              </a:solidFill>
              <a:effectLst/>
              <a:uLnTx/>
              <a:uFillTx/>
              <a:latin typeface="Arial" panose="020B0604020202020204"/>
            </a:endParaRPr>
          </a:p>
        </p:txBody>
      </p:sp>
      <p:sp>
        <p:nvSpPr>
          <p:cNvPr id="20" name="Textfeld 19">
            <a:extLst>
              <a:ext uri="{FF2B5EF4-FFF2-40B4-BE49-F238E27FC236}">
                <a16:creationId xmlns:a16="http://schemas.microsoft.com/office/drawing/2014/main" id="{2EEF91F5-BDE3-47AD-A19A-6F93CAA790CF}"/>
              </a:ext>
            </a:extLst>
          </p:cNvPr>
          <p:cNvSpPr txBox="1"/>
          <p:nvPr/>
        </p:nvSpPr>
        <p:spPr bwMode="auto">
          <a:xfrm>
            <a:off x="9987066" y="1967547"/>
            <a:ext cx="2389084" cy="369332"/>
          </a:xfrm>
          <a:prstGeom prst="rect">
            <a:avLst/>
          </a:prstGeom>
          <a:noFill/>
        </p:spPr>
        <p:txBody>
          <a:bodyPr wrap="square" rtlCol="0">
            <a:spAutoFit/>
          </a:bodyPr>
          <a:lstStyle/>
          <a:p>
            <a:pPr algn="ctr"/>
            <a:r>
              <a:rPr lang="de-DE" dirty="0" err="1">
                <a:latin typeface="Arial" panose="020B0604020202020204" pitchFamily="34" charset="0"/>
                <a:cs typeface="Arial" panose="020B0604020202020204" pitchFamily="34" charset="0"/>
              </a:rPr>
              <a:t>Gaussian</a:t>
            </a:r>
            <a:r>
              <a:rPr lang="de-DE" dirty="0">
                <a:latin typeface="Arial" panose="020B0604020202020204" pitchFamily="34" charset="0"/>
                <a:cs typeface="Arial" panose="020B0604020202020204" pitchFamily="34" charset="0"/>
              </a:rPr>
              <a:t> </a:t>
            </a:r>
            <a:r>
              <a:rPr lang="de-DE" dirty="0" err="1">
                <a:latin typeface="Arial" panose="020B0604020202020204" pitchFamily="34" charset="0"/>
                <a:cs typeface="Arial" panose="020B0604020202020204" pitchFamily="34" charset="0"/>
              </a:rPr>
              <a:t>error</a:t>
            </a:r>
            <a:endParaRPr lang="de-DE" dirty="0">
              <a:latin typeface="Arial" panose="020B0604020202020204" pitchFamily="34" charset="0"/>
              <a:cs typeface="Arial" panose="020B0604020202020204" pitchFamily="34" charset="0"/>
            </a:endParaRPr>
          </a:p>
        </p:txBody>
      </p:sp>
      <p:cxnSp>
        <p:nvCxnSpPr>
          <p:cNvPr id="21" name="Gerade Verbindung mit Pfeil 20">
            <a:extLst>
              <a:ext uri="{FF2B5EF4-FFF2-40B4-BE49-F238E27FC236}">
                <a16:creationId xmlns:a16="http://schemas.microsoft.com/office/drawing/2014/main" id="{E34ED08F-C198-4136-8B4E-7C488E8DAF24}"/>
              </a:ext>
            </a:extLst>
          </p:cNvPr>
          <p:cNvCxnSpPr>
            <a:cxnSpLocks/>
          </p:cNvCxnSpPr>
          <p:nvPr/>
        </p:nvCxnSpPr>
        <p:spPr bwMode="auto">
          <a:xfrm>
            <a:off x="11301617" y="2359191"/>
            <a:ext cx="0" cy="38400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6" name="Picture 8" descr="Jogger erschreckt Pferd – wer ist schuld? – FIT for LIFE">
            <a:extLst>
              <a:ext uri="{FF2B5EF4-FFF2-40B4-BE49-F238E27FC236}">
                <a16:creationId xmlns:a16="http://schemas.microsoft.com/office/drawing/2014/main" id="{20D94E71-0932-4098-8C7B-CD9330CFF03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5610" r="37230" b="5684"/>
          <a:stretch/>
        </p:blipFill>
        <p:spPr bwMode="auto">
          <a:xfrm>
            <a:off x="9779666" y="4521122"/>
            <a:ext cx="882828" cy="1317098"/>
          </a:xfrm>
          <a:prstGeom prst="rect">
            <a:avLst/>
          </a:prstGeom>
          <a:noFill/>
          <a:extLst>
            <a:ext uri="{909E8E84-426E-40DD-AFC4-6F175D3DCCD1}">
              <a14:hiddenFill xmlns:a14="http://schemas.microsoft.com/office/drawing/2010/main">
                <a:solidFill>
                  <a:srgbClr val="FFFFFF"/>
                </a:solidFill>
              </a14:hiddenFill>
            </a:ext>
          </a:extLst>
        </p:spPr>
      </p:pic>
      <p:sp>
        <p:nvSpPr>
          <p:cNvPr id="29" name="Sprechblase: oval 28">
            <a:extLst>
              <a:ext uri="{FF2B5EF4-FFF2-40B4-BE49-F238E27FC236}">
                <a16:creationId xmlns:a16="http://schemas.microsoft.com/office/drawing/2014/main" id="{13AE9375-E765-4CA0-BE53-DBA1789D8F38}"/>
              </a:ext>
            </a:extLst>
          </p:cNvPr>
          <p:cNvSpPr/>
          <p:nvPr/>
        </p:nvSpPr>
        <p:spPr bwMode="auto">
          <a:xfrm>
            <a:off x="10714076" y="4837246"/>
            <a:ext cx="1193846" cy="313723"/>
          </a:xfrm>
          <a:prstGeom prst="wedgeEllipseCallout">
            <a:avLst>
              <a:gd name="adj1" fmla="val -65744"/>
              <a:gd name="adj2" fmla="val 86438"/>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0" name="Titel 1">
            <a:extLst>
              <a:ext uri="{FF2B5EF4-FFF2-40B4-BE49-F238E27FC236}">
                <a16:creationId xmlns:a16="http://schemas.microsoft.com/office/drawing/2014/main" id="{83621CCF-1195-4AE5-817F-E0FCDE153E33}"/>
              </a:ext>
            </a:extLst>
          </p:cNvPr>
          <p:cNvSpPr txBox="1">
            <a:spLocks/>
          </p:cNvSpPr>
          <p:nvPr/>
        </p:nvSpPr>
        <p:spPr bwMode="auto">
          <a:xfrm>
            <a:off x="10688285" y="4843944"/>
            <a:ext cx="1245428" cy="369333"/>
          </a:xfrm>
          <a:prstGeom prst="rect">
            <a:avLst/>
          </a:prstGeom>
        </p:spPr>
        <p:txBody>
          <a:bodyPr vert="horz" lIns="91440" tIns="45720" rIns="91440" bIns="45720" rtlCol="0" anchor="ctr">
            <a:normAutofit fontScale="4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de-AT" sz="1800" i="1" dirty="0" err="1">
                <a:latin typeface="Arial" panose="020B0604020202020204" pitchFamily="34" charset="0"/>
                <a:cs typeface="Arial" panose="020B0604020202020204" pitchFamily="34" charset="0"/>
              </a:rPr>
              <a:t>How</a:t>
            </a:r>
            <a:r>
              <a:rPr lang="de-AT" sz="1800" i="1" dirty="0">
                <a:latin typeface="Arial" panose="020B0604020202020204" pitchFamily="34" charset="0"/>
                <a:cs typeface="Arial" panose="020B0604020202020204" pitchFamily="34" charset="0"/>
              </a:rPr>
              <a:t> mundane haha – but powerful!</a:t>
            </a:r>
          </a:p>
        </p:txBody>
      </p:sp>
      <p:cxnSp>
        <p:nvCxnSpPr>
          <p:cNvPr id="34" name="Gerade Verbindung mit Pfeil 33">
            <a:extLst>
              <a:ext uri="{FF2B5EF4-FFF2-40B4-BE49-F238E27FC236}">
                <a16:creationId xmlns:a16="http://schemas.microsoft.com/office/drawing/2014/main" id="{C9C13FEF-187E-48E3-AABE-9B1F4716FDF7}"/>
              </a:ext>
            </a:extLst>
          </p:cNvPr>
          <p:cNvCxnSpPr>
            <a:cxnSpLocks/>
            <a:stCxn id="29" idx="0"/>
          </p:cNvCxnSpPr>
          <p:nvPr/>
        </p:nvCxnSpPr>
        <p:spPr bwMode="auto">
          <a:xfrm flipV="1">
            <a:off x="11310999" y="3132961"/>
            <a:ext cx="0" cy="17042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Abgerundetes Rechteck 41">
            <a:extLst>
              <a:ext uri="{FF2B5EF4-FFF2-40B4-BE49-F238E27FC236}">
                <a16:creationId xmlns:a16="http://schemas.microsoft.com/office/drawing/2014/main" id="{D18674D0-19D5-4E11-9FE3-EE5BC5FF89F6}"/>
              </a:ext>
            </a:extLst>
          </p:cNvPr>
          <p:cNvSpPr/>
          <p:nvPr/>
        </p:nvSpPr>
        <p:spPr>
          <a:xfrm>
            <a:off x="9779666" y="6211669"/>
            <a:ext cx="2114514" cy="64633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defTabSz="914400" rtl="0" eaLnBrk="1" fontAlgn="auto" latinLnBrk="0" hangingPunct="1">
              <a:lnSpc>
                <a:spcPct val="100000"/>
              </a:lnSpc>
              <a:spcBef>
                <a:spcPts val="0"/>
              </a:spcBef>
              <a:spcAft>
                <a:spcPts val="0"/>
              </a:spcAft>
              <a:buClrTx/>
              <a:buSzTx/>
              <a:tabLst/>
              <a:defRPr/>
            </a:pP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I)   </a:t>
            </a:r>
            <a:r>
              <a:rPr kumimoji="0" lang="de-CH" sz="1000" i="0" u="none" strike="noStrike" kern="1200" cap="none" spc="0" normalizeH="0" baseline="0" noProof="0" dirty="0" err="1">
                <a:ln>
                  <a:noFill/>
                </a:ln>
                <a:solidFill>
                  <a:schemeClr val="tx1"/>
                </a:solidFill>
                <a:effectLst/>
                <a:uLnTx/>
                <a:uFillTx/>
                <a:latin typeface="Arial" panose="020B0604020202020204"/>
                <a:ea typeface="+mn-ea"/>
                <a:cs typeface="+mn-cs"/>
              </a:rPr>
              <a:t>What</a:t>
            </a: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is</a:t>
            </a: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 CML</a:t>
            </a:r>
            <a:r>
              <a:rPr lang="de-CH" sz="1000" dirty="0">
                <a:solidFill>
                  <a:schemeClr val="tx1"/>
                </a:solidFill>
                <a:latin typeface="Arial" panose="020B0604020202020204"/>
              </a:rPr>
              <a:t>?</a:t>
            </a:r>
          </a:p>
          <a:p>
            <a:pPr marR="0" lvl="0" defTabSz="914400" rtl="0" eaLnBrk="1" fontAlgn="auto" latinLnBrk="0" hangingPunct="1">
              <a:lnSpc>
                <a:spcPct val="100000"/>
              </a:lnSpc>
              <a:spcBef>
                <a:spcPts val="0"/>
              </a:spcBef>
              <a:spcAft>
                <a:spcPts val="0"/>
              </a:spcAft>
              <a:buClrTx/>
              <a:buSzTx/>
              <a:tabLst/>
              <a:defRPr/>
            </a:pPr>
            <a:r>
              <a:rPr lang="de-CH" sz="1000" b="1" dirty="0">
                <a:solidFill>
                  <a:schemeClr val="tx1"/>
                </a:solidFill>
                <a:latin typeface="Arial" panose="020B0604020202020204"/>
              </a:rPr>
              <a:t>II)  </a:t>
            </a:r>
            <a:r>
              <a:rPr kumimoji="0" lang="de-CH" sz="1000" b="1" i="0" u="none" strike="noStrike" kern="1200" cap="none" spc="0" normalizeH="0" baseline="0" noProof="0" dirty="0">
                <a:ln>
                  <a:noFill/>
                </a:ln>
                <a:solidFill>
                  <a:schemeClr val="tx1"/>
                </a:solidFill>
                <a:effectLst/>
                <a:uLnTx/>
                <a:uFillTx/>
                <a:latin typeface="Arial" panose="020B0604020202020204"/>
                <a:ea typeface="+mn-ea"/>
                <a:cs typeface="+mn-cs"/>
              </a:rPr>
              <a:t>The </a:t>
            </a:r>
            <a:r>
              <a:rPr kumimoji="0" lang="de-CH" sz="1000" b="1" i="1" u="none" strike="noStrike" kern="1200" cap="none" spc="0" normalizeH="0" baseline="0" noProof="0" dirty="0" err="1">
                <a:ln>
                  <a:noFill/>
                </a:ln>
                <a:solidFill>
                  <a:schemeClr val="tx1"/>
                </a:solidFill>
                <a:effectLst/>
                <a:uLnTx/>
                <a:uFillTx/>
                <a:latin typeface="Arial" panose="020B0604020202020204"/>
                <a:ea typeface="+mn-ea"/>
                <a:cs typeface="+mn-cs"/>
              </a:rPr>
              <a:t>Bayesian</a:t>
            </a:r>
            <a:r>
              <a:rPr kumimoji="0" lang="de-CH" sz="1000" b="1" i="1"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b="1" i="1" u="none" strike="noStrike" kern="1200" cap="none" spc="0" normalizeH="0" baseline="0" noProof="0" dirty="0" err="1">
                <a:ln>
                  <a:noFill/>
                </a:ln>
                <a:solidFill>
                  <a:schemeClr val="tx1"/>
                </a:solidFill>
                <a:effectLst/>
                <a:uLnTx/>
                <a:uFillTx/>
                <a:latin typeface="Arial" panose="020B0604020202020204"/>
                <a:ea typeface="+mn-ea"/>
                <a:cs typeface="+mn-cs"/>
              </a:rPr>
              <a:t>causal</a:t>
            </a:r>
            <a:r>
              <a:rPr kumimoji="0" lang="de-CH" sz="1000" b="1" i="1"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b="1" i="1" u="none" strike="noStrike" kern="1200" cap="none" spc="0" normalizeH="0" baseline="0" noProof="0" dirty="0" err="1">
                <a:ln>
                  <a:noFill/>
                </a:ln>
                <a:solidFill>
                  <a:schemeClr val="tx1"/>
                </a:solidFill>
                <a:effectLst/>
                <a:uLnTx/>
                <a:uFillTx/>
                <a:latin typeface="Arial" panose="020B0604020202020204"/>
                <a:ea typeface="+mn-ea"/>
                <a:cs typeface="+mn-cs"/>
              </a:rPr>
              <a:t>forest</a:t>
            </a:r>
            <a:endParaRPr kumimoji="0" lang="de-CH" sz="1000" b="1" i="1" u="none" strike="noStrike" kern="1200" cap="none" spc="0" normalizeH="0" baseline="0" noProof="0" dirty="0">
              <a:ln>
                <a:noFill/>
              </a:ln>
              <a:solidFill>
                <a:schemeClr val="tx1"/>
              </a:solidFill>
              <a:effectLst/>
              <a:uLnTx/>
              <a:uFillTx/>
              <a:latin typeface="Arial" panose="020B0604020202020204"/>
              <a:ea typeface="+mn-ea"/>
              <a:cs typeface="+mn-cs"/>
            </a:endParaRPr>
          </a:p>
          <a:p>
            <a:pPr marR="0" lvl="0" defTabSz="914400" rtl="0" eaLnBrk="1" fontAlgn="auto" latinLnBrk="0" hangingPunct="1">
              <a:lnSpc>
                <a:spcPct val="100000"/>
              </a:lnSpc>
              <a:spcBef>
                <a:spcPts val="0"/>
              </a:spcBef>
              <a:spcAft>
                <a:spcPts val="0"/>
              </a:spcAft>
              <a:buClrTx/>
              <a:buSzTx/>
              <a:tabLst/>
              <a:defRPr/>
            </a:pPr>
            <a:r>
              <a:rPr lang="de-CH" sz="1000" dirty="0">
                <a:solidFill>
                  <a:schemeClr val="tx1"/>
                </a:solidFill>
                <a:latin typeface="Arial" panose="020B0604020202020204"/>
              </a:rPr>
              <a:t>III) </a:t>
            </a:r>
            <a:r>
              <a:rPr lang="de-CH" sz="1000" i="1" dirty="0" err="1">
                <a:solidFill>
                  <a:schemeClr val="tx1"/>
                </a:solidFill>
                <a:latin typeface="Arial" panose="020B0604020202020204"/>
              </a:rPr>
              <a:t>Uniqueness</a:t>
            </a:r>
            <a:r>
              <a:rPr lang="de-CH" sz="1000" i="1" dirty="0">
                <a:solidFill>
                  <a:schemeClr val="tx1"/>
                </a:solidFill>
                <a:latin typeface="Arial" panose="020B0604020202020204"/>
              </a:rPr>
              <a:t> </a:t>
            </a:r>
            <a:r>
              <a:rPr lang="de-CH" sz="1000" dirty="0" err="1">
                <a:solidFill>
                  <a:schemeClr val="tx1"/>
                </a:solidFill>
                <a:latin typeface="Arial" panose="020B0604020202020204"/>
              </a:rPr>
              <a:t>of</a:t>
            </a:r>
            <a:r>
              <a:rPr lang="de-CH" sz="1000" dirty="0">
                <a:solidFill>
                  <a:schemeClr val="tx1"/>
                </a:solidFill>
                <a:latin typeface="Arial" panose="020B0604020202020204"/>
              </a:rPr>
              <a:t> CML</a:t>
            </a:r>
          </a:p>
          <a:p>
            <a:pPr marR="0" lvl="0" defTabSz="914400" rtl="0" eaLnBrk="1" fontAlgn="auto" latinLnBrk="0" hangingPunct="1">
              <a:lnSpc>
                <a:spcPct val="100000"/>
              </a:lnSpc>
              <a:spcBef>
                <a:spcPts val="0"/>
              </a:spcBef>
              <a:spcAft>
                <a:spcPts val="0"/>
              </a:spcAft>
              <a:buClrTx/>
              <a:buSzTx/>
              <a:tabLst/>
              <a:defRPr/>
            </a:pP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IV)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Implications</a:t>
            </a: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u="none" strike="noStrike" kern="1200" cap="none" spc="0" normalizeH="0" baseline="0" noProof="0" dirty="0" err="1">
                <a:ln>
                  <a:noFill/>
                </a:ln>
                <a:solidFill>
                  <a:schemeClr val="tx1"/>
                </a:solidFill>
                <a:effectLst/>
                <a:uLnTx/>
                <a:uFillTx/>
                <a:latin typeface="Arial" panose="020B0604020202020204"/>
                <a:ea typeface="+mn-ea"/>
                <a:cs typeface="+mn-cs"/>
              </a:rPr>
              <a:t>for</a:t>
            </a:r>
            <a:r>
              <a:rPr kumimoji="0" lang="de-CH" sz="1000"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u="none" strike="noStrike" kern="1200" cap="none" spc="0" normalizeH="0" baseline="0" noProof="0" dirty="0" err="1">
                <a:ln>
                  <a:noFill/>
                </a:ln>
                <a:solidFill>
                  <a:schemeClr val="tx1"/>
                </a:solidFill>
                <a:effectLst/>
                <a:uLnTx/>
                <a:uFillTx/>
                <a:latin typeface="Arial" panose="020B0604020202020204"/>
                <a:ea typeface="+mn-ea"/>
                <a:cs typeface="+mn-cs"/>
              </a:rPr>
              <a:t>our</a:t>
            </a:r>
            <a:r>
              <a:rPr kumimoji="0" lang="de-CH" sz="1000"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u="none" strike="noStrike" kern="1200" cap="none" spc="0" normalizeH="0" baseline="0" noProof="0" dirty="0" err="1">
                <a:ln>
                  <a:noFill/>
                </a:ln>
                <a:solidFill>
                  <a:schemeClr val="tx1"/>
                </a:solidFill>
                <a:effectLst/>
                <a:uLnTx/>
                <a:uFillTx/>
                <a:latin typeface="Arial" panose="020B0604020202020204"/>
                <a:ea typeface="+mn-ea"/>
                <a:cs typeface="+mn-cs"/>
              </a:rPr>
              <a:t>research</a:t>
            </a:r>
            <a:endParaRPr kumimoji="0" lang="de-CH" sz="1000" u="none" strike="noStrike" kern="1200" cap="none" spc="0" normalizeH="0" baseline="0" noProof="0" dirty="0">
              <a:ln>
                <a:noFill/>
              </a:ln>
              <a:solidFill>
                <a:schemeClr val="tx1"/>
              </a:solidFill>
              <a:effectLst/>
              <a:uLnTx/>
              <a:uFillTx/>
              <a:latin typeface="Arial" panose="020B0604020202020204"/>
              <a:ea typeface="+mn-ea"/>
              <a:cs typeface="+mn-cs"/>
            </a:endParaRPr>
          </a:p>
        </p:txBody>
      </p:sp>
      <p:cxnSp>
        <p:nvCxnSpPr>
          <p:cNvPr id="23" name="Gerade Verbindung mit Pfeil 22">
            <a:extLst>
              <a:ext uri="{FF2B5EF4-FFF2-40B4-BE49-F238E27FC236}">
                <a16:creationId xmlns:a16="http://schemas.microsoft.com/office/drawing/2014/main" id="{43B5C549-EA34-4A1A-98A5-EC6FAA5BBF79}"/>
              </a:ext>
            </a:extLst>
          </p:cNvPr>
          <p:cNvCxnSpPr>
            <a:cxnSpLocks/>
          </p:cNvCxnSpPr>
          <p:nvPr/>
        </p:nvCxnSpPr>
        <p:spPr bwMode="auto">
          <a:xfrm>
            <a:off x="1010653" y="2336879"/>
            <a:ext cx="144379" cy="40632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5177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5" grpId="0"/>
      <p:bldP spid="31" grpId="0"/>
      <p:bldP spid="41" grpId="0"/>
      <p:bldP spid="20" grpId="0"/>
      <p:bldP spid="29" grpId="0" animBg="1"/>
      <p:bldP spid="30"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Rechteck 3"/>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2" name="Abgerundetes Rechteck 41"/>
          <p:cNvSpPr/>
          <p:nvPr/>
        </p:nvSpPr>
        <p:spPr>
          <a:xfrm>
            <a:off x="4027242" y="515394"/>
            <a:ext cx="4137515" cy="1456629"/>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CH" sz="3200" b="1" dirty="0">
                <a:solidFill>
                  <a:prstClr val="white"/>
                </a:solidFill>
                <a:latin typeface="Arial" panose="020B0604020202020204"/>
              </a:rPr>
              <a:t>II) The </a:t>
            </a:r>
            <a:r>
              <a:rPr lang="de-CH" sz="3200" b="1" i="1" dirty="0" err="1">
                <a:solidFill>
                  <a:prstClr val="white"/>
                </a:solidFill>
                <a:latin typeface="Arial" panose="020B0604020202020204"/>
              </a:rPr>
              <a:t>Bayesian</a:t>
            </a:r>
            <a:r>
              <a:rPr lang="de-CH" sz="3200" b="1" i="1" dirty="0">
                <a:solidFill>
                  <a:prstClr val="white"/>
                </a:solidFill>
                <a:latin typeface="Arial" panose="020B0604020202020204"/>
              </a:rPr>
              <a:t> </a:t>
            </a:r>
            <a:r>
              <a:rPr lang="de-CH" sz="3200" b="1" i="1" dirty="0" err="1">
                <a:solidFill>
                  <a:prstClr val="white"/>
                </a:solidFill>
                <a:latin typeface="Arial" panose="020B0604020202020204"/>
              </a:rPr>
              <a:t>causal</a:t>
            </a:r>
            <a:r>
              <a:rPr lang="de-CH" sz="3200" b="1" i="1" dirty="0">
                <a:solidFill>
                  <a:prstClr val="white"/>
                </a:solidFill>
                <a:latin typeface="Arial" panose="020B0604020202020204"/>
              </a:rPr>
              <a:t> </a:t>
            </a:r>
            <a:r>
              <a:rPr lang="de-CH" sz="3200" b="1" i="1" dirty="0" err="1">
                <a:solidFill>
                  <a:prstClr val="white"/>
                </a:solidFill>
                <a:latin typeface="Arial" panose="020B0604020202020204"/>
              </a:rPr>
              <a:t>forest</a:t>
            </a:r>
            <a:endParaRPr kumimoji="0" lang="en-US" sz="3200" b="1" i="1"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0" name="Abgerundetes Rechteck 41">
            <a:extLst>
              <a:ext uri="{FF2B5EF4-FFF2-40B4-BE49-F238E27FC236}">
                <a16:creationId xmlns:a16="http://schemas.microsoft.com/office/drawing/2014/main" id="{CB69749E-2935-4A1A-9C25-630C77EFD915}"/>
              </a:ext>
            </a:extLst>
          </p:cNvPr>
          <p:cNvSpPr/>
          <p:nvPr/>
        </p:nvSpPr>
        <p:spPr>
          <a:xfrm>
            <a:off x="9345385" y="5957917"/>
            <a:ext cx="2557055" cy="838199"/>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defTabSz="914400" rtl="0" eaLnBrk="1" fontAlgn="auto" latinLnBrk="0" hangingPunct="1">
              <a:lnSpc>
                <a:spcPct val="100000"/>
              </a:lnSpc>
              <a:spcBef>
                <a:spcPts val="0"/>
              </a:spcBef>
              <a:spcAft>
                <a:spcPts val="0"/>
              </a:spcAft>
              <a:buClrTx/>
              <a:buSzTx/>
              <a:tabLst/>
              <a:defRPr/>
            </a:pPr>
            <a:r>
              <a:rPr kumimoji="0" lang="de-CH" sz="1200" i="0" u="none" strike="noStrike" kern="1200" cap="none" spc="0" normalizeH="0" baseline="0" noProof="0" dirty="0">
                <a:ln>
                  <a:noFill/>
                </a:ln>
                <a:solidFill>
                  <a:prstClr val="white"/>
                </a:solidFill>
                <a:effectLst/>
                <a:uLnTx/>
                <a:uFillTx/>
                <a:latin typeface="Arial" panose="020B0604020202020204"/>
                <a:ea typeface="+mn-ea"/>
                <a:cs typeface="+mn-cs"/>
              </a:rPr>
              <a:t>I)   </a:t>
            </a:r>
            <a:r>
              <a:rPr kumimoji="0" lang="de-CH" sz="1200" i="0" u="none" strike="noStrike" kern="1200" cap="none" spc="0" normalizeH="0" baseline="0" noProof="0" dirty="0" err="1">
                <a:ln>
                  <a:noFill/>
                </a:ln>
                <a:solidFill>
                  <a:prstClr val="white"/>
                </a:solidFill>
                <a:effectLst/>
                <a:uLnTx/>
                <a:uFillTx/>
                <a:latin typeface="Arial" panose="020B0604020202020204"/>
                <a:ea typeface="+mn-ea"/>
                <a:cs typeface="+mn-cs"/>
              </a:rPr>
              <a:t>What</a:t>
            </a:r>
            <a:r>
              <a:rPr kumimoji="0" lang="de-CH" sz="120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i="1" u="none" strike="noStrike" kern="1200" cap="none" spc="0" normalizeH="0" baseline="0" noProof="0" dirty="0" err="1">
                <a:ln>
                  <a:noFill/>
                </a:ln>
                <a:solidFill>
                  <a:prstClr val="white"/>
                </a:solidFill>
                <a:effectLst/>
                <a:uLnTx/>
                <a:uFillTx/>
                <a:latin typeface="Arial" panose="020B0604020202020204"/>
                <a:ea typeface="+mn-ea"/>
                <a:cs typeface="+mn-cs"/>
              </a:rPr>
              <a:t>is</a:t>
            </a:r>
            <a:r>
              <a:rPr kumimoji="0" lang="de-CH" sz="1200" i="0" u="none" strike="noStrike" kern="1200" cap="none" spc="0" normalizeH="0" baseline="0" noProof="0" dirty="0">
                <a:ln>
                  <a:noFill/>
                </a:ln>
                <a:solidFill>
                  <a:prstClr val="white"/>
                </a:solidFill>
                <a:effectLst/>
                <a:uLnTx/>
                <a:uFillTx/>
                <a:latin typeface="Arial" panose="020B0604020202020204"/>
                <a:ea typeface="+mn-ea"/>
                <a:cs typeface="+mn-cs"/>
              </a:rPr>
              <a:t> CML</a:t>
            </a:r>
            <a:r>
              <a:rPr lang="de-CH" sz="1200" dirty="0">
                <a:solidFill>
                  <a:prstClr val="white"/>
                </a:solidFill>
                <a:latin typeface="Arial" panose="020B0604020202020204"/>
              </a:rPr>
              <a:t>?</a:t>
            </a:r>
          </a:p>
          <a:p>
            <a:pPr marR="0" lvl="0" defTabSz="914400" rtl="0" eaLnBrk="1" fontAlgn="auto" latinLnBrk="0" hangingPunct="1">
              <a:lnSpc>
                <a:spcPct val="100000"/>
              </a:lnSpc>
              <a:spcBef>
                <a:spcPts val="0"/>
              </a:spcBef>
              <a:spcAft>
                <a:spcPts val="0"/>
              </a:spcAft>
              <a:buClrTx/>
              <a:buSzTx/>
              <a:tabLst/>
              <a:defRPr/>
            </a:pPr>
            <a:r>
              <a:rPr lang="de-CH" sz="1200" b="1" dirty="0">
                <a:solidFill>
                  <a:prstClr val="white"/>
                </a:solidFill>
                <a:latin typeface="Arial" panose="020B0604020202020204"/>
              </a:rPr>
              <a:t>II)  </a:t>
            </a:r>
            <a:r>
              <a:rPr kumimoji="0" lang="de-CH" sz="1200" b="1" i="0" u="none" strike="noStrike" kern="1200" cap="none" spc="0" normalizeH="0" baseline="0" noProof="0" dirty="0">
                <a:ln>
                  <a:noFill/>
                </a:ln>
                <a:solidFill>
                  <a:prstClr val="white"/>
                </a:solidFill>
                <a:effectLst/>
                <a:uLnTx/>
                <a:uFillTx/>
                <a:latin typeface="Arial" panose="020B0604020202020204"/>
                <a:ea typeface="+mn-ea"/>
                <a:cs typeface="+mn-cs"/>
              </a:rPr>
              <a:t>The </a:t>
            </a:r>
            <a:r>
              <a:rPr kumimoji="0" lang="de-CH" sz="1200" b="1" i="1" u="none" strike="noStrike" kern="1200" cap="none" spc="0" normalizeH="0" baseline="0" noProof="0" dirty="0" err="1">
                <a:ln>
                  <a:noFill/>
                </a:ln>
                <a:solidFill>
                  <a:prstClr val="white"/>
                </a:solidFill>
                <a:effectLst/>
                <a:uLnTx/>
                <a:uFillTx/>
                <a:latin typeface="Arial" panose="020B0604020202020204"/>
                <a:ea typeface="+mn-ea"/>
                <a:cs typeface="+mn-cs"/>
              </a:rPr>
              <a:t>Bayesian</a:t>
            </a:r>
            <a:r>
              <a:rPr kumimoji="0" lang="de-CH" sz="1200" b="1"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b="1" i="1" u="none" strike="noStrike" kern="1200" cap="none" spc="0" normalizeH="0" baseline="0" noProof="0" dirty="0" err="1">
                <a:ln>
                  <a:noFill/>
                </a:ln>
                <a:solidFill>
                  <a:prstClr val="white"/>
                </a:solidFill>
                <a:effectLst/>
                <a:uLnTx/>
                <a:uFillTx/>
                <a:latin typeface="Arial" panose="020B0604020202020204"/>
                <a:ea typeface="+mn-ea"/>
                <a:cs typeface="+mn-cs"/>
              </a:rPr>
              <a:t>causal</a:t>
            </a:r>
            <a:r>
              <a:rPr kumimoji="0" lang="de-CH" sz="1200" b="1"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b="1" i="1" u="none" strike="noStrike" kern="1200" cap="none" spc="0" normalizeH="0" baseline="0" noProof="0" dirty="0" err="1">
                <a:ln>
                  <a:noFill/>
                </a:ln>
                <a:solidFill>
                  <a:prstClr val="white"/>
                </a:solidFill>
                <a:effectLst/>
                <a:uLnTx/>
                <a:uFillTx/>
                <a:latin typeface="Arial" panose="020B0604020202020204"/>
                <a:ea typeface="+mn-ea"/>
                <a:cs typeface="+mn-cs"/>
              </a:rPr>
              <a:t>forest</a:t>
            </a:r>
            <a:endParaRPr kumimoji="0" lang="de-CH" sz="1200" b="1" i="1" u="none" strike="noStrike" kern="1200" cap="none" spc="0" normalizeH="0" baseline="0" noProof="0" dirty="0">
              <a:ln>
                <a:noFill/>
              </a:ln>
              <a:solidFill>
                <a:prstClr val="white"/>
              </a:solidFill>
              <a:effectLst/>
              <a:uLnTx/>
              <a:uFillTx/>
              <a:latin typeface="Arial" panose="020B0604020202020204"/>
              <a:ea typeface="+mn-ea"/>
              <a:cs typeface="+mn-cs"/>
            </a:endParaRPr>
          </a:p>
          <a:p>
            <a:pPr marR="0" lvl="0" defTabSz="914400" rtl="0" eaLnBrk="1" fontAlgn="auto" latinLnBrk="0" hangingPunct="1">
              <a:lnSpc>
                <a:spcPct val="100000"/>
              </a:lnSpc>
              <a:spcBef>
                <a:spcPts val="0"/>
              </a:spcBef>
              <a:spcAft>
                <a:spcPts val="0"/>
              </a:spcAft>
              <a:buClrTx/>
              <a:buSzTx/>
              <a:tabLst/>
              <a:defRPr/>
            </a:pPr>
            <a:r>
              <a:rPr lang="de-CH" sz="1200" dirty="0">
                <a:solidFill>
                  <a:prstClr val="white"/>
                </a:solidFill>
                <a:latin typeface="Arial" panose="020B0604020202020204"/>
              </a:rPr>
              <a:t>III) </a:t>
            </a:r>
            <a:r>
              <a:rPr lang="de-CH" sz="1200" i="1" dirty="0" err="1">
                <a:solidFill>
                  <a:prstClr val="white"/>
                </a:solidFill>
                <a:latin typeface="Arial" panose="020B0604020202020204"/>
              </a:rPr>
              <a:t>Uniqueness</a:t>
            </a:r>
            <a:r>
              <a:rPr lang="de-CH" sz="1200" i="1" dirty="0">
                <a:solidFill>
                  <a:prstClr val="white"/>
                </a:solidFill>
                <a:latin typeface="Arial" panose="020B0604020202020204"/>
              </a:rPr>
              <a:t> </a:t>
            </a:r>
            <a:r>
              <a:rPr lang="de-CH" sz="1200" dirty="0" err="1">
                <a:solidFill>
                  <a:prstClr val="white"/>
                </a:solidFill>
                <a:latin typeface="Arial" panose="020B0604020202020204"/>
              </a:rPr>
              <a:t>of</a:t>
            </a:r>
            <a:r>
              <a:rPr lang="de-CH" sz="1200" dirty="0">
                <a:solidFill>
                  <a:prstClr val="white"/>
                </a:solidFill>
                <a:latin typeface="Arial" panose="020B0604020202020204"/>
              </a:rPr>
              <a:t> CML</a:t>
            </a:r>
          </a:p>
          <a:p>
            <a:pPr marR="0" lvl="0" defTabSz="914400" rtl="0" eaLnBrk="1" fontAlgn="auto" latinLnBrk="0" hangingPunct="1">
              <a:lnSpc>
                <a:spcPct val="100000"/>
              </a:lnSpc>
              <a:spcBef>
                <a:spcPts val="0"/>
              </a:spcBef>
              <a:spcAft>
                <a:spcPts val="0"/>
              </a:spcAft>
              <a:buClrTx/>
              <a:buSzTx/>
              <a:tabLst/>
              <a:defRPr/>
            </a:pPr>
            <a:r>
              <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rPr>
              <a:t>IV) </a:t>
            </a:r>
            <a:r>
              <a:rPr kumimoji="0" lang="de-CH" sz="1200" i="1" u="none" strike="noStrike" kern="1200" cap="none" spc="0" normalizeH="0" baseline="0" noProof="0" dirty="0" err="1">
                <a:ln>
                  <a:noFill/>
                </a:ln>
                <a:solidFill>
                  <a:prstClr val="white"/>
                </a:solidFill>
                <a:effectLst/>
                <a:uLnTx/>
                <a:uFillTx/>
                <a:latin typeface="Arial" panose="020B0604020202020204"/>
                <a:ea typeface="+mn-ea"/>
                <a:cs typeface="+mn-cs"/>
              </a:rPr>
              <a:t>Implications</a:t>
            </a:r>
            <a:r>
              <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u="none" strike="noStrike" kern="1200" cap="none" spc="0" normalizeH="0" baseline="0" noProof="0" dirty="0" err="1">
                <a:ln>
                  <a:noFill/>
                </a:ln>
                <a:solidFill>
                  <a:prstClr val="white"/>
                </a:solidFill>
                <a:effectLst/>
                <a:uLnTx/>
                <a:uFillTx/>
                <a:latin typeface="Arial" panose="020B0604020202020204"/>
                <a:ea typeface="+mn-ea"/>
                <a:cs typeface="+mn-cs"/>
              </a:rPr>
              <a:t>for</a:t>
            </a:r>
            <a:r>
              <a:rPr kumimoji="0" lang="de-CH" sz="120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u="none" strike="noStrike" kern="1200" cap="none" spc="0" normalizeH="0" baseline="0" noProof="0" dirty="0" err="1">
                <a:ln>
                  <a:noFill/>
                </a:ln>
                <a:solidFill>
                  <a:prstClr val="white"/>
                </a:solidFill>
                <a:effectLst/>
                <a:uLnTx/>
                <a:uFillTx/>
                <a:latin typeface="Arial" panose="020B0604020202020204"/>
                <a:ea typeface="+mn-ea"/>
                <a:cs typeface="+mn-cs"/>
              </a:rPr>
              <a:t>our</a:t>
            </a:r>
            <a:r>
              <a:rPr kumimoji="0" lang="de-CH" sz="120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u="none" strike="noStrike" kern="1200" cap="none" spc="0" normalizeH="0" baseline="0" noProof="0" dirty="0" err="1">
                <a:ln>
                  <a:noFill/>
                </a:ln>
                <a:solidFill>
                  <a:prstClr val="white"/>
                </a:solidFill>
                <a:effectLst/>
                <a:uLnTx/>
                <a:uFillTx/>
                <a:latin typeface="Arial" panose="020B0604020202020204"/>
                <a:ea typeface="+mn-ea"/>
                <a:cs typeface="+mn-cs"/>
              </a:rPr>
              <a:t>research</a:t>
            </a:r>
            <a:endParaRPr kumimoji="0" lang="de-CH" sz="120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6" name="Textfeld 5">
            <a:extLst>
              <a:ext uri="{FF2B5EF4-FFF2-40B4-BE49-F238E27FC236}">
                <a16:creationId xmlns:a16="http://schemas.microsoft.com/office/drawing/2014/main" id="{76B77028-8A20-4669-A766-39A73D17B18B}"/>
              </a:ext>
            </a:extLst>
          </p:cNvPr>
          <p:cNvSpPr txBox="1"/>
          <p:nvPr/>
        </p:nvSpPr>
        <p:spPr>
          <a:xfrm>
            <a:off x="269493" y="2946986"/>
            <a:ext cx="8127747" cy="1938992"/>
          </a:xfrm>
          <a:prstGeom prst="rect">
            <a:avLst/>
          </a:prstGeom>
          <a:noFill/>
        </p:spPr>
        <p:txBody>
          <a:bodyPr wrap="square" rtlCol="0">
            <a:spAutoFit/>
          </a:bodyPr>
          <a:lstStyle/>
          <a:p>
            <a:pPr marL="342900" indent="-342900">
              <a:buAutoNum type="arabicParenR"/>
            </a:pPr>
            <a:r>
              <a:rPr lang="de-DE" sz="2400" dirty="0">
                <a:solidFill>
                  <a:schemeClr val="bg1"/>
                </a:solidFill>
              </a:rPr>
              <a:t>Double/</a:t>
            </a:r>
            <a:r>
              <a:rPr lang="de-DE" sz="2400" dirty="0" err="1">
                <a:solidFill>
                  <a:schemeClr val="bg1"/>
                </a:solidFill>
              </a:rPr>
              <a:t>debiased</a:t>
            </a:r>
            <a:r>
              <a:rPr lang="de-DE" sz="2400" dirty="0">
                <a:solidFill>
                  <a:schemeClr val="bg1"/>
                </a:solidFill>
              </a:rPr>
              <a:t> ML (</a:t>
            </a:r>
            <a:r>
              <a:rPr lang="de-DE" sz="2400" dirty="0" err="1">
                <a:solidFill>
                  <a:schemeClr val="bg1"/>
                </a:solidFill>
              </a:rPr>
              <a:t>debiased</a:t>
            </a:r>
            <a:r>
              <a:rPr lang="de-DE" sz="2400" dirty="0">
                <a:solidFill>
                  <a:schemeClr val="bg1"/>
                </a:solidFill>
              </a:rPr>
              <a:t> &amp; </a:t>
            </a:r>
            <a:r>
              <a:rPr lang="de-DE" sz="2400" dirty="0" err="1">
                <a:solidFill>
                  <a:schemeClr val="bg1"/>
                </a:solidFill>
              </a:rPr>
              <a:t>uncertainty</a:t>
            </a:r>
            <a:r>
              <a:rPr lang="de-DE" sz="2400" dirty="0">
                <a:solidFill>
                  <a:schemeClr val="bg1"/>
                </a:solidFill>
              </a:rPr>
              <a:t>)</a:t>
            </a:r>
          </a:p>
          <a:p>
            <a:pPr marL="342900" indent="-342900">
              <a:buAutoNum type="arabicParenR"/>
            </a:pPr>
            <a:endParaRPr lang="de-DE" sz="2400" dirty="0">
              <a:solidFill>
                <a:schemeClr val="bg1"/>
              </a:solidFill>
            </a:endParaRPr>
          </a:p>
          <a:p>
            <a:pPr marL="342900" indent="-342900">
              <a:buAutoNum type="arabicParenR"/>
            </a:pPr>
            <a:r>
              <a:rPr lang="de-DE" sz="2400" dirty="0">
                <a:solidFill>
                  <a:schemeClr val="bg1"/>
                </a:solidFill>
              </a:rPr>
              <a:t>Treatment </a:t>
            </a:r>
            <a:r>
              <a:rPr lang="de-DE" sz="2400" dirty="0" err="1">
                <a:solidFill>
                  <a:schemeClr val="bg1"/>
                </a:solidFill>
              </a:rPr>
              <a:t>outcome</a:t>
            </a:r>
            <a:r>
              <a:rPr lang="de-DE" sz="2400" dirty="0">
                <a:solidFill>
                  <a:schemeClr val="bg1"/>
                </a:solidFill>
              </a:rPr>
              <a:t> </a:t>
            </a:r>
            <a:r>
              <a:rPr lang="de-DE" sz="2400" dirty="0" err="1">
                <a:solidFill>
                  <a:schemeClr val="bg1"/>
                </a:solidFill>
              </a:rPr>
              <a:t>prediction</a:t>
            </a:r>
            <a:r>
              <a:rPr lang="de-DE" sz="2400" dirty="0">
                <a:solidFill>
                  <a:schemeClr val="bg1"/>
                </a:solidFill>
              </a:rPr>
              <a:t> (</a:t>
            </a:r>
            <a:r>
              <a:rPr lang="de-DE" sz="2400" dirty="0" err="1">
                <a:solidFill>
                  <a:schemeClr val="bg1"/>
                </a:solidFill>
              </a:rPr>
              <a:t>treatment</a:t>
            </a:r>
            <a:r>
              <a:rPr lang="de-DE" sz="2400" dirty="0">
                <a:solidFill>
                  <a:schemeClr val="bg1"/>
                </a:solidFill>
              </a:rPr>
              <a:t> </a:t>
            </a:r>
            <a:r>
              <a:rPr lang="de-DE" sz="2400" dirty="0" err="1">
                <a:solidFill>
                  <a:schemeClr val="bg1"/>
                </a:solidFill>
              </a:rPr>
              <a:t>heterogeneity</a:t>
            </a:r>
            <a:r>
              <a:rPr lang="de-DE" sz="2400" dirty="0">
                <a:solidFill>
                  <a:schemeClr val="bg1"/>
                </a:solidFill>
              </a:rPr>
              <a:t>)</a:t>
            </a:r>
          </a:p>
          <a:p>
            <a:pPr marL="342900" indent="-342900">
              <a:buAutoNum type="arabicParenR"/>
            </a:pPr>
            <a:endParaRPr lang="de-DE" sz="2400" dirty="0">
              <a:solidFill>
                <a:schemeClr val="bg1"/>
              </a:solidFill>
            </a:endParaRPr>
          </a:p>
          <a:p>
            <a:pPr marL="342900" indent="-342900">
              <a:buAutoNum type="arabicParenR"/>
            </a:pPr>
            <a:r>
              <a:rPr lang="de-DE" sz="2400" dirty="0" err="1">
                <a:solidFill>
                  <a:schemeClr val="bg1"/>
                </a:solidFill>
              </a:rPr>
              <a:t>Causal</a:t>
            </a:r>
            <a:r>
              <a:rPr lang="de-DE" sz="2400" dirty="0">
                <a:solidFill>
                  <a:schemeClr val="bg1"/>
                </a:solidFill>
              </a:rPr>
              <a:t> </a:t>
            </a:r>
            <a:r>
              <a:rPr lang="de-DE" sz="2400" dirty="0" err="1">
                <a:solidFill>
                  <a:schemeClr val="bg1"/>
                </a:solidFill>
              </a:rPr>
              <a:t>discovery</a:t>
            </a:r>
            <a:r>
              <a:rPr lang="de-DE" sz="2400" dirty="0">
                <a:solidFill>
                  <a:schemeClr val="bg1"/>
                </a:solidFill>
              </a:rPr>
              <a:t> (</a:t>
            </a:r>
            <a:r>
              <a:rPr lang="de-DE" sz="2400" dirty="0" err="1">
                <a:solidFill>
                  <a:schemeClr val="bg1"/>
                </a:solidFill>
              </a:rPr>
              <a:t>data-driven</a:t>
            </a:r>
            <a:r>
              <a:rPr lang="de-DE" sz="2400" dirty="0">
                <a:solidFill>
                  <a:schemeClr val="bg1"/>
                </a:solidFill>
              </a:rPr>
              <a:t> </a:t>
            </a:r>
            <a:r>
              <a:rPr lang="de-DE" sz="2400" dirty="0" err="1">
                <a:solidFill>
                  <a:schemeClr val="bg1"/>
                </a:solidFill>
              </a:rPr>
              <a:t>causal</a:t>
            </a:r>
            <a:r>
              <a:rPr lang="de-DE" sz="2400" dirty="0">
                <a:solidFill>
                  <a:schemeClr val="bg1"/>
                </a:solidFill>
              </a:rPr>
              <a:t> </a:t>
            </a:r>
            <a:r>
              <a:rPr lang="de-DE" sz="2400" dirty="0" err="1">
                <a:solidFill>
                  <a:schemeClr val="bg1"/>
                </a:solidFill>
              </a:rPr>
              <a:t>learning</a:t>
            </a:r>
            <a:r>
              <a:rPr lang="de-DE" sz="2400" dirty="0">
                <a:solidFill>
                  <a:schemeClr val="bg1"/>
                </a:solidFill>
              </a:rPr>
              <a:t>)</a:t>
            </a:r>
          </a:p>
        </p:txBody>
      </p:sp>
      <p:sp>
        <p:nvSpPr>
          <p:cNvPr id="7" name="Textfeld 6">
            <a:extLst>
              <a:ext uri="{FF2B5EF4-FFF2-40B4-BE49-F238E27FC236}">
                <a16:creationId xmlns:a16="http://schemas.microsoft.com/office/drawing/2014/main" id="{F8E3FEDD-FFE2-4ABB-8437-1EEDC98BAAE9}"/>
              </a:ext>
            </a:extLst>
          </p:cNvPr>
          <p:cNvSpPr txBox="1"/>
          <p:nvPr/>
        </p:nvSpPr>
        <p:spPr>
          <a:xfrm>
            <a:off x="8595503" y="3685649"/>
            <a:ext cx="3525267" cy="461665"/>
          </a:xfrm>
          <a:prstGeom prst="rect">
            <a:avLst/>
          </a:prstGeom>
          <a:noFill/>
        </p:spPr>
        <p:txBody>
          <a:bodyPr wrap="square" rtlCol="0">
            <a:spAutoFit/>
          </a:bodyPr>
          <a:lstStyle/>
          <a:p>
            <a:r>
              <a:rPr lang="de-DE" sz="2400" dirty="0" err="1">
                <a:solidFill>
                  <a:schemeClr val="bg1"/>
                </a:solidFill>
              </a:rPr>
              <a:t>Bayesian</a:t>
            </a:r>
            <a:r>
              <a:rPr lang="de-DE" sz="2400" dirty="0">
                <a:solidFill>
                  <a:schemeClr val="bg1"/>
                </a:solidFill>
              </a:rPr>
              <a:t> </a:t>
            </a:r>
            <a:r>
              <a:rPr lang="de-DE" sz="2400" dirty="0" err="1">
                <a:solidFill>
                  <a:schemeClr val="bg1"/>
                </a:solidFill>
              </a:rPr>
              <a:t>causal</a:t>
            </a:r>
            <a:r>
              <a:rPr lang="de-DE" sz="2400" dirty="0">
                <a:solidFill>
                  <a:schemeClr val="bg1"/>
                </a:solidFill>
              </a:rPr>
              <a:t> </a:t>
            </a:r>
            <a:r>
              <a:rPr lang="de-DE" sz="2400" dirty="0" err="1">
                <a:solidFill>
                  <a:schemeClr val="bg1"/>
                </a:solidFill>
              </a:rPr>
              <a:t>forest</a:t>
            </a:r>
            <a:endParaRPr lang="de-DE" sz="2400" dirty="0">
              <a:solidFill>
                <a:schemeClr val="bg1"/>
              </a:solidFill>
            </a:endParaRPr>
          </a:p>
        </p:txBody>
      </p:sp>
      <p:cxnSp>
        <p:nvCxnSpPr>
          <p:cNvPr id="3" name="Gerade Verbindung mit Pfeil 2">
            <a:extLst>
              <a:ext uri="{FF2B5EF4-FFF2-40B4-BE49-F238E27FC236}">
                <a16:creationId xmlns:a16="http://schemas.microsoft.com/office/drawing/2014/main" id="{CE95E2A4-D251-4803-904F-1638FF36C240}"/>
              </a:ext>
            </a:extLst>
          </p:cNvPr>
          <p:cNvCxnSpPr>
            <a:cxnSpLocks/>
          </p:cNvCxnSpPr>
          <p:nvPr/>
        </p:nvCxnSpPr>
        <p:spPr>
          <a:xfrm flipH="1" flipV="1">
            <a:off x="7254241" y="3291840"/>
            <a:ext cx="1412492" cy="46166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Gerade Verbindung mit Pfeil 10">
            <a:extLst>
              <a:ext uri="{FF2B5EF4-FFF2-40B4-BE49-F238E27FC236}">
                <a16:creationId xmlns:a16="http://schemas.microsoft.com/office/drawing/2014/main" id="{5778649F-2584-4F29-AD87-74156C9ED868}"/>
              </a:ext>
            </a:extLst>
          </p:cNvPr>
          <p:cNvCxnSpPr>
            <a:cxnSpLocks/>
          </p:cNvCxnSpPr>
          <p:nvPr/>
        </p:nvCxnSpPr>
        <p:spPr>
          <a:xfrm flipH="1">
            <a:off x="7320280" y="4147314"/>
            <a:ext cx="1346453" cy="45516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Gerade Verbindung mit Pfeil 14">
            <a:extLst>
              <a:ext uri="{FF2B5EF4-FFF2-40B4-BE49-F238E27FC236}">
                <a16:creationId xmlns:a16="http://schemas.microsoft.com/office/drawing/2014/main" id="{6973066D-1EA1-4C67-9ABC-1ABA615404B5}"/>
              </a:ext>
            </a:extLst>
          </p:cNvPr>
          <p:cNvCxnSpPr>
            <a:cxnSpLocks/>
            <a:stCxn id="7" idx="1"/>
          </p:cNvCxnSpPr>
          <p:nvPr/>
        </p:nvCxnSpPr>
        <p:spPr>
          <a:xfrm flipH="1">
            <a:off x="8275320" y="3916482"/>
            <a:ext cx="320183"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1" name="Textfeld 20">
            <a:extLst>
              <a:ext uri="{FF2B5EF4-FFF2-40B4-BE49-F238E27FC236}">
                <a16:creationId xmlns:a16="http://schemas.microsoft.com/office/drawing/2014/main" id="{F3472F81-868E-4020-8BFC-91239804D8D4}"/>
              </a:ext>
            </a:extLst>
          </p:cNvPr>
          <p:cNvSpPr txBox="1"/>
          <p:nvPr/>
        </p:nvSpPr>
        <p:spPr>
          <a:xfrm>
            <a:off x="7931372" y="4308896"/>
            <a:ext cx="400410" cy="461665"/>
          </a:xfrm>
          <a:prstGeom prst="rect">
            <a:avLst/>
          </a:prstGeom>
          <a:noFill/>
        </p:spPr>
        <p:txBody>
          <a:bodyPr wrap="square" rtlCol="0">
            <a:spAutoFit/>
          </a:bodyPr>
          <a:lstStyle/>
          <a:p>
            <a:r>
              <a:rPr lang="de-DE" sz="2400" dirty="0">
                <a:solidFill>
                  <a:schemeClr val="bg1"/>
                </a:solidFill>
              </a:rPr>
              <a:t>-</a:t>
            </a:r>
          </a:p>
        </p:txBody>
      </p:sp>
      <p:sp>
        <p:nvSpPr>
          <p:cNvPr id="22" name="Textfeld 21">
            <a:extLst>
              <a:ext uri="{FF2B5EF4-FFF2-40B4-BE49-F238E27FC236}">
                <a16:creationId xmlns:a16="http://schemas.microsoft.com/office/drawing/2014/main" id="{CC2A90C5-48A0-4275-97C9-2CEC7CD63F34}"/>
              </a:ext>
            </a:extLst>
          </p:cNvPr>
          <p:cNvSpPr txBox="1"/>
          <p:nvPr/>
        </p:nvSpPr>
        <p:spPr>
          <a:xfrm>
            <a:off x="7931372" y="3176423"/>
            <a:ext cx="400410" cy="461665"/>
          </a:xfrm>
          <a:prstGeom prst="rect">
            <a:avLst/>
          </a:prstGeom>
          <a:noFill/>
        </p:spPr>
        <p:txBody>
          <a:bodyPr wrap="square" rtlCol="0">
            <a:spAutoFit/>
          </a:bodyPr>
          <a:lstStyle/>
          <a:p>
            <a:r>
              <a:rPr lang="de-DE" sz="2400" dirty="0">
                <a:solidFill>
                  <a:schemeClr val="bg1"/>
                </a:solidFill>
              </a:rPr>
              <a:t>~</a:t>
            </a:r>
          </a:p>
        </p:txBody>
      </p:sp>
      <p:sp>
        <p:nvSpPr>
          <p:cNvPr id="18" name="Textfeld 17">
            <a:extLst>
              <a:ext uri="{FF2B5EF4-FFF2-40B4-BE49-F238E27FC236}">
                <a16:creationId xmlns:a16="http://schemas.microsoft.com/office/drawing/2014/main" id="{DBB963F0-B1A4-4134-84F5-C53EBE37667A}"/>
              </a:ext>
            </a:extLst>
          </p:cNvPr>
          <p:cNvSpPr txBox="1"/>
          <p:nvPr/>
        </p:nvSpPr>
        <p:spPr>
          <a:xfrm>
            <a:off x="5831626" y="2658445"/>
            <a:ext cx="400410" cy="461665"/>
          </a:xfrm>
          <a:prstGeom prst="rect">
            <a:avLst/>
          </a:prstGeom>
          <a:noFill/>
        </p:spPr>
        <p:txBody>
          <a:bodyPr wrap="square" rtlCol="0">
            <a:spAutoFit/>
          </a:bodyPr>
          <a:lstStyle/>
          <a:p>
            <a:r>
              <a:rPr lang="de-DE" sz="2400" dirty="0">
                <a:solidFill>
                  <a:schemeClr val="bg1"/>
                </a:solidFill>
              </a:rPr>
              <a:t>✔</a:t>
            </a:r>
          </a:p>
        </p:txBody>
      </p:sp>
      <p:sp>
        <p:nvSpPr>
          <p:cNvPr id="19" name="Textfeld 18">
            <a:extLst>
              <a:ext uri="{FF2B5EF4-FFF2-40B4-BE49-F238E27FC236}">
                <a16:creationId xmlns:a16="http://schemas.microsoft.com/office/drawing/2014/main" id="{408CBB9E-3529-4B04-A1F3-E919ED9A82E6}"/>
              </a:ext>
            </a:extLst>
          </p:cNvPr>
          <p:cNvSpPr txBox="1"/>
          <p:nvPr/>
        </p:nvSpPr>
        <p:spPr>
          <a:xfrm>
            <a:off x="4132290" y="2600736"/>
            <a:ext cx="400410" cy="461665"/>
          </a:xfrm>
          <a:prstGeom prst="rect">
            <a:avLst/>
          </a:prstGeom>
          <a:noFill/>
        </p:spPr>
        <p:txBody>
          <a:bodyPr wrap="square" rtlCol="0">
            <a:spAutoFit/>
          </a:bodyPr>
          <a:lstStyle/>
          <a:p>
            <a:r>
              <a:rPr lang="de-DE" sz="2400" dirty="0">
                <a:solidFill>
                  <a:schemeClr val="bg1"/>
                </a:solidFill>
              </a:rPr>
              <a:t>~</a:t>
            </a:r>
          </a:p>
        </p:txBody>
      </p:sp>
    </p:spTree>
    <p:extLst>
      <p:ext uri="{BB962C8B-B14F-4D97-AF65-F5344CB8AC3E}">
        <p14:creationId xmlns:p14="http://schemas.microsoft.com/office/powerpoint/2010/main" val="3369985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Rechteck 3"/>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2" name="Abgerundetes Rechteck 41"/>
          <p:cNvSpPr/>
          <p:nvPr/>
        </p:nvSpPr>
        <p:spPr>
          <a:xfrm>
            <a:off x="4027242" y="515394"/>
            <a:ext cx="4137515" cy="1456629"/>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3200" b="1" i="0" u="none" strike="noStrike" kern="1200" cap="none" spc="0" normalizeH="0" baseline="0" noProof="0" dirty="0">
                <a:ln>
                  <a:noFill/>
                </a:ln>
                <a:solidFill>
                  <a:prstClr val="white"/>
                </a:solidFill>
                <a:effectLst/>
                <a:uLnTx/>
                <a:uFillTx/>
                <a:latin typeface="Arial" panose="020B0604020202020204"/>
                <a:ea typeface="+mn-ea"/>
                <a:cs typeface="+mn-cs"/>
              </a:rPr>
              <a:t>III) The </a:t>
            </a:r>
            <a:r>
              <a:rPr kumimoji="0" lang="de-CH" sz="3200" b="1" i="1" u="none" strike="noStrike" kern="1200" cap="none" spc="0" normalizeH="0" baseline="0" noProof="0" dirty="0" err="1">
                <a:ln>
                  <a:noFill/>
                </a:ln>
                <a:solidFill>
                  <a:prstClr val="white"/>
                </a:solidFill>
                <a:effectLst/>
                <a:uLnTx/>
                <a:uFillTx/>
                <a:latin typeface="Arial" panose="020B0604020202020204"/>
                <a:ea typeface="+mn-ea"/>
                <a:cs typeface="+mn-cs"/>
              </a:rPr>
              <a:t>Uniqueness</a:t>
            </a:r>
            <a:r>
              <a:rPr kumimoji="0" lang="de-CH" sz="3200" b="1"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3200" b="1" u="none" strike="noStrike" kern="1200" cap="none" spc="0" normalizeH="0" baseline="0" noProof="0" dirty="0" err="1">
                <a:ln>
                  <a:noFill/>
                </a:ln>
                <a:solidFill>
                  <a:prstClr val="white"/>
                </a:solidFill>
                <a:effectLst/>
                <a:uLnTx/>
                <a:uFillTx/>
                <a:latin typeface="Arial" panose="020B0604020202020204"/>
                <a:ea typeface="+mn-ea"/>
                <a:cs typeface="+mn-cs"/>
              </a:rPr>
              <a:t>of</a:t>
            </a:r>
            <a:r>
              <a:rPr kumimoji="0" lang="de-CH" sz="3200" b="1" u="none" strike="noStrike" kern="1200" cap="none" spc="0" normalizeH="0" baseline="0" noProof="0" dirty="0">
                <a:ln>
                  <a:noFill/>
                </a:ln>
                <a:solidFill>
                  <a:prstClr val="white"/>
                </a:solidFill>
                <a:effectLst/>
                <a:uLnTx/>
                <a:uFillTx/>
                <a:latin typeface="Arial" panose="020B0604020202020204"/>
                <a:ea typeface="+mn-ea"/>
                <a:cs typeface="+mn-cs"/>
              </a:rPr>
              <a:t> CML</a:t>
            </a:r>
            <a:endParaRPr kumimoji="0" lang="en-US" sz="3200" b="1"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0" name="Abgerundetes Rechteck 41">
            <a:extLst>
              <a:ext uri="{FF2B5EF4-FFF2-40B4-BE49-F238E27FC236}">
                <a16:creationId xmlns:a16="http://schemas.microsoft.com/office/drawing/2014/main" id="{CB69749E-2935-4A1A-9C25-630C77EFD915}"/>
              </a:ext>
            </a:extLst>
          </p:cNvPr>
          <p:cNvSpPr/>
          <p:nvPr/>
        </p:nvSpPr>
        <p:spPr>
          <a:xfrm>
            <a:off x="9345385" y="5957917"/>
            <a:ext cx="2557055" cy="838199"/>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dirty="0">
                <a:ln>
                  <a:noFill/>
                </a:ln>
                <a:solidFill>
                  <a:prstClr val="white"/>
                </a:solidFill>
                <a:effectLst/>
                <a:uLnTx/>
                <a:uFillTx/>
                <a:latin typeface="Arial" panose="020B0604020202020204"/>
                <a:ea typeface="+mn-ea"/>
                <a:cs typeface="+mn-cs"/>
              </a:rPr>
              <a:t>I)   </a:t>
            </a:r>
            <a:r>
              <a:rPr kumimoji="0" lang="de-CH" sz="1200" b="0" i="0" u="none" strike="noStrike" kern="1200" cap="none" spc="0" normalizeH="0" baseline="0" noProof="0" dirty="0" err="1">
                <a:ln>
                  <a:noFill/>
                </a:ln>
                <a:solidFill>
                  <a:prstClr val="white"/>
                </a:solidFill>
                <a:effectLst/>
                <a:uLnTx/>
                <a:uFillTx/>
                <a:latin typeface="Arial" panose="020B0604020202020204"/>
                <a:ea typeface="+mn-ea"/>
                <a:cs typeface="+mn-cs"/>
              </a:rPr>
              <a:t>What</a:t>
            </a:r>
            <a:r>
              <a:rPr kumimoji="0" lang="de-CH" sz="12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b="0" i="1" u="none" strike="noStrike" kern="1200" cap="none" spc="0" normalizeH="0" baseline="0" noProof="0" dirty="0" err="1">
                <a:ln>
                  <a:noFill/>
                </a:ln>
                <a:solidFill>
                  <a:prstClr val="white"/>
                </a:solidFill>
                <a:effectLst/>
                <a:uLnTx/>
                <a:uFillTx/>
                <a:latin typeface="Arial" panose="020B0604020202020204"/>
                <a:ea typeface="+mn-ea"/>
                <a:cs typeface="+mn-cs"/>
              </a:rPr>
              <a:t>is</a:t>
            </a:r>
            <a:r>
              <a:rPr kumimoji="0" lang="de-CH" sz="1200" b="0" i="0" u="none" strike="noStrike" kern="1200" cap="none" spc="0" normalizeH="0" baseline="0" noProof="0" dirty="0">
                <a:ln>
                  <a:noFill/>
                </a:ln>
                <a:solidFill>
                  <a:prstClr val="white"/>
                </a:solidFill>
                <a:effectLst/>
                <a:uLnTx/>
                <a:uFillTx/>
                <a:latin typeface="Arial" panose="020B0604020202020204"/>
                <a:ea typeface="+mn-ea"/>
                <a:cs typeface="+mn-cs"/>
              </a:rPr>
              <a:t> CML?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i="0" u="none" strike="noStrike" kern="1200" cap="none" spc="0" normalizeH="0" baseline="0" noProof="0" dirty="0">
                <a:ln>
                  <a:noFill/>
                </a:ln>
                <a:solidFill>
                  <a:prstClr val="white"/>
                </a:solidFill>
                <a:effectLst/>
                <a:uLnTx/>
                <a:uFillTx/>
                <a:latin typeface="Arial" panose="020B0604020202020204"/>
                <a:ea typeface="+mn-ea"/>
                <a:cs typeface="+mn-cs"/>
              </a:rPr>
              <a:t>II)  The </a:t>
            </a:r>
            <a:r>
              <a:rPr kumimoji="0" lang="de-CH" sz="1200" i="1" u="none" strike="noStrike" kern="1200" cap="none" spc="0" normalizeH="0" baseline="0" noProof="0" dirty="0" err="1">
                <a:ln>
                  <a:noFill/>
                </a:ln>
                <a:solidFill>
                  <a:prstClr val="white"/>
                </a:solidFill>
                <a:effectLst/>
                <a:uLnTx/>
                <a:uFillTx/>
                <a:latin typeface="Arial" panose="020B0604020202020204"/>
                <a:ea typeface="+mn-ea"/>
                <a:cs typeface="+mn-cs"/>
              </a:rPr>
              <a:t>Bayesian</a:t>
            </a:r>
            <a:r>
              <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i="1" u="none" strike="noStrike" kern="1200" cap="none" spc="0" normalizeH="0" baseline="0" noProof="0" dirty="0" err="1">
                <a:ln>
                  <a:noFill/>
                </a:ln>
                <a:solidFill>
                  <a:prstClr val="white"/>
                </a:solidFill>
                <a:effectLst/>
                <a:uLnTx/>
                <a:uFillTx/>
                <a:latin typeface="Arial" panose="020B0604020202020204"/>
                <a:ea typeface="+mn-ea"/>
                <a:cs typeface="+mn-cs"/>
              </a:rPr>
              <a:t>causal</a:t>
            </a:r>
            <a:r>
              <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i="1" u="none" strike="noStrike" kern="1200" cap="none" spc="0" normalizeH="0" baseline="0" noProof="0" dirty="0" err="1">
                <a:ln>
                  <a:noFill/>
                </a:ln>
                <a:solidFill>
                  <a:prstClr val="white"/>
                </a:solidFill>
                <a:effectLst/>
                <a:uLnTx/>
                <a:uFillTx/>
                <a:latin typeface="Arial" panose="020B0604020202020204"/>
                <a:ea typeface="+mn-ea"/>
                <a:cs typeface="+mn-cs"/>
              </a:rPr>
              <a:t>forest</a:t>
            </a:r>
            <a:endPar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b="1" i="0" u="none" strike="noStrike" kern="1200" cap="none" spc="0" normalizeH="0" baseline="0" noProof="0" dirty="0">
                <a:ln>
                  <a:noFill/>
                </a:ln>
                <a:solidFill>
                  <a:prstClr val="white"/>
                </a:solidFill>
                <a:effectLst/>
                <a:uLnTx/>
                <a:uFillTx/>
                <a:latin typeface="Arial" panose="020B0604020202020204"/>
                <a:ea typeface="+mn-ea"/>
                <a:cs typeface="+mn-cs"/>
              </a:rPr>
              <a:t>III) </a:t>
            </a:r>
            <a:r>
              <a:rPr kumimoji="0" lang="de-CH" sz="1200" b="1" i="1" u="none" strike="noStrike" kern="1200" cap="none" spc="0" normalizeH="0" baseline="0" noProof="0" dirty="0" err="1">
                <a:ln>
                  <a:noFill/>
                </a:ln>
                <a:solidFill>
                  <a:prstClr val="white"/>
                </a:solidFill>
                <a:effectLst/>
                <a:uLnTx/>
                <a:uFillTx/>
                <a:latin typeface="Arial" panose="020B0604020202020204"/>
                <a:ea typeface="+mn-ea"/>
                <a:cs typeface="+mn-cs"/>
              </a:rPr>
              <a:t>Uniqueness</a:t>
            </a:r>
            <a:r>
              <a:rPr kumimoji="0" lang="de-CH" sz="1200" b="1"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b="1" i="0" u="none" strike="noStrike" kern="1200" cap="none" spc="0" normalizeH="0" baseline="0" noProof="0" dirty="0" err="1">
                <a:ln>
                  <a:noFill/>
                </a:ln>
                <a:solidFill>
                  <a:prstClr val="white"/>
                </a:solidFill>
                <a:effectLst/>
                <a:uLnTx/>
                <a:uFillTx/>
                <a:latin typeface="Arial" panose="020B0604020202020204"/>
                <a:ea typeface="+mn-ea"/>
                <a:cs typeface="+mn-cs"/>
              </a:rPr>
              <a:t>of</a:t>
            </a:r>
            <a:r>
              <a:rPr kumimoji="0" lang="de-CH" sz="1200" b="1" i="0" u="none" strike="noStrike" kern="1200" cap="none" spc="0" normalizeH="0" baseline="0" noProof="0" dirty="0">
                <a:ln>
                  <a:noFill/>
                </a:ln>
                <a:solidFill>
                  <a:prstClr val="white"/>
                </a:solidFill>
                <a:effectLst/>
                <a:uLnTx/>
                <a:uFillTx/>
                <a:latin typeface="Arial" panose="020B0604020202020204"/>
                <a:ea typeface="+mn-ea"/>
                <a:cs typeface="+mn-cs"/>
              </a:rPr>
              <a:t> CML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b="0" i="1" u="none" strike="noStrike" kern="1200" cap="none" spc="0" normalizeH="0" baseline="0" noProof="0" dirty="0">
                <a:ln>
                  <a:noFill/>
                </a:ln>
                <a:solidFill>
                  <a:prstClr val="white"/>
                </a:solidFill>
                <a:effectLst/>
                <a:uLnTx/>
                <a:uFillTx/>
                <a:latin typeface="Arial" panose="020B0604020202020204"/>
                <a:ea typeface="+mn-ea"/>
                <a:cs typeface="+mn-cs"/>
              </a:rPr>
              <a:t>IV) </a:t>
            </a:r>
            <a:r>
              <a:rPr kumimoji="0" lang="de-CH" sz="1200" b="0" i="1" u="none" strike="noStrike" kern="1200" cap="none" spc="0" normalizeH="0" baseline="0" noProof="0" dirty="0" err="1">
                <a:ln>
                  <a:noFill/>
                </a:ln>
                <a:solidFill>
                  <a:prstClr val="white"/>
                </a:solidFill>
                <a:effectLst/>
                <a:uLnTx/>
                <a:uFillTx/>
                <a:latin typeface="Arial" panose="020B0604020202020204"/>
                <a:ea typeface="+mn-ea"/>
                <a:cs typeface="+mn-cs"/>
              </a:rPr>
              <a:t>Implications</a:t>
            </a:r>
            <a:r>
              <a:rPr kumimoji="0" lang="de-CH" sz="1200" b="0"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b="0" i="0" u="none" strike="noStrike" kern="1200" cap="none" spc="0" normalizeH="0" baseline="0" noProof="0" dirty="0" err="1">
                <a:ln>
                  <a:noFill/>
                </a:ln>
                <a:solidFill>
                  <a:prstClr val="white"/>
                </a:solidFill>
                <a:effectLst/>
                <a:uLnTx/>
                <a:uFillTx/>
                <a:latin typeface="Arial" panose="020B0604020202020204"/>
                <a:ea typeface="+mn-ea"/>
                <a:cs typeface="+mn-cs"/>
              </a:rPr>
              <a:t>for</a:t>
            </a:r>
            <a:r>
              <a:rPr kumimoji="0" lang="de-CH" sz="12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b="0" i="0" u="none" strike="noStrike" kern="1200" cap="none" spc="0" normalizeH="0" baseline="0" noProof="0" dirty="0" err="1">
                <a:ln>
                  <a:noFill/>
                </a:ln>
                <a:solidFill>
                  <a:prstClr val="white"/>
                </a:solidFill>
                <a:effectLst/>
                <a:uLnTx/>
                <a:uFillTx/>
                <a:latin typeface="Arial" panose="020B0604020202020204"/>
                <a:ea typeface="+mn-ea"/>
                <a:cs typeface="+mn-cs"/>
              </a:rPr>
              <a:t>our</a:t>
            </a:r>
            <a:r>
              <a:rPr kumimoji="0" lang="de-CH" sz="12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b="0" i="0" u="none" strike="noStrike" kern="1200" cap="none" spc="0" normalizeH="0" baseline="0" noProof="0" dirty="0" err="1">
                <a:ln>
                  <a:noFill/>
                </a:ln>
                <a:solidFill>
                  <a:prstClr val="white"/>
                </a:solidFill>
                <a:effectLst/>
                <a:uLnTx/>
                <a:uFillTx/>
                <a:latin typeface="Arial" panose="020B0604020202020204"/>
                <a:ea typeface="+mn-ea"/>
                <a:cs typeface="+mn-cs"/>
              </a:rPr>
              <a:t>research</a:t>
            </a:r>
            <a:endParaRPr kumimoji="0" lang="de-CH" sz="12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6" name="Textfeld 5">
            <a:extLst>
              <a:ext uri="{FF2B5EF4-FFF2-40B4-BE49-F238E27FC236}">
                <a16:creationId xmlns:a16="http://schemas.microsoft.com/office/drawing/2014/main" id="{76B77028-8A20-4669-A766-39A73D17B18B}"/>
              </a:ext>
            </a:extLst>
          </p:cNvPr>
          <p:cNvSpPr txBox="1"/>
          <p:nvPr/>
        </p:nvSpPr>
        <p:spPr>
          <a:xfrm>
            <a:off x="269493" y="2946986"/>
            <a:ext cx="8127747" cy="1938992"/>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Double/</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debiased</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ML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debiased</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&amp;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uncertainty</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a:t>
            </a: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endPar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Treatment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outcome</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prediction</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treatment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heterogeneity</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a:t>
            </a: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endPar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Causal</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discovery</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data-driven</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causal</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learning</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a:t>
            </a:r>
          </a:p>
        </p:txBody>
      </p:sp>
      <p:pic>
        <p:nvPicPr>
          <p:cNvPr id="12" name="Picture 8" descr="Jogger erschreckt Pferd – wer ist schuld? – FIT for LIFE">
            <a:extLst>
              <a:ext uri="{FF2B5EF4-FFF2-40B4-BE49-F238E27FC236}">
                <a16:creationId xmlns:a16="http://schemas.microsoft.com/office/drawing/2014/main" id="{6690A7CA-F236-4A92-8293-E4617696710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610" r="37230" b="5684"/>
          <a:stretch/>
        </p:blipFill>
        <p:spPr bwMode="auto">
          <a:xfrm>
            <a:off x="8903971" y="1629888"/>
            <a:ext cx="882828" cy="1317098"/>
          </a:xfrm>
          <a:prstGeom prst="rect">
            <a:avLst/>
          </a:prstGeom>
          <a:noFill/>
          <a:extLst>
            <a:ext uri="{909E8E84-426E-40DD-AFC4-6F175D3DCCD1}">
              <a14:hiddenFill xmlns:a14="http://schemas.microsoft.com/office/drawing/2010/main">
                <a:solidFill>
                  <a:srgbClr val="FFFFFF"/>
                </a:solidFill>
              </a14:hiddenFill>
            </a:ext>
          </a:extLst>
        </p:spPr>
      </p:pic>
      <p:sp>
        <p:nvSpPr>
          <p:cNvPr id="13" name="Sprechblase: oval 12">
            <a:extLst>
              <a:ext uri="{FF2B5EF4-FFF2-40B4-BE49-F238E27FC236}">
                <a16:creationId xmlns:a16="http://schemas.microsoft.com/office/drawing/2014/main" id="{AD7549C8-F87D-439E-B0F9-74B5191E78AC}"/>
              </a:ext>
            </a:extLst>
          </p:cNvPr>
          <p:cNvSpPr/>
          <p:nvPr/>
        </p:nvSpPr>
        <p:spPr bwMode="auto">
          <a:xfrm>
            <a:off x="9838380" y="1946012"/>
            <a:ext cx="1369369" cy="461665"/>
          </a:xfrm>
          <a:prstGeom prst="wedgeEllipseCallout">
            <a:avLst>
              <a:gd name="adj1" fmla="val -65744"/>
              <a:gd name="adj2" fmla="val 86438"/>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2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 name="Titel 1">
            <a:extLst>
              <a:ext uri="{FF2B5EF4-FFF2-40B4-BE49-F238E27FC236}">
                <a16:creationId xmlns:a16="http://schemas.microsoft.com/office/drawing/2014/main" id="{545E81D3-282A-4C5C-9F1F-545A1715E04D}"/>
              </a:ext>
            </a:extLst>
          </p:cNvPr>
          <p:cNvSpPr txBox="1">
            <a:spLocks/>
          </p:cNvSpPr>
          <p:nvPr/>
        </p:nvSpPr>
        <p:spPr bwMode="auto">
          <a:xfrm>
            <a:off x="9826295" y="1915286"/>
            <a:ext cx="1369369" cy="56309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de-AT" sz="1000" b="0" i="1"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Non-linear </a:t>
            </a:r>
            <a:r>
              <a:rPr kumimoji="0" lang="de-AT" sz="1000" b="0" i="1"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versions</a:t>
            </a:r>
            <a:r>
              <a:rPr kumimoji="0" lang="de-AT" sz="1000" b="0" i="1"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a:t>
            </a:r>
            <a:r>
              <a:rPr kumimoji="0" lang="de-AT" sz="1000" b="0" i="1"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of</a:t>
            </a:r>
            <a:r>
              <a:rPr kumimoji="0" lang="de-AT" sz="1000" b="0" i="1"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a:t>
            </a:r>
            <a:r>
              <a:rPr kumimoji="0" lang="de-AT" sz="1000" b="0" i="1"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the</a:t>
            </a:r>
            <a:r>
              <a:rPr kumimoji="0" lang="de-AT" sz="1000" b="0" i="1"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same </a:t>
            </a:r>
            <a:r>
              <a:rPr kumimoji="0" lang="de-AT" sz="1000" b="0" i="1"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ol</a:t>
            </a:r>
            <a:r>
              <a:rPr lang="de-AT" sz="1000" i="1" dirty="0">
                <a:solidFill>
                  <a:prstClr val="white"/>
                </a:solidFill>
                <a:latin typeface="Arial" panose="020B0604020202020204" pitchFamily="34" charset="0"/>
                <a:cs typeface="Arial" panose="020B0604020202020204" pitchFamily="34" charset="0"/>
              </a:rPr>
              <a:t>`BS?</a:t>
            </a:r>
            <a:endParaRPr kumimoji="0" lang="de-AT" sz="1000" b="0" i="1"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16" name="Sprechblase: oval 15">
            <a:extLst>
              <a:ext uri="{FF2B5EF4-FFF2-40B4-BE49-F238E27FC236}">
                <a16:creationId xmlns:a16="http://schemas.microsoft.com/office/drawing/2014/main" id="{5D1D8A61-DE53-4686-A8CA-35E38E341BB0}"/>
              </a:ext>
            </a:extLst>
          </p:cNvPr>
          <p:cNvSpPr/>
          <p:nvPr/>
        </p:nvSpPr>
        <p:spPr bwMode="auto">
          <a:xfrm>
            <a:off x="9769762" y="1895297"/>
            <a:ext cx="1482437" cy="563092"/>
          </a:xfrm>
          <a:prstGeom prst="wedgeEllipseCallout">
            <a:avLst>
              <a:gd name="adj1" fmla="val -59747"/>
              <a:gd name="adj2" fmla="val 60501"/>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2800" b="0" i="0" u="none" strike="noStrike" kern="1200" cap="none" spc="0" normalizeH="0" baseline="0" noProof="0">
              <a:ln>
                <a:noFill/>
              </a:ln>
              <a:solidFill>
                <a:prstClr val="black"/>
              </a:solidFill>
              <a:effectLst/>
              <a:uLnTx/>
              <a:uFillTx/>
              <a:latin typeface="Arial" panose="020B0604020202020204"/>
              <a:ea typeface="+mn-ea"/>
              <a:cs typeface="+mn-cs"/>
            </a:endParaRPr>
          </a:p>
        </p:txBody>
      </p:sp>
      <p:cxnSp>
        <p:nvCxnSpPr>
          <p:cNvPr id="17" name="Gerade Verbindung mit Pfeil 16">
            <a:extLst>
              <a:ext uri="{FF2B5EF4-FFF2-40B4-BE49-F238E27FC236}">
                <a16:creationId xmlns:a16="http://schemas.microsoft.com/office/drawing/2014/main" id="{2B0A6A49-B05E-444B-A319-7C3799E3B365}"/>
              </a:ext>
            </a:extLst>
          </p:cNvPr>
          <p:cNvCxnSpPr>
            <a:cxnSpLocks/>
          </p:cNvCxnSpPr>
          <p:nvPr/>
        </p:nvCxnSpPr>
        <p:spPr>
          <a:xfrm flipH="1">
            <a:off x="7931372" y="2546437"/>
            <a:ext cx="857028" cy="28513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Gerade Verbindung mit Pfeil 17">
            <a:extLst>
              <a:ext uri="{FF2B5EF4-FFF2-40B4-BE49-F238E27FC236}">
                <a16:creationId xmlns:a16="http://schemas.microsoft.com/office/drawing/2014/main" id="{3057E503-11D4-455B-A6B3-D7520E49F3C8}"/>
              </a:ext>
            </a:extLst>
          </p:cNvPr>
          <p:cNvCxnSpPr>
            <a:cxnSpLocks/>
          </p:cNvCxnSpPr>
          <p:nvPr/>
        </p:nvCxnSpPr>
        <p:spPr>
          <a:xfrm flipH="1">
            <a:off x="8164758" y="3090402"/>
            <a:ext cx="739213" cy="568099"/>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09116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 name="Rechteck 3">
            <a:extLst>
              <a:ext uri="{FF2B5EF4-FFF2-40B4-BE49-F238E27FC236}">
                <a16:creationId xmlns:a16="http://schemas.microsoft.com/office/drawing/2014/main" id="{7524DA9A-46A3-4912-BF4E-032E888E93B0}"/>
              </a:ext>
            </a:extLst>
          </p:cNvPr>
          <p:cNvSpPr/>
          <p:nvPr/>
        </p:nvSpPr>
        <p:spPr>
          <a:xfrm>
            <a:off x="119336" y="585247"/>
            <a:ext cx="11953328" cy="56166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0" name="Abgerundetes Rechteck 41">
            <a:extLst>
              <a:ext uri="{FF2B5EF4-FFF2-40B4-BE49-F238E27FC236}">
                <a16:creationId xmlns:a16="http://schemas.microsoft.com/office/drawing/2014/main" id="{2846C80A-C560-48BE-A8FF-2B9AA7CD0516}"/>
              </a:ext>
            </a:extLst>
          </p:cNvPr>
          <p:cNvSpPr/>
          <p:nvPr/>
        </p:nvSpPr>
        <p:spPr>
          <a:xfrm>
            <a:off x="4027242" y="716109"/>
            <a:ext cx="4137515" cy="145662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CH" sz="3200" b="1" dirty="0">
                <a:solidFill>
                  <a:schemeClr val="tx1"/>
                </a:solidFill>
                <a:latin typeface="Arial" panose="020B0604020202020204"/>
              </a:rPr>
              <a:t>III) </a:t>
            </a:r>
            <a:r>
              <a:rPr lang="de-CH" sz="3200" b="1" i="1" dirty="0" err="1">
                <a:solidFill>
                  <a:schemeClr val="tx1"/>
                </a:solidFill>
                <a:latin typeface="Arial" panose="020B0604020202020204"/>
              </a:rPr>
              <a:t>Uniqueness</a:t>
            </a:r>
            <a:r>
              <a:rPr lang="de-CH" sz="3200" b="1" dirty="0">
                <a:solidFill>
                  <a:schemeClr val="tx1"/>
                </a:solidFill>
                <a:latin typeface="Arial" panose="020B0604020202020204"/>
              </a:rPr>
              <a:t> </a:t>
            </a:r>
            <a:r>
              <a:rPr lang="de-CH" sz="3200" b="1" dirty="0" err="1">
                <a:solidFill>
                  <a:schemeClr val="tx1"/>
                </a:solidFill>
                <a:latin typeface="Arial" panose="020B0604020202020204"/>
              </a:rPr>
              <a:t>of</a:t>
            </a:r>
            <a:r>
              <a:rPr lang="de-CH" sz="3200" b="1" dirty="0">
                <a:solidFill>
                  <a:schemeClr val="tx1"/>
                </a:solidFill>
                <a:latin typeface="Arial" panose="020B0604020202020204"/>
              </a:rPr>
              <a:t> CML</a:t>
            </a:r>
            <a:endParaRPr kumimoji="0" lang="en-US" sz="3200" b="1" i="1" u="none" strike="noStrike" kern="1200" cap="none" spc="0" normalizeH="0" baseline="0" noProof="0" dirty="0">
              <a:ln>
                <a:noFill/>
              </a:ln>
              <a:solidFill>
                <a:schemeClr val="tx1"/>
              </a:solidFill>
              <a:effectLst/>
              <a:uLnTx/>
              <a:uFillTx/>
              <a:latin typeface="Arial" panose="020B0604020202020204"/>
            </a:endParaRPr>
          </a:p>
        </p:txBody>
      </p:sp>
      <p:sp>
        <p:nvSpPr>
          <p:cNvPr id="15" name="Abgerundetes Rechteck 41">
            <a:extLst>
              <a:ext uri="{FF2B5EF4-FFF2-40B4-BE49-F238E27FC236}">
                <a16:creationId xmlns:a16="http://schemas.microsoft.com/office/drawing/2014/main" id="{5E4A08DB-2518-4869-93F0-B5CE3FDDAD5D}"/>
              </a:ext>
            </a:extLst>
          </p:cNvPr>
          <p:cNvSpPr/>
          <p:nvPr/>
        </p:nvSpPr>
        <p:spPr bwMode="auto">
          <a:xfrm>
            <a:off x="9779666" y="6211669"/>
            <a:ext cx="2114514" cy="64633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defTabSz="914400" rtl="0" eaLnBrk="1" fontAlgn="auto" latinLnBrk="0" hangingPunct="1">
              <a:lnSpc>
                <a:spcPct val="100000"/>
              </a:lnSpc>
              <a:spcBef>
                <a:spcPts val="0"/>
              </a:spcBef>
              <a:spcAft>
                <a:spcPts val="0"/>
              </a:spcAft>
              <a:buClrTx/>
              <a:buSzTx/>
              <a:tabLst/>
              <a:defRPr/>
            </a:pP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I)   </a:t>
            </a:r>
            <a:r>
              <a:rPr kumimoji="0" lang="de-CH" sz="1000" i="0" u="none" strike="noStrike" kern="1200" cap="none" spc="0" normalizeH="0" baseline="0" noProof="0" dirty="0" err="1">
                <a:ln>
                  <a:noFill/>
                </a:ln>
                <a:solidFill>
                  <a:schemeClr val="tx1"/>
                </a:solidFill>
                <a:effectLst/>
                <a:uLnTx/>
                <a:uFillTx/>
                <a:latin typeface="Arial" panose="020B0604020202020204"/>
                <a:ea typeface="+mn-ea"/>
                <a:cs typeface="+mn-cs"/>
              </a:rPr>
              <a:t>What</a:t>
            </a: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is</a:t>
            </a: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 CML</a:t>
            </a:r>
            <a:r>
              <a:rPr lang="de-CH" sz="1000" dirty="0">
                <a:solidFill>
                  <a:schemeClr val="tx1"/>
                </a:solidFill>
                <a:latin typeface="Arial" panose="020B0604020202020204"/>
              </a:rPr>
              <a:t>?</a:t>
            </a:r>
          </a:p>
          <a:p>
            <a:pPr marR="0" lvl="0" defTabSz="914400" rtl="0" eaLnBrk="1" fontAlgn="auto" latinLnBrk="0" hangingPunct="1">
              <a:lnSpc>
                <a:spcPct val="100000"/>
              </a:lnSpc>
              <a:spcBef>
                <a:spcPts val="0"/>
              </a:spcBef>
              <a:spcAft>
                <a:spcPts val="0"/>
              </a:spcAft>
              <a:buClrTx/>
              <a:buSzTx/>
              <a:tabLst/>
              <a:defRPr/>
            </a:pPr>
            <a:r>
              <a:rPr lang="de-CH" sz="1000" dirty="0">
                <a:solidFill>
                  <a:schemeClr val="tx1"/>
                </a:solidFill>
                <a:latin typeface="Arial" panose="020B0604020202020204"/>
              </a:rPr>
              <a:t>II)  </a:t>
            </a: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The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Bayesian</a:t>
            </a: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causal</a:t>
            </a: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forest</a:t>
            </a:r>
            <a:endPar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endParaRPr>
          </a:p>
          <a:p>
            <a:pPr marR="0" lvl="0" defTabSz="914400" rtl="0" eaLnBrk="1" fontAlgn="auto" latinLnBrk="0" hangingPunct="1">
              <a:lnSpc>
                <a:spcPct val="100000"/>
              </a:lnSpc>
              <a:spcBef>
                <a:spcPts val="0"/>
              </a:spcBef>
              <a:spcAft>
                <a:spcPts val="0"/>
              </a:spcAft>
              <a:buClrTx/>
              <a:buSzTx/>
              <a:tabLst/>
              <a:defRPr/>
            </a:pPr>
            <a:r>
              <a:rPr lang="de-CH" sz="1000" b="1" dirty="0">
                <a:solidFill>
                  <a:schemeClr val="tx1"/>
                </a:solidFill>
                <a:latin typeface="Arial" panose="020B0604020202020204"/>
              </a:rPr>
              <a:t>III) </a:t>
            </a:r>
            <a:r>
              <a:rPr lang="de-CH" sz="1000" b="1" i="1" dirty="0" err="1">
                <a:solidFill>
                  <a:schemeClr val="tx1"/>
                </a:solidFill>
                <a:latin typeface="Arial" panose="020B0604020202020204"/>
              </a:rPr>
              <a:t>Uniqueness</a:t>
            </a:r>
            <a:r>
              <a:rPr lang="de-CH" sz="1000" b="1" i="1" dirty="0">
                <a:solidFill>
                  <a:schemeClr val="tx1"/>
                </a:solidFill>
                <a:latin typeface="Arial" panose="020B0604020202020204"/>
              </a:rPr>
              <a:t> </a:t>
            </a:r>
            <a:r>
              <a:rPr lang="de-CH" sz="1000" b="1" dirty="0" err="1">
                <a:solidFill>
                  <a:schemeClr val="tx1"/>
                </a:solidFill>
                <a:latin typeface="Arial" panose="020B0604020202020204"/>
              </a:rPr>
              <a:t>of</a:t>
            </a:r>
            <a:r>
              <a:rPr lang="de-CH" sz="1000" b="1" dirty="0">
                <a:solidFill>
                  <a:schemeClr val="tx1"/>
                </a:solidFill>
                <a:latin typeface="Arial" panose="020B0604020202020204"/>
              </a:rPr>
              <a:t> CML</a:t>
            </a:r>
          </a:p>
          <a:p>
            <a:pPr marR="0" lvl="0" defTabSz="914400" rtl="0" eaLnBrk="1" fontAlgn="auto" latinLnBrk="0" hangingPunct="1">
              <a:lnSpc>
                <a:spcPct val="100000"/>
              </a:lnSpc>
              <a:spcBef>
                <a:spcPts val="0"/>
              </a:spcBef>
              <a:spcAft>
                <a:spcPts val="0"/>
              </a:spcAft>
              <a:buClrTx/>
              <a:buSzTx/>
              <a:tabLst/>
              <a:defRPr/>
            </a:pP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IV)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Implications</a:t>
            </a: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u="none" strike="noStrike" kern="1200" cap="none" spc="0" normalizeH="0" baseline="0" noProof="0" dirty="0" err="1">
                <a:ln>
                  <a:noFill/>
                </a:ln>
                <a:solidFill>
                  <a:schemeClr val="tx1"/>
                </a:solidFill>
                <a:effectLst/>
                <a:uLnTx/>
                <a:uFillTx/>
                <a:latin typeface="Arial" panose="020B0604020202020204"/>
                <a:ea typeface="+mn-ea"/>
                <a:cs typeface="+mn-cs"/>
              </a:rPr>
              <a:t>for</a:t>
            </a:r>
            <a:r>
              <a:rPr kumimoji="0" lang="de-CH" sz="1000"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u="none" strike="noStrike" kern="1200" cap="none" spc="0" normalizeH="0" baseline="0" noProof="0" dirty="0" err="1">
                <a:ln>
                  <a:noFill/>
                </a:ln>
                <a:solidFill>
                  <a:schemeClr val="tx1"/>
                </a:solidFill>
                <a:effectLst/>
                <a:uLnTx/>
                <a:uFillTx/>
                <a:latin typeface="Arial" panose="020B0604020202020204"/>
                <a:ea typeface="+mn-ea"/>
                <a:cs typeface="+mn-cs"/>
              </a:rPr>
              <a:t>our</a:t>
            </a:r>
            <a:r>
              <a:rPr kumimoji="0" lang="de-CH" sz="1000"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u="none" strike="noStrike" kern="1200" cap="none" spc="0" normalizeH="0" baseline="0" noProof="0" dirty="0" err="1">
                <a:ln>
                  <a:noFill/>
                </a:ln>
                <a:solidFill>
                  <a:schemeClr val="tx1"/>
                </a:solidFill>
                <a:effectLst/>
                <a:uLnTx/>
                <a:uFillTx/>
                <a:latin typeface="Arial" panose="020B0604020202020204"/>
                <a:ea typeface="+mn-ea"/>
                <a:cs typeface="+mn-cs"/>
              </a:rPr>
              <a:t>research</a:t>
            </a:r>
            <a:endParaRPr kumimoji="0" lang="de-CH" sz="1000" u="none" strike="noStrike" kern="1200" cap="none" spc="0" normalizeH="0" baseline="0" noProof="0" dirty="0">
              <a:ln>
                <a:noFill/>
              </a:ln>
              <a:solidFill>
                <a:schemeClr val="tx1"/>
              </a:solidFill>
              <a:effectLst/>
              <a:uLnTx/>
              <a:uFillTx/>
              <a:latin typeface="Arial" panose="020B0604020202020204"/>
              <a:ea typeface="+mn-ea"/>
              <a:cs typeface="+mn-cs"/>
            </a:endParaRPr>
          </a:p>
        </p:txBody>
      </p:sp>
      <p:sp>
        <p:nvSpPr>
          <p:cNvPr id="16" name="Abgerundetes Rechteck 41">
            <a:extLst>
              <a:ext uri="{FF2B5EF4-FFF2-40B4-BE49-F238E27FC236}">
                <a16:creationId xmlns:a16="http://schemas.microsoft.com/office/drawing/2014/main" id="{E249865C-7ADF-41B9-8185-CD05B36D553F}"/>
              </a:ext>
            </a:extLst>
          </p:cNvPr>
          <p:cNvSpPr/>
          <p:nvPr/>
        </p:nvSpPr>
        <p:spPr>
          <a:xfrm>
            <a:off x="1854016" y="2509842"/>
            <a:ext cx="2841171" cy="55585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CH" sz="2400" dirty="0" err="1">
                <a:solidFill>
                  <a:schemeClr val="tx1"/>
                </a:solidFill>
                <a:latin typeface="Arial" panose="020B0604020202020204"/>
              </a:rPr>
              <a:t>Causal</a:t>
            </a:r>
            <a:r>
              <a:rPr lang="de-CH" sz="2400" dirty="0">
                <a:solidFill>
                  <a:schemeClr val="tx1"/>
                </a:solidFill>
                <a:latin typeface="Arial" panose="020B0604020202020204"/>
              </a:rPr>
              <a:t> </a:t>
            </a:r>
            <a:r>
              <a:rPr lang="de-CH" sz="2400" dirty="0" err="1">
                <a:solidFill>
                  <a:schemeClr val="tx1"/>
                </a:solidFill>
                <a:latin typeface="Arial" panose="020B0604020202020204"/>
              </a:rPr>
              <a:t>inference</a:t>
            </a:r>
            <a:endParaRPr kumimoji="0" lang="en-US" sz="2400" i="0" u="none" strike="noStrike" kern="1200" cap="none" spc="0" normalizeH="0" baseline="0" noProof="0" dirty="0">
              <a:ln>
                <a:noFill/>
              </a:ln>
              <a:solidFill>
                <a:schemeClr val="tx1"/>
              </a:solidFill>
              <a:effectLst/>
              <a:uLnTx/>
              <a:uFillTx/>
              <a:latin typeface="Arial" panose="020B0604020202020204"/>
            </a:endParaRPr>
          </a:p>
        </p:txBody>
      </p:sp>
      <p:sp>
        <p:nvSpPr>
          <p:cNvPr id="18" name="Abgerundetes Rechteck 41">
            <a:extLst>
              <a:ext uri="{FF2B5EF4-FFF2-40B4-BE49-F238E27FC236}">
                <a16:creationId xmlns:a16="http://schemas.microsoft.com/office/drawing/2014/main" id="{D042B4E4-272D-4AD6-97C0-FFB41E698D3F}"/>
              </a:ext>
            </a:extLst>
          </p:cNvPr>
          <p:cNvSpPr/>
          <p:nvPr/>
        </p:nvSpPr>
        <p:spPr>
          <a:xfrm>
            <a:off x="7612559" y="2509841"/>
            <a:ext cx="2841171" cy="55585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CH" sz="2400" dirty="0" err="1">
                <a:solidFill>
                  <a:schemeClr val="tx1"/>
                </a:solidFill>
                <a:latin typeface="Arial" panose="020B0604020202020204"/>
              </a:rPr>
              <a:t>Machine</a:t>
            </a:r>
            <a:r>
              <a:rPr lang="de-CH" sz="2400" dirty="0">
                <a:solidFill>
                  <a:schemeClr val="tx1"/>
                </a:solidFill>
                <a:latin typeface="Arial" panose="020B0604020202020204"/>
              </a:rPr>
              <a:t> </a:t>
            </a:r>
            <a:r>
              <a:rPr lang="de-CH" sz="2400" dirty="0" err="1">
                <a:solidFill>
                  <a:schemeClr val="tx1"/>
                </a:solidFill>
                <a:latin typeface="Arial" panose="020B0604020202020204"/>
              </a:rPr>
              <a:t>learning</a:t>
            </a:r>
            <a:endParaRPr kumimoji="0" lang="en-US" sz="2400" i="0" u="none" strike="noStrike" kern="1200" cap="none" spc="0" normalizeH="0" baseline="0" noProof="0" dirty="0">
              <a:ln>
                <a:noFill/>
              </a:ln>
              <a:solidFill>
                <a:schemeClr val="tx1"/>
              </a:solidFill>
              <a:effectLst/>
              <a:uLnTx/>
              <a:uFillTx/>
              <a:latin typeface="Arial" panose="020B0604020202020204"/>
            </a:endParaRPr>
          </a:p>
        </p:txBody>
      </p:sp>
      <p:cxnSp>
        <p:nvCxnSpPr>
          <p:cNvPr id="24" name="Gerader Verbinder 23">
            <a:extLst>
              <a:ext uri="{FF2B5EF4-FFF2-40B4-BE49-F238E27FC236}">
                <a16:creationId xmlns:a16="http://schemas.microsoft.com/office/drawing/2014/main" id="{0699E4A5-C928-4664-8698-1136B47741DB}"/>
              </a:ext>
            </a:extLst>
          </p:cNvPr>
          <p:cNvCxnSpPr>
            <a:stCxn id="16" idx="3"/>
          </p:cNvCxnSpPr>
          <p:nvPr/>
        </p:nvCxnSpPr>
        <p:spPr>
          <a:xfrm>
            <a:off x="4695187" y="2787768"/>
            <a:ext cx="1275806" cy="10748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F16A5017-279B-49C6-BD15-1F5C76448BB0}"/>
              </a:ext>
            </a:extLst>
          </p:cNvPr>
          <p:cNvCxnSpPr>
            <a:cxnSpLocks/>
            <a:stCxn id="18" idx="1"/>
          </p:cNvCxnSpPr>
          <p:nvPr/>
        </p:nvCxnSpPr>
        <p:spPr>
          <a:xfrm flipH="1">
            <a:off x="6336755" y="2787767"/>
            <a:ext cx="1275804" cy="10748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Ellipse 25">
            <a:extLst>
              <a:ext uri="{FF2B5EF4-FFF2-40B4-BE49-F238E27FC236}">
                <a16:creationId xmlns:a16="http://schemas.microsoft.com/office/drawing/2014/main" id="{2E6B3085-89CF-4C25-B2A6-9D70CD1C675E}"/>
              </a:ext>
            </a:extLst>
          </p:cNvPr>
          <p:cNvSpPr/>
          <p:nvPr/>
        </p:nvSpPr>
        <p:spPr>
          <a:xfrm>
            <a:off x="5932894" y="3740728"/>
            <a:ext cx="441960" cy="39984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8" name="Textfeld 27">
            <a:extLst>
              <a:ext uri="{FF2B5EF4-FFF2-40B4-BE49-F238E27FC236}">
                <a16:creationId xmlns:a16="http://schemas.microsoft.com/office/drawing/2014/main" id="{D9A6E734-5255-4F5B-8A08-2E99D6E75F54}"/>
              </a:ext>
            </a:extLst>
          </p:cNvPr>
          <p:cNvSpPr txBox="1"/>
          <p:nvPr/>
        </p:nvSpPr>
        <p:spPr>
          <a:xfrm>
            <a:off x="347433" y="3176685"/>
            <a:ext cx="5471159" cy="1200329"/>
          </a:xfrm>
          <a:prstGeom prst="rect">
            <a:avLst/>
          </a:prstGeom>
          <a:noFill/>
        </p:spPr>
        <p:txBody>
          <a:bodyPr wrap="square" rtlCol="0">
            <a:spAutoFit/>
          </a:bodyPr>
          <a:lstStyle/>
          <a:p>
            <a:r>
              <a:rPr lang="de-DE" i="1" dirty="0" err="1"/>
              <a:t>Determine</a:t>
            </a:r>
            <a:r>
              <a:rPr lang="de-DE" i="1" dirty="0"/>
              <a:t> </a:t>
            </a:r>
            <a:r>
              <a:rPr lang="de-DE" i="1" dirty="0" err="1"/>
              <a:t>the</a:t>
            </a:r>
            <a:r>
              <a:rPr lang="de-DE" i="1" dirty="0"/>
              <a:t> </a:t>
            </a:r>
            <a:r>
              <a:rPr lang="de-DE" i="1" dirty="0" err="1"/>
              <a:t>effect</a:t>
            </a:r>
            <a:r>
              <a:rPr lang="de-DE" i="1" dirty="0"/>
              <a:t> </a:t>
            </a:r>
            <a:r>
              <a:rPr lang="de-DE" i="1" dirty="0" err="1"/>
              <a:t>of</a:t>
            </a:r>
            <a:r>
              <a:rPr lang="de-DE" i="1" dirty="0"/>
              <a:t> </a:t>
            </a:r>
            <a:r>
              <a:rPr lang="de-DE" i="1" dirty="0" err="1"/>
              <a:t>one</a:t>
            </a:r>
            <a:r>
              <a:rPr lang="de-DE" i="1" dirty="0"/>
              <a:t> variable on </a:t>
            </a:r>
            <a:r>
              <a:rPr lang="de-DE" i="1" dirty="0" err="1"/>
              <a:t>another</a:t>
            </a:r>
            <a:endParaRPr lang="de-DE" i="1" dirty="0"/>
          </a:p>
          <a:p>
            <a:endParaRPr lang="de-DE" dirty="0"/>
          </a:p>
          <a:p>
            <a:r>
              <a:rPr lang="de-DE" dirty="0" err="1"/>
              <a:t>Simplified</a:t>
            </a:r>
            <a:r>
              <a:rPr lang="de-DE" dirty="0"/>
              <a:t> </a:t>
            </a:r>
            <a:r>
              <a:rPr lang="de-DE" dirty="0" err="1"/>
              <a:t>causal</a:t>
            </a:r>
            <a:r>
              <a:rPr lang="de-DE" dirty="0"/>
              <a:t> </a:t>
            </a:r>
            <a:r>
              <a:rPr lang="de-DE" dirty="0" err="1"/>
              <a:t>modeling</a:t>
            </a:r>
            <a:r>
              <a:rPr lang="de-DE" dirty="0"/>
              <a:t> </a:t>
            </a:r>
            <a:r>
              <a:rPr lang="de-DE" dirty="0" err="1"/>
              <a:t>process</a:t>
            </a:r>
            <a:r>
              <a:rPr lang="de-DE" dirty="0"/>
              <a:t> (Auspurg &amp; Brüderl, 2026; Petersen &amp; van der Laan, 2014):</a:t>
            </a:r>
          </a:p>
        </p:txBody>
      </p:sp>
      <p:sp>
        <p:nvSpPr>
          <p:cNvPr id="29" name="Textfeld 28">
            <a:extLst>
              <a:ext uri="{FF2B5EF4-FFF2-40B4-BE49-F238E27FC236}">
                <a16:creationId xmlns:a16="http://schemas.microsoft.com/office/drawing/2014/main" id="{CEA20DDF-0ADB-4D61-AB14-1F7859F27ABB}"/>
              </a:ext>
            </a:extLst>
          </p:cNvPr>
          <p:cNvSpPr txBox="1"/>
          <p:nvPr/>
        </p:nvSpPr>
        <p:spPr>
          <a:xfrm>
            <a:off x="347433" y="4387565"/>
            <a:ext cx="5471155" cy="1754326"/>
          </a:xfrm>
          <a:prstGeom prst="rect">
            <a:avLst/>
          </a:prstGeom>
          <a:noFill/>
        </p:spPr>
        <p:txBody>
          <a:bodyPr wrap="square" rtlCol="0">
            <a:spAutoFit/>
          </a:bodyPr>
          <a:lstStyle/>
          <a:p>
            <a:pPr marL="342900" indent="-342900">
              <a:buAutoNum type="arabicPeriod"/>
            </a:pPr>
            <a:r>
              <a:rPr lang="de-DE" dirty="0" err="1"/>
              <a:t>Develop</a:t>
            </a:r>
            <a:r>
              <a:rPr lang="de-DE" dirty="0"/>
              <a:t> a </a:t>
            </a:r>
            <a:r>
              <a:rPr lang="de-DE" dirty="0" err="1"/>
              <a:t>causal</a:t>
            </a:r>
            <a:r>
              <a:rPr lang="de-DE" dirty="0"/>
              <a:t> </a:t>
            </a:r>
            <a:r>
              <a:rPr lang="de-DE" dirty="0" err="1"/>
              <a:t>model</a:t>
            </a:r>
            <a:endParaRPr lang="de-DE" dirty="0"/>
          </a:p>
          <a:p>
            <a:pPr marL="342900" indent="-342900">
              <a:buAutoNum type="arabicPeriod"/>
            </a:pPr>
            <a:r>
              <a:rPr lang="de-DE" b="1" dirty="0" err="1"/>
              <a:t>Determine</a:t>
            </a:r>
            <a:r>
              <a:rPr lang="de-DE" b="1" dirty="0"/>
              <a:t> </a:t>
            </a:r>
            <a:r>
              <a:rPr lang="de-DE" b="1" dirty="0" err="1"/>
              <a:t>the</a:t>
            </a:r>
            <a:r>
              <a:rPr lang="de-DE" b="1" dirty="0"/>
              <a:t> </a:t>
            </a:r>
            <a:r>
              <a:rPr lang="de-DE" b="1" dirty="0" err="1"/>
              <a:t>identification</a:t>
            </a:r>
            <a:r>
              <a:rPr lang="de-DE" b="1" dirty="0"/>
              <a:t> </a:t>
            </a:r>
            <a:r>
              <a:rPr lang="de-DE" b="1" dirty="0" err="1"/>
              <a:t>conditions</a:t>
            </a:r>
            <a:r>
              <a:rPr lang="de-DE" b="1" dirty="0"/>
              <a:t> (</a:t>
            </a:r>
            <a:r>
              <a:rPr lang="de-DE" b="1" dirty="0" err="1"/>
              <a:t>necessary</a:t>
            </a:r>
            <a:r>
              <a:rPr lang="de-DE" b="1" dirty="0"/>
              <a:t> </a:t>
            </a:r>
            <a:r>
              <a:rPr lang="de-DE" b="1" dirty="0" err="1"/>
              <a:t>assumptions</a:t>
            </a:r>
            <a:r>
              <a:rPr lang="de-DE" b="1" dirty="0"/>
              <a:t>) </a:t>
            </a:r>
            <a:r>
              <a:rPr lang="de-DE" b="1" dirty="0" err="1"/>
              <a:t>to</a:t>
            </a:r>
            <a:r>
              <a:rPr lang="de-DE" b="1" dirty="0"/>
              <a:t> </a:t>
            </a:r>
            <a:r>
              <a:rPr lang="de-DE" b="1" dirty="0" err="1"/>
              <a:t>estimate</a:t>
            </a:r>
            <a:r>
              <a:rPr lang="de-DE" b="1" dirty="0"/>
              <a:t> </a:t>
            </a:r>
            <a:r>
              <a:rPr lang="de-DE" b="1" dirty="0" err="1"/>
              <a:t>your</a:t>
            </a:r>
            <a:r>
              <a:rPr lang="de-DE" b="1" dirty="0"/>
              <a:t> </a:t>
            </a:r>
            <a:r>
              <a:rPr lang="de-DE" b="1" dirty="0" err="1"/>
              <a:t>effect</a:t>
            </a:r>
            <a:r>
              <a:rPr lang="de-DE" b="1" dirty="0"/>
              <a:t> </a:t>
            </a:r>
            <a:r>
              <a:rPr lang="de-DE" b="1" dirty="0" err="1"/>
              <a:t>of</a:t>
            </a:r>
            <a:r>
              <a:rPr lang="de-DE" b="1" dirty="0"/>
              <a:t> </a:t>
            </a:r>
            <a:r>
              <a:rPr lang="de-DE" b="1" dirty="0" err="1"/>
              <a:t>interest</a:t>
            </a:r>
            <a:endParaRPr lang="de-DE" b="1" dirty="0"/>
          </a:p>
          <a:p>
            <a:pPr marL="342900" indent="-342900">
              <a:buAutoNum type="arabicPeriod"/>
            </a:pPr>
            <a:r>
              <a:rPr lang="de-DE" dirty="0"/>
              <a:t>Gather </a:t>
            </a:r>
            <a:r>
              <a:rPr lang="de-DE" b="1" dirty="0" err="1"/>
              <a:t>causally</a:t>
            </a:r>
            <a:r>
              <a:rPr lang="de-DE" b="1" dirty="0"/>
              <a:t> </a:t>
            </a:r>
            <a:r>
              <a:rPr lang="de-DE" b="1" dirty="0" err="1"/>
              <a:t>sufficient</a:t>
            </a:r>
            <a:r>
              <a:rPr lang="de-DE" b="1" dirty="0"/>
              <a:t> </a:t>
            </a:r>
            <a:r>
              <a:rPr lang="de-DE" dirty="0" err="1"/>
              <a:t>data</a:t>
            </a:r>
            <a:endParaRPr lang="de-DE" dirty="0"/>
          </a:p>
          <a:p>
            <a:pPr marL="342900" indent="-342900">
              <a:buAutoNum type="arabicPeriod"/>
            </a:pPr>
            <a:r>
              <a:rPr lang="de-DE" b="1" dirty="0" err="1"/>
              <a:t>Estimate</a:t>
            </a:r>
            <a:r>
              <a:rPr lang="de-DE" b="1" dirty="0"/>
              <a:t> </a:t>
            </a:r>
            <a:r>
              <a:rPr lang="de-DE" b="1" dirty="0" err="1"/>
              <a:t>the</a:t>
            </a:r>
            <a:r>
              <a:rPr lang="de-DE" b="1" dirty="0"/>
              <a:t> </a:t>
            </a:r>
            <a:r>
              <a:rPr lang="de-DE" b="1" dirty="0" err="1"/>
              <a:t>effect</a:t>
            </a:r>
            <a:r>
              <a:rPr lang="de-DE" b="1" dirty="0"/>
              <a:t> </a:t>
            </a:r>
            <a:r>
              <a:rPr lang="de-DE" b="1" dirty="0" err="1"/>
              <a:t>using</a:t>
            </a:r>
            <a:r>
              <a:rPr lang="de-DE" b="1" dirty="0"/>
              <a:t> </a:t>
            </a:r>
            <a:r>
              <a:rPr lang="de-DE" b="1" dirty="0" err="1"/>
              <a:t>appropriate</a:t>
            </a:r>
            <a:r>
              <a:rPr lang="de-DE" b="1" dirty="0"/>
              <a:t> </a:t>
            </a:r>
            <a:r>
              <a:rPr lang="de-DE" b="1" dirty="0" err="1"/>
              <a:t>model</a:t>
            </a:r>
            <a:endParaRPr lang="de-DE" b="1" dirty="0"/>
          </a:p>
        </p:txBody>
      </p:sp>
      <p:cxnSp>
        <p:nvCxnSpPr>
          <p:cNvPr id="32" name="Gerade Verbindung mit Pfeil 31">
            <a:extLst>
              <a:ext uri="{FF2B5EF4-FFF2-40B4-BE49-F238E27FC236}">
                <a16:creationId xmlns:a16="http://schemas.microsoft.com/office/drawing/2014/main" id="{E314D539-A95C-4DD7-AA80-5B19C88DB871}"/>
              </a:ext>
            </a:extLst>
          </p:cNvPr>
          <p:cNvCxnSpPr>
            <a:cxnSpLocks/>
          </p:cNvCxnSpPr>
          <p:nvPr/>
        </p:nvCxnSpPr>
        <p:spPr>
          <a:xfrm flipV="1">
            <a:off x="6160951" y="4203217"/>
            <a:ext cx="0" cy="47853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50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 name="Rechteck 3">
            <a:extLst>
              <a:ext uri="{FF2B5EF4-FFF2-40B4-BE49-F238E27FC236}">
                <a16:creationId xmlns:a16="http://schemas.microsoft.com/office/drawing/2014/main" id="{7524DA9A-46A3-4912-BF4E-032E888E93B0}"/>
              </a:ext>
            </a:extLst>
          </p:cNvPr>
          <p:cNvSpPr/>
          <p:nvPr/>
        </p:nvSpPr>
        <p:spPr>
          <a:xfrm>
            <a:off x="119336" y="585247"/>
            <a:ext cx="11953328" cy="56166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0" name="Abgerundetes Rechteck 41">
            <a:extLst>
              <a:ext uri="{FF2B5EF4-FFF2-40B4-BE49-F238E27FC236}">
                <a16:creationId xmlns:a16="http://schemas.microsoft.com/office/drawing/2014/main" id="{2846C80A-C560-48BE-A8FF-2B9AA7CD0516}"/>
              </a:ext>
            </a:extLst>
          </p:cNvPr>
          <p:cNvSpPr/>
          <p:nvPr/>
        </p:nvSpPr>
        <p:spPr>
          <a:xfrm>
            <a:off x="4027242" y="716109"/>
            <a:ext cx="4137515" cy="145662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CH" sz="3200" b="1" dirty="0">
                <a:solidFill>
                  <a:schemeClr val="tx1"/>
                </a:solidFill>
                <a:latin typeface="Arial" panose="020B0604020202020204"/>
              </a:rPr>
              <a:t>III) </a:t>
            </a:r>
            <a:r>
              <a:rPr lang="de-CH" sz="3200" b="1" i="1" dirty="0" err="1">
                <a:solidFill>
                  <a:schemeClr val="tx1"/>
                </a:solidFill>
                <a:latin typeface="Arial" panose="020B0604020202020204"/>
              </a:rPr>
              <a:t>Uniqueness</a:t>
            </a:r>
            <a:r>
              <a:rPr lang="de-CH" sz="3200" b="1" dirty="0">
                <a:solidFill>
                  <a:schemeClr val="tx1"/>
                </a:solidFill>
                <a:latin typeface="Arial" panose="020B0604020202020204"/>
              </a:rPr>
              <a:t> </a:t>
            </a:r>
            <a:r>
              <a:rPr lang="de-CH" sz="3200" b="1" dirty="0" err="1">
                <a:solidFill>
                  <a:schemeClr val="tx1"/>
                </a:solidFill>
                <a:latin typeface="Arial" panose="020B0604020202020204"/>
              </a:rPr>
              <a:t>of</a:t>
            </a:r>
            <a:r>
              <a:rPr lang="de-CH" sz="3200" b="1" dirty="0">
                <a:solidFill>
                  <a:schemeClr val="tx1"/>
                </a:solidFill>
                <a:latin typeface="Arial" panose="020B0604020202020204"/>
              </a:rPr>
              <a:t> CML</a:t>
            </a:r>
            <a:endParaRPr kumimoji="0" lang="en-US" sz="3200" b="1" i="1" u="none" strike="noStrike" kern="1200" cap="none" spc="0" normalizeH="0" baseline="0" noProof="0" dirty="0">
              <a:ln>
                <a:noFill/>
              </a:ln>
              <a:solidFill>
                <a:schemeClr val="tx1"/>
              </a:solidFill>
              <a:effectLst/>
              <a:uLnTx/>
              <a:uFillTx/>
              <a:latin typeface="Arial" panose="020B0604020202020204"/>
            </a:endParaRPr>
          </a:p>
        </p:txBody>
      </p:sp>
      <p:sp>
        <p:nvSpPr>
          <p:cNvPr id="15" name="Abgerundetes Rechteck 41">
            <a:extLst>
              <a:ext uri="{FF2B5EF4-FFF2-40B4-BE49-F238E27FC236}">
                <a16:creationId xmlns:a16="http://schemas.microsoft.com/office/drawing/2014/main" id="{5E4A08DB-2518-4869-93F0-B5CE3FDDAD5D}"/>
              </a:ext>
            </a:extLst>
          </p:cNvPr>
          <p:cNvSpPr/>
          <p:nvPr/>
        </p:nvSpPr>
        <p:spPr bwMode="auto">
          <a:xfrm>
            <a:off x="9779666" y="6211669"/>
            <a:ext cx="2114514" cy="64633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defTabSz="914400" rtl="0" eaLnBrk="1" fontAlgn="auto" latinLnBrk="0" hangingPunct="1">
              <a:lnSpc>
                <a:spcPct val="100000"/>
              </a:lnSpc>
              <a:spcBef>
                <a:spcPts val="0"/>
              </a:spcBef>
              <a:spcAft>
                <a:spcPts val="0"/>
              </a:spcAft>
              <a:buClrTx/>
              <a:buSzTx/>
              <a:tabLst/>
              <a:defRPr/>
            </a:pP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I)   </a:t>
            </a:r>
            <a:r>
              <a:rPr kumimoji="0" lang="de-CH" sz="1000" i="0" u="none" strike="noStrike" kern="1200" cap="none" spc="0" normalizeH="0" baseline="0" noProof="0" dirty="0" err="1">
                <a:ln>
                  <a:noFill/>
                </a:ln>
                <a:solidFill>
                  <a:schemeClr val="tx1"/>
                </a:solidFill>
                <a:effectLst/>
                <a:uLnTx/>
                <a:uFillTx/>
                <a:latin typeface="Arial" panose="020B0604020202020204"/>
                <a:ea typeface="+mn-ea"/>
                <a:cs typeface="+mn-cs"/>
              </a:rPr>
              <a:t>What</a:t>
            </a: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is</a:t>
            </a: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 CML</a:t>
            </a:r>
            <a:r>
              <a:rPr lang="de-CH" sz="1000" dirty="0">
                <a:solidFill>
                  <a:schemeClr val="tx1"/>
                </a:solidFill>
                <a:latin typeface="Arial" panose="020B0604020202020204"/>
              </a:rPr>
              <a:t>?</a:t>
            </a:r>
          </a:p>
          <a:p>
            <a:pPr marR="0" lvl="0" defTabSz="914400" rtl="0" eaLnBrk="1" fontAlgn="auto" latinLnBrk="0" hangingPunct="1">
              <a:lnSpc>
                <a:spcPct val="100000"/>
              </a:lnSpc>
              <a:spcBef>
                <a:spcPts val="0"/>
              </a:spcBef>
              <a:spcAft>
                <a:spcPts val="0"/>
              </a:spcAft>
              <a:buClrTx/>
              <a:buSzTx/>
              <a:tabLst/>
              <a:defRPr/>
            </a:pPr>
            <a:r>
              <a:rPr lang="de-CH" sz="1000" dirty="0">
                <a:solidFill>
                  <a:schemeClr val="tx1"/>
                </a:solidFill>
                <a:latin typeface="Arial" panose="020B0604020202020204"/>
              </a:rPr>
              <a:t>II)  </a:t>
            </a: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The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Bayesian</a:t>
            </a: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causal</a:t>
            </a: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forest</a:t>
            </a:r>
            <a:endPar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endParaRPr>
          </a:p>
          <a:p>
            <a:pPr marR="0" lvl="0" defTabSz="914400" rtl="0" eaLnBrk="1" fontAlgn="auto" latinLnBrk="0" hangingPunct="1">
              <a:lnSpc>
                <a:spcPct val="100000"/>
              </a:lnSpc>
              <a:spcBef>
                <a:spcPts val="0"/>
              </a:spcBef>
              <a:spcAft>
                <a:spcPts val="0"/>
              </a:spcAft>
              <a:buClrTx/>
              <a:buSzTx/>
              <a:tabLst/>
              <a:defRPr/>
            </a:pPr>
            <a:r>
              <a:rPr lang="de-CH" sz="1000" b="1" dirty="0">
                <a:solidFill>
                  <a:schemeClr val="tx1"/>
                </a:solidFill>
                <a:latin typeface="Arial" panose="020B0604020202020204"/>
              </a:rPr>
              <a:t>III) </a:t>
            </a:r>
            <a:r>
              <a:rPr lang="de-CH" sz="1000" b="1" i="1" dirty="0" err="1">
                <a:solidFill>
                  <a:schemeClr val="tx1"/>
                </a:solidFill>
                <a:latin typeface="Arial" panose="020B0604020202020204"/>
              </a:rPr>
              <a:t>Uniqueness</a:t>
            </a:r>
            <a:r>
              <a:rPr lang="de-CH" sz="1000" b="1" i="1" dirty="0">
                <a:solidFill>
                  <a:schemeClr val="tx1"/>
                </a:solidFill>
                <a:latin typeface="Arial" panose="020B0604020202020204"/>
              </a:rPr>
              <a:t> </a:t>
            </a:r>
            <a:r>
              <a:rPr lang="de-CH" sz="1000" b="1" dirty="0" err="1">
                <a:solidFill>
                  <a:schemeClr val="tx1"/>
                </a:solidFill>
                <a:latin typeface="Arial" panose="020B0604020202020204"/>
              </a:rPr>
              <a:t>of</a:t>
            </a:r>
            <a:r>
              <a:rPr lang="de-CH" sz="1000" b="1" dirty="0">
                <a:solidFill>
                  <a:schemeClr val="tx1"/>
                </a:solidFill>
                <a:latin typeface="Arial" panose="020B0604020202020204"/>
              </a:rPr>
              <a:t> CML</a:t>
            </a:r>
          </a:p>
          <a:p>
            <a:pPr marR="0" lvl="0" defTabSz="914400" rtl="0" eaLnBrk="1" fontAlgn="auto" latinLnBrk="0" hangingPunct="1">
              <a:lnSpc>
                <a:spcPct val="100000"/>
              </a:lnSpc>
              <a:spcBef>
                <a:spcPts val="0"/>
              </a:spcBef>
              <a:spcAft>
                <a:spcPts val="0"/>
              </a:spcAft>
              <a:buClrTx/>
              <a:buSzTx/>
              <a:tabLst/>
              <a:defRPr/>
            </a:pP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IV)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Implications</a:t>
            </a: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u="none" strike="noStrike" kern="1200" cap="none" spc="0" normalizeH="0" baseline="0" noProof="0" dirty="0" err="1">
                <a:ln>
                  <a:noFill/>
                </a:ln>
                <a:solidFill>
                  <a:schemeClr val="tx1"/>
                </a:solidFill>
                <a:effectLst/>
                <a:uLnTx/>
                <a:uFillTx/>
                <a:latin typeface="Arial" panose="020B0604020202020204"/>
                <a:ea typeface="+mn-ea"/>
                <a:cs typeface="+mn-cs"/>
              </a:rPr>
              <a:t>for</a:t>
            </a:r>
            <a:r>
              <a:rPr kumimoji="0" lang="de-CH" sz="1000"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u="none" strike="noStrike" kern="1200" cap="none" spc="0" normalizeH="0" baseline="0" noProof="0" dirty="0" err="1">
                <a:ln>
                  <a:noFill/>
                </a:ln>
                <a:solidFill>
                  <a:schemeClr val="tx1"/>
                </a:solidFill>
                <a:effectLst/>
                <a:uLnTx/>
                <a:uFillTx/>
                <a:latin typeface="Arial" panose="020B0604020202020204"/>
                <a:ea typeface="+mn-ea"/>
                <a:cs typeface="+mn-cs"/>
              </a:rPr>
              <a:t>our</a:t>
            </a:r>
            <a:r>
              <a:rPr kumimoji="0" lang="de-CH" sz="1000"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u="none" strike="noStrike" kern="1200" cap="none" spc="0" normalizeH="0" baseline="0" noProof="0" dirty="0" err="1">
                <a:ln>
                  <a:noFill/>
                </a:ln>
                <a:solidFill>
                  <a:schemeClr val="tx1"/>
                </a:solidFill>
                <a:effectLst/>
                <a:uLnTx/>
                <a:uFillTx/>
                <a:latin typeface="Arial" panose="020B0604020202020204"/>
                <a:ea typeface="+mn-ea"/>
                <a:cs typeface="+mn-cs"/>
              </a:rPr>
              <a:t>research</a:t>
            </a:r>
            <a:endParaRPr kumimoji="0" lang="de-CH" sz="1000" u="none" strike="noStrike" kern="1200" cap="none" spc="0" normalizeH="0" baseline="0" noProof="0" dirty="0">
              <a:ln>
                <a:noFill/>
              </a:ln>
              <a:solidFill>
                <a:schemeClr val="tx1"/>
              </a:solidFill>
              <a:effectLst/>
              <a:uLnTx/>
              <a:uFillTx/>
              <a:latin typeface="Arial" panose="020B0604020202020204"/>
              <a:ea typeface="+mn-ea"/>
              <a:cs typeface="+mn-cs"/>
            </a:endParaRPr>
          </a:p>
        </p:txBody>
      </p:sp>
      <p:sp>
        <p:nvSpPr>
          <p:cNvPr id="16" name="Abgerundetes Rechteck 41">
            <a:extLst>
              <a:ext uri="{FF2B5EF4-FFF2-40B4-BE49-F238E27FC236}">
                <a16:creationId xmlns:a16="http://schemas.microsoft.com/office/drawing/2014/main" id="{E249865C-7ADF-41B9-8185-CD05B36D553F}"/>
              </a:ext>
            </a:extLst>
          </p:cNvPr>
          <p:cNvSpPr/>
          <p:nvPr/>
        </p:nvSpPr>
        <p:spPr>
          <a:xfrm>
            <a:off x="1854016" y="2509842"/>
            <a:ext cx="2841171" cy="55585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CH" sz="2400" dirty="0" err="1">
                <a:solidFill>
                  <a:schemeClr val="tx1"/>
                </a:solidFill>
                <a:latin typeface="Arial" panose="020B0604020202020204"/>
              </a:rPr>
              <a:t>Causal</a:t>
            </a:r>
            <a:r>
              <a:rPr lang="de-CH" sz="2400" dirty="0">
                <a:solidFill>
                  <a:schemeClr val="tx1"/>
                </a:solidFill>
                <a:latin typeface="Arial" panose="020B0604020202020204"/>
              </a:rPr>
              <a:t> </a:t>
            </a:r>
            <a:r>
              <a:rPr lang="de-CH" sz="2400" dirty="0" err="1">
                <a:solidFill>
                  <a:schemeClr val="tx1"/>
                </a:solidFill>
                <a:latin typeface="Arial" panose="020B0604020202020204"/>
              </a:rPr>
              <a:t>inference</a:t>
            </a:r>
            <a:endParaRPr kumimoji="0" lang="en-US" sz="2400" i="0" u="none" strike="noStrike" kern="1200" cap="none" spc="0" normalizeH="0" baseline="0" noProof="0" dirty="0">
              <a:ln>
                <a:noFill/>
              </a:ln>
              <a:solidFill>
                <a:schemeClr val="tx1"/>
              </a:solidFill>
              <a:effectLst/>
              <a:uLnTx/>
              <a:uFillTx/>
              <a:latin typeface="Arial" panose="020B0604020202020204"/>
            </a:endParaRPr>
          </a:p>
        </p:txBody>
      </p:sp>
      <p:sp>
        <p:nvSpPr>
          <p:cNvPr id="18" name="Abgerundetes Rechteck 41">
            <a:extLst>
              <a:ext uri="{FF2B5EF4-FFF2-40B4-BE49-F238E27FC236}">
                <a16:creationId xmlns:a16="http://schemas.microsoft.com/office/drawing/2014/main" id="{D042B4E4-272D-4AD6-97C0-FFB41E698D3F}"/>
              </a:ext>
            </a:extLst>
          </p:cNvPr>
          <p:cNvSpPr/>
          <p:nvPr/>
        </p:nvSpPr>
        <p:spPr>
          <a:xfrm>
            <a:off x="7612559" y="2509841"/>
            <a:ext cx="2841171" cy="55585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CH" sz="2400" dirty="0" err="1">
                <a:solidFill>
                  <a:schemeClr val="tx1"/>
                </a:solidFill>
                <a:latin typeface="Arial" panose="020B0604020202020204"/>
              </a:rPr>
              <a:t>Machine</a:t>
            </a:r>
            <a:r>
              <a:rPr lang="de-CH" sz="2400" dirty="0">
                <a:solidFill>
                  <a:schemeClr val="tx1"/>
                </a:solidFill>
                <a:latin typeface="Arial" panose="020B0604020202020204"/>
              </a:rPr>
              <a:t> </a:t>
            </a:r>
            <a:r>
              <a:rPr lang="de-CH" sz="2400" dirty="0" err="1">
                <a:solidFill>
                  <a:schemeClr val="tx1"/>
                </a:solidFill>
                <a:latin typeface="Arial" panose="020B0604020202020204"/>
              </a:rPr>
              <a:t>learning</a:t>
            </a:r>
            <a:endParaRPr kumimoji="0" lang="en-US" sz="2400" i="0" u="none" strike="noStrike" kern="1200" cap="none" spc="0" normalizeH="0" baseline="0" noProof="0" dirty="0">
              <a:ln>
                <a:noFill/>
              </a:ln>
              <a:solidFill>
                <a:schemeClr val="tx1"/>
              </a:solidFill>
              <a:effectLst/>
              <a:uLnTx/>
              <a:uFillTx/>
              <a:latin typeface="Arial" panose="020B0604020202020204"/>
            </a:endParaRPr>
          </a:p>
        </p:txBody>
      </p:sp>
      <p:cxnSp>
        <p:nvCxnSpPr>
          <p:cNvPr id="24" name="Gerader Verbinder 23">
            <a:extLst>
              <a:ext uri="{FF2B5EF4-FFF2-40B4-BE49-F238E27FC236}">
                <a16:creationId xmlns:a16="http://schemas.microsoft.com/office/drawing/2014/main" id="{0699E4A5-C928-4664-8698-1136B47741DB}"/>
              </a:ext>
            </a:extLst>
          </p:cNvPr>
          <p:cNvCxnSpPr>
            <a:stCxn id="16" idx="3"/>
          </p:cNvCxnSpPr>
          <p:nvPr/>
        </p:nvCxnSpPr>
        <p:spPr>
          <a:xfrm>
            <a:off x="4695187" y="2787768"/>
            <a:ext cx="1275806" cy="10748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F16A5017-279B-49C6-BD15-1F5C76448BB0}"/>
              </a:ext>
            </a:extLst>
          </p:cNvPr>
          <p:cNvCxnSpPr>
            <a:cxnSpLocks/>
            <a:stCxn id="18" idx="1"/>
          </p:cNvCxnSpPr>
          <p:nvPr/>
        </p:nvCxnSpPr>
        <p:spPr>
          <a:xfrm flipH="1">
            <a:off x="6336755" y="2787767"/>
            <a:ext cx="1275804" cy="10748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Ellipse 25">
            <a:extLst>
              <a:ext uri="{FF2B5EF4-FFF2-40B4-BE49-F238E27FC236}">
                <a16:creationId xmlns:a16="http://schemas.microsoft.com/office/drawing/2014/main" id="{2E6B3085-89CF-4C25-B2A6-9D70CD1C675E}"/>
              </a:ext>
            </a:extLst>
          </p:cNvPr>
          <p:cNvSpPr/>
          <p:nvPr/>
        </p:nvSpPr>
        <p:spPr>
          <a:xfrm>
            <a:off x="5932894" y="3740728"/>
            <a:ext cx="441960" cy="39984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8" name="Textfeld 27">
            <a:extLst>
              <a:ext uri="{FF2B5EF4-FFF2-40B4-BE49-F238E27FC236}">
                <a16:creationId xmlns:a16="http://schemas.microsoft.com/office/drawing/2014/main" id="{D9A6E734-5255-4F5B-8A08-2E99D6E75F54}"/>
              </a:ext>
            </a:extLst>
          </p:cNvPr>
          <p:cNvSpPr txBox="1"/>
          <p:nvPr/>
        </p:nvSpPr>
        <p:spPr>
          <a:xfrm>
            <a:off x="347433" y="3176685"/>
            <a:ext cx="5471159" cy="2031325"/>
          </a:xfrm>
          <a:prstGeom prst="rect">
            <a:avLst/>
          </a:prstGeom>
          <a:noFill/>
        </p:spPr>
        <p:txBody>
          <a:bodyPr wrap="square" rtlCol="0">
            <a:spAutoFit/>
          </a:bodyPr>
          <a:lstStyle/>
          <a:p>
            <a:r>
              <a:rPr lang="de-DE" i="1" dirty="0" err="1"/>
              <a:t>Causal</a:t>
            </a:r>
            <a:r>
              <a:rPr lang="de-DE" i="1" dirty="0"/>
              <a:t> </a:t>
            </a:r>
            <a:r>
              <a:rPr lang="de-DE" i="1" dirty="0" err="1"/>
              <a:t>sufficiency</a:t>
            </a:r>
            <a:r>
              <a:rPr lang="de-DE" i="1" dirty="0"/>
              <a:t>:</a:t>
            </a:r>
          </a:p>
          <a:p>
            <a:r>
              <a:rPr lang="de-DE" dirty="0" err="1"/>
              <a:t>We</a:t>
            </a:r>
            <a:r>
              <a:rPr lang="de-DE" dirty="0"/>
              <a:t> </a:t>
            </a:r>
            <a:r>
              <a:rPr lang="de-DE" dirty="0" err="1"/>
              <a:t>have</a:t>
            </a:r>
            <a:r>
              <a:rPr lang="de-DE" dirty="0"/>
              <a:t> </a:t>
            </a:r>
            <a:r>
              <a:rPr lang="de-DE" dirty="0" err="1"/>
              <a:t>measured</a:t>
            </a:r>
            <a:r>
              <a:rPr lang="de-DE" dirty="0"/>
              <a:t> </a:t>
            </a:r>
            <a:r>
              <a:rPr lang="de-DE" b="1" dirty="0"/>
              <a:t>all </a:t>
            </a:r>
            <a:r>
              <a:rPr lang="de-DE" b="1" dirty="0" err="1"/>
              <a:t>confounders</a:t>
            </a:r>
            <a:endParaRPr lang="de-DE" b="1" dirty="0"/>
          </a:p>
          <a:p>
            <a:endParaRPr lang="de-DE" dirty="0"/>
          </a:p>
          <a:p>
            <a:r>
              <a:rPr lang="de-DE" i="1" dirty="0" err="1"/>
              <a:t>Correct</a:t>
            </a:r>
            <a:r>
              <a:rPr lang="de-DE" i="1" dirty="0"/>
              <a:t> </a:t>
            </a:r>
            <a:r>
              <a:rPr lang="de-DE" i="1" dirty="0" err="1"/>
              <a:t>model</a:t>
            </a:r>
            <a:r>
              <a:rPr lang="de-DE" i="1" dirty="0"/>
              <a:t> </a:t>
            </a:r>
            <a:r>
              <a:rPr lang="de-DE" i="1" dirty="0" err="1"/>
              <a:t>specification</a:t>
            </a:r>
            <a:r>
              <a:rPr lang="de-DE" i="1" dirty="0"/>
              <a:t>:</a:t>
            </a:r>
          </a:p>
          <a:p>
            <a:r>
              <a:rPr lang="de-DE" dirty="0" err="1"/>
              <a:t>We</a:t>
            </a:r>
            <a:r>
              <a:rPr lang="de-DE" dirty="0"/>
              <a:t> </a:t>
            </a:r>
            <a:r>
              <a:rPr lang="de-DE" dirty="0" err="1"/>
              <a:t>have</a:t>
            </a:r>
            <a:r>
              <a:rPr lang="de-DE" dirty="0"/>
              <a:t> an </a:t>
            </a:r>
            <a:r>
              <a:rPr lang="de-DE" b="1" dirty="0" err="1"/>
              <a:t>appropriate</a:t>
            </a:r>
            <a:r>
              <a:rPr lang="de-DE" b="1" dirty="0"/>
              <a:t> </a:t>
            </a:r>
            <a:r>
              <a:rPr lang="de-DE" b="1" dirty="0" err="1"/>
              <a:t>parameterization</a:t>
            </a:r>
            <a:r>
              <a:rPr lang="de-DE" b="1" dirty="0"/>
              <a:t> </a:t>
            </a:r>
            <a:r>
              <a:rPr lang="de-DE" dirty="0" err="1"/>
              <a:t>of</a:t>
            </a:r>
            <a:r>
              <a:rPr lang="de-DE" dirty="0"/>
              <a:t> </a:t>
            </a:r>
            <a:r>
              <a:rPr lang="de-DE" dirty="0" err="1"/>
              <a:t>the</a:t>
            </a:r>
            <a:r>
              <a:rPr lang="de-DE" dirty="0"/>
              <a:t> </a:t>
            </a:r>
            <a:r>
              <a:rPr lang="de-DE" dirty="0" err="1"/>
              <a:t>relation</a:t>
            </a:r>
            <a:r>
              <a:rPr lang="de-DE" dirty="0"/>
              <a:t> </a:t>
            </a:r>
            <a:r>
              <a:rPr lang="de-DE" dirty="0" err="1"/>
              <a:t>of</a:t>
            </a:r>
            <a:r>
              <a:rPr lang="de-DE" dirty="0"/>
              <a:t> </a:t>
            </a:r>
            <a:r>
              <a:rPr lang="de-DE" dirty="0" err="1"/>
              <a:t>the</a:t>
            </a:r>
            <a:r>
              <a:rPr lang="de-DE" dirty="0"/>
              <a:t> </a:t>
            </a:r>
            <a:r>
              <a:rPr lang="de-DE" dirty="0" err="1"/>
              <a:t>confounders</a:t>
            </a:r>
            <a:r>
              <a:rPr lang="de-DE" dirty="0"/>
              <a:t> </a:t>
            </a:r>
            <a:r>
              <a:rPr lang="de-DE" dirty="0" err="1"/>
              <a:t>with</a:t>
            </a:r>
            <a:r>
              <a:rPr lang="de-DE" dirty="0"/>
              <a:t> </a:t>
            </a:r>
            <a:r>
              <a:rPr lang="de-DE" dirty="0" err="1"/>
              <a:t>the</a:t>
            </a:r>
            <a:r>
              <a:rPr lang="de-DE" dirty="0"/>
              <a:t> (</a:t>
            </a:r>
            <a:r>
              <a:rPr lang="de-DE" dirty="0" err="1"/>
              <a:t>propensity</a:t>
            </a:r>
            <a:r>
              <a:rPr lang="de-DE" dirty="0"/>
              <a:t> and) </a:t>
            </a:r>
            <a:r>
              <a:rPr lang="de-DE" dirty="0" err="1"/>
              <a:t>the</a:t>
            </a:r>
            <a:r>
              <a:rPr lang="de-DE" dirty="0"/>
              <a:t> </a:t>
            </a:r>
            <a:r>
              <a:rPr lang="de-DE" dirty="0" err="1"/>
              <a:t>outcome</a:t>
            </a:r>
            <a:endParaRPr lang="de-DE" dirty="0"/>
          </a:p>
        </p:txBody>
      </p:sp>
      <p:cxnSp>
        <p:nvCxnSpPr>
          <p:cNvPr id="32" name="Gerade Verbindung mit Pfeil 31">
            <a:extLst>
              <a:ext uri="{FF2B5EF4-FFF2-40B4-BE49-F238E27FC236}">
                <a16:creationId xmlns:a16="http://schemas.microsoft.com/office/drawing/2014/main" id="{E314D539-A95C-4DD7-AA80-5B19C88DB871}"/>
              </a:ext>
            </a:extLst>
          </p:cNvPr>
          <p:cNvCxnSpPr>
            <a:cxnSpLocks/>
          </p:cNvCxnSpPr>
          <p:nvPr/>
        </p:nvCxnSpPr>
        <p:spPr>
          <a:xfrm flipV="1">
            <a:off x="6160951" y="4203217"/>
            <a:ext cx="0" cy="47853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9243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 name="Rechteck 3">
            <a:extLst>
              <a:ext uri="{FF2B5EF4-FFF2-40B4-BE49-F238E27FC236}">
                <a16:creationId xmlns:a16="http://schemas.microsoft.com/office/drawing/2014/main" id="{7524DA9A-46A3-4912-BF4E-032E888E93B0}"/>
              </a:ext>
            </a:extLst>
          </p:cNvPr>
          <p:cNvSpPr/>
          <p:nvPr/>
        </p:nvSpPr>
        <p:spPr>
          <a:xfrm>
            <a:off x="119336" y="585247"/>
            <a:ext cx="11953328" cy="56166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5" name="Abgerundetes Rechteck 41">
            <a:extLst>
              <a:ext uri="{FF2B5EF4-FFF2-40B4-BE49-F238E27FC236}">
                <a16:creationId xmlns:a16="http://schemas.microsoft.com/office/drawing/2014/main" id="{5E4A08DB-2518-4869-93F0-B5CE3FDDAD5D}"/>
              </a:ext>
            </a:extLst>
          </p:cNvPr>
          <p:cNvSpPr/>
          <p:nvPr/>
        </p:nvSpPr>
        <p:spPr bwMode="auto">
          <a:xfrm>
            <a:off x="9779666" y="6211669"/>
            <a:ext cx="2114514" cy="64633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defTabSz="914400" rtl="0" eaLnBrk="1" fontAlgn="auto" latinLnBrk="0" hangingPunct="1">
              <a:lnSpc>
                <a:spcPct val="100000"/>
              </a:lnSpc>
              <a:spcBef>
                <a:spcPts val="0"/>
              </a:spcBef>
              <a:spcAft>
                <a:spcPts val="0"/>
              </a:spcAft>
              <a:buClrTx/>
              <a:buSzTx/>
              <a:tabLst/>
              <a:defRPr/>
            </a:pP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I)   </a:t>
            </a:r>
            <a:r>
              <a:rPr kumimoji="0" lang="de-CH" sz="1000" i="0" u="none" strike="noStrike" kern="1200" cap="none" spc="0" normalizeH="0" baseline="0" noProof="0" dirty="0" err="1">
                <a:ln>
                  <a:noFill/>
                </a:ln>
                <a:solidFill>
                  <a:schemeClr val="tx1"/>
                </a:solidFill>
                <a:effectLst/>
                <a:uLnTx/>
                <a:uFillTx/>
                <a:latin typeface="Arial" panose="020B0604020202020204"/>
                <a:ea typeface="+mn-ea"/>
                <a:cs typeface="+mn-cs"/>
              </a:rPr>
              <a:t>What</a:t>
            </a: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is</a:t>
            </a: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 CML</a:t>
            </a:r>
            <a:r>
              <a:rPr lang="de-CH" sz="1000" dirty="0">
                <a:solidFill>
                  <a:schemeClr val="tx1"/>
                </a:solidFill>
                <a:latin typeface="Arial" panose="020B0604020202020204"/>
              </a:rPr>
              <a:t>?</a:t>
            </a:r>
          </a:p>
          <a:p>
            <a:pPr marR="0" lvl="0" defTabSz="914400" rtl="0" eaLnBrk="1" fontAlgn="auto" latinLnBrk="0" hangingPunct="1">
              <a:lnSpc>
                <a:spcPct val="100000"/>
              </a:lnSpc>
              <a:spcBef>
                <a:spcPts val="0"/>
              </a:spcBef>
              <a:spcAft>
                <a:spcPts val="0"/>
              </a:spcAft>
              <a:buClrTx/>
              <a:buSzTx/>
              <a:tabLst/>
              <a:defRPr/>
            </a:pPr>
            <a:r>
              <a:rPr lang="de-CH" sz="1000" dirty="0">
                <a:solidFill>
                  <a:schemeClr val="tx1"/>
                </a:solidFill>
                <a:latin typeface="Arial" panose="020B0604020202020204"/>
              </a:rPr>
              <a:t>II)  </a:t>
            </a: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The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Bayesian</a:t>
            </a: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causal</a:t>
            </a: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forest</a:t>
            </a:r>
            <a:endPar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endParaRPr>
          </a:p>
          <a:p>
            <a:pPr marR="0" lvl="0" defTabSz="914400" rtl="0" eaLnBrk="1" fontAlgn="auto" latinLnBrk="0" hangingPunct="1">
              <a:lnSpc>
                <a:spcPct val="100000"/>
              </a:lnSpc>
              <a:spcBef>
                <a:spcPts val="0"/>
              </a:spcBef>
              <a:spcAft>
                <a:spcPts val="0"/>
              </a:spcAft>
              <a:buClrTx/>
              <a:buSzTx/>
              <a:tabLst/>
              <a:defRPr/>
            </a:pPr>
            <a:r>
              <a:rPr lang="de-CH" sz="1000" b="1" dirty="0">
                <a:solidFill>
                  <a:schemeClr val="tx1"/>
                </a:solidFill>
                <a:latin typeface="Arial" panose="020B0604020202020204"/>
              </a:rPr>
              <a:t>III) </a:t>
            </a:r>
            <a:r>
              <a:rPr lang="de-CH" sz="1000" b="1" i="1" dirty="0" err="1">
                <a:solidFill>
                  <a:schemeClr val="tx1"/>
                </a:solidFill>
                <a:latin typeface="Arial" panose="020B0604020202020204"/>
              </a:rPr>
              <a:t>Uniqueness</a:t>
            </a:r>
            <a:r>
              <a:rPr lang="de-CH" sz="1000" b="1" i="1" dirty="0">
                <a:solidFill>
                  <a:schemeClr val="tx1"/>
                </a:solidFill>
                <a:latin typeface="Arial" panose="020B0604020202020204"/>
              </a:rPr>
              <a:t> </a:t>
            </a:r>
            <a:r>
              <a:rPr lang="de-CH" sz="1000" b="1" dirty="0" err="1">
                <a:solidFill>
                  <a:schemeClr val="tx1"/>
                </a:solidFill>
                <a:latin typeface="Arial" panose="020B0604020202020204"/>
              </a:rPr>
              <a:t>of</a:t>
            </a:r>
            <a:r>
              <a:rPr lang="de-CH" sz="1000" b="1" dirty="0">
                <a:solidFill>
                  <a:schemeClr val="tx1"/>
                </a:solidFill>
                <a:latin typeface="Arial" panose="020B0604020202020204"/>
              </a:rPr>
              <a:t> CML</a:t>
            </a:r>
          </a:p>
          <a:p>
            <a:pPr marR="0" lvl="0" defTabSz="914400" rtl="0" eaLnBrk="1" fontAlgn="auto" latinLnBrk="0" hangingPunct="1">
              <a:lnSpc>
                <a:spcPct val="100000"/>
              </a:lnSpc>
              <a:spcBef>
                <a:spcPts val="0"/>
              </a:spcBef>
              <a:spcAft>
                <a:spcPts val="0"/>
              </a:spcAft>
              <a:buClrTx/>
              <a:buSzTx/>
              <a:tabLst/>
              <a:defRPr/>
            </a:pP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IV)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Implications</a:t>
            </a: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u="none" strike="noStrike" kern="1200" cap="none" spc="0" normalizeH="0" baseline="0" noProof="0" dirty="0" err="1">
                <a:ln>
                  <a:noFill/>
                </a:ln>
                <a:solidFill>
                  <a:schemeClr val="tx1"/>
                </a:solidFill>
                <a:effectLst/>
                <a:uLnTx/>
                <a:uFillTx/>
                <a:latin typeface="Arial" panose="020B0604020202020204"/>
                <a:ea typeface="+mn-ea"/>
                <a:cs typeface="+mn-cs"/>
              </a:rPr>
              <a:t>for</a:t>
            </a:r>
            <a:r>
              <a:rPr kumimoji="0" lang="de-CH" sz="1000"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u="none" strike="noStrike" kern="1200" cap="none" spc="0" normalizeH="0" baseline="0" noProof="0" dirty="0" err="1">
                <a:ln>
                  <a:noFill/>
                </a:ln>
                <a:solidFill>
                  <a:schemeClr val="tx1"/>
                </a:solidFill>
                <a:effectLst/>
                <a:uLnTx/>
                <a:uFillTx/>
                <a:latin typeface="Arial" panose="020B0604020202020204"/>
                <a:ea typeface="+mn-ea"/>
                <a:cs typeface="+mn-cs"/>
              </a:rPr>
              <a:t>our</a:t>
            </a:r>
            <a:r>
              <a:rPr kumimoji="0" lang="de-CH" sz="1000"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u="none" strike="noStrike" kern="1200" cap="none" spc="0" normalizeH="0" baseline="0" noProof="0" dirty="0" err="1">
                <a:ln>
                  <a:noFill/>
                </a:ln>
                <a:solidFill>
                  <a:schemeClr val="tx1"/>
                </a:solidFill>
                <a:effectLst/>
                <a:uLnTx/>
                <a:uFillTx/>
                <a:latin typeface="Arial" panose="020B0604020202020204"/>
                <a:ea typeface="+mn-ea"/>
                <a:cs typeface="+mn-cs"/>
              </a:rPr>
              <a:t>research</a:t>
            </a:r>
            <a:endParaRPr kumimoji="0" lang="de-CH" sz="1000" u="none" strike="noStrike" kern="1200" cap="none" spc="0" normalizeH="0" baseline="0" noProof="0" dirty="0">
              <a:ln>
                <a:noFill/>
              </a:ln>
              <a:solidFill>
                <a:schemeClr val="tx1"/>
              </a:solidFill>
              <a:effectLst/>
              <a:uLnTx/>
              <a:uFillTx/>
              <a:latin typeface="Arial" panose="020B0604020202020204"/>
              <a:ea typeface="+mn-ea"/>
              <a:cs typeface="+mn-cs"/>
            </a:endParaRPr>
          </a:p>
        </p:txBody>
      </p:sp>
      <p:sp>
        <p:nvSpPr>
          <p:cNvPr id="28" name="Textfeld 27">
            <a:extLst>
              <a:ext uri="{FF2B5EF4-FFF2-40B4-BE49-F238E27FC236}">
                <a16:creationId xmlns:a16="http://schemas.microsoft.com/office/drawing/2014/main" id="{D9A6E734-5255-4F5B-8A08-2E99D6E75F54}"/>
              </a:ext>
            </a:extLst>
          </p:cNvPr>
          <p:cNvSpPr txBox="1"/>
          <p:nvPr/>
        </p:nvSpPr>
        <p:spPr>
          <a:xfrm>
            <a:off x="483358" y="964826"/>
            <a:ext cx="5471159" cy="2031325"/>
          </a:xfrm>
          <a:prstGeom prst="rect">
            <a:avLst/>
          </a:prstGeom>
          <a:noFill/>
        </p:spPr>
        <p:txBody>
          <a:bodyPr wrap="square" rtlCol="0">
            <a:spAutoFit/>
          </a:bodyPr>
          <a:lstStyle/>
          <a:p>
            <a:r>
              <a:rPr lang="de-DE" i="1" dirty="0" err="1"/>
              <a:t>Causal</a:t>
            </a:r>
            <a:r>
              <a:rPr lang="de-DE" i="1" dirty="0"/>
              <a:t> </a:t>
            </a:r>
            <a:r>
              <a:rPr lang="de-DE" i="1" dirty="0" err="1"/>
              <a:t>sufficiency</a:t>
            </a:r>
            <a:r>
              <a:rPr lang="de-DE" i="1" dirty="0"/>
              <a:t>:</a:t>
            </a:r>
          </a:p>
          <a:p>
            <a:r>
              <a:rPr lang="de-DE" dirty="0" err="1"/>
              <a:t>We</a:t>
            </a:r>
            <a:r>
              <a:rPr lang="de-DE" dirty="0"/>
              <a:t> </a:t>
            </a:r>
            <a:r>
              <a:rPr lang="de-DE" dirty="0" err="1"/>
              <a:t>have</a:t>
            </a:r>
            <a:r>
              <a:rPr lang="de-DE" dirty="0"/>
              <a:t> </a:t>
            </a:r>
            <a:r>
              <a:rPr lang="de-DE" dirty="0" err="1"/>
              <a:t>measured</a:t>
            </a:r>
            <a:r>
              <a:rPr lang="de-DE" dirty="0"/>
              <a:t> </a:t>
            </a:r>
            <a:r>
              <a:rPr lang="de-DE" b="1" dirty="0"/>
              <a:t>all </a:t>
            </a:r>
            <a:r>
              <a:rPr lang="de-DE" b="1" dirty="0" err="1"/>
              <a:t>confounders</a:t>
            </a:r>
            <a:endParaRPr lang="de-DE" b="1" dirty="0"/>
          </a:p>
          <a:p>
            <a:endParaRPr lang="de-DE" dirty="0"/>
          </a:p>
          <a:p>
            <a:r>
              <a:rPr lang="de-DE" i="1" dirty="0" err="1"/>
              <a:t>Correct</a:t>
            </a:r>
            <a:r>
              <a:rPr lang="de-DE" i="1" dirty="0"/>
              <a:t> </a:t>
            </a:r>
            <a:r>
              <a:rPr lang="de-DE" i="1" dirty="0" err="1"/>
              <a:t>model</a:t>
            </a:r>
            <a:r>
              <a:rPr lang="de-DE" i="1" dirty="0"/>
              <a:t> </a:t>
            </a:r>
            <a:r>
              <a:rPr lang="de-DE" i="1" dirty="0" err="1"/>
              <a:t>specification</a:t>
            </a:r>
            <a:r>
              <a:rPr lang="de-DE" i="1" dirty="0"/>
              <a:t>:</a:t>
            </a:r>
          </a:p>
          <a:p>
            <a:r>
              <a:rPr lang="de-DE" dirty="0" err="1"/>
              <a:t>We</a:t>
            </a:r>
            <a:r>
              <a:rPr lang="de-DE" dirty="0"/>
              <a:t> </a:t>
            </a:r>
            <a:r>
              <a:rPr lang="de-DE" dirty="0" err="1"/>
              <a:t>have</a:t>
            </a:r>
            <a:r>
              <a:rPr lang="de-DE" dirty="0"/>
              <a:t> an </a:t>
            </a:r>
            <a:r>
              <a:rPr lang="de-DE" b="1" dirty="0" err="1"/>
              <a:t>appropriate</a:t>
            </a:r>
            <a:r>
              <a:rPr lang="de-DE" b="1" dirty="0"/>
              <a:t> </a:t>
            </a:r>
            <a:r>
              <a:rPr lang="de-DE" b="1" dirty="0" err="1"/>
              <a:t>parameterization</a:t>
            </a:r>
            <a:r>
              <a:rPr lang="de-DE" b="1" dirty="0"/>
              <a:t> </a:t>
            </a:r>
            <a:r>
              <a:rPr lang="de-DE" dirty="0" err="1"/>
              <a:t>of</a:t>
            </a:r>
            <a:r>
              <a:rPr lang="de-DE" dirty="0"/>
              <a:t> </a:t>
            </a:r>
            <a:r>
              <a:rPr lang="de-DE" dirty="0" err="1"/>
              <a:t>the</a:t>
            </a:r>
            <a:r>
              <a:rPr lang="de-DE" dirty="0"/>
              <a:t> </a:t>
            </a:r>
            <a:r>
              <a:rPr lang="de-DE" dirty="0" err="1"/>
              <a:t>relation</a:t>
            </a:r>
            <a:r>
              <a:rPr lang="de-DE" dirty="0"/>
              <a:t> </a:t>
            </a:r>
            <a:r>
              <a:rPr lang="de-DE" dirty="0" err="1"/>
              <a:t>of</a:t>
            </a:r>
            <a:r>
              <a:rPr lang="de-DE" dirty="0"/>
              <a:t> </a:t>
            </a:r>
            <a:r>
              <a:rPr lang="de-DE" dirty="0" err="1"/>
              <a:t>the</a:t>
            </a:r>
            <a:r>
              <a:rPr lang="de-DE" dirty="0"/>
              <a:t> </a:t>
            </a:r>
            <a:r>
              <a:rPr lang="de-DE" dirty="0" err="1"/>
              <a:t>confounders</a:t>
            </a:r>
            <a:r>
              <a:rPr lang="de-DE" dirty="0"/>
              <a:t> </a:t>
            </a:r>
            <a:r>
              <a:rPr lang="de-DE" dirty="0" err="1"/>
              <a:t>with</a:t>
            </a:r>
            <a:r>
              <a:rPr lang="de-DE" dirty="0"/>
              <a:t> </a:t>
            </a:r>
            <a:r>
              <a:rPr lang="de-DE" dirty="0" err="1"/>
              <a:t>the</a:t>
            </a:r>
            <a:r>
              <a:rPr lang="de-DE" dirty="0"/>
              <a:t> (</a:t>
            </a:r>
            <a:r>
              <a:rPr lang="de-DE" dirty="0" err="1"/>
              <a:t>propensity</a:t>
            </a:r>
            <a:r>
              <a:rPr lang="de-DE" dirty="0"/>
              <a:t> and) </a:t>
            </a:r>
            <a:r>
              <a:rPr lang="de-DE" dirty="0" err="1"/>
              <a:t>the</a:t>
            </a:r>
            <a:r>
              <a:rPr lang="de-DE" dirty="0"/>
              <a:t> </a:t>
            </a:r>
            <a:r>
              <a:rPr lang="de-DE" dirty="0" err="1"/>
              <a:t>outcome</a:t>
            </a:r>
            <a:endParaRPr lang="de-DE" dirty="0"/>
          </a:p>
        </p:txBody>
      </p:sp>
      <p:sp>
        <p:nvSpPr>
          <p:cNvPr id="2" name="Rechteck 1">
            <a:extLst>
              <a:ext uri="{FF2B5EF4-FFF2-40B4-BE49-F238E27FC236}">
                <a16:creationId xmlns:a16="http://schemas.microsoft.com/office/drawing/2014/main" id="{B8B56B3E-143B-429E-BBA7-3B7C24D44F13}"/>
              </a:ext>
            </a:extLst>
          </p:cNvPr>
          <p:cNvSpPr/>
          <p:nvPr/>
        </p:nvSpPr>
        <p:spPr>
          <a:xfrm>
            <a:off x="3136557" y="3429000"/>
            <a:ext cx="5918886" cy="26014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5" name="Gerader Verbinder 4">
            <a:extLst>
              <a:ext uri="{FF2B5EF4-FFF2-40B4-BE49-F238E27FC236}">
                <a16:creationId xmlns:a16="http://schemas.microsoft.com/office/drawing/2014/main" id="{79308DCC-D738-4103-B922-1D40259924E8}"/>
              </a:ext>
            </a:extLst>
          </p:cNvPr>
          <p:cNvCxnSpPr>
            <a:stCxn id="2" idx="0"/>
            <a:endCxn id="2" idx="2"/>
          </p:cNvCxnSpPr>
          <p:nvPr/>
        </p:nvCxnSpPr>
        <p:spPr>
          <a:xfrm>
            <a:off x="6096000" y="3429000"/>
            <a:ext cx="0" cy="2601460"/>
          </a:xfrm>
          <a:prstGeom prst="line">
            <a:avLst/>
          </a:prstGeom>
        </p:spPr>
        <p:style>
          <a:lnRef idx="1">
            <a:schemeClr val="dk1"/>
          </a:lnRef>
          <a:fillRef idx="0">
            <a:schemeClr val="dk1"/>
          </a:fillRef>
          <a:effectRef idx="0">
            <a:schemeClr val="dk1"/>
          </a:effectRef>
          <a:fontRef idx="minor">
            <a:schemeClr val="tx1"/>
          </a:fontRef>
        </p:style>
      </p:cxnSp>
      <p:cxnSp>
        <p:nvCxnSpPr>
          <p:cNvPr id="17" name="Gerader Verbinder 16">
            <a:extLst>
              <a:ext uri="{FF2B5EF4-FFF2-40B4-BE49-F238E27FC236}">
                <a16:creationId xmlns:a16="http://schemas.microsoft.com/office/drawing/2014/main" id="{6BE08DB3-EBB9-4379-BBB8-D16E8A08C98E}"/>
              </a:ext>
            </a:extLst>
          </p:cNvPr>
          <p:cNvCxnSpPr>
            <a:cxnSpLocks/>
            <a:stCxn id="2" idx="3"/>
            <a:endCxn id="2" idx="1"/>
          </p:cNvCxnSpPr>
          <p:nvPr/>
        </p:nvCxnSpPr>
        <p:spPr bwMode="auto">
          <a:xfrm flipH="1">
            <a:off x="3136557" y="4729730"/>
            <a:ext cx="5918886" cy="0"/>
          </a:xfrm>
          <a:prstGeom prst="line">
            <a:avLst/>
          </a:prstGeom>
        </p:spPr>
        <p:style>
          <a:lnRef idx="1">
            <a:schemeClr val="dk1"/>
          </a:lnRef>
          <a:fillRef idx="0">
            <a:schemeClr val="dk1"/>
          </a:fillRef>
          <a:effectRef idx="0">
            <a:schemeClr val="dk1"/>
          </a:effectRef>
          <a:fontRef idx="minor">
            <a:schemeClr val="tx1"/>
          </a:fontRef>
        </p:style>
      </p:cxnSp>
      <p:sp>
        <p:nvSpPr>
          <p:cNvPr id="9" name="Textfeld 8">
            <a:extLst>
              <a:ext uri="{FF2B5EF4-FFF2-40B4-BE49-F238E27FC236}">
                <a16:creationId xmlns:a16="http://schemas.microsoft.com/office/drawing/2014/main" id="{C15D44BC-D210-4C73-A72F-0D474485598A}"/>
              </a:ext>
            </a:extLst>
          </p:cNvPr>
          <p:cNvSpPr txBox="1"/>
          <p:nvPr/>
        </p:nvSpPr>
        <p:spPr>
          <a:xfrm>
            <a:off x="3930480" y="3845940"/>
            <a:ext cx="1569306" cy="646331"/>
          </a:xfrm>
          <a:prstGeom prst="rect">
            <a:avLst/>
          </a:prstGeom>
          <a:noFill/>
        </p:spPr>
        <p:txBody>
          <a:bodyPr wrap="square" rtlCol="0">
            <a:spAutoFit/>
          </a:bodyPr>
          <a:lstStyle/>
          <a:p>
            <a:pPr algn="ctr"/>
            <a:r>
              <a:rPr lang="de-DE" dirty="0"/>
              <a:t>AVE - experimental</a:t>
            </a:r>
          </a:p>
        </p:txBody>
      </p:sp>
      <p:sp>
        <p:nvSpPr>
          <p:cNvPr id="21" name="Textfeld 20">
            <a:extLst>
              <a:ext uri="{FF2B5EF4-FFF2-40B4-BE49-F238E27FC236}">
                <a16:creationId xmlns:a16="http://schemas.microsoft.com/office/drawing/2014/main" id="{4E5D78BC-3B3E-47FD-88E5-0E070CADB8B9}"/>
              </a:ext>
            </a:extLst>
          </p:cNvPr>
          <p:cNvSpPr txBox="1"/>
          <p:nvPr/>
        </p:nvSpPr>
        <p:spPr bwMode="auto">
          <a:xfrm>
            <a:off x="6791069" y="3866974"/>
            <a:ext cx="1569306" cy="646331"/>
          </a:xfrm>
          <a:prstGeom prst="rect">
            <a:avLst/>
          </a:prstGeom>
          <a:noFill/>
        </p:spPr>
        <p:txBody>
          <a:bodyPr wrap="square" rtlCol="0">
            <a:spAutoFit/>
          </a:bodyPr>
          <a:lstStyle/>
          <a:p>
            <a:pPr algn="ctr"/>
            <a:r>
              <a:rPr lang="de-DE" dirty="0"/>
              <a:t>CAVE - experimental</a:t>
            </a:r>
          </a:p>
        </p:txBody>
      </p:sp>
      <p:sp>
        <p:nvSpPr>
          <p:cNvPr id="22" name="Textfeld 21">
            <a:extLst>
              <a:ext uri="{FF2B5EF4-FFF2-40B4-BE49-F238E27FC236}">
                <a16:creationId xmlns:a16="http://schemas.microsoft.com/office/drawing/2014/main" id="{72050345-37D9-4B09-AC8C-1DB73962228C}"/>
              </a:ext>
            </a:extLst>
          </p:cNvPr>
          <p:cNvSpPr txBox="1"/>
          <p:nvPr/>
        </p:nvSpPr>
        <p:spPr bwMode="auto">
          <a:xfrm>
            <a:off x="3942783" y="5146669"/>
            <a:ext cx="1569306" cy="646331"/>
          </a:xfrm>
          <a:prstGeom prst="rect">
            <a:avLst/>
          </a:prstGeom>
          <a:noFill/>
        </p:spPr>
        <p:txBody>
          <a:bodyPr wrap="square" rtlCol="0">
            <a:spAutoFit/>
          </a:bodyPr>
          <a:lstStyle/>
          <a:p>
            <a:pPr algn="ctr"/>
            <a:r>
              <a:rPr lang="de-DE" dirty="0"/>
              <a:t>AVE - </a:t>
            </a:r>
            <a:r>
              <a:rPr lang="de-DE" dirty="0" err="1"/>
              <a:t>observed</a:t>
            </a:r>
            <a:endParaRPr lang="de-DE" dirty="0"/>
          </a:p>
        </p:txBody>
      </p:sp>
      <p:sp>
        <p:nvSpPr>
          <p:cNvPr id="23" name="Textfeld 22">
            <a:extLst>
              <a:ext uri="{FF2B5EF4-FFF2-40B4-BE49-F238E27FC236}">
                <a16:creationId xmlns:a16="http://schemas.microsoft.com/office/drawing/2014/main" id="{12464413-5E09-4070-BC13-11CE31101274}"/>
              </a:ext>
            </a:extLst>
          </p:cNvPr>
          <p:cNvSpPr txBox="1"/>
          <p:nvPr/>
        </p:nvSpPr>
        <p:spPr bwMode="auto">
          <a:xfrm>
            <a:off x="6819958" y="5146669"/>
            <a:ext cx="1569306" cy="646331"/>
          </a:xfrm>
          <a:prstGeom prst="rect">
            <a:avLst/>
          </a:prstGeom>
          <a:noFill/>
        </p:spPr>
        <p:txBody>
          <a:bodyPr wrap="square" rtlCol="0">
            <a:spAutoFit/>
          </a:bodyPr>
          <a:lstStyle/>
          <a:p>
            <a:pPr algn="ctr"/>
            <a:r>
              <a:rPr lang="de-DE" dirty="0"/>
              <a:t>CAVE - </a:t>
            </a:r>
            <a:r>
              <a:rPr lang="de-DE" dirty="0" err="1"/>
              <a:t>observed</a:t>
            </a:r>
            <a:endParaRPr lang="de-DE" dirty="0"/>
          </a:p>
        </p:txBody>
      </p:sp>
      <p:sp>
        <p:nvSpPr>
          <p:cNvPr id="27" name="Textfeld 26">
            <a:extLst>
              <a:ext uri="{FF2B5EF4-FFF2-40B4-BE49-F238E27FC236}">
                <a16:creationId xmlns:a16="http://schemas.microsoft.com/office/drawing/2014/main" id="{83602398-B65E-4209-BCAA-B2EE43724377}"/>
              </a:ext>
            </a:extLst>
          </p:cNvPr>
          <p:cNvSpPr txBox="1"/>
          <p:nvPr/>
        </p:nvSpPr>
        <p:spPr bwMode="auto">
          <a:xfrm>
            <a:off x="4551405" y="2954487"/>
            <a:ext cx="3089190" cy="369332"/>
          </a:xfrm>
          <a:prstGeom prst="rect">
            <a:avLst/>
          </a:prstGeom>
          <a:noFill/>
        </p:spPr>
        <p:txBody>
          <a:bodyPr wrap="square" rtlCol="0">
            <a:spAutoFit/>
          </a:bodyPr>
          <a:lstStyle/>
          <a:p>
            <a:pPr algn="ctr"/>
            <a:r>
              <a:rPr lang="de-DE" dirty="0" err="1"/>
              <a:t>Effect</a:t>
            </a:r>
            <a:r>
              <a:rPr lang="de-DE" dirty="0"/>
              <a:t> </a:t>
            </a:r>
            <a:r>
              <a:rPr lang="de-DE" dirty="0" err="1"/>
              <a:t>of</a:t>
            </a:r>
            <a:r>
              <a:rPr lang="de-DE" dirty="0"/>
              <a:t> </a:t>
            </a:r>
            <a:r>
              <a:rPr lang="de-DE" dirty="0" err="1"/>
              <a:t>interest</a:t>
            </a:r>
            <a:endParaRPr lang="de-DE" dirty="0"/>
          </a:p>
        </p:txBody>
      </p:sp>
      <p:sp>
        <p:nvSpPr>
          <p:cNvPr id="29" name="Textfeld 28">
            <a:extLst>
              <a:ext uri="{FF2B5EF4-FFF2-40B4-BE49-F238E27FC236}">
                <a16:creationId xmlns:a16="http://schemas.microsoft.com/office/drawing/2014/main" id="{54BE991C-F426-4C9C-B718-BAE61D3E27D6}"/>
              </a:ext>
            </a:extLst>
          </p:cNvPr>
          <p:cNvSpPr txBox="1"/>
          <p:nvPr/>
        </p:nvSpPr>
        <p:spPr bwMode="auto">
          <a:xfrm>
            <a:off x="1269144" y="4545064"/>
            <a:ext cx="1569306" cy="369332"/>
          </a:xfrm>
          <a:prstGeom prst="rect">
            <a:avLst/>
          </a:prstGeom>
          <a:noFill/>
        </p:spPr>
        <p:txBody>
          <a:bodyPr wrap="square" rtlCol="0">
            <a:spAutoFit/>
          </a:bodyPr>
          <a:lstStyle/>
          <a:p>
            <a:pPr algn="ctr"/>
            <a:r>
              <a:rPr lang="de-DE" dirty="0"/>
              <a:t>Manipulation</a:t>
            </a:r>
          </a:p>
        </p:txBody>
      </p:sp>
      <p:sp>
        <p:nvSpPr>
          <p:cNvPr id="30" name="Textfeld 29">
            <a:extLst>
              <a:ext uri="{FF2B5EF4-FFF2-40B4-BE49-F238E27FC236}">
                <a16:creationId xmlns:a16="http://schemas.microsoft.com/office/drawing/2014/main" id="{CC971DB3-0743-49B8-A0CC-1D809587FB32}"/>
              </a:ext>
            </a:extLst>
          </p:cNvPr>
          <p:cNvSpPr txBox="1"/>
          <p:nvPr/>
        </p:nvSpPr>
        <p:spPr bwMode="auto">
          <a:xfrm>
            <a:off x="6423021" y="1825018"/>
            <a:ext cx="5471159" cy="923330"/>
          </a:xfrm>
          <a:prstGeom prst="rect">
            <a:avLst/>
          </a:prstGeom>
          <a:noFill/>
        </p:spPr>
        <p:txBody>
          <a:bodyPr wrap="square" rtlCol="0">
            <a:spAutoFit/>
          </a:bodyPr>
          <a:lstStyle/>
          <a:p>
            <a:r>
              <a:rPr lang="de-DE" i="1" dirty="0" err="1">
                <a:solidFill>
                  <a:srgbClr val="00B0F0"/>
                </a:solidFill>
              </a:rPr>
              <a:t>Let`s</a:t>
            </a:r>
            <a:r>
              <a:rPr lang="de-DE" i="1" dirty="0">
                <a:solidFill>
                  <a:srgbClr val="00B0F0"/>
                </a:solidFill>
              </a:rPr>
              <a:t> </a:t>
            </a:r>
            <a:r>
              <a:rPr lang="de-DE" i="1" dirty="0" err="1">
                <a:solidFill>
                  <a:srgbClr val="00B0F0"/>
                </a:solidFill>
              </a:rPr>
              <a:t>look</a:t>
            </a:r>
            <a:r>
              <a:rPr lang="de-DE" i="1" dirty="0">
                <a:solidFill>
                  <a:srgbClr val="00B0F0"/>
                </a:solidFill>
              </a:rPr>
              <a:t> </a:t>
            </a:r>
            <a:r>
              <a:rPr lang="de-DE" i="1" dirty="0" err="1">
                <a:solidFill>
                  <a:srgbClr val="00B0F0"/>
                </a:solidFill>
              </a:rPr>
              <a:t>into</a:t>
            </a:r>
            <a:r>
              <a:rPr lang="de-DE" i="1" dirty="0">
                <a:solidFill>
                  <a:srgbClr val="00B0F0"/>
                </a:solidFill>
              </a:rPr>
              <a:t> </a:t>
            </a:r>
            <a:r>
              <a:rPr lang="de-DE" i="1" dirty="0" err="1">
                <a:solidFill>
                  <a:srgbClr val="00B0F0"/>
                </a:solidFill>
              </a:rPr>
              <a:t>the</a:t>
            </a:r>
            <a:r>
              <a:rPr lang="de-DE" i="1" dirty="0">
                <a:solidFill>
                  <a:srgbClr val="00B0F0"/>
                </a:solidFill>
              </a:rPr>
              <a:t> </a:t>
            </a:r>
            <a:r>
              <a:rPr lang="de-DE" i="1" dirty="0" err="1">
                <a:solidFill>
                  <a:srgbClr val="00B0F0"/>
                </a:solidFill>
              </a:rPr>
              <a:t>advantages</a:t>
            </a:r>
            <a:r>
              <a:rPr lang="de-DE" i="1" dirty="0">
                <a:solidFill>
                  <a:srgbClr val="00B0F0"/>
                </a:solidFill>
              </a:rPr>
              <a:t> </a:t>
            </a:r>
            <a:r>
              <a:rPr lang="de-DE" i="1" dirty="0" err="1">
                <a:solidFill>
                  <a:srgbClr val="00B0F0"/>
                </a:solidFill>
              </a:rPr>
              <a:t>that</a:t>
            </a:r>
            <a:r>
              <a:rPr lang="de-DE" i="1" dirty="0">
                <a:solidFill>
                  <a:srgbClr val="00B0F0"/>
                </a:solidFill>
              </a:rPr>
              <a:t> </a:t>
            </a:r>
            <a:r>
              <a:rPr lang="de-DE" i="1" dirty="0" err="1">
                <a:solidFill>
                  <a:srgbClr val="00B0F0"/>
                </a:solidFill>
              </a:rPr>
              <a:t>Bayesian</a:t>
            </a:r>
            <a:r>
              <a:rPr lang="de-DE" i="1" dirty="0">
                <a:solidFill>
                  <a:srgbClr val="00B0F0"/>
                </a:solidFill>
              </a:rPr>
              <a:t> </a:t>
            </a:r>
            <a:r>
              <a:rPr lang="de-DE" i="1" dirty="0" err="1">
                <a:solidFill>
                  <a:srgbClr val="00B0F0"/>
                </a:solidFill>
              </a:rPr>
              <a:t>Causal</a:t>
            </a:r>
            <a:r>
              <a:rPr lang="de-DE" i="1" dirty="0">
                <a:solidFill>
                  <a:srgbClr val="00B0F0"/>
                </a:solidFill>
              </a:rPr>
              <a:t> Forests (and </a:t>
            </a:r>
            <a:r>
              <a:rPr lang="de-DE" i="1" dirty="0" err="1">
                <a:solidFill>
                  <a:srgbClr val="00B0F0"/>
                </a:solidFill>
              </a:rPr>
              <a:t>further</a:t>
            </a:r>
            <a:r>
              <a:rPr lang="de-DE" i="1" dirty="0">
                <a:solidFill>
                  <a:srgbClr val="00B0F0"/>
                </a:solidFill>
              </a:rPr>
              <a:t> CML </a:t>
            </a:r>
            <a:r>
              <a:rPr lang="de-DE" i="1" dirty="0" err="1">
                <a:solidFill>
                  <a:srgbClr val="00B0F0"/>
                </a:solidFill>
              </a:rPr>
              <a:t>techniques</a:t>
            </a:r>
            <a:r>
              <a:rPr lang="de-DE" i="1" dirty="0">
                <a:solidFill>
                  <a:srgbClr val="00B0F0"/>
                </a:solidFill>
              </a:rPr>
              <a:t>) (</a:t>
            </a:r>
            <a:r>
              <a:rPr lang="de-DE" i="1" dirty="0" err="1">
                <a:solidFill>
                  <a:srgbClr val="00B0F0"/>
                </a:solidFill>
              </a:rPr>
              <a:t>may</a:t>
            </a:r>
            <a:r>
              <a:rPr lang="de-DE" i="1" dirty="0">
                <a:solidFill>
                  <a:srgbClr val="00B0F0"/>
                </a:solidFill>
              </a:rPr>
              <a:t>) </a:t>
            </a:r>
            <a:r>
              <a:rPr lang="de-DE" i="1" dirty="0" err="1">
                <a:solidFill>
                  <a:srgbClr val="00B0F0"/>
                </a:solidFill>
              </a:rPr>
              <a:t>have</a:t>
            </a:r>
            <a:r>
              <a:rPr lang="de-DE" i="1" dirty="0">
                <a:solidFill>
                  <a:srgbClr val="00B0F0"/>
                </a:solidFill>
              </a:rPr>
              <a:t> in </a:t>
            </a:r>
            <a:r>
              <a:rPr lang="de-DE" i="1" dirty="0" err="1">
                <a:solidFill>
                  <a:srgbClr val="00B0F0"/>
                </a:solidFill>
              </a:rPr>
              <a:t>these</a:t>
            </a:r>
            <a:r>
              <a:rPr lang="de-DE" i="1" dirty="0">
                <a:solidFill>
                  <a:srgbClr val="00B0F0"/>
                </a:solidFill>
              </a:rPr>
              <a:t> </a:t>
            </a:r>
            <a:r>
              <a:rPr lang="de-DE" i="1" dirty="0" err="1">
                <a:solidFill>
                  <a:srgbClr val="00B0F0"/>
                </a:solidFill>
              </a:rPr>
              <a:t>situations</a:t>
            </a:r>
            <a:endParaRPr lang="de-DE" dirty="0">
              <a:solidFill>
                <a:srgbClr val="00B0F0"/>
              </a:solidFill>
            </a:endParaRPr>
          </a:p>
        </p:txBody>
      </p:sp>
      <p:sp>
        <p:nvSpPr>
          <p:cNvPr id="10" name="Rechteck: abgerundete Ecken 9">
            <a:extLst>
              <a:ext uri="{FF2B5EF4-FFF2-40B4-BE49-F238E27FC236}">
                <a16:creationId xmlns:a16="http://schemas.microsoft.com/office/drawing/2014/main" id="{3D934587-00CC-4734-8DBD-D4D14197BF51}"/>
              </a:ext>
            </a:extLst>
          </p:cNvPr>
          <p:cNvSpPr/>
          <p:nvPr/>
        </p:nvSpPr>
        <p:spPr>
          <a:xfrm>
            <a:off x="1380355" y="2916197"/>
            <a:ext cx="8134348" cy="3188406"/>
          </a:xfrm>
          <a:prstGeom prst="round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1" name="Textfeld 30">
            <a:extLst>
              <a:ext uri="{FF2B5EF4-FFF2-40B4-BE49-F238E27FC236}">
                <a16:creationId xmlns:a16="http://schemas.microsoft.com/office/drawing/2014/main" id="{C7AF0510-5357-4BEF-AFD6-666FBF42A33B}"/>
              </a:ext>
            </a:extLst>
          </p:cNvPr>
          <p:cNvSpPr txBox="1"/>
          <p:nvPr/>
        </p:nvSpPr>
        <p:spPr bwMode="auto">
          <a:xfrm>
            <a:off x="3211786" y="3540244"/>
            <a:ext cx="5471159" cy="369332"/>
          </a:xfrm>
          <a:prstGeom prst="rect">
            <a:avLst/>
          </a:prstGeom>
          <a:noFill/>
        </p:spPr>
        <p:txBody>
          <a:bodyPr wrap="square" rtlCol="0">
            <a:spAutoFit/>
          </a:bodyPr>
          <a:lstStyle/>
          <a:p>
            <a:r>
              <a:rPr lang="de-DE" i="1" dirty="0">
                <a:solidFill>
                  <a:srgbClr val="00B0F0"/>
                </a:solidFill>
              </a:rPr>
              <a:t>„Main </a:t>
            </a:r>
            <a:r>
              <a:rPr lang="de-DE" i="1" dirty="0" err="1">
                <a:solidFill>
                  <a:srgbClr val="00B0F0"/>
                </a:solidFill>
              </a:rPr>
              <a:t>effect</a:t>
            </a:r>
            <a:r>
              <a:rPr lang="de-DE" i="1" dirty="0">
                <a:solidFill>
                  <a:srgbClr val="00B0F0"/>
                </a:solidFill>
              </a:rPr>
              <a:t>“ </a:t>
            </a:r>
            <a:r>
              <a:rPr lang="de-DE" i="1" dirty="0" err="1">
                <a:solidFill>
                  <a:srgbClr val="00B0F0"/>
                </a:solidFill>
              </a:rPr>
              <a:t>of</a:t>
            </a:r>
            <a:r>
              <a:rPr lang="de-DE" i="1" dirty="0">
                <a:solidFill>
                  <a:srgbClr val="00B0F0"/>
                </a:solidFill>
              </a:rPr>
              <a:t> </a:t>
            </a:r>
            <a:r>
              <a:rPr lang="de-DE" i="1" dirty="0" err="1">
                <a:solidFill>
                  <a:srgbClr val="00B0F0"/>
                </a:solidFill>
              </a:rPr>
              <a:t>treatment</a:t>
            </a:r>
            <a:endParaRPr lang="de-DE" dirty="0">
              <a:solidFill>
                <a:srgbClr val="00B0F0"/>
              </a:solidFill>
            </a:endParaRPr>
          </a:p>
        </p:txBody>
      </p:sp>
      <p:sp>
        <p:nvSpPr>
          <p:cNvPr id="33" name="Textfeld 32">
            <a:extLst>
              <a:ext uri="{FF2B5EF4-FFF2-40B4-BE49-F238E27FC236}">
                <a16:creationId xmlns:a16="http://schemas.microsoft.com/office/drawing/2014/main" id="{9F15A0ED-842A-4699-A0F3-3E1662E4FA68}"/>
              </a:ext>
            </a:extLst>
          </p:cNvPr>
          <p:cNvSpPr txBox="1"/>
          <p:nvPr/>
        </p:nvSpPr>
        <p:spPr bwMode="auto">
          <a:xfrm>
            <a:off x="6244635" y="3543808"/>
            <a:ext cx="2997057" cy="646331"/>
          </a:xfrm>
          <a:prstGeom prst="rect">
            <a:avLst/>
          </a:prstGeom>
          <a:noFill/>
        </p:spPr>
        <p:txBody>
          <a:bodyPr wrap="square" rtlCol="0">
            <a:spAutoFit/>
          </a:bodyPr>
          <a:lstStyle/>
          <a:p>
            <a:r>
              <a:rPr lang="de-DE" i="1" dirty="0">
                <a:solidFill>
                  <a:srgbClr val="00B0F0"/>
                </a:solidFill>
              </a:rPr>
              <a:t>Moderation </a:t>
            </a:r>
            <a:r>
              <a:rPr lang="de-DE" i="1" dirty="0" err="1">
                <a:solidFill>
                  <a:srgbClr val="00B0F0"/>
                </a:solidFill>
              </a:rPr>
              <a:t>of</a:t>
            </a:r>
            <a:r>
              <a:rPr lang="de-DE" i="1" dirty="0">
                <a:solidFill>
                  <a:srgbClr val="00B0F0"/>
                </a:solidFill>
              </a:rPr>
              <a:t> </a:t>
            </a:r>
            <a:r>
              <a:rPr lang="de-DE" i="1" dirty="0" err="1">
                <a:solidFill>
                  <a:srgbClr val="00B0F0"/>
                </a:solidFill>
              </a:rPr>
              <a:t>treatment</a:t>
            </a:r>
            <a:r>
              <a:rPr lang="de-DE" i="1" dirty="0">
                <a:solidFill>
                  <a:srgbClr val="00B0F0"/>
                </a:solidFill>
              </a:rPr>
              <a:t> </a:t>
            </a:r>
            <a:r>
              <a:rPr lang="de-DE" i="1" dirty="0" err="1">
                <a:solidFill>
                  <a:srgbClr val="00B0F0"/>
                </a:solidFill>
              </a:rPr>
              <a:t>effect</a:t>
            </a:r>
            <a:endParaRPr lang="de-DE" dirty="0">
              <a:solidFill>
                <a:srgbClr val="00B0F0"/>
              </a:solidFill>
            </a:endParaRPr>
          </a:p>
        </p:txBody>
      </p:sp>
    </p:spTree>
    <p:extLst>
      <p:ext uri="{BB962C8B-B14F-4D97-AF65-F5344CB8AC3E}">
        <p14:creationId xmlns:p14="http://schemas.microsoft.com/office/powerpoint/2010/main" val="3847911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3" grpId="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 name="Rechteck 3">
            <a:extLst>
              <a:ext uri="{FF2B5EF4-FFF2-40B4-BE49-F238E27FC236}">
                <a16:creationId xmlns:a16="http://schemas.microsoft.com/office/drawing/2014/main" id="{7524DA9A-46A3-4912-BF4E-032E888E93B0}"/>
              </a:ext>
            </a:extLst>
          </p:cNvPr>
          <p:cNvSpPr/>
          <p:nvPr/>
        </p:nvSpPr>
        <p:spPr>
          <a:xfrm>
            <a:off x="119336" y="585247"/>
            <a:ext cx="11953328" cy="56166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5" name="Abgerundetes Rechteck 41">
            <a:extLst>
              <a:ext uri="{FF2B5EF4-FFF2-40B4-BE49-F238E27FC236}">
                <a16:creationId xmlns:a16="http://schemas.microsoft.com/office/drawing/2014/main" id="{5E4A08DB-2518-4869-93F0-B5CE3FDDAD5D}"/>
              </a:ext>
            </a:extLst>
          </p:cNvPr>
          <p:cNvSpPr/>
          <p:nvPr/>
        </p:nvSpPr>
        <p:spPr bwMode="auto">
          <a:xfrm>
            <a:off x="9779666" y="6211669"/>
            <a:ext cx="2114514" cy="64633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defTabSz="914400" rtl="0" eaLnBrk="1" fontAlgn="auto" latinLnBrk="0" hangingPunct="1">
              <a:lnSpc>
                <a:spcPct val="100000"/>
              </a:lnSpc>
              <a:spcBef>
                <a:spcPts val="0"/>
              </a:spcBef>
              <a:spcAft>
                <a:spcPts val="0"/>
              </a:spcAft>
              <a:buClrTx/>
              <a:buSzTx/>
              <a:tabLst/>
              <a:defRPr/>
            </a:pP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I)   </a:t>
            </a:r>
            <a:r>
              <a:rPr kumimoji="0" lang="de-CH" sz="1000" i="0" u="none" strike="noStrike" kern="1200" cap="none" spc="0" normalizeH="0" baseline="0" noProof="0" dirty="0" err="1">
                <a:ln>
                  <a:noFill/>
                </a:ln>
                <a:solidFill>
                  <a:schemeClr val="tx1"/>
                </a:solidFill>
                <a:effectLst/>
                <a:uLnTx/>
                <a:uFillTx/>
                <a:latin typeface="Arial" panose="020B0604020202020204"/>
                <a:ea typeface="+mn-ea"/>
                <a:cs typeface="+mn-cs"/>
              </a:rPr>
              <a:t>What</a:t>
            </a: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is</a:t>
            </a: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 CML</a:t>
            </a:r>
            <a:r>
              <a:rPr lang="de-CH" sz="1000" dirty="0">
                <a:solidFill>
                  <a:schemeClr val="tx1"/>
                </a:solidFill>
                <a:latin typeface="Arial" panose="020B0604020202020204"/>
              </a:rPr>
              <a:t>?</a:t>
            </a:r>
          </a:p>
          <a:p>
            <a:pPr marR="0" lvl="0" defTabSz="914400" rtl="0" eaLnBrk="1" fontAlgn="auto" latinLnBrk="0" hangingPunct="1">
              <a:lnSpc>
                <a:spcPct val="100000"/>
              </a:lnSpc>
              <a:spcBef>
                <a:spcPts val="0"/>
              </a:spcBef>
              <a:spcAft>
                <a:spcPts val="0"/>
              </a:spcAft>
              <a:buClrTx/>
              <a:buSzTx/>
              <a:tabLst/>
              <a:defRPr/>
            </a:pPr>
            <a:r>
              <a:rPr lang="de-CH" sz="1000" dirty="0">
                <a:solidFill>
                  <a:schemeClr val="tx1"/>
                </a:solidFill>
                <a:latin typeface="Arial" panose="020B0604020202020204"/>
              </a:rPr>
              <a:t>II)  </a:t>
            </a: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The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Bayesian</a:t>
            </a: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causal</a:t>
            </a: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forest</a:t>
            </a:r>
            <a:endPar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endParaRPr>
          </a:p>
          <a:p>
            <a:pPr marR="0" lvl="0" defTabSz="914400" rtl="0" eaLnBrk="1" fontAlgn="auto" latinLnBrk="0" hangingPunct="1">
              <a:lnSpc>
                <a:spcPct val="100000"/>
              </a:lnSpc>
              <a:spcBef>
                <a:spcPts val="0"/>
              </a:spcBef>
              <a:spcAft>
                <a:spcPts val="0"/>
              </a:spcAft>
              <a:buClrTx/>
              <a:buSzTx/>
              <a:tabLst/>
              <a:defRPr/>
            </a:pPr>
            <a:r>
              <a:rPr lang="de-CH" sz="1000" b="1" dirty="0">
                <a:solidFill>
                  <a:schemeClr val="tx1"/>
                </a:solidFill>
                <a:latin typeface="Arial" panose="020B0604020202020204"/>
              </a:rPr>
              <a:t>III) </a:t>
            </a:r>
            <a:r>
              <a:rPr lang="de-CH" sz="1000" b="1" i="1" dirty="0" err="1">
                <a:solidFill>
                  <a:schemeClr val="tx1"/>
                </a:solidFill>
                <a:latin typeface="Arial" panose="020B0604020202020204"/>
              </a:rPr>
              <a:t>Uniqueness</a:t>
            </a:r>
            <a:r>
              <a:rPr lang="de-CH" sz="1000" b="1" i="1" dirty="0">
                <a:solidFill>
                  <a:schemeClr val="tx1"/>
                </a:solidFill>
                <a:latin typeface="Arial" panose="020B0604020202020204"/>
              </a:rPr>
              <a:t> </a:t>
            </a:r>
            <a:r>
              <a:rPr lang="de-CH" sz="1000" b="1" dirty="0" err="1">
                <a:solidFill>
                  <a:schemeClr val="tx1"/>
                </a:solidFill>
                <a:latin typeface="Arial" panose="020B0604020202020204"/>
              </a:rPr>
              <a:t>of</a:t>
            </a:r>
            <a:r>
              <a:rPr lang="de-CH" sz="1000" b="1" dirty="0">
                <a:solidFill>
                  <a:schemeClr val="tx1"/>
                </a:solidFill>
                <a:latin typeface="Arial" panose="020B0604020202020204"/>
              </a:rPr>
              <a:t> CML</a:t>
            </a:r>
          </a:p>
          <a:p>
            <a:pPr marR="0" lvl="0" defTabSz="914400" rtl="0" eaLnBrk="1" fontAlgn="auto" latinLnBrk="0" hangingPunct="1">
              <a:lnSpc>
                <a:spcPct val="100000"/>
              </a:lnSpc>
              <a:spcBef>
                <a:spcPts val="0"/>
              </a:spcBef>
              <a:spcAft>
                <a:spcPts val="0"/>
              </a:spcAft>
              <a:buClrTx/>
              <a:buSzTx/>
              <a:tabLst/>
              <a:defRPr/>
            </a:pP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IV)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Implications</a:t>
            </a: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u="none" strike="noStrike" kern="1200" cap="none" spc="0" normalizeH="0" baseline="0" noProof="0" dirty="0" err="1">
                <a:ln>
                  <a:noFill/>
                </a:ln>
                <a:solidFill>
                  <a:schemeClr val="tx1"/>
                </a:solidFill>
                <a:effectLst/>
                <a:uLnTx/>
                <a:uFillTx/>
                <a:latin typeface="Arial" panose="020B0604020202020204"/>
                <a:ea typeface="+mn-ea"/>
                <a:cs typeface="+mn-cs"/>
              </a:rPr>
              <a:t>for</a:t>
            </a:r>
            <a:r>
              <a:rPr kumimoji="0" lang="de-CH" sz="1000"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u="none" strike="noStrike" kern="1200" cap="none" spc="0" normalizeH="0" baseline="0" noProof="0" dirty="0" err="1">
                <a:ln>
                  <a:noFill/>
                </a:ln>
                <a:solidFill>
                  <a:schemeClr val="tx1"/>
                </a:solidFill>
                <a:effectLst/>
                <a:uLnTx/>
                <a:uFillTx/>
                <a:latin typeface="Arial" panose="020B0604020202020204"/>
                <a:ea typeface="+mn-ea"/>
                <a:cs typeface="+mn-cs"/>
              </a:rPr>
              <a:t>our</a:t>
            </a:r>
            <a:r>
              <a:rPr kumimoji="0" lang="de-CH" sz="1000"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u="none" strike="noStrike" kern="1200" cap="none" spc="0" normalizeH="0" baseline="0" noProof="0" dirty="0" err="1">
                <a:ln>
                  <a:noFill/>
                </a:ln>
                <a:solidFill>
                  <a:schemeClr val="tx1"/>
                </a:solidFill>
                <a:effectLst/>
                <a:uLnTx/>
                <a:uFillTx/>
                <a:latin typeface="Arial" panose="020B0604020202020204"/>
                <a:ea typeface="+mn-ea"/>
                <a:cs typeface="+mn-cs"/>
              </a:rPr>
              <a:t>research</a:t>
            </a:r>
            <a:endParaRPr kumimoji="0" lang="de-CH" sz="1000" u="none" strike="noStrike" kern="1200" cap="none" spc="0" normalizeH="0" baseline="0" noProof="0" dirty="0">
              <a:ln>
                <a:noFill/>
              </a:ln>
              <a:solidFill>
                <a:schemeClr val="tx1"/>
              </a:solidFill>
              <a:effectLst/>
              <a:uLnTx/>
              <a:uFillTx/>
              <a:latin typeface="Arial" panose="020B0604020202020204"/>
              <a:ea typeface="+mn-ea"/>
              <a:cs typeface="+mn-cs"/>
            </a:endParaRPr>
          </a:p>
        </p:txBody>
      </p:sp>
      <p:sp>
        <p:nvSpPr>
          <p:cNvPr id="28" name="Textfeld 27">
            <a:extLst>
              <a:ext uri="{FF2B5EF4-FFF2-40B4-BE49-F238E27FC236}">
                <a16:creationId xmlns:a16="http://schemas.microsoft.com/office/drawing/2014/main" id="{D9A6E734-5255-4F5B-8A08-2E99D6E75F54}"/>
              </a:ext>
            </a:extLst>
          </p:cNvPr>
          <p:cNvSpPr txBox="1"/>
          <p:nvPr/>
        </p:nvSpPr>
        <p:spPr>
          <a:xfrm>
            <a:off x="483358" y="964826"/>
            <a:ext cx="5471159" cy="2031325"/>
          </a:xfrm>
          <a:prstGeom prst="rect">
            <a:avLst/>
          </a:prstGeom>
          <a:noFill/>
        </p:spPr>
        <p:txBody>
          <a:bodyPr wrap="square" rtlCol="0">
            <a:spAutoFit/>
          </a:bodyPr>
          <a:lstStyle/>
          <a:p>
            <a:r>
              <a:rPr lang="de-DE" i="1" dirty="0" err="1"/>
              <a:t>Causal</a:t>
            </a:r>
            <a:r>
              <a:rPr lang="de-DE" i="1" dirty="0"/>
              <a:t> </a:t>
            </a:r>
            <a:r>
              <a:rPr lang="de-DE" i="1" dirty="0" err="1"/>
              <a:t>sufficiency</a:t>
            </a:r>
            <a:r>
              <a:rPr lang="de-DE" i="1" dirty="0"/>
              <a:t>:</a:t>
            </a:r>
          </a:p>
          <a:p>
            <a:r>
              <a:rPr lang="de-DE" dirty="0" err="1"/>
              <a:t>We</a:t>
            </a:r>
            <a:r>
              <a:rPr lang="de-DE" dirty="0"/>
              <a:t> </a:t>
            </a:r>
            <a:r>
              <a:rPr lang="de-DE" dirty="0" err="1"/>
              <a:t>have</a:t>
            </a:r>
            <a:r>
              <a:rPr lang="de-DE" dirty="0"/>
              <a:t> </a:t>
            </a:r>
            <a:r>
              <a:rPr lang="de-DE" dirty="0" err="1"/>
              <a:t>measured</a:t>
            </a:r>
            <a:r>
              <a:rPr lang="de-DE" dirty="0"/>
              <a:t> </a:t>
            </a:r>
            <a:r>
              <a:rPr lang="de-DE" b="1" dirty="0"/>
              <a:t>all </a:t>
            </a:r>
            <a:r>
              <a:rPr lang="de-DE" b="1" dirty="0" err="1"/>
              <a:t>confounders</a:t>
            </a:r>
            <a:endParaRPr lang="de-DE" b="1" dirty="0"/>
          </a:p>
          <a:p>
            <a:endParaRPr lang="de-DE" dirty="0"/>
          </a:p>
          <a:p>
            <a:r>
              <a:rPr lang="de-DE" i="1" dirty="0" err="1"/>
              <a:t>Correct</a:t>
            </a:r>
            <a:r>
              <a:rPr lang="de-DE" i="1" dirty="0"/>
              <a:t> </a:t>
            </a:r>
            <a:r>
              <a:rPr lang="de-DE" i="1" dirty="0" err="1"/>
              <a:t>model</a:t>
            </a:r>
            <a:r>
              <a:rPr lang="de-DE" i="1" dirty="0"/>
              <a:t> </a:t>
            </a:r>
            <a:r>
              <a:rPr lang="de-DE" i="1" dirty="0" err="1"/>
              <a:t>specification</a:t>
            </a:r>
            <a:r>
              <a:rPr lang="de-DE" i="1" dirty="0"/>
              <a:t>:</a:t>
            </a:r>
          </a:p>
          <a:p>
            <a:r>
              <a:rPr lang="de-DE" dirty="0" err="1"/>
              <a:t>We</a:t>
            </a:r>
            <a:r>
              <a:rPr lang="de-DE" dirty="0"/>
              <a:t> </a:t>
            </a:r>
            <a:r>
              <a:rPr lang="de-DE" dirty="0" err="1"/>
              <a:t>have</a:t>
            </a:r>
            <a:r>
              <a:rPr lang="de-DE" dirty="0"/>
              <a:t> an </a:t>
            </a:r>
            <a:r>
              <a:rPr lang="de-DE" b="1" dirty="0" err="1"/>
              <a:t>appropriate</a:t>
            </a:r>
            <a:r>
              <a:rPr lang="de-DE" b="1" dirty="0"/>
              <a:t> </a:t>
            </a:r>
            <a:r>
              <a:rPr lang="de-DE" b="1" dirty="0" err="1"/>
              <a:t>parameterization</a:t>
            </a:r>
            <a:r>
              <a:rPr lang="de-DE" b="1" dirty="0"/>
              <a:t> </a:t>
            </a:r>
            <a:r>
              <a:rPr lang="de-DE" dirty="0" err="1"/>
              <a:t>of</a:t>
            </a:r>
            <a:r>
              <a:rPr lang="de-DE" dirty="0"/>
              <a:t> </a:t>
            </a:r>
            <a:r>
              <a:rPr lang="de-DE" dirty="0" err="1"/>
              <a:t>the</a:t>
            </a:r>
            <a:r>
              <a:rPr lang="de-DE" dirty="0"/>
              <a:t> </a:t>
            </a:r>
            <a:r>
              <a:rPr lang="de-DE" dirty="0" err="1"/>
              <a:t>relation</a:t>
            </a:r>
            <a:r>
              <a:rPr lang="de-DE" dirty="0"/>
              <a:t> </a:t>
            </a:r>
            <a:r>
              <a:rPr lang="de-DE" dirty="0" err="1"/>
              <a:t>of</a:t>
            </a:r>
            <a:r>
              <a:rPr lang="de-DE" dirty="0"/>
              <a:t> </a:t>
            </a:r>
            <a:r>
              <a:rPr lang="de-DE" dirty="0" err="1"/>
              <a:t>the</a:t>
            </a:r>
            <a:r>
              <a:rPr lang="de-DE" dirty="0"/>
              <a:t> </a:t>
            </a:r>
            <a:r>
              <a:rPr lang="de-DE" dirty="0" err="1"/>
              <a:t>confounders</a:t>
            </a:r>
            <a:r>
              <a:rPr lang="de-DE" dirty="0"/>
              <a:t> </a:t>
            </a:r>
            <a:r>
              <a:rPr lang="de-DE" dirty="0" err="1"/>
              <a:t>with</a:t>
            </a:r>
            <a:r>
              <a:rPr lang="de-DE" dirty="0"/>
              <a:t> </a:t>
            </a:r>
            <a:r>
              <a:rPr lang="de-DE" dirty="0" err="1"/>
              <a:t>the</a:t>
            </a:r>
            <a:r>
              <a:rPr lang="de-DE" dirty="0"/>
              <a:t> (</a:t>
            </a:r>
            <a:r>
              <a:rPr lang="de-DE" dirty="0" err="1"/>
              <a:t>propensity</a:t>
            </a:r>
            <a:r>
              <a:rPr lang="de-DE" dirty="0"/>
              <a:t> and) </a:t>
            </a:r>
            <a:r>
              <a:rPr lang="de-DE" dirty="0" err="1"/>
              <a:t>the</a:t>
            </a:r>
            <a:r>
              <a:rPr lang="de-DE" dirty="0"/>
              <a:t> </a:t>
            </a:r>
            <a:r>
              <a:rPr lang="de-DE" dirty="0" err="1"/>
              <a:t>outcome</a:t>
            </a:r>
            <a:endParaRPr lang="de-DE" dirty="0"/>
          </a:p>
        </p:txBody>
      </p:sp>
      <p:sp>
        <p:nvSpPr>
          <p:cNvPr id="2" name="Rechteck 1">
            <a:extLst>
              <a:ext uri="{FF2B5EF4-FFF2-40B4-BE49-F238E27FC236}">
                <a16:creationId xmlns:a16="http://schemas.microsoft.com/office/drawing/2014/main" id="{B8B56B3E-143B-429E-BBA7-3B7C24D44F13}"/>
              </a:ext>
            </a:extLst>
          </p:cNvPr>
          <p:cNvSpPr/>
          <p:nvPr/>
        </p:nvSpPr>
        <p:spPr>
          <a:xfrm>
            <a:off x="3136557" y="3429000"/>
            <a:ext cx="5918886" cy="26014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5" name="Gerader Verbinder 4">
            <a:extLst>
              <a:ext uri="{FF2B5EF4-FFF2-40B4-BE49-F238E27FC236}">
                <a16:creationId xmlns:a16="http://schemas.microsoft.com/office/drawing/2014/main" id="{79308DCC-D738-4103-B922-1D40259924E8}"/>
              </a:ext>
            </a:extLst>
          </p:cNvPr>
          <p:cNvCxnSpPr>
            <a:stCxn id="2" idx="0"/>
            <a:endCxn id="2" idx="2"/>
          </p:cNvCxnSpPr>
          <p:nvPr/>
        </p:nvCxnSpPr>
        <p:spPr>
          <a:xfrm>
            <a:off x="6096000" y="3429000"/>
            <a:ext cx="0" cy="2601460"/>
          </a:xfrm>
          <a:prstGeom prst="line">
            <a:avLst/>
          </a:prstGeom>
        </p:spPr>
        <p:style>
          <a:lnRef idx="1">
            <a:schemeClr val="dk1"/>
          </a:lnRef>
          <a:fillRef idx="0">
            <a:schemeClr val="dk1"/>
          </a:fillRef>
          <a:effectRef idx="0">
            <a:schemeClr val="dk1"/>
          </a:effectRef>
          <a:fontRef idx="minor">
            <a:schemeClr val="tx1"/>
          </a:fontRef>
        </p:style>
      </p:cxnSp>
      <p:cxnSp>
        <p:nvCxnSpPr>
          <p:cNvPr id="17" name="Gerader Verbinder 16">
            <a:extLst>
              <a:ext uri="{FF2B5EF4-FFF2-40B4-BE49-F238E27FC236}">
                <a16:creationId xmlns:a16="http://schemas.microsoft.com/office/drawing/2014/main" id="{6BE08DB3-EBB9-4379-BBB8-D16E8A08C98E}"/>
              </a:ext>
            </a:extLst>
          </p:cNvPr>
          <p:cNvCxnSpPr>
            <a:cxnSpLocks/>
            <a:stCxn id="2" idx="3"/>
            <a:endCxn id="2" idx="1"/>
          </p:cNvCxnSpPr>
          <p:nvPr/>
        </p:nvCxnSpPr>
        <p:spPr bwMode="auto">
          <a:xfrm flipH="1">
            <a:off x="3136557" y="4729730"/>
            <a:ext cx="5918886" cy="0"/>
          </a:xfrm>
          <a:prstGeom prst="line">
            <a:avLst/>
          </a:prstGeom>
        </p:spPr>
        <p:style>
          <a:lnRef idx="1">
            <a:schemeClr val="dk1"/>
          </a:lnRef>
          <a:fillRef idx="0">
            <a:schemeClr val="dk1"/>
          </a:fillRef>
          <a:effectRef idx="0">
            <a:schemeClr val="dk1"/>
          </a:effectRef>
          <a:fontRef idx="minor">
            <a:schemeClr val="tx1"/>
          </a:fontRef>
        </p:style>
      </p:cxnSp>
      <p:sp>
        <p:nvSpPr>
          <p:cNvPr id="9" name="Textfeld 8">
            <a:extLst>
              <a:ext uri="{FF2B5EF4-FFF2-40B4-BE49-F238E27FC236}">
                <a16:creationId xmlns:a16="http://schemas.microsoft.com/office/drawing/2014/main" id="{C15D44BC-D210-4C73-A72F-0D474485598A}"/>
              </a:ext>
            </a:extLst>
          </p:cNvPr>
          <p:cNvSpPr txBox="1"/>
          <p:nvPr/>
        </p:nvSpPr>
        <p:spPr>
          <a:xfrm>
            <a:off x="3930480" y="3845940"/>
            <a:ext cx="1679488" cy="646331"/>
          </a:xfrm>
          <a:prstGeom prst="rect">
            <a:avLst/>
          </a:prstGeom>
          <a:noFill/>
        </p:spPr>
        <p:txBody>
          <a:bodyPr wrap="square" rtlCol="0">
            <a:spAutoFit/>
          </a:bodyPr>
          <a:lstStyle/>
          <a:p>
            <a:pPr algn="ctr"/>
            <a:r>
              <a:rPr lang="de-DE" b="1" dirty="0">
                <a:solidFill>
                  <a:srgbClr val="00B0F0"/>
                </a:solidFill>
              </a:rPr>
              <a:t>AVE - experimental</a:t>
            </a:r>
          </a:p>
        </p:txBody>
      </p:sp>
      <p:sp>
        <p:nvSpPr>
          <p:cNvPr id="21" name="Textfeld 20">
            <a:extLst>
              <a:ext uri="{FF2B5EF4-FFF2-40B4-BE49-F238E27FC236}">
                <a16:creationId xmlns:a16="http://schemas.microsoft.com/office/drawing/2014/main" id="{4E5D78BC-3B3E-47FD-88E5-0E070CADB8B9}"/>
              </a:ext>
            </a:extLst>
          </p:cNvPr>
          <p:cNvSpPr txBox="1"/>
          <p:nvPr/>
        </p:nvSpPr>
        <p:spPr bwMode="auto">
          <a:xfrm>
            <a:off x="6791069" y="3866974"/>
            <a:ext cx="1569306" cy="646331"/>
          </a:xfrm>
          <a:prstGeom prst="rect">
            <a:avLst/>
          </a:prstGeom>
          <a:noFill/>
        </p:spPr>
        <p:txBody>
          <a:bodyPr wrap="square" rtlCol="0">
            <a:spAutoFit/>
          </a:bodyPr>
          <a:lstStyle/>
          <a:p>
            <a:pPr algn="ctr"/>
            <a:r>
              <a:rPr lang="de-DE" dirty="0"/>
              <a:t>CAVE - experimental</a:t>
            </a:r>
          </a:p>
        </p:txBody>
      </p:sp>
      <p:sp>
        <p:nvSpPr>
          <p:cNvPr id="22" name="Textfeld 21">
            <a:extLst>
              <a:ext uri="{FF2B5EF4-FFF2-40B4-BE49-F238E27FC236}">
                <a16:creationId xmlns:a16="http://schemas.microsoft.com/office/drawing/2014/main" id="{72050345-37D9-4B09-AC8C-1DB73962228C}"/>
              </a:ext>
            </a:extLst>
          </p:cNvPr>
          <p:cNvSpPr txBox="1"/>
          <p:nvPr/>
        </p:nvSpPr>
        <p:spPr bwMode="auto">
          <a:xfrm>
            <a:off x="3942783" y="5146669"/>
            <a:ext cx="1569306" cy="646331"/>
          </a:xfrm>
          <a:prstGeom prst="rect">
            <a:avLst/>
          </a:prstGeom>
          <a:noFill/>
        </p:spPr>
        <p:txBody>
          <a:bodyPr wrap="square" rtlCol="0">
            <a:spAutoFit/>
          </a:bodyPr>
          <a:lstStyle/>
          <a:p>
            <a:pPr algn="ctr"/>
            <a:r>
              <a:rPr lang="de-DE" dirty="0"/>
              <a:t>AVE - </a:t>
            </a:r>
            <a:r>
              <a:rPr lang="de-DE" dirty="0" err="1"/>
              <a:t>observed</a:t>
            </a:r>
            <a:endParaRPr lang="de-DE" dirty="0"/>
          </a:p>
        </p:txBody>
      </p:sp>
      <p:sp>
        <p:nvSpPr>
          <p:cNvPr id="23" name="Textfeld 22">
            <a:extLst>
              <a:ext uri="{FF2B5EF4-FFF2-40B4-BE49-F238E27FC236}">
                <a16:creationId xmlns:a16="http://schemas.microsoft.com/office/drawing/2014/main" id="{12464413-5E09-4070-BC13-11CE31101274}"/>
              </a:ext>
            </a:extLst>
          </p:cNvPr>
          <p:cNvSpPr txBox="1"/>
          <p:nvPr/>
        </p:nvSpPr>
        <p:spPr bwMode="auto">
          <a:xfrm>
            <a:off x="6819958" y="5146669"/>
            <a:ext cx="1569306" cy="646331"/>
          </a:xfrm>
          <a:prstGeom prst="rect">
            <a:avLst/>
          </a:prstGeom>
          <a:noFill/>
        </p:spPr>
        <p:txBody>
          <a:bodyPr wrap="square" rtlCol="0">
            <a:spAutoFit/>
          </a:bodyPr>
          <a:lstStyle/>
          <a:p>
            <a:pPr algn="ctr"/>
            <a:r>
              <a:rPr lang="de-DE" dirty="0"/>
              <a:t>CAVE - </a:t>
            </a:r>
            <a:r>
              <a:rPr lang="de-DE" dirty="0" err="1"/>
              <a:t>observed</a:t>
            </a:r>
            <a:endParaRPr lang="de-DE" dirty="0"/>
          </a:p>
        </p:txBody>
      </p:sp>
      <p:sp>
        <p:nvSpPr>
          <p:cNvPr id="30" name="Textfeld 29">
            <a:extLst>
              <a:ext uri="{FF2B5EF4-FFF2-40B4-BE49-F238E27FC236}">
                <a16:creationId xmlns:a16="http://schemas.microsoft.com/office/drawing/2014/main" id="{CC971DB3-0743-49B8-A0CC-1D809587FB32}"/>
              </a:ext>
            </a:extLst>
          </p:cNvPr>
          <p:cNvSpPr txBox="1"/>
          <p:nvPr/>
        </p:nvSpPr>
        <p:spPr bwMode="auto">
          <a:xfrm>
            <a:off x="6156354" y="722753"/>
            <a:ext cx="5798180" cy="2031325"/>
          </a:xfrm>
          <a:prstGeom prst="rect">
            <a:avLst/>
          </a:prstGeom>
          <a:noFill/>
        </p:spPr>
        <p:txBody>
          <a:bodyPr wrap="square" rtlCol="0">
            <a:spAutoFit/>
          </a:bodyPr>
          <a:lstStyle/>
          <a:p>
            <a:r>
              <a:rPr lang="de-DE" b="1" dirty="0" err="1">
                <a:solidFill>
                  <a:srgbClr val="00B0F0"/>
                </a:solidFill>
              </a:rPr>
              <a:t>Causal</a:t>
            </a:r>
            <a:r>
              <a:rPr lang="de-DE" b="1" dirty="0">
                <a:solidFill>
                  <a:srgbClr val="00B0F0"/>
                </a:solidFill>
              </a:rPr>
              <a:t> </a:t>
            </a:r>
            <a:r>
              <a:rPr lang="de-DE" b="1" dirty="0" err="1">
                <a:solidFill>
                  <a:srgbClr val="00B0F0"/>
                </a:solidFill>
              </a:rPr>
              <a:t>sufficiency</a:t>
            </a:r>
            <a:r>
              <a:rPr lang="de-DE" b="1" dirty="0">
                <a:solidFill>
                  <a:srgbClr val="00B0F0"/>
                </a:solidFill>
              </a:rPr>
              <a:t> </a:t>
            </a:r>
            <a:r>
              <a:rPr lang="de-DE" b="1" dirty="0" err="1">
                <a:solidFill>
                  <a:srgbClr val="00B0F0"/>
                </a:solidFill>
              </a:rPr>
              <a:t>provided</a:t>
            </a:r>
            <a:r>
              <a:rPr lang="de-DE" b="1" dirty="0">
                <a:solidFill>
                  <a:srgbClr val="00B0F0"/>
                </a:solidFill>
              </a:rPr>
              <a:t> -&gt; Bias</a:t>
            </a:r>
            <a:r>
              <a:rPr lang="de-DE" dirty="0">
                <a:solidFill>
                  <a:srgbClr val="00B0F0"/>
                </a:solidFill>
              </a:rPr>
              <a:t> </a:t>
            </a:r>
            <a:r>
              <a:rPr lang="de-DE" dirty="0" err="1">
                <a:solidFill>
                  <a:srgbClr val="00B0F0"/>
                </a:solidFill>
              </a:rPr>
              <a:t>of</a:t>
            </a:r>
            <a:r>
              <a:rPr lang="de-DE" dirty="0">
                <a:solidFill>
                  <a:srgbClr val="00B0F0"/>
                </a:solidFill>
              </a:rPr>
              <a:t> </a:t>
            </a:r>
            <a:r>
              <a:rPr lang="de-DE" dirty="0" err="1">
                <a:solidFill>
                  <a:srgbClr val="00B0F0"/>
                </a:solidFill>
              </a:rPr>
              <a:t>the</a:t>
            </a:r>
            <a:r>
              <a:rPr lang="de-DE" dirty="0">
                <a:solidFill>
                  <a:srgbClr val="00B0F0"/>
                </a:solidFill>
              </a:rPr>
              <a:t> </a:t>
            </a:r>
            <a:r>
              <a:rPr lang="de-DE" dirty="0" err="1">
                <a:solidFill>
                  <a:srgbClr val="00B0F0"/>
                </a:solidFill>
              </a:rPr>
              <a:t>estimator</a:t>
            </a:r>
            <a:r>
              <a:rPr lang="de-DE" dirty="0">
                <a:solidFill>
                  <a:srgbClr val="00B0F0"/>
                </a:solidFill>
              </a:rPr>
              <a:t> (i.e., </a:t>
            </a:r>
            <a:r>
              <a:rPr lang="de-DE" dirty="0" err="1">
                <a:solidFill>
                  <a:srgbClr val="00B0F0"/>
                </a:solidFill>
              </a:rPr>
              <a:t>finding</a:t>
            </a:r>
            <a:r>
              <a:rPr lang="de-DE" dirty="0">
                <a:solidFill>
                  <a:srgbClr val="00B0F0"/>
                </a:solidFill>
              </a:rPr>
              <a:t> </a:t>
            </a:r>
            <a:r>
              <a:rPr lang="de-DE" dirty="0" err="1">
                <a:solidFill>
                  <a:srgbClr val="00B0F0"/>
                </a:solidFill>
              </a:rPr>
              <a:t>the</a:t>
            </a:r>
            <a:r>
              <a:rPr lang="de-DE" dirty="0">
                <a:solidFill>
                  <a:srgbClr val="00B0F0"/>
                </a:solidFill>
              </a:rPr>
              <a:t> „</a:t>
            </a:r>
            <a:r>
              <a:rPr lang="de-DE" dirty="0" err="1">
                <a:solidFill>
                  <a:srgbClr val="00B0F0"/>
                </a:solidFill>
              </a:rPr>
              <a:t>correct</a:t>
            </a:r>
            <a:r>
              <a:rPr lang="de-DE" dirty="0">
                <a:solidFill>
                  <a:srgbClr val="00B0F0"/>
                </a:solidFill>
              </a:rPr>
              <a:t>“ </a:t>
            </a:r>
            <a:r>
              <a:rPr lang="de-DE" dirty="0" err="1">
                <a:solidFill>
                  <a:srgbClr val="00B0F0"/>
                </a:solidFill>
              </a:rPr>
              <a:t>causal</a:t>
            </a:r>
            <a:r>
              <a:rPr lang="de-DE" dirty="0">
                <a:solidFill>
                  <a:srgbClr val="00B0F0"/>
                </a:solidFill>
              </a:rPr>
              <a:t> </a:t>
            </a:r>
            <a:r>
              <a:rPr lang="de-DE" dirty="0" err="1">
                <a:solidFill>
                  <a:srgbClr val="00B0F0"/>
                </a:solidFill>
              </a:rPr>
              <a:t>estimate</a:t>
            </a:r>
            <a:r>
              <a:rPr lang="de-DE" dirty="0">
                <a:solidFill>
                  <a:srgbClr val="00B0F0"/>
                </a:solidFill>
              </a:rPr>
              <a:t>):</a:t>
            </a:r>
          </a:p>
          <a:p>
            <a:r>
              <a:rPr lang="de-DE" b="1" dirty="0" err="1">
                <a:solidFill>
                  <a:srgbClr val="00B0F0"/>
                </a:solidFill>
              </a:rPr>
              <a:t>No</a:t>
            </a:r>
            <a:r>
              <a:rPr lang="de-DE" b="1" dirty="0">
                <a:solidFill>
                  <a:srgbClr val="00B0F0"/>
                </a:solidFill>
              </a:rPr>
              <a:t> </a:t>
            </a:r>
            <a:r>
              <a:rPr lang="de-DE" b="1" dirty="0" err="1">
                <a:solidFill>
                  <a:srgbClr val="00B0F0"/>
                </a:solidFill>
              </a:rPr>
              <a:t>advantage</a:t>
            </a:r>
            <a:endParaRPr lang="de-DE" b="1" dirty="0">
              <a:solidFill>
                <a:srgbClr val="00B0F0"/>
              </a:solidFill>
            </a:endParaRPr>
          </a:p>
          <a:p>
            <a:endParaRPr lang="de-DE" b="1" dirty="0">
              <a:solidFill>
                <a:srgbClr val="00B0F0"/>
              </a:solidFill>
            </a:endParaRPr>
          </a:p>
          <a:p>
            <a:endParaRPr lang="de-DE" b="1" dirty="0">
              <a:solidFill>
                <a:srgbClr val="00B0F0"/>
              </a:solidFill>
            </a:endParaRPr>
          </a:p>
          <a:p>
            <a:r>
              <a:rPr lang="de-DE" b="1" dirty="0" err="1">
                <a:solidFill>
                  <a:srgbClr val="00B0F0"/>
                </a:solidFill>
              </a:rPr>
              <a:t>Correct</a:t>
            </a:r>
            <a:r>
              <a:rPr lang="de-DE" b="1" dirty="0">
                <a:solidFill>
                  <a:srgbClr val="00B0F0"/>
                </a:solidFill>
              </a:rPr>
              <a:t> </a:t>
            </a:r>
            <a:r>
              <a:rPr lang="de-DE" b="1" dirty="0" err="1">
                <a:solidFill>
                  <a:srgbClr val="00B0F0"/>
                </a:solidFill>
              </a:rPr>
              <a:t>model</a:t>
            </a:r>
            <a:r>
              <a:rPr lang="de-DE" b="1" dirty="0">
                <a:solidFill>
                  <a:srgbClr val="00B0F0"/>
                </a:solidFill>
              </a:rPr>
              <a:t> </a:t>
            </a:r>
            <a:r>
              <a:rPr lang="de-DE" b="1" dirty="0" err="1">
                <a:solidFill>
                  <a:srgbClr val="00B0F0"/>
                </a:solidFill>
              </a:rPr>
              <a:t>specification</a:t>
            </a:r>
            <a:r>
              <a:rPr lang="de-DE" b="1" dirty="0">
                <a:solidFill>
                  <a:srgbClr val="00B0F0"/>
                </a:solidFill>
              </a:rPr>
              <a:t> </a:t>
            </a:r>
            <a:r>
              <a:rPr lang="de-DE" b="1" dirty="0" err="1">
                <a:solidFill>
                  <a:srgbClr val="00B0F0"/>
                </a:solidFill>
              </a:rPr>
              <a:t>provided</a:t>
            </a:r>
            <a:r>
              <a:rPr lang="de-DE" b="1" dirty="0">
                <a:solidFill>
                  <a:srgbClr val="00B0F0"/>
                </a:solidFill>
              </a:rPr>
              <a:t> -&gt; </a:t>
            </a:r>
            <a:r>
              <a:rPr lang="de-DE" b="1" dirty="0" err="1">
                <a:solidFill>
                  <a:srgbClr val="00B0F0"/>
                </a:solidFill>
              </a:rPr>
              <a:t>Variance</a:t>
            </a:r>
            <a:r>
              <a:rPr lang="de-DE" dirty="0">
                <a:solidFill>
                  <a:srgbClr val="00B0F0"/>
                </a:solidFill>
              </a:rPr>
              <a:t> </a:t>
            </a:r>
            <a:r>
              <a:rPr lang="de-DE" dirty="0" err="1">
                <a:solidFill>
                  <a:srgbClr val="00B0F0"/>
                </a:solidFill>
              </a:rPr>
              <a:t>of</a:t>
            </a:r>
            <a:r>
              <a:rPr lang="de-DE" dirty="0">
                <a:solidFill>
                  <a:srgbClr val="00B0F0"/>
                </a:solidFill>
              </a:rPr>
              <a:t> </a:t>
            </a:r>
            <a:r>
              <a:rPr lang="de-DE" dirty="0" err="1">
                <a:solidFill>
                  <a:srgbClr val="00B0F0"/>
                </a:solidFill>
              </a:rPr>
              <a:t>the</a:t>
            </a:r>
            <a:r>
              <a:rPr lang="de-DE" dirty="0">
                <a:solidFill>
                  <a:srgbClr val="00B0F0"/>
                </a:solidFill>
              </a:rPr>
              <a:t> </a:t>
            </a:r>
            <a:r>
              <a:rPr lang="de-DE" dirty="0" err="1">
                <a:solidFill>
                  <a:srgbClr val="00B0F0"/>
                </a:solidFill>
              </a:rPr>
              <a:t>estimator</a:t>
            </a:r>
            <a:r>
              <a:rPr lang="de-DE" dirty="0">
                <a:solidFill>
                  <a:srgbClr val="00B0F0"/>
                </a:solidFill>
              </a:rPr>
              <a:t>: </a:t>
            </a:r>
            <a:r>
              <a:rPr lang="de-DE" b="1" dirty="0">
                <a:solidFill>
                  <a:srgbClr val="00B0F0"/>
                </a:solidFill>
              </a:rPr>
              <a:t>Potential </a:t>
            </a:r>
            <a:r>
              <a:rPr lang="de-DE" b="1" dirty="0" err="1">
                <a:solidFill>
                  <a:srgbClr val="00B0F0"/>
                </a:solidFill>
              </a:rPr>
              <a:t>improvement</a:t>
            </a:r>
            <a:endParaRPr lang="de-DE" dirty="0">
              <a:solidFill>
                <a:srgbClr val="00B0F0"/>
              </a:solidFill>
            </a:endParaRPr>
          </a:p>
        </p:txBody>
      </p:sp>
      <p:sp>
        <p:nvSpPr>
          <p:cNvPr id="3" name="Rechteck 2">
            <a:extLst>
              <a:ext uri="{FF2B5EF4-FFF2-40B4-BE49-F238E27FC236}">
                <a16:creationId xmlns:a16="http://schemas.microsoft.com/office/drawing/2014/main" id="{548D8CA6-4F44-4AEB-BB44-374D8AFBC42F}"/>
              </a:ext>
            </a:extLst>
          </p:cNvPr>
          <p:cNvSpPr/>
          <p:nvPr/>
        </p:nvSpPr>
        <p:spPr>
          <a:xfrm>
            <a:off x="3136557" y="3429000"/>
            <a:ext cx="2959443" cy="1300726"/>
          </a:xfrm>
          <a:prstGeom prst="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4104749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 name="Rechteck 3">
            <a:extLst>
              <a:ext uri="{FF2B5EF4-FFF2-40B4-BE49-F238E27FC236}">
                <a16:creationId xmlns:a16="http://schemas.microsoft.com/office/drawing/2014/main" id="{7524DA9A-46A3-4912-BF4E-032E888E93B0}"/>
              </a:ext>
            </a:extLst>
          </p:cNvPr>
          <p:cNvSpPr/>
          <p:nvPr/>
        </p:nvSpPr>
        <p:spPr>
          <a:xfrm>
            <a:off x="119336" y="585247"/>
            <a:ext cx="11953328" cy="56166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5" name="Abgerundetes Rechteck 41">
            <a:extLst>
              <a:ext uri="{FF2B5EF4-FFF2-40B4-BE49-F238E27FC236}">
                <a16:creationId xmlns:a16="http://schemas.microsoft.com/office/drawing/2014/main" id="{5E4A08DB-2518-4869-93F0-B5CE3FDDAD5D}"/>
              </a:ext>
            </a:extLst>
          </p:cNvPr>
          <p:cNvSpPr/>
          <p:nvPr/>
        </p:nvSpPr>
        <p:spPr bwMode="auto">
          <a:xfrm>
            <a:off x="9779666" y="6211669"/>
            <a:ext cx="2114514" cy="64633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defTabSz="914400" rtl="0" eaLnBrk="1" fontAlgn="auto" latinLnBrk="0" hangingPunct="1">
              <a:lnSpc>
                <a:spcPct val="100000"/>
              </a:lnSpc>
              <a:spcBef>
                <a:spcPts val="0"/>
              </a:spcBef>
              <a:spcAft>
                <a:spcPts val="0"/>
              </a:spcAft>
              <a:buClrTx/>
              <a:buSzTx/>
              <a:tabLst/>
              <a:defRPr/>
            </a:pP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I)   </a:t>
            </a:r>
            <a:r>
              <a:rPr kumimoji="0" lang="de-CH" sz="1000" i="0" u="none" strike="noStrike" kern="1200" cap="none" spc="0" normalizeH="0" baseline="0" noProof="0" dirty="0" err="1">
                <a:ln>
                  <a:noFill/>
                </a:ln>
                <a:solidFill>
                  <a:schemeClr val="tx1"/>
                </a:solidFill>
                <a:effectLst/>
                <a:uLnTx/>
                <a:uFillTx/>
                <a:latin typeface="Arial" panose="020B0604020202020204"/>
                <a:ea typeface="+mn-ea"/>
                <a:cs typeface="+mn-cs"/>
              </a:rPr>
              <a:t>What</a:t>
            </a: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is</a:t>
            </a: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 CML</a:t>
            </a:r>
            <a:r>
              <a:rPr lang="de-CH" sz="1000" dirty="0">
                <a:solidFill>
                  <a:schemeClr val="tx1"/>
                </a:solidFill>
                <a:latin typeface="Arial" panose="020B0604020202020204"/>
              </a:rPr>
              <a:t>?</a:t>
            </a:r>
          </a:p>
          <a:p>
            <a:pPr marR="0" lvl="0" defTabSz="914400" rtl="0" eaLnBrk="1" fontAlgn="auto" latinLnBrk="0" hangingPunct="1">
              <a:lnSpc>
                <a:spcPct val="100000"/>
              </a:lnSpc>
              <a:spcBef>
                <a:spcPts val="0"/>
              </a:spcBef>
              <a:spcAft>
                <a:spcPts val="0"/>
              </a:spcAft>
              <a:buClrTx/>
              <a:buSzTx/>
              <a:tabLst/>
              <a:defRPr/>
            </a:pPr>
            <a:r>
              <a:rPr lang="de-CH" sz="1000" dirty="0">
                <a:solidFill>
                  <a:schemeClr val="tx1"/>
                </a:solidFill>
                <a:latin typeface="Arial" panose="020B0604020202020204"/>
              </a:rPr>
              <a:t>II)  </a:t>
            </a: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The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Bayesian</a:t>
            </a: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causal</a:t>
            </a: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forest</a:t>
            </a:r>
            <a:endPar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endParaRPr>
          </a:p>
          <a:p>
            <a:pPr marR="0" lvl="0" defTabSz="914400" rtl="0" eaLnBrk="1" fontAlgn="auto" latinLnBrk="0" hangingPunct="1">
              <a:lnSpc>
                <a:spcPct val="100000"/>
              </a:lnSpc>
              <a:spcBef>
                <a:spcPts val="0"/>
              </a:spcBef>
              <a:spcAft>
                <a:spcPts val="0"/>
              </a:spcAft>
              <a:buClrTx/>
              <a:buSzTx/>
              <a:tabLst/>
              <a:defRPr/>
            </a:pPr>
            <a:r>
              <a:rPr lang="de-CH" sz="1000" b="1" dirty="0">
                <a:solidFill>
                  <a:schemeClr val="tx1"/>
                </a:solidFill>
                <a:latin typeface="Arial" panose="020B0604020202020204"/>
              </a:rPr>
              <a:t>III) </a:t>
            </a:r>
            <a:r>
              <a:rPr lang="de-CH" sz="1000" b="1" i="1" dirty="0" err="1">
                <a:solidFill>
                  <a:schemeClr val="tx1"/>
                </a:solidFill>
                <a:latin typeface="Arial" panose="020B0604020202020204"/>
              </a:rPr>
              <a:t>Uniqueness</a:t>
            </a:r>
            <a:r>
              <a:rPr lang="de-CH" sz="1000" b="1" i="1" dirty="0">
                <a:solidFill>
                  <a:schemeClr val="tx1"/>
                </a:solidFill>
                <a:latin typeface="Arial" panose="020B0604020202020204"/>
              </a:rPr>
              <a:t> </a:t>
            </a:r>
            <a:r>
              <a:rPr lang="de-CH" sz="1000" b="1" dirty="0" err="1">
                <a:solidFill>
                  <a:schemeClr val="tx1"/>
                </a:solidFill>
                <a:latin typeface="Arial" panose="020B0604020202020204"/>
              </a:rPr>
              <a:t>of</a:t>
            </a:r>
            <a:r>
              <a:rPr lang="de-CH" sz="1000" b="1" dirty="0">
                <a:solidFill>
                  <a:schemeClr val="tx1"/>
                </a:solidFill>
                <a:latin typeface="Arial" panose="020B0604020202020204"/>
              </a:rPr>
              <a:t> CML</a:t>
            </a:r>
          </a:p>
          <a:p>
            <a:pPr marR="0" lvl="0" defTabSz="914400" rtl="0" eaLnBrk="1" fontAlgn="auto" latinLnBrk="0" hangingPunct="1">
              <a:lnSpc>
                <a:spcPct val="100000"/>
              </a:lnSpc>
              <a:spcBef>
                <a:spcPts val="0"/>
              </a:spcBef>
              <a:spcAft>
                <a:spcPts val="0"/>
              </a:spcAft>
              <a:buClrTx/>
              <a:buSzTx/>
              <a:tabLst/>
              <a:defRPr/>
            </a:pP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IV)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Implications</a:t>
            </a: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u="none" strike="noStrike" kern="1200" cap="none" spc="0" normalizeH="0" baseline="0" noProof="0" dirty="0" err="1">
                <a:ln>
                  <a:noFill/>
                </a:ln>
                <a:solidFill>
                  <a:schemeClr val="tx1"/>
                </a:solidFill>
                <a:effectLst/>
                <a:uLnTx/>
                <a:uFillTx/>
                <a:latin typeface="Arial" panose="020B0604020202020204"/>
                <a:ea typeface="+mn-ea"/>
                <a:cs typeface="+mn-cs"/>
              </a:rPr>
              <a:t>for</a:t>
            </a:r>
            <a:r>
              <a:rPr kumimoji="0" lang="de-CH" sz="1000"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u="none" strike="noStrike" kern="1200" cap="none" spc="0" normalizeH="0" baseline="0" noProof="0" dirty="0" err="1">
                <a:ln>
                  <a:noFill/>
                </a:ln>
                <a:solidFill>
                  <a:schemeClr val="tx1"/>
                </a:solidFill>
                <a:effectLst/>
                <a:uLnTx/>
                <a:uFillTx/>
                <a:latin typeface="Arial" panose="020B0604020202020204"/>
                <a:ea typeface="+mn-ea"/>
                <a:cs typeface="+mn-cs"/>
              </a:rPr>
              <a:t>our</a:t>
            </a:r>
            <a:r>
              <a:rPr kumimoji="0" lang="de-CH" sz="1000"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u="none" strike="noStrike" kern="1200" cap="none" spc="0" normalizeH="0" baseline="0" noProof="0" dirty="0" err="1">
                <a:ln>
                  <a:noFill/>
                </a:ln>
                <a:solidFill>
                  <a:schemeClr val="tx1"/>
                </a:solidFill>
                <a:effectLst/>
                <a:uLnTx/>
                <a:uFillTx/>
                <a:latin typeface="Arial" panose="020B0604020202020204"/>
                <a:ea typeface="+mn-ea"/>
                <a:cs typeface="+mn-cs"/>
              </a:rPr>
              <a:t>research</a:t>
            </a:r>
            <a:endParaRPr kumimoji="0" lang="de-CH" sz="1000" u="none" strike="noStrike" kern="1200" cap="none" spc="0" normalizeH="0" baseline="0" noProof="0" dirty="0">
              <a:ln>
                <a:noFill/>
              </a:ln>
              <a:solidFill>
                <a:schemeClr val="tx1"/>
              </a:solidFill>
              <a:effectLst/>
              <a:uLnTx/>
              <a:uFillTx/>
              <a:latin typeface="Arial" panose="020B0604020202020204"/>
              <a:ea typeface="+mn-ea"/>
              <a:cs typeface="+mn-cs"/>
            </a:endParaRPr>
          </a:p>
        </p:txBody>
      </p:sp>
      <p:sp>
        <p:nvSpPr>
          <p:cNvPr id="28" name="Textfeld 27">
            <a:extLst>
              <a:ext uri="{FF2B5EF4-FFF2-40B4-BE49-F238E27FC236}">
                <a16:creationId xmlns:a16="http://schemas.microsoft.com/office/drawing/2014/main" id="{D9A6E734-5255-4F5B-8A08-2E99D6E75F54}"/>
              </a:ext>
            </a:extLst>
          </p:cNvPr>
          <p:cNvSpPr txBox="1"/>
          <p:nvPr/>
        </p:nvSpPr>
        <p:spPr>
          <a:xfrm>
            <a:off x="483358" y="964826"/>
            <a:ext cx="5471159" cy="2031325"/>
          </a:xfrm>
          <a:prstGeom prst="rect">
            <a:avLst/>
          </a:prstGeom>
          <a:noFill/>
        </p:spPr>
        <p:txBody>
          <a:bodyPr wrap="square" rtlCol="0">
            <a:spAutoFit/>
          </a:bodyPr>
          <a:lstStyle/>
          <a:p>
            <a:r>
              <a:rPr lang="de-DE" i="1" dirty="0" err="1"/>
              <a:t>Causal</a:t>
            </a:r>
            <a:r>
              <a:rPr lang="de-DE" i="1" dirty="0"/>
              <a:t> </a:t>
            </a:r>
            <a:r>
              <a:rPr lang="de-DE" i="1" dirty="0" err="1"/>
              <a:t>sufficiency</a:t>
            </a:r>
            <a:r>
              <a:rPr lang="de-DE" i="1" dirty="0"/>
              <a:t>:</a:t>
            </a:r>
          </a:p>
          <a:p>
            <a:r>
              <a:rPr lang="de-DE" dirty="0" err="1"/>
              <a:t>We</a:t>
            </a:r>
            <a:r>
              <a:rPr lang="de-DE" dirty="0"/>
              <a:t> </a:t>
            </a:r>
            <a:r>
              <a:rPr lang="de-DE" dirty="0" err="1"/>
              <a:t>have</a:t>
            </a:r>
            <a:r>
              <a:rPr lang="de-DE" dirty="0"/>
              <a:t> </a:t>
            </a:r>
            <a:r>
              <a:rPr lang="de-DE" dirty="0" err="1"/>
              <a:t>measured</a:t>
            </a:r>
            <a:r>
              <a:rPr lang="de-DE" dirty="0"/>
              <a:t> </a:t>
            </a:r>
            <a:r>
              <a:rPr lang="de-DE" b="1" dirty="0"/>
              <a:t>all </a:t>
            </a:r>
            <a:r>
              <a:rPr lang="de-DE" b="1" dirty="0" err="1"/>
              <a:t>confounders</a:t>
            </a:r>
            <a:endParaRPr lang="de-DE" b="1" dirty="0"/>
          </a:p>
          <a:p>
            <a:endParaRPr lang="de-DE" dirty="0"/>
          </a:p>
          <a:p>
            <a:r>
              <a:rPr lang="de-DE" i="1" dirty="0" err="1"/>
              <a:t>Correct</a:t>
            </a:r>
            <a:r>
              <a:rPr lang="de-DE" i="1" dirty="0"/>
              <a:t> </a:t>
            </a:r>
            <a:r>
              <a:rPr lang="de-DE" i="1" dirty="0" err="1"/>
              <a:t>model</a:t>
            </a:r>
            <a:r>
              <a:rPr lang="de-DE" i="1" dirty="0"/>
              <a:t> </a:t>
            </a:r>
            <a:r>
              <a:rPr lang="de-DE" i="1" dirty="0" err="1"/>
              <a:t>specification</a:t>
            </a:r>
            <a:r>
              <a:rPr lang="de-DE" i="1" dirty="0"/>
              <a:t>:</a:t>
            </a:r>
          </a:p>
          <a:p>
            <a:r>
              <a:rPr lang="de-DE" dirty="0" err="1"/>
              <a:t>We</a:t>
            </a:r>
            <a:r>
              <a:rPr lang="de-DE" dirty="0"/>
              <a:t> </a:t>
            </a:r>
            <a:r>
              <a:rPr lang="de-DE" dirty="0" err="1"/>
              <a:t>have</a:t>
            </a:r>
            <a:r>
              <a:rPr lang="de-DE" dirty="0"/>
              <a:t> an </a:t>
            </a:r>
            <a:r>
              <a:rPr lang="de-DE" b="1" dirty="0" err="1"/>
              <a:t>appropriate</a:t>
            </a:r>
            <a:r>
              <a:rPr lang="de-DE" b="1" dirty="0"/>
              <a:t> </a:t>
            </a:r>
            <a:r>
              <a:rPr lang="de-DE" b="1" dirty="0" err="1"/>
              <a:t>parameterization</a:t>
            </a:r>
            <a:r>
              <a:rPr lang="de-DE" b="1" dirty="0"/>
              <a:t> </a:t>
            </a:r>
            <a:r>
              <a:rPr lang="de-DE" dirty="0" err="1"/>
              <a:t>of</a:t>
            </a:r>
            <a:r>
              <a:rPr lang="de-DE" dirty="0"/>
              <a:t> </a:t>
            </a:r>
            <a:r>
              <a:rPr lang="de-DE" dirty="0" err="1"/>
              <a:t>the</a:t>
            </a:r>
            <a:r>
              <a:rPr lang="de-DE" dirty="0"/>
              <a:t> </a:t>
            </a:r>
            <a:r>
              <a:rPr lang="de-DE" dirty="0" err="1"/>
              <a:t>relation</a:t>
            </a:r>
            <a:r>
              <a:rPr lang="de-DE" dirty="0"/>
              <a:t> </a:t>
            </a:r>
            <a:r>
              <a:rPr lang="de-DE" dirty="0" err="1"/>
              <a:t>of</a:t>
            </a:r>
            <a:r>
              <a:rPr lang="de-DE" dirty="0"/>
              <a:t> </a:t>
            </a:r>
            <a:r>
              <a:rPr lang="de-DE" dirty="0" err="1"/>
              <a:t>the</a:t>
            </a:r>
            <a:r>
              <a:rPr lang="de-DE" dirty="0"/>
              <a:t> </a:t>
            </a:r>
            <a:r>
              <a:rPr lang="de-DE" dirty="0" err="1"/>
              <a:t>confounders</a:t>
            </a:r>
            <a:r>
              <a:rPr lang="de-DE" dirty="0"/>
              <a:t> </a:t>
            </a:r>
            <a:r>
              <a:rPr lang="de-DE" dirty="0" err="1"/>
              <a:t>with</a:t>
            </a:r>
            <a:r>
              <a:rPr lang="de-DE" dirty="0"/>
              <a:t> </a:t>
            </a:r>
            <a:r>
              <a:rPr lang="de-DE" dirty="0" err="1"/>
              <a:t>the</a:t>
            </a:r>
            <a:r>
              <a:rPr lang="de-DE" dirty="0"/>
              <a:t> (</a:t>
            </a:r>
            <a:r>
              <a:rPr lang="de-DE" dirty="0" err="1"/>
              <a:t>propensity</a:t>
            </a:r>
            <a:r>
              <a:rPr lang="de-DE" dirty="0"/>
              <a:t> and) </a:t>
            </a:r>
            <a:r>
              <a:rPr lang="de-DE" dirty="0" err="1"/>
              <a:t>the</a:t>
            </a:r>
            <a:r>
              <a:rPr lang="de-DE" dirty="0"/>
              <a:t> </a:t>
            </a:r>
            <a:r>
              <a:rPr lang="de-DE" dirty="0" err="1"/>
              <a:t>outcome</a:t>
            </a:r>
            <a:endParaRPr lang="de-DE" dirty="0"/>
          </a:p>
        </p:txBody>
      </p:sp>
      <p:sp>
        <p:nvSpPr>
          <p:cNvPr id="2" name="Rechteck 1">
            <a:extLst>
              <a:ext uri="{FF2B5EF4-FFF2-40B4-BE49-F238E27FC236}">
                <a16:creationId xmlns:a16="http://schemas.microsoft.com/office/drawing/2014/main" id="{B8B56B3E-143B-429E-BBA7-3B7C24D44F13}"/>
              </a:ext>
            </a:extLst>
          </p:cNvPr>
          <p:cNvSpPr/>
          <p:nvPr/>
        </p:nvSpPr>
        <p:spPr>
          <a:xfrm>
            <a:off x="3136557" y="3429000"/>
            <a:ext cx="5918886" cy="26014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5" name="Gerader Verbinder 4">
            <a:extLst>
              <a:ext uri="{FF2B5EF4-FFF2-40B4-BE49-F238E27FC236}">
                <a16:creationId xmlns:a16="http://schemas.microsoft.com/office/drawing/2014/main" id="{79308DCC-D738-4103-B922-1D40259924E8}"/>
              </a:ext>
            </a:extLst>
          </p:cNvPr>
          <p:cNvCxnSpPr>
            <a:stCxn id="2" idx="0"/>
            <a:endCxn id="2" idx="2"/>
          </p:cNvCxnSpPr>
          <p:nvPr/>
        </p:nvCxnSpPr>
        <p:spPr>
          <a:xfrm>
            <a:off x="6096000" y="3429000"/>
            <a:ext cx="0" cy="2601460"/>
          </a:xfrm>
          <a:prstGeom prst="line">
            <a:avLst/>
          </a:prstGeom>
        </p:spPr>
        <p:style>
          <a:lnRef idx="1">
            <a:schemeClr val="dk1"/>
          </a:lnRef>
          <a:fillRef idx="0">
            <a:schemeClr val="dk1"/>
          </a:fillRef>
          <a:effectRef idx="0">
            <a:schemeClr val="dk1"/>
          </a:effectRef>
          <a:fontRef idx="minor">
            <a:schemeClr val="tx1"/>
          </a:fontRef>
        </p:style>
      </p:cxnSp>
      <p:cxnSp>
        <p:nvCxnSpPr>
          <p:cNvPr id="17" name="Gerader Verbinder 16">
            <a:extLst>
              <a:ext uri="{FF2B5EF4-FFF2-40B4-BE49-F238E27FC236}">
                <a16:creationId xmlns:a16="http://schemas.microsoft.com/office/drawing/2014/main" id="{6BE08DB3-EBB9-4379-BBB8-D16E8A08C98E}"/>
              </a:ext>
            </a:extLst>
          </p:cNvPr>
          <p:cNvCxnSpPr>
            <a:cxnSpLocks/>
            <a:stCxn id="2" idx="3"/>
            <a:endCxn id="2" idx="1"/>
          </p:cNvCxnSpPr>
          <p:nvPr/>
        </p:nvCxnSpPr>
        <p:spPr bwMode="auto">
          <a:xfrm flipH="1">
            <a:off x="3136557" y="4729730"/>
            <a:ext cx="5918886" cy="0"/>
          </a:xfrm>
          <a:prstGeom prst="line">
            <a:avLst/>
          </a:prstGeom>
        </p:spPr>
        <p:style>
          <a:lnRef idx="1">
            <a:schemeClr val="dk1"/>
          </a:lnRef>
          <a:fillRef idx="0">
            <a:schemeClr val="dk1"/>
          </a:fillRef>
          <a:effectRef idx="0">
            <a:schemeClr val="dk1"/>
          </a:effectRef>
          <a:fontRef idx="minor">
            <a:schemeClr val="tx1"/>
          </a:fontRef>
        </p:style>
      </p:cxnSp>
      <p:sp>
        <p:nvSpPr>
          <p:cNvPr id="9" name="Textfeld 8">
            <a:extLst>
              <a:ext uri="{FF2B5EF4-FFF2-40B4-BE49-F238E27FC236}">
                <a16:creationId xmlns:a16="http://schemas.microsoft.com/office/drawing/2014/main" id="{C15D44BC-D210-4C73-A72F-0D474485598A}"/>
              </a:ext>
            </a:extLst>
          </p:cNvPr>
          <p:cNvSpPr txBox="1"/>
          <p:nvPr/>
        </p:nvSpPr>
        <p:spPr>
          <a:xfrm>
            <a:off x="3930480" y="3845940"/>
            <a:ext cx="1679488" cy="646331"/>
          </a:xfrm>
          <a:prstGeom prst="rect">
            <a:avLst/>
          </a:prstGeom>
          <a:noFill/>
        </p:spPr>
        <p:txBody>
          <a:bodyPr wrap="square" rtlCol="0">
            <a:spAutoFit/>
          </a:bodyPr>
          <a:lstStyle/>
          <a:p>
            <a:pPr algn="ctr"/>
            <a:r>
              <a:rPr lang="de-DE" dirty="0"/>
              <a:t>AVE - experimental</a:t>
            </a:r>
          </a:p>
        </p:txBody>
      </p:sp>
      <p:sp>
        <p:nvSpPr>
          <p:cNvPr id="21" name="Textfeld 20">
            <a:extLst>
              <a:ext uri="{FF2B5EF4-FFF2-40B4-BE49-F238E27FC236}">
                <a16:creationId xmlns:a16="http://schemas.microsoft.com/office/drawing/2014/main" id="{4E5D78BC-3B3E-47FD-88E5-0E070CADB8B9}"/>
              </a:ext>
            </a:extLst>
          </p:cNvPr>
          <p:cNvSpPr txBox="1"/>
          <p:nvPr/>
        </p:nvSpPr>
        <p:spPr bwMode="auto">
          <a:xfrm>
            <a:off x="6679912" y="3866974"/>
            <a:ext cx="1680463" cy="646331"/>
          </a:xfrm>
          <a:prstGeom prst="rect">
            <a:avLst/>
          </a:prstGeom>
          <a:noFill/>
        </p:spPr>
        <p:txBody>
          <a:bodyPr wrap="square" rtlCol="0">
            <a:spAutoFit/>
          </a:bodyPr>
          <a:lstStyle/>
          <a:p>
            <a:pPr algn="ctr"/>
            <a:r>
              <a:rPr lang="de-DE" b="1" dirty="0">
                <a:solidFill>
                  <a:srgbClr val="00B0F0"/>
                </a:solidFill>
              </a:rPr>
              <a:t>CAVE - experimental</a:t>
            </a:r>
          </a:p>
        </p:txBody>
      </p:sp>
      <p:sp>
        <p:nvSpPr>
          <p:cNvPr id="22" name="Textfeld 21">
            <a:extLst>
              <a:ext uri="{FF2B5EF4-FFF2-40B4-BE49-F238E27FC236}">
                <a16:creationId xmlns:a16="http://schemas.microsoft.com/office/drawing/2014/main" id="{72050345-37D9-4B09-AC8C-1DB73962228C}"/>
              </a:ext>
            </a:extLst>
          </p:cNvPr>
          <p:cNvSpPr txBox="1"/>
          <p:nvPr/>
        </p:nvSpPr>
        <p:spPr bwMode="auto">
          <a:xfrm>
            <a:off x="3942783" y="5146669"/>
            <a:ext cx="1569306" cy="646331"/>
          </a:xfrm>
          <a:prstGeom prst="rect">
            <a:avLst/>
          </a:prstGeom>
          <a:noFill/>
        </p:spPr>
        <p:txBody>
          <a:bodyPr wrap="square" rtlCol="0">
            <a:spAutoFit/>
          </a:bodyPr>
          <a:lstStyle/>
          <a:p>
            <a:pPr algn="ctr"/>
            <a:r>
              <a:rPr lang="de-DE" dirty="0"/>
              <a:t>AVE - </a:t>
            </a:r>
            <a:r>
              <a:rPr lang="de-DE" dirty="0" err="1"/>
              <a:t>observed</a:t>
            </a:r>
            <a:endParaRPr lang="de-DE" dirty="0"/>
          </a:p>
        </p:txBody>
      </p:sp>
      <p:sp>
        <p:nvSpPr>
          <p:cNvPr id="23" name="Textfeld 22">
            <a:extLst>
              <a:ext uri="{FF2B5EF4-FFF2-40B4-BE49-F238E27FC236}">
                <a16:creationId xmlns:a16="http://schemas.microsoft.com/office/drawing/2014/main" id="{12464413-5E09-4070-BC13-11CE31101274}"/>
              </a:ext>
            </a:extLst>
          </p:cNvPr>
          <p:cNvSpPr txBox="1"/>
          <p:nvPr/>
        </p:nvSpPr>
        <p:spPr bwMode="auto">
          <a:xfrm>
            <a:off x="6819958" y="5146669"/>
            <a:ext cx="1569306" cy="646331"/>
          </a:xfrm>
          <a:prstGeom prst="rect">
            <a:avLst/>
          </a:prstGeom>
          <a:noFill/>
        </p:spPr>
        <p:txBody>
          <a:bodyPr wrap="square" rtlCol="0">
            <a:spAutoFit/>
          </a:bodyPr>
          <a:lstStyle/>
          <a:p>
            <a:pPr algn="ctr"/>
            <a:r>
              <a:rPr lang="de-DE" dirty="0"/>
              <a:t>CAVE - </a:t>
            </a:r>
            <a:r>
              <a:rPr lang="de-DE" dirty="0" err="1"/>
              <a:t>observed</a:t>
            </a:r>
            <a:endParaRPr lang="de-DE" dirty="0"/>
          </a:p>
        </p:txBody>
      </p:sp>
      <p:sp>
        <p:nvSpPr>
          <p:cNvPr id="30" name="Textfeld 29">
            <a:extLst>
              <a:ext uri="{FF2B5EF4-FFF2-40B4-BE49-F238E27FC236}">
                <a16:creationId xmlns:a16="http://schemas.microsoft.com/office/drawing/2014/main" id="{CC971DB3-0743-49B8-A0CC-1D809587FB32}"/>
              </a:ext>
            </a:extLst>
          </p:cNvPr>
          <p:cNvSpPr txBox="1"/>
          <p:nvPr/>
        </p:nvSpPr>
        <p:spPr bwMode="auto">
          <a:xfrm>
            <a:off x="6152662" y="827538"/>
            <a:ext cx="5798180" cy="1477328"/>
          </a:xfrm>
          <a:prstGeom prst="rect">
            <a:avLst/>
          </a:prstGeom>
          <a:noFill/>
        </p:spPr>
        <p:txBody>
          <a:bodyPr wrap="square" rtlCol="0">
            <a:spAutoFit/>
          </a:bodyPr>
          <a:lstStyle/>
          <a:p>
            <a:r>
              <a:rPr lang="de-DE" b="1" dirty="0" err="1">
                <a:solidFill>
                  <a:srgbClr val="00B0F0"/>
                </a:solidFill>
              </a:rPr>
              <a:t>Causal</a:t>
            </a:r>
            <a:r>
              <a:rPr lang="de-DE" b="1" dirty="0">
                <a:solidFill>
                  <a:srgbClr val="00B0F0"/>
                </a:solidFill>
              </a:rPr>
              <a:t> </a:t>
            </a:r>
            <a:r>
              <a:rPr lang="de-DE" b="1" dirty="0" err="1">
                <a:solidFill>
                  <a:srgbClr val="00B0F0"/>
                </a:solidFill>
              </a:rPr>
              <a:t>sufficiency</a:t>
            </a:r>
            <a:r>
              <a:rPr lang="de-DE" b="1" dirty="0">
                <a:solidFill>
                  <a:srgbClr val="00B0F0"/>
                </a:solidFill>
              </a:rPr>
              <a:t> </a:t>
            </a:r>
            <a:r>
              <a:rPr lang="de-DE" b="1" dirty="0" err="1">
                <a:solidFill>
                  <a:srgbClr val="00B0F0"/>
                </a:solidFill>
              </a:rPr>
              <a:t>provided</a:t>
            </a:r>
            <a:r>
              <a:rPr lang="de-DE" b="1" dirty="0">
                <a:solidFill>
                  <a:srgbClr val="00B0F0"/>
                </a:solidFill>
              </a:rPr>
              <a:t> -&gt; Bias</a:t>
            </a:r>
            <a:r>
              <a:rPr lang="de-DE" dirty="0">
                <a:solidFill>
                  <a:srgbClr val="00B0F0"/>
                </a:solidFill>
              </a:rPr>
              <a:t> </a:t>
            </a:r>
            <a:r>
              <a:rPr lang="de-DE" dirty="0" err="1">
                <a:solidFill>
                  <a:srgbClr val="00B0F0"/>
                </a:solidFill>
              </a:rPr>
              <a:t>of</a:t>
            </a:r>
            <a:r>
              <a:rPr lang="de-DE" dirty="0">
                <a:solidFill>
                  <a:srgbClr val="00B0F0"/>
                </a:solidFill>
              </a:rPr>
              <a:t> </a:t>
            </a:r>
            <a:r>
              <a:rPr lang="de-DE" dirty="0" err="1">
                <a:solidFill>
                  <a:srgbClr val="00B0F0"/>
                </a:solidFill>
              </a:rPr>
              <a:t>the</a:t>
            </a:r>
            <a:r>
              <a:rPr lang="de-DE" dirty="0">
                <a:solidFill>
                  <a:srgbClr val="00B0F0"/>
                </a:solidFill>
              </a:rPr>
              <a:t> </a:t>
            </a:r>
            <a:r>
              <a:rPr lang="de-DE" dirty="0" err="1">
                <a:solidFill>
                  <a:srgbClr val="00B0F0"/>
                </a:solidFill>
              </a:rPr>
              <a:t>estimator</a:t>
            </a:r>
            <a:r>
              <a:rPr lang="de-DE" dirty="0">
                <a:solidFill>
                  <a:srgbClr val="00B0F0"/>
                </a:solidFill>
              </a:rPr>
              <a:t>:</a:t>
            </a:r>
          </a:p>
          <a:p>
            <a:r>
              <a:rPr lang="de-DE" b="1" dirty="0" err="1">
                <a:solidFill>
                  <a:srgbClr val="00B0F0"/>
                </a:solidFill>
              </a:rPr>
              <a:t>No</a:t>
            </a:r>
            <a:r>
              <a:rPr lang="de-DE" b="1" dirty="0">
                <a:solidFill>
                  <a:srgbClr val="00B0F0"/>
                </a:solidFill>
              </a:rPr>
              <a:t> </a:t>
            </a:r>
            <a:r>
              <a:rPr lang="de-DE" b="1" dirty="0" err="1">
                <a:solidFill>
                  <a:srgbClr val="00B0F0"/>
                </a:solidFill>
              </a:rPr>
              <a:t>advantage</a:t>
            </a:r>
            <a:endParaRPr lang="de-DE" b="1" dirty="0">
              <a:solidFill>
                <a:srgbClr val="00B0F0"/>
              </a:solidFill>
            </a:endParaRPr>
          </a:p>
          <a:p>
            <a:endParaRPr lang="de-DE" b="1" dirty="0">
              <a:solidFill>
                <a:srgbClr val="00B0F0"/>
              </a:solidFill>
            </a:endParaRPr>
          </a:p>
          <a:p>
            <a:endParaRPr lang="de-DE" b="1" dirty="0">
              <a:solidFill>
                <a:srgbClr val="00B0F0"/>
              </a:solidFill>
            </a:endParaRPr>
          </a:p>
          <a:p>
            <a:r>
              <a:rPr lang="de-DE" b="1" dirty="0" err="1">
                <a:solidFill>
                  <a:srgbClr val="00B0F0"/>
                </a:solidFill>
              </a:rPr>
              <a:t>Correct</a:t>
            </a:r>
            <a:r>
              <a:rPr lang="de-DE" b="1" dirty="0">
                <a:solidFill>
                  <a:srgbClr val="00B0F0"/>
                </a:solidFill>
              </a:rPr>
              <a:t> </a:t>
            </a:r>
            <a:r>
              <a:rPr lang="de-DE" b="1" dirty="0" err="1">
                <a:solidFill>
                  <a:srgbClr val="00B0F0"/>
                </a:solidFill>
              </a:rPr>
              <a:t>model</a:t>
            </a:r>
            <a:r>
              <a:rPr lang="de-DE" b="1" dirty="0">
                <a:solidFill>
                  <a:srgbClr val="00B0F0"/>
                </a:solidFill>
              </a:rPr>
              <a:t> </a:t>
            </a:r>
            <a:r>
              <a:rPr lang="de-DE" b="1" dirty="0" err="1">
                <a:solidFill>
                  <a:srgbClr val="00B0F0"/>
                </a:solidFill>
              </a:rPr>
              <a:t>specification</a:t>
            </a:r>
            <a:r>
              <a:rPr lang="de-DE" b="1" dirty="0">
                <a:solidFill>
                  <a:srgbClr val="00B0F0"/>
                </a:solidFill>
              </a:rPr>
              <a:t>: Strong ML-advantage</a:t>
            </a:r>
            <a:endParaRPr lang="de-DE" dirty="0">
              <a:solidFill>
                <a:srgbClr val="00B0F0"/>
              </a:solidFill>
            </a:endParaRPr>
          </a:p>
        </p:txBody>
      </p:sp>
      <p:sp>
        <p:nvSpPr>
          <p:cNvPr id="3" name="Rechteck 2">
            <a:extLst>
              <a:ext uri="{FF2B5EF4-FFF2-40B4-BE49-F238E27FC236}">
                <a16:creationId xmlns:a16="http://schemas.microsoft.com/office/drawing/2014/main" id="{548D8CA6-4F44-4AEB-BB44-374D8AFBC42F}"/>
              </a:ext>
            </a:extLst>
          </p:cNvPr>
          <p:cNvSpPr/>
          <p:nvPr/>
        </p:nvSpPr>
        <p:spPr>
          <a:xfrm>
            <a:off x="6096000" y="3429000"/>
            <a:ext cx="2959443" cy="1300726"/>
          </a:xfrm>
          <a:prstGeom prst="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4" name="Picture 8" descr="Jogger erschreckt Pferd – wer ist schuld? – FIT for LIFE">
            <a:extLst>
              <a:ext uri="{FF2B5EF4-FFF2-40B4-BE49-F238E27FC236}">
                <a16:creationId xmlns:a16="http://schemas.microsoft.com/office/drawing/2014/main" id="{495C02AC-BAF6-49D5-B81E-5081E697128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610" r="37230" b="5684"/>
          <a:stretch/>
        </p:blipFill>
        <p:spPr bwMode="auto">
          <a:xfrm>
            <a:off x="9407952" y="3083355"/>
            <a:ext cx="882828" cy="1317098"/>
          </a:xfrm>
          <a:prstGeom prst="rect">
            <a:avLst/>
          </a:prstGeom>
          <a:noFill/>
          <a:extLst>
            <a:ext uri="{909E8E84-426E-40DD-AFC4-6F175D3DCCD1}">
              <a14:hiddenFill xmlns:a14="http://schemas.microsoft.com/office/drawing/2010/main">
                <a:solidFill>
                  <a:srgbClr val="FFFFFF"/>
                </a:solidFill>
              </a14:hiddenFill>
            </a:ext>
          </a:extLst>
        </p:spPr>
      </p:pic>
      <p:sp>
        <p:nvSpPr>
          <p:cNvPr id="16" name="Titel 1">
            <a:extLst>
              <a:ext uri="{FF2B5EF4-FFF2-40B4-BE49-F238E27FC236}">
                <a16:creationId xmlns:a16="http://schemas.microsoft.com/office/drawing/2014/main" id="{E8C4F01B-2ECD-4642-B9E9-33ED398EC5CB}"/>
              </a:ext>
            </a:extLst>
          </p:cNvPr>
          <p:cNvSpPr txBox="1">
            <a:spLocks/>
          </p:cNvSpPr>
          <p:nvPr/>
        </p:nvSpPr>
        <p:spPr bwMode="auto">
          <a:xfrm>
            <a:off x="10497037" y="3178024"/>
            <a:ext cx="1369369" cy="56309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de-AT" sz="1000" i="1" dirty="0">
                <a:latin typeface="Arial" panose="020B0604020202020204" pitchFamily="34" charset="0"/>
                <a:cs typeface="Arial" panose="020B0604020202020204" pitchFamily="34" charset="0"/>
              </a:rPr>
              <a:t>but </a:t>
            </a:r>
            <a:r>
              <a:rPr lang="de-AT" sz="1000" i="1" dirty="0" err="1">
                <a:latin typeface="Arial" panose="020B0604020202020204" pitchFamily="34" charset="0"/>
                <a:cs typeface="Arial" panose="020B0604020202020204" pitchFamily="34" charset="0"/>
              </a:rPr>
              <a:t>don`t</a:t>
            </a:r>
            <a:r>
              <a:rPr lang="de-AT" sz="1000" i="1" dirty="0">
                <a:latin typeface="Arial" panose="020B0604020202020204" pitchFamily="34" charset="0"/>
                <a:cs typeface="Arial" panose="020B0604020202020204" pitchFamily="34" charset="0"/>
              </a:rPr>
              <a:t> </a:t>
            </a:r>
            <a:r>
              <a:rPr lang="de-AT" sz="1000" i="1" dirty="0" err="1">
                <a:latin typeface="Arial" panose="020B0604020202020204" pitchFamily="34" charset="0"/>
                <a:cs typeface="Arial" panose="020B0604020202020204" pitchFamily="34" charset="0"/>
              </a:rPr>
              <a:t>forget</a:t>
            </a:r>
            <a:r>
              <a:rPr lang="de-AT" sz="1000" i="1" dirty="0">
                <a:latin typeface="Arial" panose="020B0604020202020204" pitchFamily="34" charset="0"/>
                <a:cs typeface="Arial" panose="020B0604020202020204" pitchFamily="34" charset="0"/>
              </a:rPr>
              <a:t> </a:t>
            </a:r>
            <a:r>
              <a:rPr lang="de-AT" sz="1000" i="1" dirty="0" err="1">
                <a:latin typeface="Arial" panose="020B0604020202020204" pitchFamily="34" charset="0"/>
                <a:cs typeface="Arial" panose="020B0604020202020204" pitchFamily="34" charset="0"/>
              </a:rPr>
              <a:t>about</a:t>
            </a:r>
            <a:r>
              <a:rPr lang="de-AT" sz="1000" i="1" dirty="0">
                <a:latin typeface="Arial" panose="020B0604020202020204" pitchFamily="34" charset="0"/>
                <a:cs typeface="Arial" panose="020B0604020202020204" pitchFamily="34" charset="0"/>
              </a:rPr>
              <a:t> </a:t>
            </a:r>
            <a:r>
              <a:rPr lang="de-AT" sz="1000" b="1" i="1" dirty="0" err="1">
                <a:latin typeface="Arial" panose="020B0604020202020204" pitchFamily="34" charset="0"/>
                <a:cs typeface="Arial" panose="020B0604020202020204" pitchFamily="34" charset="0"/>
              </a:rPr>
              <a:t>causal</a:t>
            </a:r>
            <a:r>
              <a:rPr lang="de-AT" sz="1000" b="1" i="1" dirty="0">
                <a:latin typeface="Arial" panose="020B0604020202020204" pitchFamily="34" charset="0"/>
                <a:cs typeface="Arial" panose="020B0604020202020204" pitchFamily="34" charset="0"/>
              </a:rPr>
              <a:t> </a:t>
            </a:r>
            <a:r>
              <a:rPr lang="de-AT" sz="1000" b="1" i="1" dirty="0" err="1">
                <a:latin typeface="Arial" panose="020B0604020202020204" pitchFamily="34" charset="0"/>
                <a:cs typeface="Arial" panose="020B0604020202020204" pitchFamily="34" charset="0"/>
              </a:rPr>
              <a:t>moderation</a:t>
            </a:r>
            <a:r>
              <a:rPr lang="de-AT" sz="1000" i="1" dirty="0">
                <a:latin typeface="Arial" panose="020B0604020202020204" pitchFamily="34" charset="0"/>
                <a:cs typeface="Arial" panose="020B0604020202020204" pitchFamily="34" charset="0"/>
              </a:rPr>
              <a:t>!</a:t>
            </a:r>
          </a:p>
        </p:txBody>
      </p:sp>
      <p:sp>
        <p:nvSpPr>
          <p:cNvPr id="18" name="Sprechblase: oval 17">
            <a:extLst>
              <a:ext uri="{FF2B5EF4-FFF2-40B4-BE49-F238E27FC236}">
                <a16:creationId xmlns:a16="http://schemas.microsoft.com/office/drawing/2014/main" id="{FE0AE378-8BED-4AFB-A467-EF751016B53B}"/>
              </a:ext>
            </a:extLst>
          </p:cNvPr>
          <p:cNvSpPr/>
          <p:nvPr/>
        </p:nvSpPr>
        <p:spPr bwMode="auto">
          <a:xfrm>
            <a:off x="10432517" y="3178024"/>
            <a:ext cx="1522017" cy="563093"/>
          </a:xfrm>
          <a:prstGeom prst="wedgeEllipseCallout">
            <a:avLst>
              <a:gd name="adj1" fmla="val -55063"/>
              <a:gd name="adj2" fmla="val 65688"/>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800">
              <a:solidFill>
                <a:schemeClr val="tx1"/>
              </a:solidFill>
            </a:endParaRPr>
          </a:p>
        </p:txBody>
      </p:sp>
      <p:sp>
        <p:nvSpPr>
          <p:cNvPr id="19" name="Textfeld 18">
            <a:extLst>
              <a:ext uri="{FF2B5EF4-FFF2-40B4-BE49-F238E27FC236}">
                <a16:creationId xmlns:a16="http://schemas.microsoft.com/office/drawing/2014/main" id="{E281EA59-A1E8-4B37-9B05-ED5D386A0B47}"/>
              </a:ext>
            </a:extLst>
          </p:cNvPr>
          <p:cNvSpPr txBox="1"/>
          <p:nvPr/>
        </p:nvSpPr>
        <p:spPr bwMode="auto">
          <a:xfrm>
            <a:off x="9277532" y="4460515"/>
            <a:ext cx="2917826" cy="1200329"/>
          </a:xfrm>
          <a:prstGeom prst="rect">
            <a:avLst/>
          </a:prstGeom>
          <a:noFill/>
        </p:spPr>
        <p:txBody>
          <a:bodyPr wrap="square" rtlCol="0">
            <a:spAutoFit/>
          </a:bodyPr>
          <a:lstStyle/>
          <a:p>
            <a:r>
              <a:rPr lang="de-DE" dirty="0">
                <a:solidFill>
                  <a:srgbClr val="00B0F0"/>
                </a:solidFill>
              </a:rPr>
              <a:t>Maybe </a:t>
            </a:r>
            <a:r>
              <a:rPr lang="de-DE" dirty="0" err="1">
                <a:solidFill>
                  <a:srgbClr val="00B0F0"/>
                </a:solidFill>
              </a:rPr>
              <a:t>overlooked</a:t>
            </a:r>
            <a:r>
              <a:rPr lang="de-DE" dirty="0">
                <a:solidFill>
                  <a:srgbClr val="00B0F0"/>
                </a:solidFill>
              </a:rPr>
              <a:t> : ML </a:t>
            </a:r>
            <a:r>
              <a:rPr lang="de-DE" dirty="0" err="1">
                <a:solidFill>
                  <a:srgbClr val="00B0F0"/>
                </a:solidFill>
              </a:rPr>
              <a:t>provides</a:t>
            </a:r>
            <a:r>
              <a:rPr lang="de-DE" dirty="0">
                <a:solidFill>
                  <a:srgbClr val="00B0F0"/>
                </a:solidFill>
              </a:rPr>
              <a:t> a flexible </a:t>
            </a:r>
            <a:r>
              <a:rPr lang="de-DE" b="1" dirty="0">
                <a:solidFill>
                  <a:srgbClr val="00B0F0"/>
                </a:solidFill>
              </a:rPr>
              <a:t>but </a:t>
            </a:r>
            <a:r>
              <a:rPr lang="de-DE" b="1" dirty="0" err="1">
                <a:solidFill>
                  <a:srgbClr val="00B0F0"/>
                </a:solidFill>
              </a:rPr>
              <a:t>bias-inducing</a:t>
            </a:r>
            <a:r>
              <a:rPr lang="de-DE" dirty="0">
                <a:solidFill>
                  <a:srgbClr val="00B0F0"/>
                </a:solidFill>
              </a:rPr>
              <a:t> </a:t>
            </a:r>
            <a:r>
              <a:rPr lang="de-DE" dirty="0" err="1">
                <a:solidFill>
                  <a:srgbClr val="00B0F0"/>
                </a:solidFill>
              </a:rPr>
              <a:t>moderation</a:t>
            </a:r>
            <a:r>
              <a:rPr lang="de-DE" dirty="0">
                <a:solidFill>
                  <a:srgbClr val="00B0F0"/>
                </a:solidFill>
              </a:rPr>
              <a:t> </a:t>
            </a:r>
            <a:r>
              <a:rPr lang="de-DE" dirty="0" err="1">
                <a:solidFill>
                  <a:srgbClr val="00B0F0"/>
                </a:solidFill>
              </a:rPr>
              <a:t>model</a:t>
            </a:r>
            <a:endParaRPr lang="de-DE" dirty="0">
              <a:solidFill>
                <a:srgbClr val="00B0F0"/>
              </a:solidFill>
            </a:endParaRPr>
          </a:p>
        </p:txBody>
      </p:sp>
    </p:spTree>
    <p:extLst>
      <p:ext uri="{BB962C8B-B14F-4D97-AF65-F5344CB8AC3E}">
        <p14:creationId xmlns:p14="http://schemas.microsoft.com/office/powerpoint/2010/main" val="3762811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 name="Rechteck 3">
            <a:extLst>
              <a:ext uri="{FF2B5EF4-FFF2-40B4-BE49-F238E27FC236}">
                <a16:creationId xmlns:a16="http://schemas.microsoft.com/office/drawing/2014/main" id="{7524DA9A-46A3-4912-BF4E-032E888E93B0}"/>
              </a:ext>
            </a:extLst>
          </p:cNvPr>
          <p:cNvSpPr/>
          <p:nvPr/>
        </p:nvSpPr>
        <p:spPr>
          <a:xfrm>
            <a:off x="119336" y="585247"/>
            <a:ext cx="11953328" cy="56166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5" name="Abgerundetes Rechteck 41">
            <a:extLst>
              <a:ext uri="{FF2B5EF4-FFF2-40B4-BE49-F238E27FC236}">
                <a16:creationId xmlns:a16="http://schemas.microsoft.com/office/drawing/2014/main" id="{5E4A08DB-2518-4869-93F0-B5CE3FDDAD5D}"/>
              </a:ext>
            </a:extLst>
          </p:cNvPr>
          <p:cNvSpPr/>
          <p:nvPr/>
        </p:nvSpPr>
        <p:spPr bwMode="auto">
          <a:xfrm>
            <a:off x="9779666" y="6211669"/>
            <a:ext cx="2114514" cy="64633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defTabSz="914400" rtl="0" eaLnBrk="1" fontAlgn="auto" latinLnBrk="0" hangingPunct="1">
              <a:lnSpc>
                <a:spcPct val="100000"/>
              </a:lnSpc>
              <a:spcBef>
                <a:spcPts val="0"/>
              </a:spcBef>
              <a:spcAft>
                <a:spcPts val="0"/>
              </a:spcAft>
              <a:buClrTx/>
              <a:buSzTx/>
              <a:tabLst/>
              <a:defRPr/>
            </a:pP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I)   </a:t>
            </a:r>
            <a:r>
              <a:rPr kumimoji="0" lang="de-CH" sz="1000" i="0" u="none" strike="noStrike" kern="1200" cap="none" spc="0" normalizeH="0" baseline="0" noProof="0" dirty="0" err="1">
                <a:ln>
                  <a:noFill/>
                </a:ln>
                <a:solidFill>
                  <a:schemeClr val="tx1"/>
                </a:solidFill>
                <a:effectLst/>
                <a:uLnTx/>
                <a:uFillTx/>
                <a:latin typeface="Arial" panose="020B0604020202020204"/>
                <a:ea typeface="+mn-ea"/>
                <a:cs typeface="+mn-cs"/>
              </a:rPr>
              <a:t>What</a:t>
            </a: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is</a:t>
            </a: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 CML</a:t>
            </a:r>
            <a:r>
              <a:rPr lang="de-CH" sz="1000" dirty="0">
                <a:solidFill>
                  <a:schemeClr val="tx1"/>
                </a:solidFill>
                <a:latin typeface="Arial" panose="020B0604020202020204"/>
              </a:rPr>
              <a:t>?</a:t>
            </a:r>
          </a:p>
          <a:p>
            <a:pPr marR="0" lvl="0" defTabSz="914400" rtl="0" eaLnBrk="1" fontAlgn="auto" latinLnBrk="0" hangingPunct="1">
              <a:lnSpc>
                <a:spcPct val="100000"/>
              </a:lnSpc>
              <a:spcBef>
                <a:spcPts val="0"/>
              </a:spcBef>
              <a:spcAft>
                <a:spcPts val="0"/>
              </a:spcAft>
              <a:buClrTx/>
              <a:buSzTx/>
              <a:tabLst/>
              <a:defRPr/>
            </a:pPr>
            <a:r>
              <a:rPr lang="de-CH" sz="1000" dirty="0">
                <a:solidFill>
                  <a:schemeClr val="tx1"/>
                </a:solidFill>
                <a:latin typeface="Arial" panose="020B0604020202020204"/>
              </a:rPr>
              <a:t>II)  </a:t>
            </a: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The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Bayesian</a:t>
            </a: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causal</a:t>
            </a: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forest</a:t>
            </a:r>
            <a:endPar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endParaRPr>
          </a:p>
          <a:p>
            <a:pPr marR="0" lvl="0" defTabSz="914400" rtl="0" eaLnBrk="1" fontAlgn="auto" latinLnBrk="0" hangingPunct="1">
              <a:lnSpc>
                <a:spcPct val="100000"/>
              </a:lnSpc>
              <a:spcBef>
                <a:spcPts val="0"/>
              </a:spcBef>
              <a:spcAft>
                <a:spcPts val="0"/>
              </a:spcAft>
              <a:buClrTx/>
              <a:buSzTx/>
              <a:tabLst/>
              <a:defRPr/>
            </a:pPr>
            <a:r>
              <a:rPr lang="de-CH" sz="1000" b="1" dirty="0">
                <a:solidFill>
                  <a:schemeClr val="tx1"/>
                </a:solidFill>
                <a:latin typeface="Arial" panose="020B0604020202020204"/>
              </a:rPr>
              <a:t>III) </a:t>
            </a:r>
            <a:r>
              <a:rPr lang="de-CH" sz="1000" b="1" i="1" dirty="0" err="1">
                <a:solidFill>
                  <a:schemeClr val="tx1"/>
                </a:solidFill>
                <a:latin typeface="Arial" panose="020B0604020202020204"/>
              </a:rPr>
              <a:t>Uniqueness</a:t>
            </a:r>
            <a:r>
              <a:rPr lang="de-CH" sz="1000" b="1" i="1" dirty="0">
                <a:solidFill>
                  <a:schemeClr val="tx1"/>
                </a:solidFill>
                <a:latin typeface="Arial" panose="020B0604020202020204"/>
              </a:rPr>
              <a:t> </a:t>
            </a:r>
            <a:r>
              <a:rPr lang="de-CH" sz="1000" b="1" dirty="0" err="1">
                <a:solidFill>
                  <a:schemeClr val="tx1"/>
                </a:solidFill>
                <a:latin typeface="Arial" panose="020B0604020202020204"/>
              </a:rPr>
              <a:t>of</a:t>
            </a:r>
            <a:r>
              <a:rPr lang="de-CH" sz="1000" b="1" dirty="0">
                <a:solidFill>
                  <a:schemeClr val="tx1"/>
                </a:solidFill>
                <a:latin typeface="Arial" panose="020B0604020202020204"/>
              </a:rPr>
              <a:t> CML</a:t>
            </a:r>
          </a:p>
          <a:p>
            <a:pPr marR="0" lvl="0" defTabSz="914400" rtl="0" eaLnBrk="1" fontAlgn="auto" latinLnBrk="0" hangingPunct="1">
              <a:lnSpc>
                <a:spcPct val="100000"/>
              </a:lnSpc>
              <a:spcBef>
                <a:spcPts val="0"/>
              </a:spcBef>
              <a:spcAft>
                <a:spcPts val="0"/>
              </a:spcAft>
              <a:buClrTx/>
              <a:buSzTx/>
              <a:tabLst/>
              <a:defRPr/>
            </a:pP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IV)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Implications</a:t>
            </a: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u="none" strike="noStrike" kern="1200" cap="none" spc="0" normalizeH="0" baseline="0" noProof="0" dirty="0" err="1">
                <a:ln>
                  <a:noFill/>
                </a:ln>
                <a:solidFill>
                  <a:schemeClr val="tx1"/>
                </a:solidFill>
                <a:effectLst/>
                <a:uLnTx/>
                <a:uFillTx/>
                <a:latin typeface="Arial" panose="020B0604020202020204"/>
                <a:ea typeface="+mn-ea"/>
                <a:cs typeface="+mn-cs"/>
              </a:rPr>
              <a:t>for</a:t>
            </a:r>
            <a:r>
              <a:rPr kumimoji="0" lang="de-CH" sz="1000"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u="none" strike="noStrike" kern="1200" cap="none" spc="0" normalizeH="0" baseline="0" noProof="0" dirty="0" err="1">
                <a:ln>
                  <a:noFill/>
                </a:ln>
                <a:solidFill>
                  <a:schemeClr val="tx1"/>
                </a:solidFill>
                <a:effectLst/>
                <a:uLnTx/>
                <a:uFillTx/>
                <a:latin typeface="Arial" panose="020B0604020202020204"/>
                <a:ea typeface="+mn-ea"/>
                <a:cs typeface="+mn-cs"/>
              </a:rPr>
              <a:t>our</a:t>
            </a:r>
            <a:r>
              <a:rPr kumimoji="0" lang="de-CH" sz="1000"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u="none" strike="noStrike" kern="1200" cap="none" spc="0" normalizeH="0" baseline="0" noProof="0" dirty="0" err="1">
                <a:ln>
                  <a:noFill/>
                </a:ln>
                <a:solidFill>
                  <a:schemeClr val="tx1"/>
                </a:solidFill>
                <a:effectLst/>
                <a:uLnTx/>
                <a:uFillTx/>
                <a:latin typeface="Arial" panose="020B0604020202020204"/>
                <a:ea typeface="+mn-ea"/>
                <a:cs typeface="+mn-cs"/>
              </a:rPr>
              <a:t>research</a:t>
            </a:r>
            <a:endParaRPr kumimoji="0" lang="de-CH" sz="1000" u="none" strike="noStrike" kern="1200" cap="none" spc="0" normalizeH="0" baseline="0" noProof="0" dirty="0">
              <a:ln>
                <a:noFill/>
              </a:ln>
              <a:solidFill>
                <a:schemeClr val="tx1"/>
              </a:solidFill>
              <a:effectLst/>
              <a:uLnTx/>
              <a:uFillTx/>
              <a:latin typeface="Arial" panose="020B0604020202020204"/>
              <a:ea typeface="+mn-ea"/>
              <a:cs typeface="+mn-cs"/>
            </a:endParaRPr>
          </a:p>
        </p:txBody>
      </p:sp>
      <p:sp>
        <p:nvSpPr>
          <p:cNvPr id="28" name="Textfeld 27">
            <a:extLst>
              <a:ext uri="{FF2B5EF4-FFF2-40B4-BE49-F238E27FC236}">
                <a16:creationId xmlns:a16="http://schemas.microsoft.com/office/drawing/2014/main" id="{D9A6E734-5255-4F5B-8A08-2E99D6E75F54}"/>
              </a:ext>
            </a:extLst>
          </p:cNvPr>
          <p:cNvSpPr txBox="1"/>
          <p:nvPr/>
        </p:nvSpPr>
        <p:spPr>
          <a:xfrm>
            <a:off x="483358" y="964826"/>
            <a:ext cx="5471159" cy="2031325"/>
          </a:xfrm>
          <a:prstGeom prst="rect">
            <a:avLst/>
          </a:prstGeom>
          <a:noFill/>
        </p:spPr>
        <p:txBody>
          <a:bodyPr wrap="square" rtlCol="0">
            <a:spAutoFit/>
          </a:bodyPr>
          <a:lstStyle/>
          <a:p>
            <a:r>
              <a:rPr lang="de-DE" i="1" dirty="0" err="1"/>
              <a:t>Causal</a:t>
            </a:r>
            <a:r>
              <a:rPr lang="de-DE" i="1" dirty="0"/>
              <a:t> </a:t>
            </a:r>
            <a:r>
              <a:rPr lang="de-DE" i="1" dirty="0" err="1"/>
              <a:t>sufficiency</a:t>
            </a:r>
            <a:r>
              <a:rPr lang="de-DE" i="1" dirty="0"/>
              <a:t>:</a:t>
            </a:r>
          </a:p>
          <a:p>
            <a:r>
              <a:rPr lang="de-DE" dirty="0" err="1"/>
              <a:t>We</a:t>
            </a:r>
            <a:r>
              <a:rPr lang="de-DE" dirty="0"/>
              <a:t> </a:t>
            </a:r>
            <a:r>
              <a:rPr lang="de-DE" dirty="0" err="1"/>
              <a:t>have</a:t>
            </a:r>
            <a:r>
              <a:rPr lang="de-DE" dirty="0"/>
              <a:t> </a:t>
            </a:r>
            <a:r>
              <a:rPr lang="de-DE" dirty="0" err="1"/>
              <a:t>measured</a:t>
            </a:r>
            <a:r>
              <a:rPr lang="de-DE" dirty="0"/>
              <a:t> </a:t>
            </a:r>
            <a:r>
              <a:rPr lang="de-DE" b="1" dirty="0"/>
              <a:t>all </a:t>
            </a:r>
            <a:r>
              <a:rPr lang="de-DE" b="1" dirty="0" err="1"/>
              <a:t>confounders</a:t>
            </a:r>
            <a:endParaRPr lang="de-DE" b="1" dirty="0"/>
          </a:p>
          <a:p>
            <a:endParaRPr lang="de-DE" dirty="0"/>
          </a:p>
          <a:p>
            <a:r>
              <a:rPr lang="de-DE" i="1" dirty="0" err="1"/>
              <a:t>Correct</a:t>
            </a:r>
            <a:r>
              <a:rPr lang="de-DE" i="1" dirty="0"/>
              <a:t> </a:t>
            </a:r>
            <a:r>
              <a:rPr lang="de-DE" i="1" dirty="0" err="1"/>
              <a:t>model</a:t>
            </a:r>
            <a:r>
              <a:rPr lang="de-DE" i="1" dirty="0"/>
              <a:t> </a:t>
            </a:r>
            <a:r>
              <a:rPr lang="de-DE" i="1" dirty="0" err="1"/>
              <a:t>specification</a:t>
            </a:r>
            <a:r>
              <a:rPr lang="de-DE" i="1" dirty="0"/>
              <a:t>:</a:t>
            </a:r>
          </a:p>
          <a:p>
            <a:r>
              <a:rPr lang="de-DE" dirty="0" err="1"/>
              <a:t>We</a:t>
            </a:r>
            <a:r>
              <a:rPr lang="de-DE" dirty="0"/>
              <a:t> </a:t>
            </a:r>
            <a:r>
              <a:rPr lang="de-DE" dirty="0" err="1"/>
              <a:t>have</a:t>
            </a:r>
            <a:r>
              <a:rPr lang="de-DE" dirty="0"/>
              <a:t> an </a:t>
            </a:r>
            <a:r>
              <a:rPr lang="de-DE" b="1" dirty="0" err="1"/>
              <a:t>appropriate</a:t>
            </a:r>
            <a:r>
              <a:rPr lang="de-DE" b="1" dirty="0"/>
              <a:t> </a:t>
            </a:r>
            <a:r>
              <a:rPr lang="de-DE" b="1" dirty="0" err="1"/>
              <a:t>parameterization</a:t>
            </a:r>
            <a:r>
              <a:rPr lang="de-DE" b="1" dirty="0"/>
              <a:t> </a:t>
            </a:r>
            <a:r>
              <a:rPr lang="de-DE" dirty="0" err="1"/>
              <a:t>of</a:t>
            </a:r>
            <a:r>
              <a:rPr lang="de-DE" dirty="0"/>
              <a:t> </a:t>
            </a:r>
            <a:r>
              <a:rPr lang="de-DE" dirty="0" err="1"/>
              <a:t>the</a:t>
            </a:r>
            <a:r>
              <a:rPr lang="de-DE" dirty="0"/>
              <a:t> </a:t>
            </a:r>
            <a:r>
              <a:rPr lang="de-DE" dirty="0" err="1"/>
              <a:t>relation</a:t>
            </a:r>
            <a:r>
              <a:rPr lang="de-DE" dirty="0"/>
              <a:t> </a:t>
            </a:r>
            <a:r>
              <a:rPr lang="de-DE" dirty="0" err="1"/>
              <a:t>of</a:t>
            </a:r>
            <a:r>
              <a:rPr lang="de-DE" dirty="0"/>
              <a:t> </a:t>
            </a:r>
            <a:r>
              <a:rPr lang="de-DE" dirty="0" err="1"/>
              <a:t>the</a:t>
            </a:r>
            <a:r>
              <a:rPr lang="de-DE" dirty="0"/>
              <a:t> </a:t>
            </a:r>
            <a:r>
              <a:rPr lang="de-DE" dirty="0" err="1"/>
              <a:t>confounders</a:t>
            </a:r>
            <a:r>
              <a:rPr lang="de-DE" dirty="0"/>
              <a:t> </a:t>
            </a:r>
            <a:r>
              <a:rPr lang="de-DE" dirty="0" err="1"/>
              <a:t>with</a:t>
            </a:r>
            <a:r>
              <a:rPr lang="de-DE" dirty="0"/>
              <a:t> </a:t>
            </a:r>
            <a:r>
              <a:rPr lang="de-DE" dirty="0" err="1"/>
              <a:t>the</a:t>
            </a:r>
            <a:r>
              <a:rPr lang="de-DE" dirty="0"/>
              <a:t> (</a:t>
            </a:r>
            <a:r>
              <a:rPr lang="de-DE" dirty="0" err="1"/>
              <a:t>propensity</a:t>
            </a:r>
            <a:r>
              <a:rPr lang="de-DE" dirty="0"/>
              <a:t> and) </a:t>
            </a:r>
            <a:r>
              <a:rPr lang="de-DE" dirty="0" err="1"/>
              <a:t>the</a:t>
            </a:r>
            <a:r>
              <a:rPr lang="de-DE" dirty="0"/>
              <a:t> </a:t>
            </a:r>
            <a:r>
              <a:rPr lang="de-DE" dirty="0" err="1"/>
              <a:t>outcome</a:t>
            </a:r>
            <a:endParaRPr lang="de-DE" dirty="0"/>
          </a:p>
        </p:txBody>
      </p:sp>
      <p:sp>
        <p:nvSpPr>
          <p:cNvPr id="2" name="Rechteck 1">
            <a:extLst>
              <a:ext uri="{FF2B5EF4-FFF2-40B4-BE49-F238E27FC236}">
                <a16:creationId xmlns:a16="http://schemas.microsoft.com/office/drawing/2014/main" id="{B8B56B3E-143B-429E-BBA7-3B7C24D44F13}"/>
              </a:ext>
            </a:extLst>
          </p:cNvPr>
          <p:cNvSpPr/>
          <p:nvPr/>
        </p:nvSpPr>
        <p:spPr>
          <a:xfrm>
            <a:off x="3136557" y="3429000"/>
            <a:ext cx="5918886" cy="26014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5" name="Gerader Verbinder 4">
            <a:extLst>
              <a:ext uri="{FF2B5EF4-FFF2-40B4-BE49-F238E27FC236}">
                <a16:creationId xmlns:a16="http://schemas.microsoft.com/office/drawing/2014/main" id="{79308DCC-D738-4103-B922-1D40259924E8}"/>
              </a:ext>
            </a:extLst>
          </p:cNvPr>
          <p:cNvCxnSpPr>
            <a:stCxn id="2" idx="0"/>
            <a:endCxn id="2" idx="2"/>
          </p:cNvCxnSpPr>
          <p:nvPr/>
        </p:nvCxnSpPr>
        <p:spPr>
          <a:xfrm>
            <a:off x="6096000" y="3429000"/>
            <a:ext cx="0" cy="2601460"/>
          </a:xfrm>
          <a:prstGeom prst="line">
            <a:avLst/>
          </a:prstGeom>
        </p:spPr>
        <p:style>
          <a:lnRef idx="1">
            <a:schemeClr val="dk1"/>
          </a:lnRef>
          <a:fillRef idx="0">
            <a:schemeClr val="dk1"/>
          </a:fillRef>
          <a:effectRef idx="0">
            <a:schemeClr val="dk1"/>
          </a:effectRef>
          <a:fontRef idx="minor">
            <a:schemeClr val="tx1"/>
          </a:fontRef>
        </p:style>
      </p:cxnSp>
      <p:cxnSp>
        <p:nvCxnSpPr>
          <p:cNvPr id="17" name="Gerader Verbinder 16">
            <a:extLst>
              <a:ext uri="{FF2B5EF4-FFF2-40B4-BE49-F238E27FC236}">
                <a16:creationId xmlns:a16="http://schemas.microsoft.com/office/drawing/2014/main" id="{6BE08DB3-EBB9-4379-BBB8-D16E8A08C98E}"/>
              </a:ext>
            </a:extLst>
          </p:cNvPr>
          <p:cNvCxnSpPr>
            <a:cxnSpLocks/>
            <a:stCxn id="2" idx="3"/>
            <a:endCxn id="2" idx="1"/>
          </p:cNvCxnSpPr>
          <p:nvPr/>
        </p:nvCxnSpPr>
        <p:spPr bwMode="auto">
          <a:xfrm flipH="1">
            <a:off x="3136557" y="4729730"/>
            <a:ext cx="5918886" cy="0"/>
          </a:xfrm>
          <a:prstGeom prst="line">
            <a:avLst/>
          </a:prstGeom>
        </p:spPr>
        <p:style>
          <a:lnRef idx="1">
            <a:schemeClr val="dk1"/>
          </a:lnRef>
          <a:fillRef idx="0">
            <a:schemeClr val="dk1"/>
          </a:fillRef>
          <a:effectRef idx="0">
            <a:schemeClr val="dk1"/>
          </a:effectRef>
          <a:fontRef idx="minor">
            <a:schemeClr val="tx1"/>
          </a:fontRef>
        </p:style>
      </p:cxnSp>
      <p:sp>
        <p:nvSpPr>
          <p:cNvPr id="9" name="Textfeld 8">
            <a:extLst>
              <a:ext uri="{FF2B5EF4-FFF2-40B4-BE49-F238E27FC236}">
                <a16:creationId xmlns:a16="http://schemas.microsoft.com/office/drawing/2014/main" id="{C15D44BC-D210-4C73-A72F-0D474485598A}"/>
              </a:ext>
            </a:extLst>
          </p:cNvPr>
          <p:cNvSpPr txBox="1"/>
          <p:nvPr/>
        </p:nvSpPr>
        <p:spPr>
          <a:xfrm>
            <a:off x="3930480" y="3845940"/>
            <a:ext cx="1679488" cy="646331"/>
          </a:xfrm>
          <a:prstGeom prst="rect">
            <a:avLst/>
          </a:prstGeom>
          <a:noFill/>
        </p:spPr>
        <p:txBody>
          <a:bodyPr wrap="square" rtlCol="0">
            <a:spAutoFit/>
          </a:bodyPr>
          <a:lstStyle/>
          <a:p>
            <a:pPr algn="ctr"/>
            <a:r>
              <a:rPr lang="de-DE" dirty="0"/>
              <a:t>AVE - experimental</a:t>
            </a:r>
          </a:p>
        </p:txBody>
      </p:sp>
      <p:sp>
        <p:nvSpPr>
          <p:cNvPr id="21" name="Textfeld 20">
            <a:extLst>
              <a:ext uri="{FF2B5EF4-FFF2-40B4-BE49-F238E27FC236}">
                <a16:creationId xmlns:a16="http://schemas.microsoft.com/office/drawing/2014/main" id="{4E5D78BC-3B3E-47FD-88E5-0E070CADB8B9}"/>
              </a:ext>
            </a:extLst>
          </p:cNvPr>
          <p:cNvSpPr txBox="1"/>
          <p:nvPr/>
        </p:nvSpPr>
        <p:spPr bwMode="auto">
          <a:xfrm>
            <a:off x="6679912" y="3866974"/>
            <a:ext cx="1680463" cy="646331"/>
          </a:xfrm>
          <a:prstGeom prst="rect">
            <a:avLst/>
          </a:prstGeom>
          <a:noFill/>
        </p:spPr>
        <p:txBody>
          <a:bodyPr wrap="square" rtlCol="0">
            <a:spAutoFit/>
          </a:bodyPr>
          <a:lstStyle/>
          <a:p>
            <a:pPr algn="ctr"/>
            <a:r>
              <a:rPr lang="de-DE" dirty="0"/>
              <a:t>CAVE - experimental</a:t>
            </a:r>
          </a:p>
        </p:txBody>
      </p:sp>
      <p:sp>
        <p:nvSpPr>
          <p:cNvPr id="22" name="Textfeld 21">
            <a:extLst>
              <a:ext uri="{FF2B5EF4-FFF2-40B4-BE49-F238E27FC236}">
                <a16:creationId xmlns:a16="http://schemas.microsoft.com/office/drawing/2014/main" id="{72050345-37D9-4B09-AC8C-1DB73962228C}"/>
              </a:ext>
            </a:extLst>
          </p:cNvPr>
          <p:cNvSpPr txBox="1"/>
          <p:nvPr/>
        </p:nvSpPr>
        <p:spPr bwMode="auto">
          <a:xfrm>
            <a:off x="3942783" y="5146669"/>
            <a:ext cx="1569306" cy="646331"/>
          </a:xfrm>
          <a:prstGeom prst="rect">
            <a:avLst/>
          </a:prstGeom>
          <a:noFill/>
        </p:spPr>
        <p:txBody>
          <a:bodyPr wrap="square" rtlCol="0">
            <a:spAutoFit/>
          </a:bodyPr>
          <a:lstStyle/>
          <a:p>
            <a:pPr algn="ctr"/>
            <a:r>
              <a:rPr lang="de-DE" b="1" dirty="0">
                <a:solidFill>
                  <a:srgbClr val="00B0F0"/>
                </a:solidFill>
              </a:rPr>
              <a:t>AVE - </a:t>
            </a:r>
            <a:r>
              <a:rPr lang="de-DE" b="1" dirty="0" err="1">
                <a:solidFill>
                  <a:srgbClr val="00B0F0"/>
                </a:solidFill>
              </a:rPr>
              <a:t>observed</a:t>
            </a:r>
            <a:endParaRPr lang="de-DE" b="1" dirty="0">
              <a:solidFill>
                <a:srgbClr val="00B0F0"/>
              </a:solidFill>
            </a:endParaRPr>
          </a:p>
        </p:txBody>
      </p:sp>
      <p:sp>
        <p:nvSpPr>
          <p:cNvPr id="23" name="Textfeld 22">
            <a:extLst>
              <a:ext uri="{FF2B5EF4-FFF2-40B4-BE49-F238E27FC236}">
                <a16:creationId xmlns:a16="http://schemas.microsoft.com/office/drawing/2014/main" id="{12464413-5E09-4070-BC13-11CE31101274}"/>
              </a:ext>
            </a:extLst>
          </p:cNvPr>
          <p:cNvSpPr txBox="1"/>
          <p:nvPr/>
        </p:nvSpPr>
        <p:spPr bwMode="auto">
          <a:xfrm>
            <a:off x="6819958" y="5146669"/>
            <a:ext cx="1569306" cy="646331"/>
          </a:xfrm>
          <a:prstGeom prst="rect">
            <a:avLst/>
          </a:prstGeom>
          <a:noFill/>
        </p:spPr>
        <p:txBody>
          <a:bodyPr wrap="square" rtlCol="0">
            <a:spAutoFit/>
          </a:bodyPr>
          <a:lstStyle/>
          <a:p>
            <a:pPr algn="ctr"/>
            <a:r>
              <a:rPr lang="de-DE" dirty="0"/>
              <a:t>CAVE - </a:t>
            </a:r>
            <a:r>
              <a:rPr lang="de-DE" dirty="0" err="1"/>
              <a:t>observed</a:t>
            </a:r>
            <a:endParaRPr lang="de-DE" dirty="0"/>
          </a:p>
        </p:txBody>
      </p:sp>
      <p:sp>
        <p:nvSpPr>
          <p:cNvPr id="30" name="Textfeld 29">
            <a:extLst>
              <a:ext uri="{FF2B5EF4-FFF2-40B4-BE49-F238E27FC236}">
                <a16:creationId xmlns:a16="http://schemas.microsoft.com/office/drawing/2014/main" id="{CC971DB3-0743-49B8-A0CC-1D809587FB32}"/>
              </a:ext>
            </a:extLst>
          </p:cNvPr>
          <p:cNvSpPr txBox="1"/>
          <p:nvPr/>
        </p:nvSpPr>
        <p:spPr bwMode="auto">
          <a:xfrm>
            <a:off x="6031956" y="827538"/>
            <a:ext cx="5918886" cy="1200329"/>
          </a:xfrm>
          <a:prstGeom prst="rect">
            <a:avLst/>
          </a:prstGeom>
          <a:noFill/>
        </p:spPr>
        <p:txBody>
          <a:bodyPr wrap="square" rtlCol="0">
            <a:spAutoFit/>
          </a:bodyPr>
          <a:lstStyle/>
          <a:p>
            <a:r>
              <a:rPr lang="de-DE" b="1" dirty="0" err="1">
                <a:solidFill>
                  <a:srgbClr val="00B0F0"/>
                </a:solidFill>
              </a:rPr>
              <a:t>Causal</a:t>
            </a:r>
            <a:r>
              <a:rPr lang="de-DE" b="1" dirty="0">
                <a:solidFill>
                  <a:srgbClr val="00B0F0"/>
                </a:solidFill>
              </a:rPr>
              <a:t> </a:t>
            </a:r>
            <a:r>
              <a:rPr lang="de-DE" b="1" dirty="0" err="1">
                <a:solidFill>
                  <a:srgbClr val="00B0F0"/>
                </a:solidFill>
              </a:rPr>
              <a:t>sufficiency</a:t>
            </a:r>
            <a:r>
              <a:rPr lang="de-DE" b="1" dirty="0">
                <a:solidFill>
                  <a:srgbClr val="00B0F0"/>
                </a:solidFill>
              </a:rPr>
              <a:t> not </a:t>
            </a:r>
            <a:r>
              <a:rPr lang="de-DE" b="1" dirty="0" err="1">
                <a:solidFill>
                  <a:srgbClr val="00B0F0"/>
                </a:solidFill>
              </a:rPr>
              <a:t>provided</a:t>
            </a:r>
            <a:r>
              <a:rPr lang="de-DE" b="1" dirty="0">
                <a:solidFill>
                  <a:srgbClr val="00B0F0"/>
                </a:solidFill>
              </a:rPr>
              <a:t> -&gt; </a:t>
            </a:r>
            <a:r>
              <a:rPr lang="de-DE" dirty="0" err="1">
                <a:solidFill>
                  <a:srgbClr val="00B0F0"/>
                </a:solidFill>
              </a:rPr>
              <a:t>we`re</a:t>
            </a:r>
            <a:r>
              <a:rPr lang="de-DE" dirty="0">
                <a:solidFill>
                  <a:srgbClr val="00B0F0"/>
                </a:solidFill>
              </a:rPr>
              <a:t> </a:t>
            </a:r>
            <a:r>
              <a:rPr lang="de-DE" dirty="0" err="1">
                <a:solidFill>
                  <a:srgbClr val="00B0F0"/>
                </a:solidFill>
              </a:rPr>
              <a:t>fucked</a:t>
            </a:r>
            <a:r>
              <a:rPr lang="de-DE" b="1" dirty="0">
                <a:solidFill>
                  <a:srgbClr val="00B0F0"/>
                </a:solidFill>
              </a:rPr>
              <a:t> </a:t>
            </a:r>
            <a:r>
              <a:rPr lang="de-DE" dirty="0">
                <a:solidFill>
                  <a:srgbClr val="00B0F0"/>
                </a:solidFill>
              </a:rPr>
              <a:t>(i.e., </a:t>
            </a:r>
            <a:r>
              <a:rPr lang="de-DE" dirty="0" err="1">
                <a:solidFill>
                  <a:srgbClr val="00B0F0"/>
                </a:solidFill>
              </a:rPr>
              <a:t>biased</a:t>
            </a:r>
            <a:r>
              <a:rPr lang="de-DE" dirty="0">
                <a:solidFill>
                  <a:srgbClr val="00B0F0"/>
                </a:solidFill>
              </a:rPr>
              <a:t>); </a:t>
            </a:r>
            <a:r>
              <a:rPr lang="de-DE" b="1" dirty="0" err="1">
                <a:solidFill>
                  <a:srgbClr val="00B0F0"/>
                </a:solidFill>
              </a:rPr>
              <a:t>No</a:t>
            </a:r>
            <a:r>
              <a:rPr lang="de-DE" b="1" dirty="0">
                <a:solidFill>
                  <a:srgbClr val="00B0F0"/>
                </a:solidFill>
              </a:rPr>
              <a:t> </a:t>
            </a:r>
            <a:r>
              <a:rPr lang="de-DE" b="1" dirty="0" err="1">
                <a:solidFill>
                  <a:srgbClr val="00B0F0"/>
                </a:solidFill>
              </a:rPr>
              <a:t>advantage</a:t>
            </a:r>
            <a:r>
              <a:rPr lang="de-DE" b="1" dirty="0">
                <a:solidFill>
                  <a:srgbClr val="00B0F0"/>
                </a:solidFill>
              </a:rPr>
              <a:t> AT ALL!</a:t>
            </a:r>
          </a:p>
          <a:p>
            <a:endParaRPr lang="de-DE" b="1" dirty="0">
              <a:solidFill>
                <a:srgbClr val="00B0F0"/>
              </a:solidFill>
            </a:endParaRPr>
          </a:p>
          <a:p>
            <a:r>
              <a:rPr lang="de-DE" b="1" dirty="0" err="1">
                <a:solidFill>
                  <a:srgbClr val="00B0F0"/>
                </a:solidFill>
              </a:rPr>
              <a:t>Correct</a:t>
            </a:r>
            <a:r>
              <a:rPr lang="de-DE" b="1" dirty="0">
                <a:solidFill>
                  <a:srgbClr val="00B0F0"/>
                </a:solidFill>
              </a:rPr>
              <a:t> </a:t>
            </a:r>
            <a:r>
              <a:rPr lang="de-DE" b="1" dirty="0" err="1">
                <a:solidFill>
                  <a:srgbClr val="00B0F0"/>
                </a:solidFill>
              </a:rPr>
              <a:t>model</a:t>
            </a:r>
            <a:r>
              <a:rPr lang="de-DE" b="1" dirty="0">
                <a:solidFill>
                  <a:srgbClr val="00B0F0"/>
                </a:solidFill>
              </a:rPr>
              <a:t> </a:t>
            </a:r>
            <a:r>
              <a:rPr lang="de-DE" b="1" dirty="0" err="1">
                <a:solidFill>
                  <a:srgbClr val="00B0F0"/>
                </a:solidFill>
              </a:rPr>
              <a:t>specification</a:t>
            </a:r>
            <a:r>
              <a:rPr lang="de-DE" b="1" dirty="0">
                <a:solidFill>
                  <a:srgbClr val="00B0F0"/>
                </a:solidFill>
              </a:rPr>
              <a:t>: </a:t>
            </a:r>
            <a:r>
              <a:rPr lang="de-DE" b="1" dirty="0" err="1">
                <a:solidFill>
                  <a:srgbClr val="00B0F0"/>
                </a:solidFill>
              </a:rPr>
              <a:t>Likely</a:t>
            </a:r>
            <a:r>
              <a:rPr lang="de-DE" b="1" dirty="0">
                <a:solidFill>
                  <a:srgbClr val="00B0F0"/>
                </a:solidFill>
              </a:rPr>
              <a:t> </a:t>
            </a:r>
            <a:r>
              <a:rPr lang="de-DE" dirty="0">
                <a:solidFill>
                  <a:srgbClr val="00B0F0"/>
                </a:solidFill>
              </a:rPr>
              <a:t>ML-</a:t>
            </a:r>
            <a:r>
              <a:rPr lang="de-DE" b="1" dirty="0">
                <a:solidFill>
                  <a:srgbClr val="00B0F0"/>
                </a:solidFill>
              </a:rPr>
              <a:t>advantage</a:t>
            </a:r>
            <a:endParaRPr lang="de-DE" dirty="0">
              <a:solidFill>
                <a:srgbClr val="00B0F0"/>
              </a:solidFill>
            </a:endParaRPr>
          </a:p>
        </p:txBody>
      </p:sp>
      <p:sp>
        <p:nvSpPr>
          <p:cNvPr id="3" name="Rechteck 2">
            <a:extLst>
              <a:ext uri="{FF2B5EF4-FFF2-40B4-BE49-F238E27FC236}">
                <a16:creationId xmlns:a16="http://schemas.microsoft.com/office/drawing/2014/main" id="{548D8CA6-4F44-4AEB-BB44-374D8AFBC42F}"/>
              </a:ext>
            </a:extLst>
          </p:cNvPr>
          <p:cNvSpPr/>
          <p:nvPr/>
        </p:nvSpPr>
        <p:spPr>
          <a:xfrm>
            <a:off x="3136557" y="4741733"/>
            <a:ext cx="2959443" cy="1300726"/>
          </a:xfrm>
          <a:prstGeom prst="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4" name="Picture 8" descr="Jogger erschreckt Pferd – wer ist schuld? – FIT for LIFE">
            <a:extLst>
              <a:ext uri="{FF2B5EF4-FFF2-40B4-BE49-F238E27FC236}">
                <a16:creationId xmlns:a16="http://schemas.microsoft.com/office/drawing/2014/main" id="{495C02AC-BAF6-49D5-B81E-5081E697128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610" r="37230" b="5684"/>
          <a:stretch/>
        </p:blipFill>
        <p:spPr bwMode="auto">
          <a:xfrm>
            <a:off x="9407952" y="3083355"/>
            <a:ext cx="882828" cy="1317098"/>
          </a:xfrm>
          <a:prstGeom prst="rect">
            <a:avLst/>
          </a:prstGeom>
          <a:noFill/>
          <a:extLst>
            <a:ext uri="{909E8E84-426E-40DD-AFC4-6F175D3DCCD1}">
              <a14:hiddenFill xmlns:a14="http://schemas.microsoft.com/office/drawing/2010/main">
                <a:solidFill>
                  <a:srgbClr val="FFFFFF"/>
                </a:solidFill>
              </a14:hiddenFill>
            </a:ext>
          </a:extLst>
        </p:spPr>
      </p:pic>
      <p:sp>
        <p:nvSpPr>
          <p:cNvPr id="16" name="Titel 1">
            <a:extLst>
              <a:ext uri="{FF2B5EF4-FFF2-40B4-BE49-F238E27FC236}">
                <a16:creationId xmlns:a16="http://schemas.microsoft.com/office/drawing/2014/main" id="{E8C4F01B-2ECD-4642-B9E9-33ED398EC5CB}"/>
              </a:ext>
            </a:extLst>
          </p:cNvPr>
          <p:cNvSpPr txBox="1">
            <a:spLocks/>
          </p:cNvSpPr>
          <p:nvPr/>
        </p:nvSpPr>
        <p:spPr bwMode="auto">
          <a:xfrm>
            <a:off x="10497037" y="3178024"/>
            <a:ext cx="1369369" cy="56309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de-AT" sz="1000" i="1" dirty="0" err="1">
                <a:latin typeface="Arial" panose="020B0604020202020204" pitchFamily="34" charset="0"/>
                <a:cs typeface="Arial" panose="020B0604020202020204" pitchFamily="34" charset="0"/>
              </a:rPr>
              <a:t>Maaaybe</a:t>
            </a:r>
            <a:r>
              <a:rPr lang="de-AT" sz="1000" i="1" dirty="0">
                <a:latin typeface="Arial" panose="020B0604020202020204" pitchFamily="34" charset="0"/>
                <a:cs typeface="Arial" panose="020B0604020202020204" pitchFamily="34" charset="0"/>
              </a:rPr>
              <a:t> in rare </a:t>
            </a:r>
            <a:r>
              <a:rPr lang="de-AT" sz="1000" i="1" dirty="0" err="1">
                <a:latin typeface="Arial" panose="020B0604020202020204" pitchFamily="34" charset="0"/>
                <a:cs typeface="Arial" panose="020B0604020202020204" pitchFamily="34" charset="0"/>
              </a:rPr>
              <a:t>cases</a:t>
            </a:r>
            <a:r>
              <a:rPr lang="de-AT" sz="1000" i="1" dirty="0">
                <a:latin typeface="Arial" panose="020B0604020202020204" pitchFamily="34" charset="0"/>
                <a:cs typeface="Arial" panose="020B0604020202020204" pitchFamily="34" charset="0"/>
              </a:rPr>
              <a:t> </a:t>
            </a:r>
            <a:r>
              <a:rPr lang="de-AT" sz="1000" i="1" dirty="0" err="1">
                <a:latin typeface="Arial" panose="020B0604020202020204" pitchFamily="34" charset="0"/>
                <a:cs typeface="Arial" panose="020B0604020202020204" pitchFamily="34" charset="0"/>
              </a:rPr>
              <a:t>causal</a:t>
            </a:r>
            <a:r>
              <a:rPr lang="de-AT" sz="1000" i="1" dirty="0">
                <a:latin typeface="Arial" panose="020B0604020202020204" pitchFamily="34" charset="0"/>
                <a:cs typeface="Arial" panose="020B0604020202020204" pitchFamily="34" charset="0"/>
              </a:rPr>
              <a:t> </a:t>
            </a:r>
            <a:r>
              <a:rPr lang="de-AT" sz="1000" i="1" dirty="0" err="1">
                <a:latin typeface="Arial" panose="020B0604020202020204" pitchFamily="34" charset="0"/>
                <a:cs typeface="Arial" panose="020B0604020202020204" pitchFamily="34" charset="0"/>
              </a:rPr>
              <a:t>discovery</a:t>
            </a:r>
            <a:r>
              <a:rPr lang="de-AT" sz="1000" i="1" dirty="0">
                <a:latin typeface="Arial" panose="020B0604020202020204" pitchFamily="34" charset="0"/>
                <a:cs typeface="Arial" panose="020B0604020202020204" pitchFamily="34" charset="0"/>
              </a:rPr>
              <a:t> </a:t>
            </a:r>
            <a:r>
              <a:rPr lang="de-AT" sz="1000" i="1" dirty="0" err="1">
                <a:latin typeface="Arial" panose="020B0604020202020204" pitchFamily="34" charset="0"/>
                <a:cs typeface="Arial" panose="020B0604020202020204" pitchFamily="34" charset="0"/>
              </a:rPr>
              <a:t>may</a:t>
            </a:r>
            <a:r>
              <a:rPr lang="de-AT" sz="1000" i="1" dirty="0">
                <a:latin typeface="Arial" panose="020B0604020202020204" pitchFamily="34" charset="0"/>
                <a:cs typeface="Arial" panose="020B0604020202020204" pitchFamily="34" charset="0"/>
              </a:rPr>
              <a:t> </a:t>
            </a:r>
            <a:r>
              <a:rPr lang="de-AT" sz="1000" i="1" dirty="0" err="1">
                <a:latin typeface="Arial" panose="020B0604020202020204" pitchFamily="34" charset="0"/>
                <a:cs typeface="Arial" panose="020B0604020202020204" pitchFamily="34" charset="0"/>
              </a:rPr>
              <a:t>reduce</a:t>
            </a:r>
            <a:r>
              <a:rPr lang="de-AT" sz="1000" i="1" dirty="0">
                <a:latin typeface="Arial" panose="020B0604020202020204" pitchFamily="34" charset="0"/>
                <a:cs typeface="Arial" panose="020B0604020202020204" pitchFamily="34" charset="0"/>
              </a:rPr>
              <a:t> </a:t>
            </a:r>
            <a:r>
              <a:rPr lang="de-AT" sz="1000" i="1" dirty="0" err="1">
                <a:latin typeface="Arial" panose="020B0604020202020204" pitchFamily="34" charset="0"/>
                <a:cs typeface="Arial" panose="020B0604020202020204" pitchFamily="34" charset="0"/>
              </a:rPr>
              <a:t>bias</a:t>
            </a:r>
            <a:r>
              <a:rPr lang="de-AT" sz="1000" i="1" dirty="0">
                <a:latin typeface="Arial" panose="020B0604020202020204" pitchFamily="34" charset="0"/>
                <a:cs typeface="Arial" panose="020B0604020202020204" pitchFamily="34" charset="0"/>
              </a:rPr>
              <a:t>…</a:t>
            </a:r>
          </a:p>
        </p:txBody>
      </p:sp>
      <p:sp>
        <p:nvSpPr>
          <p:cNvPr id="18" name="Sprechblase: oval 17">
            <a:extLst>
              <a:ext uri="{FF2B5EF4-FFF2-40B4-BE49-F238E27FC236}">
                <a16:creationId xmlns:a16="http://schemas.microsoft.com/office/drawing/2014/main" id="{FE0AE378-8BED-4AFB-A467-EF751016B53B}"/>
              </a:ext>
            </a:extLst>
          </p:cNvPr>
          <p:cNvSpPr/>
          <p:nvPr/>
        </p:nvSpPr>
        <p:spPr bwMode="auto">
          <a:xfrm>
            <a:off x="10428825" y="3064668"/>
            <a:ext cx="1522017" cy="744966"/>
          </a:xfrm>
          <a:prstGeom prst="wedgeEllipseCallout">
            <a:avLst>
              <a:gd name="adj1" fmla="val -55063"/>
              <a:gd name="adj2" fmla="val 65688"/>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800">
              <a:solidFill>
                <a:schemeClr val="tx1"/>
              </a:solidFill>
            </a:endParaRPr>
          </a:p>
        </p:txBody>
      </p:sp>
    </p:spTree>
    <p:extLst>
      <p:ext uri="{BB962C8B-B14F-4D97-AF65-F5344CB8AC3E}">
        <p14:creationId xmlns:p14="http://schemas.microsoft.com/office/powerpoint/2010/main" val="19068333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 name="Rechteck 3">
            <a:extLst>
              <a:ext uri="{FF2B5EF4-FFF2-40B4-BE49-F238E27FC236}">
                <a16:creationId xmlns:a16="http://schemas.microsoft.com/office/drawing/2014/main" id="{7524DA9A-46A3-4912-BF4E-032E888E93B0}"/>
              </a:ext>
            </a:extLst>
          </p:cNvPr>
          <p:cNvSpPr/>
          <p:nvPr/>
        </p:nvSpPr>
        <p:spPr>
          <a:xfrm>
            <a:off x="119336" y="585247"/>
            <a:ext cx="11953328" cy="56166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5" name="Abgerundetes Rechteck 41">
            <a:extLst>
              <a:ext uri="{FF2B5EF4-FFF2-40B4-BE49-F238E27FC236}">
                <a16:creationId xmlns:a16="http://schemas.microsoft.com/office/drawing/2014/main" id="{5E4A08DB-2518-4869-93F0-B5CE3FDDAD5D}"/>
              </a:ext>
            </a:extLst>
          </p:cNvPr>
          <p:cNvSpPr/>
          <p:nvPr/>
        </p:nvSpPr>
        <p:spPr bwMode="auto">
          <a:xfrm>
            <a:off x="9779666" y="6211669"/>
            <a:ext cx="2114514" cy="64633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defTabSz="914400" rtl="0" eaLnBrk="1" fontAlgn="auto" latinLnBrk="0" hangingPunct="1">
              <a:lnSpc>
                <a:spcPct val="100000"/>
              </a:lnSpc>
              <a:spcBef>
                <a:spcPts val="0"/>
              </a:spcBef>
              <a:spcAft>
                <a:spcPts val="0"/>
              </a:spcAft>
              <a:buClrTx/>
              <a:buSzTx/>
              <a:tabLst/>
              <a:defRPr/>
            </a:pP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I)   </a:t>
            </a:r>
            <a:r>
              <a:rPr kumimoji="0" lang="de-CH" sz="1000" i="0" u="none" strike="noStrike" kern="1200" cap="none" spc="0" normalizeH="0" baseline="0" noProof="0" dirty="0" err="1">
                <a:ln>
                  <a:noFill/>
                </a:ln>
                <a:solidFill>
                  <a:schemeClr val="tx1"/>
                </a:solidFill>
                <a:effectLst/>
                <a:uLnTx/>
                <a:uFillTx/>
                <a:latin typeface="Arial" panose="020B0604020202020204"/>
                <a:ea typeface="+mn-ea"/>
                <a:cs typeface="+mn-cs"/>
              </a:rPr>
              <a:t>What</a:t>
            </a: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is</a:t>
            </a: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 CML</a:t>
            </a:r>
            <a:r>
              <a:rPr lang="de-CH" sz="1000" dirty="0">
                <a:solidFill>
                  <a:schemeClr val="tx1"/>
                </a:solidFill>
                <a:latin typeface="Arial" panose="020B0604020202020204"/>
              </a:rPr>
              <a:t>?</a:t>
            </a:r>
          </a:p>
          <a:p>
            <a:pPr marR="0" lvl="0" defTabSz="914400" rtl="0" eaLnBrk="1" fontAlgn="auto" latinLnBrk="0" hangingPunct="1">
              <a:lnSpc>
                <a:spcPct val="100000"/>
              </a:lnSpc>
              <a:spcBef>
                <a:spcPts val="0"/>
              </a:spcBef>
              <a:spcAft>
                <a:spcPts val="0"/>
              </a:spcAft>
              <a:buClrTx/>
              <a:buSzTx/>
              <a:tabLst/>
              <a:defRPr/>
            </a:pPr>
            <a:r>
              <a:rPr lang="de-CH" sz="1000" dirty="0">
                <a:solidFill>
                  <a:schemeClr val="tx1"/>
                </a:solidFill>
                <a:latin typeface="Arial" panose="020B0604020202020204"/>
              </a:rPr>
              <a:t>II)  </a:t>
            </a:r>
            <a:r>
              <a:rPr kumimoji="0" lang="de-CH" sz="1000" i="0" u="none" strike="noStrike" kern="1200" cap="none" spc="0" normalizeH="0" baseline="0" noProof="0" dirty="0">
                <a:ln>
                  <a:noFill/>
                </a:ln>
                <a:solidFill>
                  <a:schemeClr val="tx1"/>
                </a:solidFill>
                <a:effectLst/>
                <a:uLnTx/>
                <a:uFillTx/>
                <a:latin typeface="Arial" panose="020B0604020202020204"/>
                <a:ea typeface="+mn-ea"/>
                <a:cs typeface="+mn-cs"/>
              </a:rPr>
              <a:t>The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Bayesian</a:t>
            </a: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causal</a:t>
            </a: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forest</a:t>
            </a:r>
            <a:endPar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endParaRPr>
          </a:p>
          <a:p>
            <a:pPr marR="0" lvl="0" defTabSz="914400" rtl="0" eaLnBrk="1" fontAlgn="auto" latinLnBrk="0" hangingPunct="1">
              <a:lnSpc>
                <a:spcPct val="100000"/>
              </a:lnSpc>
              <a:spcBef>
                <a:spcPts val="0"/>
              </a:spcBef>
              <a:spcAft>
                <a:spcPts val="0"/>
              </a:spcAft>
              <a:buClrTx/>
              <a:buSzTx/>
              <a:tabLst/>
              <a:defRPr/>
            </a:pPr>
            <a:r>
              <a:rPr lang="de-CH" sz="1000" b="1" dirty="0">
                <a:solidFill>
                  <a:schemeClr val="tx1"/>
                </a:solidFill>
                <a:latin typeface="Arial" panose="020B0604020202020204"/>
              </a:rPr>
              <a:t>III) </a:t>
            </a:r>
            <a:r>
              <a:rPr lang="de-CH" sz="1000" b="1" i="1" dirty="0" err="1">
                <a:solidFill>
                  <a:schemeClr val="tx1"/>
                </a:solidFill>
                <a:latin typeface="Arial" panose="020B0604020202020204"/>
              </a:rPr>
              <a:t>Uniqueness</a:t>
            </a:r>
            <a:r>
              <a:rPr lang="de-CH" sz="1000" b="1" i="1" dirty="0">
                <a:solidFill>
                  <a:schemeClr val="tx1"/>
                </a:solidFill>
                <a:latin typeface="Arial" panose="020B0604020202020204"/>
              </a:rPr>
              <a:t> </a:t>
            </a:r>
            <a:r>
              <a:rPr lang="de-CH" sz="1000" b="1" dirty="0" err="1">
                <a:solidFill>
                  <a:schemeClr val="tx1"/>
                </a:solidFill>
                <a:latin typeface="Arial" panose="020B0604020202020204"/>
              </a:rPr>
              <a:t>of</a:t>
            </a:r>
            <a:r>
              <a:rPr lang="de-CH" sz="1000" b="1" dirty="0">
                <a:solidFill>
                  <a:schemeClr val="tx1"/>
                </a:solidFill>
                <a:latin typeface="Arial" panose="020B0604020202020204"/>
              </a:rPr>
              <a:t> CML</a:t>
            </a:r>
          </a:p>
          <a:p>
            <a:pPr marR="0" lvl="0" defTabSz="914400" rtl="0" eaLnBrk="1" fontAlgn="auto" latinLnBrk="0" hangingPunct="1">
              <a:lnSpc>
                <a:spcPct val="100000"/>
              </a:lnSpc>
              <a:spcBef>
                <a:spcPts val="0"/>
              </a:spcBef>
              <a:spcAft>
                <a:spcPts val="0"/>
              </a:spcAft>
              <a:buClrTx/>
              <a:buSzTx/>
              <a:tabLst/>
              <a:defRPr/>
            </a:pP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IV) </a:t>
            </a:r>
            <a:r>
              <a:rPr kumimoji="0" lang="de-CH" sz="1000" i="1" u="none" strike="noStrike" kern="1200" cap="none" spc="0" normalizeH="0" baseline="0" noProof="0" dirty="0" err="1">
                <a:ln>
                  <a:noFill/>
                </a:ln>
                <a:solidFill>
                  <a:schemeClr val="tx1"/>
                </a:solidFill>
                <a:effectLst/>
                <a:uLnTx/>
                <a:uFillTx/>
                <a:latin typeface="Arial" panose="020B0604020202020204"/>
                <a:ea typeface="+mn-ea"/>
                <a:cs typeface="+mn-cs"/>
              </a:rPr>
              <a:t>Implications</a:t>
            </a:r>
            <a:r>
              <a:rPr kumimoji="0" lang="de-CH" sz="1000" i="1"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u="none" strike="noStrike" kern="1200" cap="none" spc="0" normalizeH="0" baseline="0" noProof="0" dirty="0" err="1">
                <a:ln>
                  <a:noFill/>
                </a:ln>
                <a:solidFill>
                  <a:schemeClr val="tx1"/>
                </a:solidFill>
                <a:effectLst/>
                <a:uLnTx/>
                <a:uFillTx/>
                <a:latin typeface="Arial" panose="020B0604020202020204"/>
                <a:ea typeface="+mn-ea"/>
                <a:cs typeface="+mn-cs"/>
              </a:rPr>
              <a:t>for</a:t>
            </a:r>
            <a:r>
              <a:rPr kumimoji="0" lang="de-CH" sz="1000"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u="none" strike="noStrike" kern="1200" cap="none" spc="0" normalizeH="0" baseline="0" noProof="0" dirty="0" err="1">
                <a:ln>
                  <a:noFill/>
                </a:ln>
                <a:solidFill>
                  <a:schemeClr val="tx1"/>
                </a:solidFill>
                <a:effectLst/>
                <a:uLnTx/>
                <a:uFillTx/>
                <a:latin typeface="Arial" panose="020B0604020202020204"/>
                <a:ea typeface="+mn-ea"/>
                <a:cs typeface="+mn-cs"/>
              </a:rPr>
              <a:t>our</a:t>
            </a:r>
            <a:r>
              <a:rPr kumimoji="0" lang="de-CH" sz="1000"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de-CH" sz="1000" u="none" strike="noStrike" kern="1200" cap="none" spc="0" normalizeH="0" baseline="0" noProof="0" dirty="0" err="1">
                <a:ln>
                  <a:noFill/>
                </a:ln>
                <a:solidFill>
                  <a:schemeClr val="tx1"/>
                </a:solidFill>
                <a:effectLst/>
                <a:uLnTx/>
                <a:uFillTx/>
                <a:latin typeface="Arial" panose="020B0604020202020204"/>
                <a:ea typeface="+mn-ea"/>
                <a:cs typeface="+mn-cs"/>
              </a:rPr>
              <a:t>research</a:t>
            </a:r>
            <a:endParaRPr kumimoji="0" lang="de-CH" sz="1000" u="none" strike="noStrike" kern="1200" cap="none" spc="0" normalizeH="0" baseline="0" noProof="0" dirty="0">
              <a:ln>
                <a:noFill/>
              </a:ln>
              <a:solidFill>
                <a:schemeClr val="tx1"/>
              </a:solidFill>
              <a:effectLst/>
              <a:uLnTx/>
              <a:uFillTx/>
              <a:latin typeface="Arial" panose="020B0604020202020204"/>
              <a:ea typeface="+mn-ea"/>
              <a:cs typeface="+mn-cs"/>
            </a:endParaRPr>
          </a:p>
        </p:txBody>
      </p:sp>
      <p:sp>
        <p:nvSpPr>
          <p:cNvPr id="28" name="Textfeld 27">
            <a:extLst>
              <a:ext uri="{FF2B5EF4-FFF2-40B4-BE49-F238E27FC236}">
                <a16:creationId xmlns:a16="http://schemas.microsoft.com/office/drawing/2014/main" id="{D9A6E734-5255-4F5B-8A08-2E99D6E75F54}"/>
              </a:ext>
            </a:extLst>
          </p:cNvPr>
          <p:cNvSpPr txBox="1"/>
          <p:nvPr/>
        </p:nvSpPr>
        <p:spPr>
          <a:xfrm>
            <a:off x="483358" y="964826"/>
            <a:ext cx="5471159" cy="2031325"/>
          </a:xfrm>
          <a:prstGeom prst="rect">
            <a:avLst/>
          </a:prstGeom>
          <a:noFill/>
        </p:spPr>
        <p:txBody>
          <a:bodyPr wrap="square" rtlCol="0">
            <a:spAutoFit/>
          </a:bodyPr>
          <a:lstStyle/>
          <a:p>
            <a:r>
              <a:rPr lang="de-DE" i="1" dirty="0" err="1"/>
              <a:t>Causal</a:t>
            </a:r>
            <a:r>
              <a:rPr lang="de-DE" i="1" dirty="0"/>
              <a:t> </a:t>
            </a:r>
            <a:r>
              <a:rPr lang="de-DE" i="1" dirty="0" err="1"/>
              <a:t>sufficiency</a:t>
            </a:r>
            <a:r>
              <a:rPr lang="de-DE" i="1" dirty="0"/>
              <a:t>:</a:t>
            </a:r>
          </a:p>
          <a:p>
            <a:r>
              <a:rPr lang="de-DE" dirty="0" err="1"/>
              <a:t>We</a:t>
            </a:r>
            <a:r>
              <a:rPr lang="de-DE" dirty="0"/>
              <a:t> </a:t>
            </a:r>
            <a:r>
              <a:rPr lang="de-DE" dirty="0" err="1"/>
              <a:t>have</a:t>
            </a:r>
            <a:r>
              <a:rPr lang="de-DE" dirty="0"/>
              <a:t> </a:t>
            </a:r>
            <a:r>
              <a:rPr lang="de-DE" dirty="0" err="1"/>
              <a:t>measured</a:t>
            </a:r>
            <a:r>
              <a:rPr lang="de-DE" dirty="0"/>
              <a:t> </a:t>
            </a:r>
            <a:r>
              <a:rPr lang="de-DE" b="1" dirty="0"/>
              <a:t>all </a:t>
            </a:r>
            <a:r>
              <a:rPr lang="de-DE" b="1" dirty="0" err="1"/>
              <a:t>confounders</a:t>
            </a:r>
            <a:endParaRPr lang="de-DE" b="1" dirty="0"/>
          </a:p>
          <a:p>
            <a:endParaRPr lang="de-DE" dirty="0"/>
          </a:p>
          <a:p>
            <a:r>
              <a:rPr lang="de-DE" i="1" dirty="0" err="1"/>
              <a:t>Correct</a:t>
            </a:r>
            <a:r>
              <a:rPr lang="de-DE" i="1" dirty="0"/>
              <a:t> </a:t>
            </a:r>
            <a:r>
              <a:rPr lang="de-DE" i="1" dirty="0" err="1"/>
              <a:t>model</a:t>
            </a:r>
            <a:r>
              <a:rPr lang="de-DE" i="1" dirty="0"/>
              <a:t> </a:t>
            </a:r>
            <a:r>
              <a:rPr lang="de-DE" i="1" dirty="0" err="1"/>
              <a:t>specification</a:t>
            </a:r>
            <a:r>
              <a:rPr lang="de-DE" i="1" dirty="0"/>
              <a:t>:</a:t>
            </a:r>
          </a:p>
          <a:p>
            <a:r>
              <a:rPr lang="de-DE" dirty="0" err="1"/>
              <a:t>We</a:t>
            </a:r>
            <a:r>
              <a:rPr lang="de-DE" dirty="0"/>
              <a:t> </a:t>
            </a:r>
            <a:r>
              <a:rPr lang="de-DE" dirty="0" err="1"/>
              <a:t>have</a:t>
            </a:r>
            <a:r>
              <a:rPr lang="de-DE" dirty="0"/>
              <a:t> an </a:t>
            </a:r>
            <a:r>
              <a:rPr lang="de-DE" b="1" dirty="0" err="1"/>
              <a:t>appropriate</a:t>
            </a:r>
            <a:r>
              <a:rPr lang="de-DE" b="1" dirty="0"/>
              <a:t> </a:t>
            </a:r>
            <a:r>
              <a:rPr lang="de-DE" b="1" dirty="0" err="1"/>
              <a:t>parameterization</a:t>
            </a:r>
            <a:r>
              <a:rPr lang="de-DE" b="1" dirty="0"/>
              <a:t> </a:t>
            </a:r>
            <a:r>
              <a:rPr lang="de-DE" dirty="0" err="1"/>
              <a:t>of</a:t>
            </a:r>
            <a:r>
              <a:rPr lang="de-DE" dirty="0"/>
              <a:t> </a:t>
            </a:r>
            <a:r>
              <a:rPr lang="de-DE" dirty="0" err="1"/>
              <a:t>the</a:t>
            </a:r>
            <a:r>
              <a:rPr lang="de-DE" dirty="0"/>
              <a:t> </a:t>
            </a:r>
            <a:r>
              <a:rPr lang="de-DE" dirty="0" err="1"/>
              <a:t>relation</a:t>
            </a:r>
            <a:r>
              <a:rPr lang="de-DE" dirty="0"/>
              <a:t> </a:t>
            </a:r>
            <a:r>
              <a:rPr lang="de-DE" dirty="0" err="1"/>
              <a:t>of</a:t>
            </a:r>
            <a:r>
              <a:rPr lang="de-DE" dirty="0"/>
              <a:t> </a:t>
            </a:r>
            <a:r>
              <a:rPr lang="de-DE" dirty="0" err="1"/>
              <a:t>the</a:t>
            </a:r>
            <a:r>
              <a:rPr lang="de-DE" dirty="0"/>
              <a:t> </a:t>
            </a:r>
            <a:r>
              <a:rPr lang="de-DE" dirty="0" err="1"/>
              <a:t>confounders</a:t>
            </a:r>
            <a:r>
              <a:rPr lang="de-DE" dirty="0"/>
              <a:t> </a:t>
            </a:r>
            <a:r>
              <a:rPr lang="de-DE" dirty="0" err="1"/>
              <a:t>with</a:t>
            </a:r>
            <a:r>
              <a:rPr lang="de-DE" dirty="0"/>
              <a:t> </a:t>
            </a:r>
            <a:r>
              <a:rPr lang="de-DE" dirty="0" err="1"/>
              <a:t>the</a:t>
            </a:r>
            <a:r>
              <a:rPr lang="de-DE" dirty="0"/>
              <a:t> (</a:t>
            </a:r>
            <a:r>
              <a:rPr lang="de-DE" dirty="0" err="1"/>
              <a:t>propensity</a:t>
            </a:r>
            <a:r>
              <a:rPr lang="de-DE" dirty="0"/>
              <a:t> and) </a:t>
            </a:r>
            <a:r>
              <a:rPr lang="de-DE" dirty="0" err="1"/>
              <a:t>the</a:t>
            </a:r>
            <a:r>
              <a:rPr lang="de-DE" dirty="0"/>
              <a:t> </a:t>
            </a:r>
            <a:r>
              <a:rPr lang="de-DE" dirty="0" err="1"/>
              <a:t>outcome</a:t>
            </a:r>
            <a:endParaRPr lang="de-DE" dirty="0"/>
          </a:p>
        </p:txBody>
      </p:sp>
      <p:sp>
        <p:nvSpPr>
          <p:cNvPr id="2" name="Rechteck 1">
            <a:extLst>
              <a:ext uri="{FF2B5EF4-FFF2-40B4-BE49-F238E27FC236}">
                <a16:creationId xmlns:a16="http://schemas.microsoft.com/office/drawing/2014/main" id="{B8B56B3E-143B-429E-BBA7-3B7C24D44F13}"/>
              </a:ext>
            </a:extLst>
          </p:cNvPr>
          <p:cNvSpPr/>
          <p:nvPr/>
        </p:nvSpPr>
        <p:spPr>
          <a:xfrm>
            <a:off x="3136557" y="3429000"/>
            <a:ext cx="5918886" cy="26014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5" name="Gerader Verbinder 4">
            <a:extLst>
              <a:ext uri="{FF2B5EF4-FFF2-40B4-BE49-F238E27FC236}">
                <a16:creationId xmlns:a16="http://schemas.microsoft.com/office/drawing/2014/main" id="{79308DCC-D738-4103-B922-1D40259924E8}"/>
              </a:ext>
            </a:extLst>
          </p:cNvPr>
          <p:cNvCxnSpPr>
            <a:stCxn id="2" idx="0"/>
            <a:endCxn id="2" idx="2"/>
          </p:cNvCxnSpPr>
          <p:nvPr/>
        </p:nvCxnSpPr>
        <p:spPr>
          <a:xfrm>
            <a:off x="6096000" y="3429000"/>
            <a:ext cx="0" cy="2601460"/>
          </a:xfrm>
          <a:prstGeom prst="line">
            <a:avLst/>
          </a:prstGeom>
        </p:spPr>
        <p:style>
          <a:lnRef idx="1">
            <a:schemeClr val="dk1"/>
          </a:lnRef>
          <a:fillRef idx="0">
            <a:schemeClr val="dk1"/>
          </a:fillRef>
          <a:effectRef idx="0">
            <a:schemeClr val="dk1"/>
          </a:effectRef>
          <a:fontRef idx="minor">
            <a:schemeClr val="tx1"/>
          </a:fontRef>
        </p:style>
      </p:cxnSp>
      <p:cxnSp>
        <p:nvCxnSpPr>
          <p:cNvPr id="17" name="Gerader Verbinder 16">
            <a:extLst>
              <a:ext uri="{FF2B5EF4-FFF2-40B4-BE49-F238E27FC236}">
                <a16:creationId xmlns:a16="http://schemas.microsoft.com/office/drawing/2014/main" id="{6BE08DB3-EBB9-4379-BBB8-D16E8A08C98E}"/>
              </a:ext>
            </a:extLst>
          </p:cNvPr>
          <p:cNvCxnSpPr>
            <a:cxnSpLocks/>
            <a:stCxn id="2" idx="3"/>
            <a:endCxn id="2" idx="1"/>
          </p:cNvCxnSpPr>
          <p:nvPr/>
        </p:nvCxnSpPr>
        <p:spPr bwMode="auto">
          <a:xfrm flipH="1">
            <a:off x="3136557" y="4729730"/>
            <a:ext cx="5918886" cy="0"/>
          </a:xfrm>
          <a:prstGeom prst="line">
            <a:avLst/>
          </a:prstGeom>
        </p:spPr>
        <p:style>
          <a:lnRef idx="1">
            <a:schemeClr val="dk1"/>
          </a:lnRef>
          <a:fillRef idx="0">
            <a:schemeClr val="dk1"/>
          </a:fillRef>
          <a:effectRef idx="0">
            <a:schemeClr val="dk1"/>
          </a:effectRef>
          <a:fontRef idx="minor">
            <a:schemeClr val="tx1"/>
          </a:fontRef>
        </p:style>
      </p:cxnSp>
      <p:sp>
        <p:nvSpPr>
          <p:cNvPr id="9" name="Textfeld 8">
            <a:extLst>
              <a:ext uri="{FF2B5EF4-FFF2-40B4-BE49-F238E27FC236}">
                <a16:creationId xmlns:a16="http://schemas.microsoft.com/office/drawing/2014/main" id="{C15D44BC-D210-4C73-A72F-0D474485598A}"/>
              </a:ext>
            </a:extLst>
          </p:cNvPr>
          <p:cNvSpPr txBox="1"/>
          <p:nvPr/>
        </p:nvSpPr>
        <p:spPr>
          <a:xfrm>
            <a:off x="3930480" y="3845940"/>
            <a:ext cx="1679488" cy="646331"/>
          </a:xfrm>
          <a:prstGeom prst="rect">
            <a:avLst/>
          </a:prstGeom>
          <a:noFill/>
        </p:spPr>
        <p:txBody>
          <a:bodyPr wrap="square" rtlCol="0">
            <a:spAutoFit/>
          </a:bodyPr>
          <a:lstStyle/>
          <a:p>
            <a:pPr algn="ctr"/>
            <a:r>
              <a:rPr lang="de-DE" dirty="0"/>
              <a:t>AVE - experimental</a:t>
            </a:r>
          </a:p>
        </p:txBody>
      </p:sp>
      <p:sp>
        <p:nvSpPr>
          <p:cNvPr id="21" name="Textfeld 20">
            <a:extLst>
              <a:ext uri="{FF2B5EF4-FFF2-40B4-BE49-F238E27FC236}">
                <a16:creationId xmlns:a16="http://schemas.microsoft.com/office/drawing/2014/main" id="{4E5D78BC-3B3E-47FD-88E5-0E070CADB8B9}"/>
              </a:ext>
            </a:extLst>
          </p:cNvPr>
          <p:cNvSpPr txBox="1"/>
          <p:nvPr/>
        </p:nvSpPr>
        <p:spPr bwMode="auto">
          <a:xfrm>
            <a:off x="6679912" y="3866974"/>
            <a:ext cx="1680463" cy="646331"/>
          </a:xfrm>
          <a:prstGeom prst="rect">
            <a:avLst/>
          </a:prstGeom>
          <a:noFill/>
        </p:spPr>
        <p:txBody>
          <a:bodyPr wrap="square" rtlCol="0">
            <a:spAutoFit/>
          </a:bodyPr>
          <a:lstStyle/>
          <a:p>
            <a:pPr algn="ctr"/>
            <a:r>
              <a:rPr lang="de-DE" dirty="0"/>
              <a:t>CAVE - experimental</a:t>
            </a:r>
          </a:p>
        </p:txBody>
      </p:sp>
      <p:sp>
        <p:nvSpPr>
          <p:cNvPr id="22" name="Textfeld 21">
            <a:extLst>
              <a:ext uri="{FF2B5EF4-FFF2-40B4-BE49-F238E27FC236}">
                <a16:creationId xmlns:a16="http://schemas.microsoft.com/office/drawing/2014/main" id="{72050345-37D9-4B09-AC8C-1DB73962228C}"/>
              </a:ext>
            </a:extLst>
          </p:cNvPr>
          <p:cNvSpPr txBox="1"/>
          <p:nvPr/>
        </p:nvSpPr>
        <p:spPr bwMode="auto">
          <a:xfrm>
            <a:off x="3942783" y="5146669"/>
            <a:ext cx="1569306" cy="646331"/>
          </a:xfrm>
          <a:prstGeom prst="rect">
            <a:avLst/>
          </a:prstGeom>
          <a:noFill/>
        </p:spPr>
        <p:txBody>
          <a:bodyPr wrap="square" rtlCol="0">
            <a:spAutoFit/>
          </a:bodyPr>
          <a:lstStyle/>
          <a:p>
            <a:pPr algn="ctr"/>
            <a:r>
              <a:rPr lang="de-DE" dirty="0"/>
              <a:t>AVE - </a:t>
            </a:r>
            <a:r>
              <a:rPr lang="de-DE" dirty="0" err="1"/>
              <a:t>observed</a:t>
            </a:r>
            <a:endParaRPr lang="de-DE" dirty="0"/>
          </a:p>
        </p:txBody>
      </p:sp>
      <p:sp>
        <p:nvSpPr>
          <p:cNvPr id="23" name="Textfeld 22">
            <a:extLst>
              <a:ext uri="{FF2B5EF4-FFF2-40B4-BE49-F238E27FC236}">
                <a16:creationId xmlns:a16="http://schemas.microsoft.com/office/drawing/2014/main" id="{12464413-5E09-4070-BC13-11CE31101274}"/>
              </a:ext>
            </a:extLst>
          </p:cNvPr>
          <p:cNvSpPr txBox="1"/>
          <p:nvPr/>
        </p:nvSpPr>
        <p:spPr bwMode="auto">
          <a:xfrm>
            <a:off x="6819958" y="5146669"/>
            <a:ext cx="1569306" cy="646331"/>
          </a:xfrm>
          <a:prstGeom prst="rect">
            <a:avLst/>
          </a:prstGeom>
          <a:noFill/>
        </p:spPr>
        <p:txBody>
          <a:bodyPr wrap="square" rtlCol="0">
            <a:spAutoFit/>
          </a:bodyPr>
          <a:lstStyle/>
          <a:p>
            <a:pPr algn="ctr"/>
            <a:r>
              <a:rPr lang="de-DE" b="1" dirty="0">
                <a:solidFill>
                  <a:srgbClr val="00B0F0"/>
                </a:solidFill>
              </a:rPr>
              <a:t>CAVE - </a:t>
            </a:r>
            <a:r>
              <a:rPr lang="de-DE" b="1" dirty="0" err="1">
                <a:solidFill>
                  <a:srgbClr val="00B0F0"/>
                </a:solidFill>
              </a:rPr>
              <a:t>observed</a:t>
            </a:r>
            <a:endParaRPr lang="de-DE" b="1" dirty="0">
              <a:solidFill>
                <a:srgbClr val="00B0F0"/>
              </a:solidFill>
            </a:endParaRPr>
          </a:p>
        </p:txBody>
      </p:sp>
      <p:sp>
        <p:nvSpPr>
          <p:cNvPr id="30" name="Textfeld 29">
            <a:extLst>
              <a:ext uri="{FF2B5EF4-FFF2-40B4-BE49-F238E27FC236}">
                <a16:creationId xmlns:a16="http://schemas.microsoft.com/office/drawing/2014/main" id="{CC971DB3-0743-49B8-A0CC-1D809587FB32}"/>
              </a:ext>
            </a:extLst>
          </p:cNvPr>
          <p:cNvSpPr txBox="1"/>
          <p:nvPr/>
        </p:nvSpPr>
        <p:spPr bwMode="auto">
          <a:xfrm>
            <a:off x="6031956" y="827538"/>
            <a:ext cx="5918886" cy="1200329"/>
          </a:xfrm>
          <a:prstGeom prst="rect">
            <a:avLst/>
          </a:prstGeom>
          <a:noFill/>
        </p:spPr>
        <p:txBody>
          <a:bodyPr wrap="square" rtlCol="0">
            <a:spAutoFit/>
          </a:bodyPr>
          <a:lstStyle/>
          <a:p>
            <a:r>
              <a:rPr lang="de-DE" b="1" dirty="0" err="1">
                <a:solidFill>
                  <a:srgbClr val="00B0F0"/>
                </a:solidFill>
              </a:rPr>
              <a:t>Causal</a:t>
            </a:r>
            <a:r>
              <a:rPr lang="de-DE" b="1" dirty="0">
                <a:solidFill>
                  <a:srgbClr val="00B0F0"/>
                </a:solidFill>
              </a:rPr>
              <a:t> </a:t>
            </a:r>
            <a:r>
              <a:rPr lang="de-DE" b="1" dirty="0" err="1">
                <a:solidFill>
                  <a:srgbClr val="00B0F0"/>
                </a:solidFill>
              </a:rPr>
              <a:t>sufficiency</a:t>
            </a:r>
            <a:r>
              <a:rPr lang="de-DE" b="1" dirty="0">
                <a:solidFill>
                  <a:srgbClr val="00B0F0"/>
                </a:solidFill>
              </a:rPr>
              <a:t> not </a:t>
            </a:r>
            <a:r>
              <a:rPr lang="de-DE" b="1" dirty="0" err="1">
                <a:solidFill>
                  <a:srgbClr val="00B0F0"/>
                </a:solidFill>
              </a:rPr>
              <a:t>provided</a:t>
            </a:r>
            <a:r>
              <a:rPr lang="de-DE" b="1" dirty="0">
                <a:solidFill>
                  <a:srgbClr val="00B0F0"/>
                </a:solidFill>
              </a:rPr>
              <a:t> -&gt; </a:t>
            </a:r>
            <a:r>
              <a:rPr lang="de-DE" dirty="0" err="1">
                <a:solidFill>
                  <a:srgbClr val="00B0F0"/>
                </a:solidFill>
              </a:rPr>
              <a:t>we`re</a:t>
            </a:r>
            <a:r>
              <a:rPr lang="de-DE" dirty="0">
                <a:solidFill>
                  <a:srgbClr val="00B0F0"/>
                </a:solidFill>
              </a:rPr>
              <a:t> </a:t>
            </a:r>
            <a:r>
              <a:rPr lang="de-DE" dirty="0" err="1">
                <a:solidFill>
                  <a:srgbClr val="00B0F0"/>
                </a:solidFill>
              </a:rPr>
              <a:t>fucked</a:t>
            </a:r>
            <a:r>
              <a:rPr lang="de-DE" b="1" dirty="0">
                <a:solidFill>
                  <a:srgbClr val="00B0F0"/>
                </a:solidFill>
              </a:rPr>
              <a:t> </a:t>
            </a:r>
            <a:r>
              <a:rPr lang="de-DE" dirty="0">
                <a:solidFill>
                  <a:srgbClr val="00B0F0"/>
                </a:solidFill>
              </a:rPr>
              <a:t>(i.e., </a:t>
            </a:r>
            <a:r>
              <a:rPr lang="de-DE" dirty="0" err="1">
                <a:solidFill>
                  <a:srgbClr val="00B0F0"/>
                </a:solidFill>
              </a:rPr>
              <a:t>biased</a:t>
            </a:r>
            <a:r>
              <a:rPr lang="de-DE" dirty="0">
                <a:solidFill>
                  <a:srgbClr val="00B0F0"/>
                </a:solidFill>
              </a:rPr>
              <a:t>); </a:t>
            </a:r>
            <a:r>
              <a:rPr lang="de-DE" b="1" dirty="0" err="1">
                <a:solidFill>
                  <a:srgbClr val="00B0F0"/>
                </a:solidFill>
              </a:rPr>
              <a:t>No</a:t>
            </a:r>
            <a:r>
              <a:rPr lang="de-DE" b="1" dirty="0">
                <a:solidFill>
                  <a:srgbClr val="00B0F0"/>
                </a:solidFill>
              </a:rPr>
              <a:t> </a:t>
            </a:r>
            <a:r>
              <a:rPr lang="de-DE" b="1" dirty="0" err="1">
                <a:solidFill>
                  <a:srgbClr val="00B0F0"/>
                </a:solidFill>
              </a:rPr>
              <a:t>advantage</a:t>
            </a:r>
            <a:r>
              <a:rPr lang="de-DE" b="1" dirty="0">
                <a:solidFill>
                  <a:srgbClr val="00B0F0"/>
                </a:solidFill>
              </a:rPr>
              <a:t> AT ALL!</a:t>
            </a:r>
          </a:p>
          <a:p>
            <a:endParaRPr lang="de-DE" b="1" dirty="0">
              <a:solidFill>
                <a:srgbClr val="00B0F0"/>
              </a:solidFill>
            </a:endParaRPr>
          </a:p>
          <a:p>
            <a:r>
              <a:rPr lang="de-DE" b="1" dirty="0" err="1">
                <a:solidFill>
                  <a:srgbClr val="00B0F0"/>
                </a:solidFill>
              </a:rPr>
              <a:t>Correct</a:t>
            </a:r>
            <a:r>
              <a:rPr lang="de-DE" b="1" dirty="0">
                <a:solidFill>
                  <a:srgbClr val="00B0F0"/>
                </a:solidFill>
              </a:rPr>
              <a:t> </a:t>
            </a:r>
            <a:r>
              <a:rPr lang="de-DE" b="1" dirty="0" err="1">
                <a:solidFill>
                  <a:srgbClr val="00B0F0"/>
                </a:solidFill>
              </a:rPr>
              <a:t>model</a:t>
            </a:r>
            <a:r>
              <a:rPr lang="de-DE" b="1" dirty="0">
                <a:solidFill>
                  <a:srgbClr val="00B0F0"/>
                </a:solidFill>
              </a:rPr>
              <a:t> </a:t>
            </a:r>
            <a:r>
              <a:rPr lang="de-DE" b="1" dirty="0" err="1">
                <a:solidFill>
                  <a:srgbClr val="00B0F0"/>
                </a:solidFill>
              </a:rPr>
              <a:t>specification</a:t>
            </a:r>
            <a:r>
              <a:rPr lang="de-DE" b="1" dirty="0">
                <a:solidFill>
                  <a:srgbClr val="00B0F0"/>
                </a:solidFill>
              </a:rPr>
              <a:t>: Strong </a:t>
            </a:r>
            <a:r>
              <a:rPr lang="de-DE" dirty="0">
                <a:solidFill>
                  <a:srgbClr val="00B0F0"/>
                </a:solidFill>
              </a:rPr>
              <a:t>ML-</a:t>
            </a:r>
            <a:r>
              <a:rPr lang="de-DE" b="1" dirty="0">
                <a:solidFill>
                  <a:srgbClr val="00B0F0"/>
                </a:solidFill>
              </a:rPr>
              <a:t>advantage</a:t>
            </a:r>
            <a:endParaRPr lang="de-DE" dirty="0">
              <a:solidFill>
                <a:srgbClr val="00B0F0"/>
              </a:solidFill>
            </a:endParaRPr>
          </a:p>
        </p:txBody>
      </p:sp>
      <p:sp>
        <p:nvSpPr>
          <p:cNvPr id="3" name="Rechteck 2">
            <a:extLst>
              <a:ext uri="{FF2B5EF4-FFF2-40B4-BE49-F238E27FC236}">
                <a16:creationId xmlns:a16="http://schemas.microsoft.com/office/drawing/2014/main" id="{548D8CA6-4F44-4AEB-BB44-374D8AFBC42F}"/>
              </a:ext>
            </a:extLst>
          </p:cNvPr>
          <p:cNvSpPr/>
          <p:nvPr/>
        </p:nvSpPr>
        <p:spPr>
          <a:xfrm>
            <a:off x="6110473" y="4734634"/>
            <a:ext cx="2959443" cy="1300726"/>
          </a:xfrm>
          <a:prstGeom prst="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4" name="Picture 8" descr="Jogger erschreckt Pferd – wer ist schuld? – FIT for LIFE">
            <a:extLst>
              <a:ext uri="{FF2B5EF4-FFF2-40B4-BE49-F238E27FC236}">
                <a16:creationId xmlns:a16="http://schemas.microsoft.com/office/drawing/2014/main" id="{495C02AC-BAF6-49D5-B81E-5081E697128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610" r="37230" b="5684"/>
          <a:stretch/>
        </p:blipFill>
        <p:spPr bwMode="auto">
          <a:xfrm>
            <a:off x="9407952" y="3083355"/>
            <a:ext cx="882828" cy="1317098"/>
          </a:xfrm>
          <a:prstGeom prst="rect">
            <a:avLst/>
          </a:prstGeom>
          <a:noFill/>
          <a:extLst>
            <a:ext uri="{909E8E84-426E-40DD-AFC4-6F175D3DCCD1}">
              <a14:hiddenFill xmlns:a14="http://schemas.microsoft.com/office/drawing/2010/main">
                <a:solidFill>
                  <a:srgbClr val="FFFFFF"/>
                </a:solidFill>
              </a14:hiddenFill>
            </a:ext>
          </a:extLst>
        </p:spPr>
      </p:pic>
      <p:sp>
        <p:nvSpPr>
          <p:cNvPr id="16" name="Titel 1">
            <a:extLst>
              <a:ext uri="{FF2B5EF4-FFF2-40B4-BE49-F238E27FC236}">
                <a16:creationId xmlns:a16="http://schemas.microsoft.com/office/drawing/2014/main" id="{E8C4F01B-2ECD-4642-B9E9-33ED398EC5CB}"/>
              </a:ext>
            </a:extLst>
          </p:cNvPr>
          <p:cNvSpPr txBox="1">
            <a:spLocks/>
          </p:cNvSpPr>
          <p:nvPr/>
        </p:nvSpPr>
        <p:spPr bwMode="auto">
          <a:xfrm>
            <a:off x="10497037" y="3178024"/>
            <a:ext cx="1369369" cy="56309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de-AT" sz="1000" i="1" dirty="0" err="1">
                <a:latin typeface="Arial" panose="020B0604020202020204" pitchFamily="34" charset="0"/>
                <a:cs typeface="Arial" panose="020B0604020202020204" pitchFamily="34" charset="0"/>
              </a:rPr>
              <a:t>Maaaybe</a:t>
            </a:r>
            <a:r>
              <a:rPr lang="de-AT" sz="1000" i="1" dirty="0">
                <a:latin typeface="Arial" panose="020B0604020202020204" pitchFamily="34" charset="0"/>
                <a:cs typeface="Arial" panose="020B0604020202020204" pitchFamily="34" charset="0"/>
              </a:rPr>
              <a:t> in rare </a:t>
            </a:r>
            <a:r>
              <a:rPr lang="de-AT" sz="1000" i="1" dirty="0" err="1">
                <a:latin typeface="Arial" panose="020B0604020202020204" pitchFamily="34" charset="0"/>
                <a:cs typeface="Arial" panose="020B0604020202020204" pitchFamily="34" charset="0"/>
              </a:rPr>
              <a:t>cases</a:t>
            </a:r>
            <a:r>
              <a:rPr lang="de-AT" sz="1000" i="1" dirty="0">
                <a:latin typeface="Arial" panose="020B0604020202020204" pitchFamily="34" charset="0"/>
                <a:cs typeface="Arial" panose="020B0604020202020204" pitchFamily="34" charset="0"/>
              </a:rPr>
              <a:t> </a:t>
            </a:r>
            <a:r>
              <a:rPr lang="de-AT" sz="1000" i="1" dirty="0" err="1">
                <a:latin typeface="Arial" panose="020B0604020202020204" pitchFamily="34" charset="0"/>
                <a:cs typeface="Arial" panose="020B0604020202020204" pitchFamily="34" charset="0"/>
              </a:rPr>
              <a:t>causal</a:t>
            </a:r>
            <a:r>
              <a:rPr lang="de-AT" sz="1000" i="1" dirty="0">
                <a:latin typeface="Arial" panose="020B0604020202020204" pitchFamily="34" charset="0"/>
                <a:cs typeface="Arial" panose="020B0604020202020204" pitchFamily="34" charset="0"/>
              </a:rPr>
              <a:t> </a:t>
            </a:r>
            <a:r>
              <a:rPr lang="de-AT" sz="1000" i="1" dirty="0" err="1">
                <a:latin typeface="Arial" panose="020B0604020202020204" pitchFamily="34" charset="0"/>
                <a:cs typeface="Arial" panose="020B0604020202020204" pitchFamily="34" charset="0"/>
              </a:rPr>
              <a:t>discovery</a:t>
            </a:r>
            <a:r>
              <a:rPr lang="de-AT" sz="1000" i="1" dirty="0">
                <a:latin typeface="Arial" panose="020B0604020202020204" pitchFamily="34" charset="0"/>
                <a:cs typeface="Arial" panose="020B0604020202020204" pitchFamily="34" charset="0"/>
              </a:rPr>
              <a:t> </a:t>
            </a:r>
            <a:r>
              <a:rPr lang="de-AT" sz="1000" i="1" dirty="0" err="1">
                <a:latin typeface="Arial" panose="020B0604020202020204" pitchFamily="34" charset="0"/>
                <a:cs typeface="Arial" panose="020B0604020202020204" pitchFamily="34" charset="0"/>
              </a:rPr>
              <a:t>may</a:t>
            </a:r>
            <a:r>
              <a:rPr lang="de-AT" sz="1000" i="1" dirty="0">
                <a:latin typeface="Arial" panose="020B0604020202020204" pitchFamily="34" charset="0"/>
                <a:cs typeface="Arial" panose="020B0604020202020204" pitchFamily="34" charset="0"/>
              </a:rPr>
              <a:t> </a:t>
            </a:r>
            <a:r>
              <a:rPr lang="de-AT" sz="1000" i="1" dirty="0" err="1">
                <a:latin typeface="Arial" panose="020B0604020202020204" pitchFamily="34" charset="0"/>
                <a:cs typeface="Arial" panose="020B0604020202020204" pitchFamily="34" charset="0"/>
              </a:rPr>
              <a:t>reduce</a:t>
            </a:r>
            <a:r>
              <a:rPr lang="de-AT" sz="1000" i="1" dirty="0">
                <a:latin typeface="Arial" panose="020B0604020202020204" pitchFamily="34" charset="0"/>
                <a:cs typeface="Arial" panose="020B0604020202020204" pitchFamily="34" charset="0"/>
              </a:rPr>
              <a:t> </a:t>
            </a:r>
            <a:r>
              <a:rPr lang="de-AT" sz="1000" i="1" dirty="0" err="1">
                <a:latin typeface="Arial" panose="020B0604020202020204" pitchFamily="34" charset="0"/>
                <a:cs typeface="Arial" panose="020B0604020202020204" pitchFamily="34" charset="0"/>
              </a:rPr>
              <a:t>bias</a:t>
            </a:r>
            <a:r>
              <a:rPr lang="de-AT" sz="1000" i="1" dirty="0">
                <a:latin typeface="Arial" panose="020B0604020202020204" pitchFamily="34" charset="0"/>
                <a:cs typeface="Arial" panose="020B0604020202020204" pitchFamily="34" charset="0"/>
              </a:rPr>
              <a:t>…</a:t>
            </a:r>
          </a:p>
        </p:txBody>
      </p:sp>
      <p:sp>
        <p:nvSpPr>
          <p:cNvPr id="18" name="Sprechblase: oval 17">
            <a:extLst>
              <a:ext uri="{FF2B5EF4-FFF2-40B4-BE49-F238E27FC236}">
                <a16:creationId xmlns:a16="http://schemas.microsoft.com/office/drawing/2014/main" id="{FE0AE378-8BED-4AFB-A467-EF751016B53B}"/>
              </a:ext>
            </a:extLst>
          </p:cNvPr>
          <p:cNvSpPr/>
          <p:nvPr/>
        </p:nvSpPr>
        <p:spPr bwMode="auto">
          <a:xfrm>
            <a:off x="10428825" y="3064668"/>
            <a:ext cx="1522017" cy="744966"/>
          </a:xfrm>
          <a:prstGeom prst="wedgeEllipseCallout">
            <a:avLst>
              <a:gd name="adj1" fmla="val -55063"/>
              <a:gd name="adj2" fmla="val 65688"/>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800">
              <a:solidFill>
                <a:schemeClr val="tx1"/>
              </a:solidFill>
            </a:endParaRPr>
          </a:p>
        </p:txBody>
      </p:sp>
    </p:spTree>
    <p:extLst>
      <p:ext uri="{BB962C8B-B14F-4D97-AF65-F5344CB8AC3E}">
        <p14:creationId xmlns:p14="http://schemas.microsoft.com/office/powerpoint/2010/main" val="420804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bg>
      <p:bgPr>
        <a:solidFill>
          <a:schemeClr val="tx1"/>
        </a:solidFill>
        <a:effectLst/>
      </p:bgPr>
    </p:bg>
    <p:spTree>
      <p:nvGrpSpPr>
        <p:cNvPr id="1" name=""/>
        <p:cNvGrpSpPr/>
        <p:nvPr/>
      </p:nvGrpSpPr>
      <p:grpSpPr bwMode="auto">
        <a:xfrm>
          <a:off x="0" y="0"/>
          <a:ext cx="0" cy="0"/>
          <a:chOff x="0" y="0"/>
          <a:chExt cx="0" cy="0"/>
        </a:xfrm>
      </p:grpSpPr>
      <p:sp>
        <p:nvSpPr>
          <p:cNvPr id="4" name="Rechteck 3">
            <a:extLst>
              <a:ext uri="{FF2B5EF4-FFF2-40B4-BE49-F238E27FC236}">
                <a16:creationId xmlns:a16="http://schemas.microsoft.com/office/drawing/2014/main" id="{7524DA9A-46A3-4912-BF4E-032E888E93B0}"/>
              </a:ext>
            </a:extLst>
          </p:cNvPr>
          <p:cNvSpPr/>
          <p:nvPr/>
        </p:nvSpPr>
        <p:spPr>
          <a:xfrm>
            <a:off x="119336" y="585247"/>
            <a:ext cx="11953328" cy="561662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8" name="Textfeld 27">
            <a:extLst>
              <a:ext uri="{FF2B5EF4-FFF2-40B4-BE49-F238E27FC236}">
                <a16:creationId xmlns:a16="http://schemas.microsoft.com/office/drawing/2014/main" id="{3926715B-E100-4E13-B8ED-83B40B2D37E8}"/>
              </a:ext>
            </a:extLst>
          </p:cNvPr>
          <p:cNvSpPr txBox="1"/>
          <p:nvPr/>
        </p:nvSpPr>
        <p:spPr bwMode="auto">
          <a:xfrm>
            <a:off x="4460799" y="800994"/>
            <a:ext cx="5037190" cy="369332"/>
          </a:xfrm>
          <a:prstGeom prst="rect">
            <a:avLst/>
          </a:prstGeom>
          <a:noFill/>
        </p:spPr>
        <p:txBody>
          <a:bodyPr wrap="square" rtlCol="0">
            <a:spAutoFit/>
          </a:bodyPr>
          <a:lstStyle/>
          <a:p>
            <a:r>
              <a:rPr lang="de-DE" dirty="0">
                <a:solidFill>
                  <a:schemeClr val="bg1"/>
                </a:solidFill>
                <a:latin typeface="Arial" panose="020B0604020202020204" pitchFamily="34" charset="0"/>
                <a:cs typeface="Arial" panose="020B0604020202020204" pitchFamily="34" charset="0"/>
              </a:rPr>
              <a:t>TIMSS </a:t>
            </a:r>
            <a:r>
              <a:rPr lang="de-DE" dirty="0" err="1">
                <a:solidFill>
                  <a:schemeClr val="bg1"/>
                </a:solidFill>
                <a:latin typeface="Arial" panose="020B0604020202020204" pitchFamily="34" charset="0"/>
                <a:cs typeface="Arial" panose="020B0604020202020204" pitchFamily="34" charset="0"/>
              </a:rPr>
              <a:t>study</a:t>
            </a:r>
            <a:r>
              <a:rPr lang="de-DE" dirty="0">
                <a:solidFill>
                  <a:schemeClr val="bg1"/>
                </a:solidFill>
                <a:latin typeface="Arial" panose="020B0604020202020204" pitchFamily="34" charset="0"/>
                <a:cs typeface="Arial" panose="020B0604020202020204" pitchFamily="34" charset="0"/>
              </a:rPr>
              <a:t> (</a:t>
            </a:r>
            <a:r>
              <a:rPr lang="de-DE" b="1" dirty="0" err="1">
                <a:solidFill>
                  <a:schemeClr val="bg1"/>
                </a:solidFill>
                <a:latin typeface="Arial" panose="020B0604020202020204" pitchFamily="34" charset="0"/>
                <a:cs typeface="Arial" panose="020B0604020202020204" pitchFamily="34" charset="0"/>
              </a:rPr>
              <a:t>cross-sectional</a:t>
            </a:r>
            <a:r>
              <a:rPr lang="de-DE" dirty="0">
                <a:solidFill>
                  <a:schemeClr val="bg1"/>
                </a:solidFill>
                <a:latin typeface="Arial" panose="020B0604020202020204" pitchFamily="34" charset="0"/>
                <a:cs typeface="Arial" panose="020B0604020202020204" pitchFamily="34" charset="0"/>
              </a:rPr>
              <a:t>)</a:t>
            </a:r>
          </a:p>
        </p:txBody>
      </p:sp>
      <p:cxnSp>
        <p:nvCxnSpPr>
          <p:cNvPr id="30" name="Gerade Verbindung mit Pfeil 29">
            <a:extLst>
              <a:ext uri="{FF2B5EF4-FFF2-40B4-BE49-F238E27FC236}">
                <a16:creationId xmlns:a16="http://schemas.microsoft.com/office/drawing/2014/main" id="{695BD1A6-35AA-4ADC-814E-6D23E8DE38B3}"/>
              </a:ext>
            </a:extLst>
          </p:cNvPr>
          <p:cNvCxnSpPr>
            <a:cxnSpLocks/>
            <a:endCxn id="28" idx="2"/>
          </p:cNvCxnSpPr>
          <p:nvPr/>
        </p:nvCxnSpPr>
        <p:spPr bwMode="auto">
          <a:xfrm flipH="1" flipV="1">
            <a:off x="6979394" y="1170326"/>
            <a:ext cx="679754" cy="3773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36" name="Grafik 35">
            <a:extLst>
              <a:ext uri="{FF2B5EF4-FFF2-40B4-BE49-F238E27FC236}">
                <a16:creationId xmlns:a16="http://schemas.microsoft.com/office/drawing/2014/main" id="{9D016308-7E81-4026-8737-45BE7AE81618}"/>
              </a:ext>
            </a:extLst>
          </p:cNvPr>
          <p:cNvPicPr>
            <a:picLocks noChangeAspect="1"/>
          </p:cNvPicPr>
          <p:nvPr/>
        </p:nvPicPr>
        <p:blipFill>
          <a:blip r:embed="rId3"/>
          <a:stretch>
            <a:fillRect/>
          </a:stretch>
        </p:blipFill>
        <p:spPr>
          <a:xfrm>
            <a:off x="546846" y="1199321"/>
            <a:ext cx="5071457" cy="2434299"/>
          </a:xfrm>
          <a:prstGeom prst="rect">
            <a:avLst/>
          </a:prstGeom>
        </p:spPr>
      </p:pic>
      <p:pic>
        <p:nvPicPr>
          <p:cNvPr id="5" name="Grafik 4">
            <a:extLst>
              <a:ext uri="{FF2B5EF4-FFF2-40B4-BE49-F238E27FC236}">
                <a16:creationId xmlns:a16="http://schemas.microsoft.com/office/drawing/2014/main" id="{B56CA96E-EAF2-4CD4-8715-A22E93489E84}"/>
              </a:ext>
            </a:extLst>
          </p:cNvPr>
          <p:cNvPicPr>
            <a:picLocks noChangeAspect="1"/>
          </p:cNvPicPr>
          <p:nvPr/>
        </p:nvPicPr>
        <p:blipFill rotWithShape="1">
          <a:blip r:embed="rId4"/>
          <a:srcRect l="7747" r="15105"/>
          <a:stretch/>
        </p:blipFill>
        <p:spPr>
          <a:xfrm>
            <a:off x="1089891" y="4242737"/>
            <a:ext cx="1573991" cy="1224130"/>
          </a:xfrm>
          <a:prstGeom prst="rect">
            <a:avLst/>
          </a:prstGeom>
        </p:spPr>
      </p:pic>
      <p:sp>
        <p:nvSpPr>
          <p:cNvPr id="27" name="Titel 1">
            <a:extLst>
              <a:ext uri="{FF2B5EF4-FFF2-40B4-BE49-F238E27FC236}">
                <a16:creationId xmlns:a16="http://schemas.microsoft.com/office/drawing/2014/main" id="{6BFCDA74-EBFE-4561-A3F3-0DC75DB8E82D}"/>
              </a:ext>
            </a:extLst>
          </p:cNvPr>
          <p:cNvSpPr txBox="1">
            <a:spLocks/>
          </p:cNvSpPr>
          <p:nvPr/>
        </p:nvSpPr>
        <p:spPr bwMode="auto">
          <a:xfrm>
            <a:off x="2680332" y="4092823"/>
            <a:ext cx="1573991" cy="480960"/>
          </a:xfrm>
          <a:prstGeom prst="rect">
            <a:avLst/>
          </a:prstGeom>
        </p:spPr>
        <p:txBody>
          <a:bodyPr vert="horz" lIns="91440" tIns="45720" rIns="91440" bIns="45720" rtlCol="0" anchor="ctr">
            <a:normAutofit fontScale="85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de-AT" sz="1800" i="1" dirty="0" err="1">
                <a:solidFill>
                  <a:schemeClr val="bg1"/>
                </a:solidFill>
                <a:latin typeface="Arial" panose="020B0604020202020204" pitchFamily="34" charset="0"/>
                <a:cs typeface="Arial" panose="020B0604020202020204" pitchFamily="34" charset="0"/>
              </a:rPr>
              <a:t>Timssi</a:t>
            </a:r>
            <a:r>
              <a:rPr lang="de-AT" sz="1800" i="1" dirty="0">
                <a:solidFill>
                  <a:schemeClr val="bg1"/>
                </a:solidFill>
                <a:latin typeface="Arial" panose="020B0604020202020204" pitchFamily="34" charset="0"/>
                <a:cs typeface="Arial" panose="020B0604020202020204" pitchFamily="34" charset="0"/>
              </a:rPr>
              <a:t>, </a:t>
            </a:r>
            <a:r>
              <a:rPr lang="de-AT" sz="1800" i="1" dirty="0" err="1">
                <a:solidFill>
                  <a:schemeClr val="bg1"/>
                </a:solidFill>
                <a:latin typeface="Arial" panose="020B0604020202020204" pitchFamily="34" charset="0"/>
                <a:cs typeface="Arial" panose="020B0604020202020204" pitchFamily="34" charset="0"/>
              </a:rPr>
              <a:t>is</a:t>
            </a:r>
            <a:r>
              <a:rPr lang="de-AT" sz="1800" i="1" dirty="0">
                <a:solidFill>
                  <a:schemeClr val="bg1"/>
                </a:solidFill>
                <a:latin typeface="Arial" panose="020B0604020202020204" pitchFamily="34" charset="0"/>
                <a:cs typeface="Arial" panose="020B0604020202020204" pitchFamily="34" charset="0"/>
              </a:rPr>
              <a:t> </a:t>
            </a:r>
            <a:r>
              <a:rPr lang="de-AT" sz="1800" i="1" dirty="0" err="1">
                <a:solidFill>
                  <a:schemeClr val="bg1"/>
                </a:solidFill>
                <a:latin typeface="Arial" panose="020B0604020202020204" pitchFamily="34" charset="0"/>
                <a:cs typeface="Arial" panose="020B0604020202020204" pitchFamily="34" charset="0"/>
              </a:rPr>
              <a:t>this</a:t>
            </a:r>
            <a:r>
              <a:rPr lang="de-AT" sz="1800" i="1" dirty="0">
                <a:solidFill>
                  <a:schemeClr val="bg1"/>
                </a:solidFill>
                <a:latin typeface="Arial" panose="020B0604020202020204" pitchFamily="34" charset="0"/>
                <a:cs typeface="Arial" panose="020B0604020202020204" pitchFamily="34" charset="0"/>
              </a:rPr>
              <a:t> </a:t>
            </a:r>
            <a:r>
              <a:rPr lang="de-AT" sz="1800" b="1" i="1" dirty="0" err="1">
                <a:solidFill>
                  <a:schemeClr val="bg1"/>
                </a:solidFill>
                <a:latin typeface="Arial" panose="020B0604020202020204" pitchFamily="34" charset="0"/>
                <a:cs typeface="Arial" panose="020B0604020202020204" pitchFamily="34" charset="0"/>
              </a:rPr>
              <a:t>bullshit</a:t>
            </a:r>
            <a:r>
              <a:rPr lang="de-AT" sz="1800" b="1" i="1" dirty="0">
                <a:solidFill>
                  <a:schemeClr val="bg1"/>
                </a:solidFill>
                <a:latin typeface="Arial" panose="020B0604020202020204" pitchFamily="34" charset="0"/>
                <a:cs typeface="Arial" panose="020B0604020202020204" pitchFamily="34" charset="0"/>
              </a:rPr>
              <a:t>?</a:t>
            </a:r>
          </a:p>
        </p:txBody>
      </p:sp>
      <p:sp>
        <p:nvSpPr>
          <p:cNvPr id="31" name="Sprechblase: oval 30">
            <a:extLst>
              <a:ext uri="{FF2B5EF4-FFF2-40B4-BE49-F238E27FC236}">
                <a16:creationId xmlns:a16="http://schemas.microsoft.com/office/drawing/2014/main" id="{58F94FFB-05BF-4ED1-844D-8A5F1F7A22EA}"/>
              </a:ext>
            </a:extLst>
          </p:cNvPr>
          <p:cNvSpPr/>
          <p:nvPr/>
        </p:nvSpPr>
        <p:spPr bwMode="auto">
          <a:xfrm>
            <a:off x="2699446" y="4074150"/>
            <a:ext cx="1606064" cy="480960"/>
          </a:xfrm>
          <a:prstGeom prst="wedgeEllipseCallout">
            <a:avLst>
              <a:gd name="adj1" fmla="val -65744"/>
              <a:gd name="adj2" fmla="val 86438"/>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bg1"/>
              </a:solidFill>
            </a:endParaRPr>
          </a:p>
        </p:txBody>
      </p:sp>
      <p:sp>
        <p:nvSpPr>
          <p:cNvPr id="13" name="Abgerundetes Rechteck 41">
            <a:extLst>
              <a:ext uri="{FF2B5EF4-FFF2-40B4-BE49-F238E27FC236}">
                <a16:creationId xmlns:a16="http://schemas.microsoft.com/office/drawing/2014/main" id="{781DC531-9A66-499C-9032-E7D8D48105CA}"/>
              </a:ext>
            </a:extLst>
          </p:cNvPr>
          <p:cNvSpPr/>
          <p:nvPr/>
        </p:nvSpPr>
        <p:spPr>
          <a:xfrm>
            <a:off x="9345385" y="5957917"/>
            <a:ext cx="2557055" cy="838199"/>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dirty="0">
                <a:ln>
                  <a:noFill/>
                </a:ln>
                <a:solidFill>
                  <a:prstClr val="white"/>
                </a:solidFill>
                <a:effectLst/>
                <a:uLnTx/>
                <a:uFillTx/>
                <a:latin typeface="Arial" panose="020B0604020202020204"/>
                <a:ea typeface="+mn-ea"/>
                <a:cs typeface="+mn-cs"/>
              </a:rPr>
              <a:t>I)   </a:t>
            </a:r>
            <a:r>
              <a:rPr kumimoji="0" lang="de-CH" sz="1200" b="0" i="0" u="none" strike="noStrike" kern="1200" cap="none" spc="0" normalizeH="0" baseline="0" noProof="0" dirty="0" err="1">
                <a:ln>
                  <a:noFill/>
                </a:ln>
                <a:solidFill>
                  <a:prstClr val="white"/>
                </a:solidFill>
                <a:effectLst/>
                <a:uLnTx/>
                <a:uFillTx/>
                <a:latin typeface="Arial" panose="020B0604020202020204"/>
                <a:ea typeface="+mn-ea"/>
                <a:cs typeface="+mn-cs"/>
              </a:rPr>
              <a:t>What</a:t>
            </a:r>
            <a:r>
              <a:rPr kumimoji="0" lang="de-CH" sz="12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b="0" i="1" u="none" strike="noStrike" kern="1200" cap="none" spc="0" normalizeH="0" baseline="0" noProof="0" dirty="0" err="1">
                <a:ln>
                  <a:noFill/>
                </a:ln>
                <a:solidFill>
                  <a:prstClr val="white"/>
                </a:solidFill>
                <a:effectLst/>
                <a:uLnTx/>
                <a:uFillTx/>
                <a:latin typeface="Arial" panose="020B0604020202020204"/>
                <a:ea typeface="+mn-ea"/>
                <a:cs typeface="+mn-cs"/>
              </a:rPr>
              <a:t>is</a:t>
            </a:r>
            <a:r>
              <a:rPr kumimoji="0" lang="de-CH" sz="1200" b="0" i="0" u="none" strike="noStrike" kern="1200" cap="none" spc="0" normalizeH="0" baseline="0" noProof="0" dirty="0">
                <a:ln>
                  <a:noFill/>
                </a:ln>
                <a:solidFill>
                  <a:prstClr val="white"/>
                </a:solidFill>
                <a:effectLst/>
                <a:uLnTx/>
                <a:uFillTx/>
                <a:latin typeface="Arial" panose="020B0604020202020204"/>
                <a:ea typeface="+mn-ea"/>
                <a:cs typeface="+mn-cs"/>
              </a:rPr>
              <a:t> CML?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i="0" u="none" strike="noStrike" kern="1200" cap="none" spc="0" normalizeH="0" baseline="0" noProof="0" dirty="0">
                <a:ln>
                  <a:noFill/>
                </a:ln>
                <a:solidFill>
                  <a:prstClr val="white"/>
                </a:solidFill>
                <a:effectLst/>
                <a:uLnTx/>
                <a:uFillTx/>
                <a:latin typeface="Arial" panose="020B0604020202020204"/>
                <a:ea typeface="+mn-ea"/>
                <a:cs typeface="+mn-cs"/>
              </a:rPr>
              <a:t>II)  The </a:t>
            </a:r>
            <a:r>
              <a:rPr kumimoji="0" lang="de-CH" sz="1200" i="1" u="none" strike="noStrike" kern="1200" cap="none" spc="0" normalizeH="0" baseline="0" noProof="0" dirty="0" err="1">
                <a:ln>
                  <a:noFill/>
                </a:ln>
                <a:solidFill>
                  <a:prstClr val="white"/>
                </a:solidFill>
                <a:effectLst/>
                <a:uLnTx/>
                <a:uFillTx/>
                <a:latin typeface="Arial" panose="020B0604020202020204"/>
                <a:ea typeface="+mn-ea"/>
                <a:cs typeface="+mn-cs"/>
              </a:rPr>
              <a:t>Bayesian</a:t>
            </a:r>
            <a:r>
              <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i="1" u="none" strike="noStrike" kern="1200" cap="none" spc="0" normalizeH="0" baseline="0" noProof="0" dirty="0" err="1">
                <a:ln>
                  <a:noFill/>
                </a:ln>
                <a:solidFill>
                  <a:prstClr val="white"/>
                </a:solidFill>
                <a:effectLst/>
                <a:uLnTx/>
                <a:uFillTx/>
                <a:latin typeface="Arial" panose="020B0604020202020204"/>
                <a:ea typeface="+mn-ea"/>
                <a:cs typeface="+mn-cs"/>
              </a:rPr>
              <a:t>causal</a:t>
            </a:r>
            <a:r>
              <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i="1" u="none" strike="noStrike" kern="1200" cap="none" spc="0" normalizeH="0" baseline="0" noProof="0" dirty="0" err="1">
                <a:ln>
                  <a:noFill/>
                </a:ln>
                <a:solidFill>
                  <a:prstClr val="white"/>
                </a:solidFill>
                <a:effectLst/>
                <a:uLnTx/>
                <a:uFillTx/>
                <a:latin typeface="Arial" panose="020B0604020202020204"/>
                <a:ea typeface="+mn-ea"/>
                <a:cs typeface="+mn-cs"/>
              </a:rPr>
              <a:t>forest</a:t>
            </a:r>
            <a:endPar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b="1" i="0" u="none" strike="noStrike" kern="1200" cap="none" spc="0" normalizeH="0" baseline="0" noProof="0" dirty="0">
                <a:ln>
                  <a:noFill/>
                </a:ln>
                <a:solidFill>
                  <a:prstClr val="white"/>
                </a:solidFill>
                <a:effectLst/>
                <a:uLnTx/>
                <a:uFillTx/>
                <a:latin typeface="Arial" panose="020B0604020202020204"/>
                <a:ea typeface="+mn-ea"/>
                <a:cs typeface="+mn-cs"/>
              </a:rPr>
              <a:t>III) </a:t>
            </a:r>
            <a:r>
              <a:rPr kumimoji="0" lang="de-CH" sz="1200" b="1" i="1" u="none" strike="noStrike" kern="1200" cap="none" spc="0" normalizeH="0" baseline="0" noProof="0" dirty="0" err="1">
                <a:ln>
                  <a:noFill/>
                </a:ln>
                <a:solidFill>
                  <a:prstClr val="white"/>
                </a:solidFill>
                <a:effectLst/>
                <a:uLnTx/>
                <a:uFillTx/>
                <a:latin typeface="Arial" panose="020B0604020202020204"/>
                <a:ea typeface="+mn-ea"/>
                <a:cs typeface="+mn-cs"/>
              </a:rPr>
              <a:t>Uniqueness</a:t>
            </a:r>
            <a:r>
              <a:rPr kumimoji="0" lang="de-CH" sz="1200" b="1"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b="1" i="0" u="none" strike="noStrike" kern="1200" cap="none" spc="0" normalizeH="0" baseline="0" noProof="0" dirty="0" err="1">
                <a:ln>
                  <a:noFill/>
                </a:ln>
                <a:solidFill>
                  <a:prstClr val="white"/>
                </a:solidFill>
                <a:effectLst/>
                <a:uLnTx/>
                <a:uFillTx/>
                <a:latin typeface="Arial" panose="020B0604020202020204"/>
                <a:ea typeface="+mn-ea"/>
                <a:cs typeface="+mn-cs"/>
              </a:rPr>
              <a:t>of</a:t>
            </a:r>
            <a:r>
              <a:rPr kumimoji="0" lang="de-CH" sz="1200" b="1" i="0" u="none" strike="noStrike" kern="1200" cap="none" spc="0" normalizeH="0" baseline="0" noProof="0" dirty="0">
                <a:ln>
                  <a:noFill/>
                </a:ln>
                <a:solidFill>
                  <a:prstClr val="white"/>
                </a:solidFill>
                <a:effectLst/>
                <a:uLnTx/>
                <a:uFillTx/>
                <a:latin typeface="Arial" panose="020B0604020202020204"/>
                <a:ea typeface="+mn-ea"/>
                <a:cs typeface="+mn-cs"/>
              </a:rPr>
              <a:t> CML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b="0" i="1" u="none" strike="noStrike" kern="1200" cap="none" spc="0" normalizeH="0" baseline="0" noProof="0" dirty="0">
                <a:ln>
                  <a:noFill/>
                </a:ln>
                <a:solidFill>
                  <a:prstClr val="white"/>
                </a:solidFill>
                <a:effectLst/>
                <a:uLnTx/>
                <a:uFillTx/>
                <a:latin typeface="Arial" panose="020B0604020202020204"/>
                <a:ea typeface="+mn-ea"/>
                <a:cs typeface="+mn-cs"/>
              </a:rPr>
              <a:t>IV) </a:t>
            </a:r>
            <a:r>
              <a:rPr kumimoji="0" lang="de-CH" sz="1200" b="0" i="1" u="none" strike="noStrike" kern="1200" cap="none" spc="0" normalizeH="0" baseline="0" noProof="0" dirty="0" err="1">
                <a:ln>
                  <a:noFill/>
                </a:ln>
                <a:solidFill>
                  <a:prstClr val="white"/>
                </a:solidFill>
                <a:effectLst/>
                <a:uLnTx/>
                <a:uFillTx/>
                <a:latin typeface="Arial" panose="020B0604020202020204"/>
                <a:ea typeface="+mn-ea"/>
                <a:cs typeface="+mn-cs"/>
              </a:rPr>
              <a:t>Implications</a:t>
            </a:r>
            <a:r>
              <a:rPr kumimoji="0" lang="de-CH" sz="1200" b="0"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b="0" i="0" u="none" strike="noStrike" kern="1200" cap="none" spc="0" normalizeH="0" baseline="0" noProof="0" dirty="0" err="1">
                <a:ln>
                  <a:noFill/>
                </a:ln>
                <a:solidFill>
                  <a:prstClr val="white"/>
                </a:solidFill>
                <a:effectLst/>
                <a:uLnTx/>
                <a:uFillTx/>
                <a:latin typeface="Arial" panose="020B0604020202020204"/>
                <a:ea typeface="+mn-ea"/>
                <a:cs typeface="+mn-cs"/>
              </a:rPr>
              <a:t>for</a:t>
            </a:r>
            <a:r>
              <a:rPr kumimoji="0" lang="de-CH" sz="12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b="0" i="0" u="none" strike="noStrike" kern="1200" cap="none" spc="0" normalizeH="0" baseline="0" noProof="0" dirty="0" err="1">
                <a:ln>
                  <a:noFill/>
                </a:ln>
                <a:solidFill>
                  <a:prstClr val="white"/>
                </a:solidFill>
                <a:effectLst/>
                <a:uLnTx/>
                <a:uFillTx/>
                <a:latin typeface="Arial" panose="020B0604020202020204"/>
                <a:ea typeface="+mn-ea"/>
                <a:cs typeface="+mn-cs"/>
              </a:rPr>
              <a:t>our</a:t>
            </a:r>
            <a:r>
              <a:rPr kumimoji="0" lang="de-CH" sz="12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b="0" i="0" u="none" strike="noStrike" kern="1200" cap="none" spc="0" normalizeH="0" baseline="0" noProof="0" dirty="0" err="1">
                <a:ln>
                  <a:noFill/>
                </a:ln>
                <a:solidFill>
                  <a:prstClr val="white"/>
                </a:solidFill>
                <a:effectLst/>
                <a:uLnTx/>
                <a:uFillTx/>
                <a:latin typeface="Arial" panose="020B0604020202020204"/>
                <a:ea typeface="+mn-ea"/>
                <a:cs typeface="+mn-cs"/>
              </a:rPr>
              <a:t>research</a:t>
            </a:r>
            <a:endParaRPr kumimoji="0" lang="de-CH" sz="12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39899498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_10.png"/>
          <p:cNvPicPr>
            <a:picLocks noChangeAspect="1"/>
          </p:cNvPicPr>
          <p:nvPr/>
        </p:nvPicPr>
        <p:blipFill>
          <a:blip r:embed="rId2"/>
          <a:stretch>
            <a:fillRect/>
          </a:stretch>
        </p:blipFill>
        <p:spPr>
          <a:xfrm>
            <a:off x="0" y="0"/>
            <a:ext cx="12191695" cy="6858000"/>
          </a:xfrm>
          <a:prstGeom prst="rect">
            <a:avLst/>
          </a:prstGeom>
        </p:spPr>
      </p:pic>
      <p:cxnSp>
        <p:nvCxnSpPr>
          <p:cNvPr id="4" name="Gerader Verbinder 3">
            <a:extLst>
              <a:ext uri="{FF2B5EF4-FFF2-40B4-BE49-F238E27FC236}">
                <a16:creationId xmlns:a16="http://schemas.microsoft.com/office/drawing/2014/main" id="{EDAC6D4F-8D5A-4A8B-8A4B-5EEDD0186F00}"/>
              </a:ext>
            </a:extLst>
          </p:cNvPr>
          <p:cNvCxnSpPr/>
          <p:nvPr/>
        </p:nvCxnSpPr>
        <p:spPr>
          <a:xfrm>
            <a:off x="3657600" y="982980"/>
            <a:ext cx="153162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 name="Gerader Verbinder 4">
            <a:extLst>
              <a:ext uri="{FF2B5EF4-FFF2-40B4-BE49-F238E27FC236}">
                <a16:creationId xmlns:a16="http://schemas.microsoft.com/office/drawing/2014/main" id="{EC00F8F0-A670-44EC-A548-0CD03DB67E2F}"/>
              </a:ext>
            </a:extLst>
          </p:cNvPr>
          <p:cNvCxnSpPr/>
          <p:nvPr/>
        </p:nvCxnSpPr>
        <p:spPr>
          <a:xfrm>
            <a:off x="3657600" y="2179320"/>
            <a:ext cx="153162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 name="Gerader Verbinder 5">
            <a:extLst>
              <a:ext uri="{FF2B5EF4-FFF2-40B4-BE49-F238E27FC236}">
                <a16:creationId xmlns:a16="http://schemas.microsoft.com/office/drawing/2014/main" id="{6433D097-8CE0-44D9-8E8C-0788A60473CF}"/>
              </a:ext>
            </a:extLst>
          </p:cNvPr>
          <p:cNvCxnSpPr/>
          <p:nvPr/>
        </p:nvCxnSpPr>
        <p:spPr>
          <a:xfrm>
            <a:off x="3657600" y="2339340"/>
            <a:ext cx="153162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Gerader Verbinder 6">
            <a:extLst>
              <a:ext uri="{FF2B5EF4-FFF2-40B4-BE49-F238E27FC236}">
                <a16:creationId xmlns:a16="http://schemas.microsoft.com/office/drawing/2014/main" id="{1BDDF5A7-335C-46DF-B4F1-412123EEA1B0}"/>
              </a:ext>
            </a:extLst>
          </p:cNvPr>
          <p:cNvCxnSpPr/>
          <p:nvPr/>
        </p:nvCxnSpPr>
        <p:spPr>
          <a:xfrm>
            <a:off x="3657600" y="1866900"/>
            <a:ext cx="153162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Gerader Verbinder 7">
            <a:extLst>
              <a:ext uri="{FF2B5EF4-FFF2-40B4-BE49-F238E27FC236}">
                <a16:creationId xmlns:a16="http://schemas.microsoft.com/office/drawing/2014/main" id="{FDCE5FED-4FDF-4744-93DA-86C26E8AE3FD}"/>
              </a:ext>
            </a:extLst>
          </p:cNvPr>
          <p:cNvCxnSpPr/>
          <p:nvPr/>
        </p:nvCxnSpPr>
        <p:spPr>
          <a:xfrm>
            <a:off x="3657600" y="2026920"/>
            <a:ext cx="153162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Gerader Verbinder 8">
            <a:extLst>
              <a:ext uri="{FF2B5EF4-FFF2-40B4-BE49-F238E27FC236}">
                <a16:creationId xmlns:a16="http://schemas.microsoft.com/office/drawing/2014/main" id="{D28302E9-C5C9-46F3-8E77-9ABBA3C2DFA4}"/>
              </a:ext>
            </a:extLst>
          </p:cNvPr>
          <p:cNvCxnSpPr/>
          <p:nvPr/>
        </p:nvCxnSpPr>
        <p:spPr>
          <a:xfrm>
            <a:off x="3657600" y="3352800"/>
            <a:ext cx="1531620" cy="0"/>
          </a:xfrm>
          <a:prstGeom prst="line">
            <a:avLst/>
          </a:prstGeom>
        </p:spPr>
        <p:style>
          <a:lnRef idx="2">
            <a:schemeClr val="accent1"/>
          </a:lnRef>
          <a:fillRef idx="0">
            <a:schemeClr val="accent1"/>
          </a:fillRef>
          <a:effectRef idx="1">
            <a:schemeClr val="accent1"/>
          </a:effectRef>
          <a:fontRef idx="minor">
            <a:schemeClr val="tx1"/>
          </a:fontRef>
        </p:style>
      </p:cxnSp>
      <p:sp>
        <p:nvSpPr>
          <p:cNvPr id="10" name="Textfeld 9">
            <a:extLst>
              <a:ext uri="{FF2B5EF4-FFF2-40B4-BE49-F238E27FC236}">
                <a16:creationId xmlns:a16="http://schemas.microsoft.com/office/drawing/2014/main" id="{B168ECFF-900D-4530-8250-7857F0EE2E64}"/>
              </a:ext>
            </a:extLst>
          </p:cNvPr>
          <p:cNvSpPr txBox="1"/>
          <p:nvPr/>
        </p:nvSpPr>
        <p:spPr>
          <a:xfrm>
            <a:off x="3093720" y="731520"/>
            <a:ext cx="77724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SES</a:t>
            </a:r>
          </a:p>
        </p:txBody>
      </p:sp>
      <p:sp>
        <p:nvSpPr>
          <p:cNvPr id="11" name="Textfeld 10">
            <a:extLst>
              <a:ext uri="{FF2B5EF4-FFF2-40B4-BE49-F238E27FC236}">
                <a16:creationId xmlns:a16="http://schemas.microsoft.com/office/drawing/2014/main" id="{048BBB22-D008-49BB-B397-BE62D8534F4F}"/>
              </a:ext>
            </a:extLst>
          </p:cNvPr>
          <p:cNvSpPr txBox="1"/>
          <p:nvPr/>
        </p:nvSpPr>
        <p:spPr>
          <a:xfrm>
            <a:off x="3093720" y="1929645"/>
            <a:ext cx="77724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SES</a:t>
            </a:r>
          </a:p>
        </p:txBody>
      </p:sp>
      <p:sp>
        <p:nvSpPr>
          <p:cNvPr id="12" name="Textfeld 11">
            <a:extLst>
              <a:ext uri="{FF2B5EF4-FFF2-40B4-BE49-F238E27FC236}">
                <a16:creationId xmlns:a16="http://schemas.microsoft.com/office/drawing/2014/main" id="{82B9E277-55E7-4DD0-B26D-E3B758781B94}"/>
              </a:ext>
            </a:extLst>
          </p:cNvPr>
          <p:cNvSpPr txBox="1"/>
          <p:nvPr/>
        </p:nvSpPr>
        <p:spPr>
          <a:xfrm>
            <a:off x="2857500" y="1669911"/>
            <a:ext cx="1386840" cy="276999"/>
          </a:xfrm>
          <a:prstGeom prst="rect">
            <a:avLst/>
          </a:prstGeom>
          <a:noFill/>
        </p:spPr>
        <p:txBody>
          <a:bodyPr wrap="square" rtlCol="0">
            <a:spAutoFit/>
          </a:bodyPr>
          <a:lstStyle/>
          <a:p>
            <a:r>
              <a:rPr lang="de-DE" sz="1200" dirty="0">
                <a:latin typeface="Arial" panose="020B0604020202020204" pitchFamily="34" charset="0"/>
                <a:cs typeface="Arial" panose="020B0604020202020204" pitchFamily="34" charset="0"/>
              </a:rPr>
              <a:t>SES – </a:t>
            </a:r>
            <a:r>
              <a:rPr lang="de-DE" sz="1200" dirty="0" err="1">
                <a:latin typeface="Arial" panose="020B0604020202020204" pitchFamily="34" charset="0"/>
                <a:cs typeface="Arial" panose="020B0604020202020204" pitchFamily="34" charset="0"/>
              </a:rPr>
              <a:t>Med</a:t>
            </a:r>
            <a:endParaRPr lang="de-DE" sz="1200" dirty="0">
              <a:latin typeface="Arial" panose="020B0604020202020204" pitchFamily="34" charset="0"/>
              <a:cs typeface="Arial" panose="020B0604020202020204" pitchFamily="34" charset="0"/>
            </a:endParaRPr>
          </a:p>
        </p:txBody>
      </p:sp>
      <p:sp>
        <p:nvSpPr>
          <p:cNvPr id="13" name="Textfeld 12">
            <a:extLst>
              <a:ext uri="{FF2B5EF4-FFF2-40B4-BE49-F238E27FC236}">
                <a16:creationId xmlns:a16="http://schemas.microsoft.com/office/drawing/2014/main" id="{B8CE24D2-EB07-4CEC-B2F9-A808DAACAE20}"/>
              </a:ext>
            </a:extLst>
          </p:cNvPr>
          <p:cNvSpPr txBox="1"/>
          <p:nvPr/>
        </p:nvSpPr>
        <p:spPr>
          <a:xfrm>
            <a:off x="2857500" y="2110738"/>
            <a:ext cx="1386840" cy="276999"/>
          </a:xfrm>
          <a:prstGeom prst="rect">
            <a:avLst/>
          </a:prstGeom>
          <a:noFill/>
        </p:spPr>
        <p:txBody>
          <a:bodyPr wrap="square" rtlCol="0">
            <a:spAutoFit/>
          </a:bodyPr>
          <a:lstStyle/>
          <a:p>
            <a:r>
              <a:rPr lang="de-DE" sz="1200" dirty="0">
                <a:latin typeface="Arial" panose="020B0604020202020204" pitchFamily="34" charset="0"/>
                <a:cs typeface="Arial" panose="020B0604020202020204" pitchFamily="34" charset="0"/>
              </a:rPr>
              <a:t>SES – </a:t>
            </a:r>
            <a:r>
              <a:rPr lang="de-DE" sz="1200" dirty="0" err="1">
                <a:latin typeface="Arial" panose="020B0604020202020204" pitchFamily="34" charset="0"/>
                <a:cs typeface="Arial" panose="020B0604020202020204" pitchFamily="34" charset="0"/>
              </a:rPr>
              <a:t>Med</a:t>
            </a:r>
            <a:endParaRPr lang="de-DE" sz="1200" dirty="0">
              <a:latin typeface="Arial" panose="020B0604020202020204" pitchFamily="34" charset="0"/>
              <a:cs typeface="Arial" panose="020B0604020202020204" pitchFamily="34" charset="0"/>
            </a:endParaRPr>
          </a:p>
        </p:txBody>
      </p:sp>
      <p:sp>
        <p:nvSpPr>
          <p:cNvPr id="14" name="Textfeld 13">
            <a:extLst>
              <a:ext uri="{FF2B5EF4-FFF2-40B4-BE49-F238E27FC236}">
                <a16:creationId xmlns:a16="http://schemas.microsoft.com/office/drawing/2014/main" id="{CCBAE7E8-14AA-4EA4-A197-DE5C58D1C604}"/>
              </a:ext>
            </a:extLst>
          </p:cNvPr>
          <p:cNvSpPr txBox="1"/>
          <p:nvPr/>
        </p:nvSpPr>
        <p:spPr>
          <a:xfrm>
            <a:off x="2865120" y="1813561"/>
            <a:ext cx="1386840" cy="276999"/>
          </a:xfrm>
          <a:prstGeom prst="rect">
            <a:avLst/>
          </a:prstGeom>
          <a:noFill/>
        </p:spPr>
        <p:txBody>
          <a:bodyPr wrap="square" rtlCol="0">
            <a:spAutoFit/>
          </a:bodyPr>
          <a:lstStyle/>
          <a:p>
            <a:r>
              <a:rPr lang="de-DE" sz="1200" dirty="0">
                <a:latin typeface="Arial" panose="020B0604020202020204" pitchFamily="34" charset="0"/>
                <a:cs typeface="Arial" panose="020B0604020202020204" pitchFamily="34" charset="0"/>
              </a:rPr>
              <a:t>SES – </a:t>
            </a:r>
            <a:r>
              <a:rPr lang="de-DE" sz="1200" dirty="0" err="1">
                <a:latin typeface="Arial" panose="020B0604020202020204" pitchFamily="34" charset="0"/>
                <a:cs typeface="Arial" panose="020B0604020202020204" pitchFamily="34" charset="0"/>
              </a:rPr>
              <a:t>Med</a:t>
            </a:r>
            <a:endParaRPr lang="de-DE" sz="1200" dirty="0">
              <a:latin typeface="Arial" panose="020B0604020202020204" pitchFamily="34" charset="0"/>
              <a:cs typeface="Arial" panose="020B0604020202020204" pitchFamily="34" charset="0"/>
            </a:endParaRPr>
          </a:p>
        </p:txBody>
      </p:sp>
      <p:sp>
        <p:nvSpPr>
          <p:cNvPr id="15" name="Textfeld 14">
            <a:extLst>
              <a:ext uri="{FF2B5EF4-FFF2-40B4-BE49-F238E27FC236}">
                <a16:creationId xmlns:a16="http://schemas.microsoft.com/office/drawing/2014/main" id="{A5352981-7E1D-41CD-B6FC-56D4127C03F5}"/>
              </a:ext>
            </a:extLst>
          </p:cNvPr>
          <p:cNvSpPr txBox="1"/>
          <p:nvPr/>
        </p:nvSpPr>
        <p:spPr>
          <a:xfrm>
            <a:off x="2819400" y="3155810"/>
            <a:ext cx="1386840" cy="276999"/>
          </a:xfrm>
          <a:prstGeom prst="rect">
            <a:avLst/>
          </a:prstGeom>
          <a:noFill/>
        </p:spPr>
        <p:txBody>
          <a:bodyPr wrap="square" rtlCol="0">
            <a:spAutoFit/>
          </a:bodyPr>
          <a:lstStyle/>
          <a:p>
            <a:r>
              <a:rPr lang="de-DE" sz="1200" dirty="0">
                <a:latin typeface="Arial" panose="020B0604020202020204" pitchFamily="34" charset="0"/>
                <a:cs typeface="Arial" panose="020B0604020202020204" pitchFamily="34" charset="0"/>
              </a:rPr>
              <a:t>SES – </a:t>
            </a:r>
            <a:r>
              <a:rPr lang="de-DE" sz="1200" dirty="0" err="1">
                <a:latin typeface="Arial" panose="020B0604020202020204" pitchFamily="34" charset="0"/>
                <a:cs typeface="Arial" panose="020B0604020202020204" pitchFamily="34" charset="0"/>
              </a:rPr>
              <a:t>Med</a:t>
            </a:r>
            <a:endParaRPr lang="de-DE" sz="1200" dirty="0">
              <a:latin typeface="Arial" panose="020B0604020202020204" pitchFamily="34" charset="0"/>
              <a:cs typeface="Arial" panose="020B0604020202020204" pitchFamily="34" charset="0"/>
            </a:endParaRPr>
          </a:p>
        </p:txBody>
      </p:sp>
      <p:sp>
        <p:nvSpPr>
          <p:cNvPr id="16" name="Textfeld 15">
            <a:extLst>
              <a:ext uri="{FF2B5EF4-FFF2-40B4-BE49-F238E27FC236}">
                <a16:creationId xmlns:a16="http://schemas.microsoft.com/office/drawing/2014/main" id="{AAB81102-D92E-4A78-B0E9-5C5F73C48569}"/>
              </a:ext>
            </a:extLst>
          </p:cNvPr>
          <p:cNvSpPr txBox="1"/>
          <p:nvPr/>
        </p:nvSpPr>
        <p:spPr>
          <a:xfrm>
            <a:off x="7852611" y="0"/>
            <a:ext cx="4178967" cy="646331"/>
          </a:xfrm>
          <a:prstGeom prst="rect">
            <a:avLst/>
          </a:prstGeom>
          <a:noFill/>
        </p:spPr>
        <p:txBody>
          <a:bodyPr wrap="square" rtlCol="0">
            <a:spAutoFit/>
          </a:bodyPr>
          <a:lstStyle/>
          <a:p>
            <a:r>
              <a:rPr lang="de-DE" dirty="0">
                <a:solidFill>
                  <a:schemeClr val="bg1"/>
                </a:solidFill>
              </a:rPr>
              <a:t>e.g., </a:t>
            </a:r>
            <a:r>
              <a:rPr lang="de-DE" dirty="0" err="1">
                <a:solidFill>
                  <a:schemeClr val="bg1"/>
                </a:solidFill>
              </a:rPr>
              <a:t>prior</a:t>
            </a:r>
            <a:r>
              <a:rPr lang="de-DE" dirty="0">
                <a:solidFill>
                  <a:schemeClr val="bg1"/>
                </a:solidFill>
              </a:rPr>
              <a:t> </a:t>
            </a:r>
            <a:r>
              <a:rPr lang="de-DE" dirty="0" err="1">
                <a:solidFill>
                  <a:schemeClr val="bg1"/>
                </a:solidFill>
              </a:rPr>
              <a:t>achievement</a:t>
            </a:r>
            <a:r>
              <a:rPr lang="de-DE" dirty="0">
                <a:solidFill>
                  <a:schemeClr val="bg1"/>
                </a:solidFill>
              </a:rPr>
              <a:t>, </a:t>
            </a:r>
            <a:r>
              <a:rPr lang="de-DE" dirty="0" err="1">
                <a:solidFill>
                  <a:schemeClr val="bg1"/>
                </a:solidFill>
              </a:rPr>
              <a:t>cognitive</a:t>
            </a:r>
            <a:r>
              <a:rPr lang="de-DE" dirty="0">
                <a:solidFill>
                  <a:schemeClr val="bg1"/>
                </a:solidFill>
              </a:rPr>
              <a:t> </a:t>
            </a:r>
            <a:r>
              <a:rPr lang="de-DE" dirty="0" err="1">
                <a:solidFill>
                  <a:schemeClr val="bg1"/>
                </a:solidFill>
              </a:rPr>
              <a:t>abilities</a:t>
            </a:r>
            <a:r>
              <a:rPr lang="de-DE" dirty="0">
                <a:solidFill>
                  <a:schemeClr val="bg1"/>
                </a:solidFill>
              </a:rPr>
              <a:t>, </a:t>
            </a:r>
            <a:r>
              <a:rPr lang="de-DE" dirty="0" err="1">
                <a:solidFill>
                  <a:schemeClr val="bg1"/>
                </a:solidFill>
              </a:rPr>
              <a:t>language</a:t>
            </a:r>
            <a:r>
              <a:rPr lang="de-DE" dirty="0">
                <a:solidFill>
                  <a:schemeClr val="bg1"/>
                </a:solidFill>
              </a:rPr>
              <a:t> </a:t>
            </a:r>
            <a:r>
              <a:rPr lang="de-DE" dirty="0" err="1">
                <a:solidFill>
                  <a:schemeClr val="bg1"/>
                </a:solidFill>
              </a:rPr>
              <a:t>competencies</a:t>
            </a:r>
            <a:r>
              <a:rPr lang="de-DE" dirty="0">
                <a:solidFill>
                  <a:schemeClr val="bg1"/>
                </a:solidFill>
              </a:rPr>
              <a:t>, … ?</a:t>
            </a:r>
          </a:p>
        </p:txBody>
      </p:sp>
      <p:cxnSp>
        <p:nvCxnSpPr>
          <p:cNvPr id="17" name="Gerader Verbinder 16">
            <a:extLst>
              <a:ext uri="{FF2B5EF4-FFF2-40B4-BE49-F238E27FC236}">
                <a16:creationId xmlns:a16="http://schemas.microsoft.com/office/drawing/2014/main" id="{B3BB4928-E552-49D4-BF6B-94A3E16983A1}"/>
              </a:ext>
            </a:extLst>
          </p:cNvPr>
          <p:cNvCxnSpPr/>
          <p:nvPr/>
        </p:nvCxnSpPr>
        <p:spPr>
          <a:xfrm>
            <a:off x="3644766" y="6160168"/>
            <a:ext cx="1531620" cy="0"/>
          </a:xfrm>
          <a:prstGeom prst="line">
            <a:avLst/>
          </a:prstGeom>
        </p:spPr>
        <p:style>
          <a:lnRef idx="2">
            <a:schemeClr val="accent1"/>
          </a:lnRef>
          <a:fillRef idx="0">
            <a:schemeClr val="accent1"/>
          </a:fillRef>
          <a:effectRef idx="1">
            <a:schemeClr val="accent1"/>
          </a:effectRef>
          <a:fontRef idx="minor">
            <a:schemeClr val="tx1"/>
          </a:fontRef>
        </p:style>
      </p:cxnSp>
      <p:sp>
        <p:nvSpPr>
          <p:cNvPr id="18" name="Textfeld 17">
            <a:extLst>
              <a:ext uri="{FF2B5EF4-FFF2-40B4-BE49-F238E27FC236}">
                <a16:creationId xmlns:a16="http://schemas.microsoft.com/office/drawing/2014/main" id="{411AB79C-FFB4-40BB-A1D5-105B88E13FD3}"/>
              </a:ext>
            </a:extLst>
          </p:cNvPr>
          <p:cNvSpPr txBox="1"/>
          <p:nvPr/>
        </p:nvSpPr>
        <p:spPr>
          <a:xfrm>
            <a:off x="2865120" y="5987980"/>
            <a:ext cx="1386840" cy="276999"/>
          </a:xfrm>
          <a:prstGeom prst="rect">
            <a:avLst/>
          </a:prstGeom>
          <a:noFill/>
        </p:spPr>
        <p:txBody>
          <a:bodyPr wrap="square" rtlCol="0">
            <a:spAutoFit/>
          </a:bodyPr>
          <a:lstStyle/>
          <a:p>
            <a:r>
              <a:rPr lang="de-DE" sz="1200" dirty="0">
                <a:latin typeface="Arial" panose="020B0604020202020204" pitchFamily="34" charset="0"/>
                <a:cs typeface="Arial" panose="020B0604020202020204" pitchFamily="34" charset="0"/>
              </a:rPr>
              <a:t>SES – </a:t>
            </a:r>
            <a:r>
              <a:rPr lang="de-DE" sz="1200" dirty="0" err="1">
                <a:latin typeface="Arial" panose="020B0604020202020204" pitchFamily="34" charset="0"/>
                <a:cs typeface="Arial" panose="020B0604020202020204" pitchFamily="34" charset="0"/>
              </a:rPr>
              <a:t>Med</a:t>
            </a:r>
            <a:endParaRPr lang="de-DE" sz="1200" dirty="0">
              <a:latin typeface="Arial" panose="020B0604020202020204" pitchFamily="34" charset="0"/>
              <a:cs typeface="Arial" panose="020B0604020202020204" pitchFamily="34" charset="0"/>
            </a:endParaRPr>
          </a:p>
        </p:txBody>
      </p:sp>
      <p:sp>
        <p:nvSpPr>
          <p:cNvPr id="19" name="Rechteck 18">
            <a:extLst>
              <a:ext uri="{FF2B5EF4-FFF2-40B4-BE49-F238E27FC236}">
                <a16:creationId xmlns:a16="http://schemas.microsoft.com/office/drawing/2014/main" id="{6EE8D1B6-86C3-46C8-BF77-633E1C8DAA9A}"/>
              </a:ext>
            </a:extLst>
          </p:cNvPr>
          <p:cNvSpPr/>
          <p:nvPr/>
        </p:nvSpPr>
        <p:spPr>
          <a:xfrm>
            <a:off x="0" y="0"/>
            <a:ext cx="7353300" cy="68580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Textfeld 19">
            <a:extLst>
              <a:ext uri="{FF2B5EF4-FFF2-40B4-BE49-F238E27FC236}">
                <a16:creationId xmlns:a16="http://schemas.microsoft.com/office/drawing/2014/main" id="{6997BEE5-5CDF-4A68-873C-13EFD2D78F69}"/>
              </a:ext>
            </a:extLst>
          </p:cNvPr>
          <p:cNvSpPr txBox="1"/>
          <p:nvPr/>
        </p:nvSpPr>
        <p:spPr>
          <a:xfrm>
            <a:off x="7411814" y="870019"/>
            <a:ext cx="1401985" cy="461665"/>
          </a:xfrm>
          <a:prstGeom prst="rect">
            <a:avLst/>
          </a:prstGeom>
          <a:noFill/>
        </p:spPr>
        <p:txBody>
          <a:bodyPr wrap="square" rtlCol="0">
            <a:spAutoFit/>
          </a:bodyPr>
          <a:lstStyle/>
          <a:p>
            <a:r>
              <a:rPr lang="de-DE" sz="2400" dirty="0">
                <a:solidFill>
                  <a:schemeClr val="bg1"/>
                </a:solidFill>
              </a:rPr>
              <a:t>✔ (all!)</a:t>
            </a:r>
          </a:p>
        </p:txBody>
      </p:sp>
      <p:sp>
        <p:nvSpPr>
          <p:cNvPr id="21" name="Textfeld 20">
            <a:extLst>
              <a:ext uri="{FF2B5EF4-FFF2-40B4-BE49-F238E27FC236}">
                <a16:creationId xmlns:a16="http://schemas.microsoft.com/office/drawing/2014/main" id="{30F4DFED-FF7F-4596-BA10-B1FF587DC4DE}"/>
              </a:ext>
            </a:extLst>
          </p:cNvPr>
          <p:cNvSpPr txBox="1"/>
          <p:nvPr/>
        </p:nvSpPr>
        <p:spPr>
          <a:xfrm>
            <a:off x="7411815" y="2959685"/>
            <a:ext cx="400410" cy="461665"/>
          </a:xfrm>
          <a:prstGeom prst="rect">
            <a:avLst/>
          </a:prstGeom>
          <a:noFill/>
        </p:spPr>
        <p:txBody>
          <a:bodyPr wrap="square" rtlCol="0">
            <a:spAutoFit/>
          </a:bodyPr>
          <a:lstStyle/>
          <a:p>
            <a:r>
              <a:rPr lang="de-DE" sz="2400" dirty="0">
                <a:solidFill>
                  <a:schemeClr val="bg1"/>
                </a:solidFill>
              </a:rPr>
              <a:t>x</a:t>
            </a:r>
          </a:p>
        </p:txBody>
      </p:sp>
      <p:sp>
        <p:nvSpPr>
          <p:cNvPr id="22" name="Textfeld 21">
            <a:extLst>
              <a:ext uri="{FF2B5EF4-FFF2-40B4-BE49-F238E27FC236}">
                <a16:creationId xmlns:a16="http://schemas.microsoft.com/office/drawing/2014/main" id="{279A3C02-CF5D-4D6C-BA57-DB1262051383}"/>
              </a:ext>
            </a:extLst>
          </p:cNvPr>
          <p:cNvSpPr txBox="1"/>
          <p:nvPr/>
        </p:nvSpPr>
        <p:spPr>
          <a:xfrm>
            <a:off x="7456212" y="4678009"/>
            <a:ext cx="400410" cy="461665"/>
          </a:xfrm>
          <a:prstGeom prst="rect">
            <a:avLst/>
          </a:prstGeom>
          <a:noFill/>
        </p:spPr>
        <p:txBody>
          <a:bodyPr wrap="square" rtlCol="0">
            <a:spAutoFit/>
          </a:bodyPr>
          <a:lstStyle/>
          <a:p>
            <a:r>
              <a:rPr lang="de-DE" sz="2400" dirty="0">
                <a:solidFill>
                  <a:schemeClr val="bg1"/>
                </a:solidFill>
              </a:rPr>
              <a:t>x</a:t>
            </a:r>
          </a:p>
        </p:txBody>
      </p:sp>
      <p:sp>
        <p:nvSpPr>
          <p:cNvPr id="23" name="Textfeld 22">
            <a:extLst>
              <a:ext uri="{FF2B5EF4-FFF2-40B4-BE49-F238E27FC236}">
                <a16:creationId xmlns:a16="http://schemas.microsoft.com/office/drawing/2014/main" id="{D949ECD4-AF20-449B-A94A-000F7EF016D1}"/>
              </a:ext>
            </a:extLst>
          </p:cNvPr>
          <p:cNvSpPr txBox="1"/>
          <p:nvPr/>
        </p:nvSpPr>
        <p:spPr>
          <a:xfrm>
            <a:off x="7411815" y="592711"/>
            <a:ext cx="4178967" cy="369332"/>
          </a:xfrm>
          <a:prstGeom prst="rect">
            <a:avLst/>
          </a:prstGeom>
          <a:noFill/>
        </p:spPr>
        <p:txBody>
          <a:bodyPr wrap="square" rtlCol="0">
            <a:spAutoFit/>
          </a:bodyPr>
          <a:lstStyle/>
          <a:p>
            <a:r>
              <a:rPr lang="de-DE" dirty="0" err="1">
                <a:solidFill>
                  <a:schemeClr val="bg1"/>
                </a:solidFill>
              </a:rPr>
              <a:t>Include</a:t>
            </a:r>
            <a:r>
              <a:rPr lang="de-DE" dirty="0">
                <a:solidFill>
                  <a:schemeClr val="bg1"/>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bg>
      <p:bgPr>
        <a:solidFill>
          <a:schemeClr val="tx1"/>
        </a:solidFill>
        <a:effectLst/>
      </p:bgPr>
    </p:bg>
    <p:spTree>
      <p:nvGrpSpPr>
        <p:cNvPr id="1" name=""/>
        <p:cNvGrpSpPr/>
        <p:nvPr/>
      </p:nvGrpSpPr>
      <p:grpSpPr bwMode="auto">
        <a:xfrm>
          <a:off x="0" y="0"/>
          <a:ext cx="0" cy="0"/>
          <a:chOff x="0" y="0"/>
          <a:chExt cx="0" cy="0"/>
        </a:xfrm>
      </p:grpSpPr>
      <p:sp>
        <p:nvSpPr>
          <p:cNvPr id="4" name="Rechteck 3">
            <a:extLst>
              <a:ext uri="{FF2B5EF4-FFF2-40B4-BE49-F238E27FC236}">
                <a16:creationId xmlns:a16="http://schemas.microsoft.com/office/drawing/2014/main" id="{7524DA9A-46A3-4912-BF4E-032E888E93B0}"/>
              </a:ext>
            </a:extLst>
          </p:cNvPr>
          <p:cNvSpPr/>
          <p:nvPr/>
        </p:nvSpPr>
        <p:spPr>
          <a:xfrm>
            <a:off x="119336" y="585247"/>
            <a:ext cx="11953328" cy="561662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8" name="Textfeld 27">
            <a:extLst>
              <a:ext uri="{FF2B5EF4-FFF2-40B4-BE49-F238E27FC236}">
                <a16:creationId xmlns:a16="http://schemas.microsoft.com/office/drawing/2014/main" id="{3926715B-E100-4E13-B8ED-83B40B2D37E8}"/>
              </a:ext>
            </a:extLst>
          </p:cNvPr>
          <p:cNvSpPr txBox="1"/>
          <p:nvPr/>
        </p:nvSpPr>
        <p:spPr bwMode="auto">
          <a:xfrm>
            <a:off x="4460799" y="800994"/>
            <a:ext cx="5037190" cy="369332"/>
          </a:xfrm>
          <a:prstGeom prst="rect">
            <a:avLst/>
          </a:prstGeom>
          <a:noFill/>
        </p:spPr>
        <p:txBody>
          <a:bodyPr wrap="square" rtlCol="0">
            <a:spAutoFit/>
          </a:bodyPr>
          <a:lstStyle/>
          <a:p>
            <a:r>
              <a:rPr lang="de-DE" dirty="0">
                <a:solidFill>
                  <a:schemeClr val="bg1"/>
                </a:solidFill>
                <a:latin typeface="Arial" panose="020B0604020202020204" pitchFamily="34" charset="0"/>
                <a:cs typeface="Arial" panose="020B0604020202020204" pitchFamily="34" charset="0"/>
              </a:rPr>
              <a:t>TIMSS </a:t>
            </a:r>
            <a:r>
              <a:rPr lang="de-DE" dirty="0" err="1">
                <a:solidFill>
                  <a:schemeClr val="bg1"/>
                </a:solidFill>
                <a:latin typeface="Arial" panose="020B0604020202020204" pitchFamily="34" charset="0"/>
                <a:cs typeface="Arial" panose="020B0604020202020204" pitchFamily="34" charset="0"/>
              </a:rPr>
              <a:t>study</a:t>
            </a:r>
            <a:r>
              <a:rPr lang="de-DE" dirty="0">
                <a:solidFill>
                  <a:schemeClr val="bg1"/>
                </a:solidFill>
                <a:latin typeface="Arial" panose="020B0604020202020204" pitchFamily="34" charset="0"/>
                <a:cs typeface="Arial" panose="020B0604020202020204" pitchFamily="34" charset="0"/>
              </a:rPr>
              <a:t> (</a:t>
            </a:r>
            <a:r>
              <a:rPr lang="de-DE" b="1" dirty="0" err="1">
                <a:solidFill>
                  <a:schemeClr val="bg1"/>
                </a:solidFill>
                <a:latin typeface="Arial" panose="020B0604020202020204" pitchFamily="34" charset="0"/>
                <a:cs typeface="Arial" panose="020B0604020202020204" pitchFamily="34" charset="0"/>
              </a:rPr>
              <a:t>cross-sectional</a:t>
            </a:r>
            <a:r>
              <a:rPr lang="de-DE" dirty="0">
                <a:solidFill>
                  <a:schemeClr val="bg1"/>
                </a:solidFill>
                <a:latin typeface="Arial" panose="020B0604020202020204" pitchFamily="34" charset="0"/>
                <a:cs typeface="Arial" panose="020B0604020202020204" pitchFamily="34" charset="0"/>
              </a:rPr>
              <a:t>)</a:t>
            </a:r>
          </a:p>
        </p:txBody>
      </p:sp>
      <p:pic>
        <p:nvPicPr>
          <p:cNvPr id="29" name="Picture 8" descr="Jogger erschreckt Pferd – wer ist schuld? – FIT for LIFE">
            <a:extLst>
              <a:ext uri="{FF2B5EF4-FFF2-40B4-BE49-F238E27FC236}">
                <a16:creationId xmlns:a16="http://schemas.microsoft.com/office/drawing/2014/main" id="{893659ED-BE1F-4AAE-BC4D-2285B3E58FB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610" r="37230" b="5684"/>
          <a:stretch/>
        </p:blipFill>
        <p:spPr bwMode="auto">
          <a:xfrm>
            <a:off x="6747737" y="4092823"/>
            <a:ext cx="1341991" cy="2002127"/>
          </a:xfrm>
          <a:prstGeom prst="rect">
            <a:avLst/>
          </a:prstGeom>
          <a:noFill/>
          <a:extLst>
            <a:ext uri="{909E8E84-426E-40DD-AFC4-6F175D3DCCD1}">
              <a14:hiddenFill xmlns:a14="http://schemas.microsoft.com/office/drawing/2010/main">
                <a:solidFill>
                  <a:srgbClr val="FFFFFF"/>
                </a:solidFill>
              </a14:hiddenFill>
            </a:ext>
          </a:extLst>
        </p:spPr>
      </p:pic>
      <p:cxnSp>
        <p:nvCxnSpPr>
          <p:cNvPr id="30" name="Gerade Verbindung mit Pfeil 29">
            <a:extLst>
              <a:ext uri="{FF2B5EF4-FFF2-40B4-BE49-F238E27FC236}">
                <a16:creationId xmlns:a16="http://schemas.microsoft.com/office/drawing/2014/main" id="{695BD1A6-35AA-4ADC-814E-6D23E8DE38B3}"/>
              </a:ext>
            </a:extLst>
          </p:cNvPr>
          <p:cNvCxnSpPr>
            <a:cxnSpLocks/>
            <a:endCxn id="28" idx="2"/>
          </p:cNvCxnSpPr>
          <p:nvPr/>
        </p:nvCxnSpPr>
        <p:spPr bwMode="auto">
          <a:xfrm flipH="1" flipV="1">
            <a:off x="6979394" y="1170326"/>
            <a:ext cx="679754" cy="3773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 name="Titel 1">
            <a:extLst>
              <a:ext uri="{FF2B5EF4-FFF2-40B4-BE49-F238E27FC236}">
                <a16:creationId xmlns:a16="http://schemas.microsoft.com/office/drawing/2014/main" id="{16B895CD-D0D3-490B-A399-5CB2A2CB44EA}"/>
              </a:ext>
            </a:extLst>
          </p:cNvPr>
          <p:cNvSpPr txBox="1">
            <a:spLocks/>
          </p:cNvSpPr>
          <p:nvPr/>
        </p:nvSpPr>
        <p:spPr bwMode="auto">
          <a:xfrm>
            <a:off x="4797692" y="4074880"/>
            <a:ext cx="1245428" cy="36933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de-AT" sz="3200" i="1" dirty="0" err="1">
                <a:solidFill>
                  <a:schemeClr val="bg1"/>
                </a:solidFill>
                <a:latin typeface="Arial" panose="020B0604020202020204" pitchFamily="34" charset="0"/>
                <a:cs typeface="Arial" panose="020B0604020202020204" pitchFamily="34" charset="0"/>
              </a:rPr>
              <a:t>yes</a:t>
            </a:r>
            <a:r>
              <a:rPr lang="de-AT" sz="3200" i="1" dirty="0">
                <a:solidFill>
                  <a:schemeClr val="bg1"/>
                </a:solidFill>
                <a:latin typeface="Arial" panose="020B0604020202020204" pitchFamily="34" charset="0"/>
                <a:cs typeface="Arial" panose="020B0604020202020204" pitchFamily="34" charset="0"/>
              </a:rPr>
              <a:t>!</a:t>
            </a:r>
          </a:p>
        </p:txBody>
      </p:sp>
      <p:sp>
        <p:nvSpPr>
          <p:cNvPr id="34" name="Sprechblase: oval 33">
            <a:extLst>
              <a:ext uri="{FF2B5EF4-FFF2-40B4-BE49-F238E27FC236}">
                <a16:creationId xmlns:a16="http://schemas.microsoft.com/office/drawing/2014/main" id="{0D0B9C39-E444-4BF3-A133-D8C69B020922}"/>
              </a:ext>
            </a:extLst>
          </p:cNvPr>
          <p:cNvSpPr/>
          <p:nvPr/>
        </p:nvSpPr>
        <p:spPr bwMode="auto">
          <a:xfrm>
            <a:off x="4389990" y="3967723"/>
            <a:ext cx="1959131" cy="667519"/>
          </a:xfrm>
          <a:prstGeom prst="wedgeEllipseCallout">
            <a:avLst>
              <a:gd name="adj1" fmla="val 66078"/>
              <a:gd name="adj2" fmla="val 103098"/>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bg1"/>
              </a:solidFill>
            </a:endParaRPr>
          </a:p>
        </p:txBody>
      </p:sp>
      <p:pic>
        <p:nvPicPr>
          <p:cNvPr id="36" name="Grafik 35">
            <a:extLst>
              <a:ext uri="{FF2B5EF4-FFF2-40B4-BE49-F238E27FC236}">
                <a16:creationId xmlns:a16="http://schemas.microsoft.com/office/drawing/2014/main" id="{9D016308-7E81-4026-8737-45BE7AE81618}"/>
              </a:ext>
            </a:extLst>
          </p:cNvPr>
          <p:cNvPicPr>
            <a:picLocks noChangeAspect="1"/>
          </p:cNvPicPr>
          <p:nvPr/>
        </p:nvPicPr>
        <p:blipFill>
          <a:blip r:embed="rId4"/>
          <a:stretch>
            <a:fillRect/>
          </a:stretch>
        </p:blipFill>
        <p:spPr>
          <a:xfrm>
            <a:off x="546846" y="1199321"/>
            <a:ext cx="5071457" cy="2434299"/>
          </a:xfrm>
          <a:prstGeom prst="rect">
            <a:avLst/>
          </a:prstGeom>
        </p:spPr>
      </p:pic>
      <p:pic>
        <p:nvPicPr>
          <p:cNvPr id="5" name="Grafik 4">
            <a:extLst>
              <a:ext uri="{FF2B5EF4-FFF2-40B4-BE49-F238E27FC236}">
                <a16:creationId xmlns:a16="http://schemas.microsoft.com/office/drawing/2014/main" id="{B56CA96E-EAF2-4CD4-8715-A22E93489E84}"/>
              </a:ext>
            </a:extLst>
          </p:cNvPr>
          <p:cNvPicPr>
            <a:picLocks noChangeAspect="1"/>
          </p:cNvPicPr>
          <p:nvPr/>
        </p:nvPicPr>
        <p:blipFill rotWithShape="1">
          <a:blip r:embed="rId5"/>
          <a:srcRect l="7747" r="15105"/>
          <a:stretch/>
        </p:blipFill>
        <p:spPr>
          <a:xfrm>
            <a:off x="1089891" y="4242737"/>
            <a:ext cx="1573991" cy="1224130"/>
          </a:xfrm>
          <a:prstGeom prst="rect">
            <a:avLst/>
          </a:prstGeom>
        </p:spPr>
      </p:pic>
      <p:sp>
        <p:nvSpPr>
          <p:cNvPr id="27" name="Titel 1">
            <a:extLst>
              <a:ext uri="{FF2B5EF4-FFF2-40B4-BE49-F238E27FC236}">
                <a16:creationId xmlns:a16="http://schemas.microsoft.com/office/drawing/2014/main" id="{6BFCDA74-EBFE-4561-A3F3-0DC75DB8E82D}"/>
              </a:ext>
            </a:extLst>
          </p:cNvPr>
          <p:cNvSpPr txBox="1">
            <a:spLocks/>
          </p:cNvSpPr>
          <p:nvPr/>
        </p:nvSpPr>
        <p:spPr bwMode="auto">
          <a:xfrm>
            <a:off x="2680332" y="4092823"/>
            <a:ext cx="1573991" cy="480960"/>
          </a:xfrm>
          <a:prstGeom prst="rect">
            <a:avLst/>
          </a:prstGeom>
        </p:spPr>
        <p:txBody>
          <a:bodyPr vert="horz" lIns="91440" tIns="45720" rIns="91440" bIns="45720" rtlCol="0" anchor="ctr">
            <a:normAutofit fontScale="85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de-AT" sz="1800" i="1" dirty="0" err="1">
                <a:solidFill>
                  <a:schemeClr val="bg1"/>
                </a:solidFill>
                <a:latin typeface="Arial" panose="020B0604020202020204" pitchFamily="34" charset="0"/>
                <a:cs typeface="Arial" panose="020B0604020202020204" pitchFamily="34" charset="0"/>
              </a:rPr>
              <a:t>Timssi</a:t>
            </a:r>
            <a:r>
              <a:rPr lang="de-AT" sz="1800" i="1" dirty="0">
                <a:solidFill>
                  <a:schemeClr val="bg1"/>
                </a:solidFill>
                <a:latin typeface="Arial" panose="020B0604020202020204" pitchFamily="34" charset="0"/>
                <a:cs typeface="Arial" panose="020B0604020202020204" pitchFamily="34" charset="0"/>
              </a:rPr>
              <a:t>, </a:t>
            </a:r>
            <a:r>
              <a:rPr lang="de-AT" sz="1800" i="1" dirty="0" err="1">
                <a:solidFill>
                  <a:schemeClr val="bg1"/>
                </a:solidFill>
                <a:latin typeface="Arial" panose="020B0604020202020204" pitchFamily="34" charset="0"/>
                <a:cs typeface="Arial" panose="020B0604020202020204" pitchFamily="34" charset="0"/>
              </a:rPr>
              <a:t>is</a:t>
            </a:r>
            <a:r>
              <a:rPr lang="de-AT" sz="1800" i="1" dirty="0">
                <a:solidFill>
                  <a:schemeClr val="bg1"/>
                </a:solidFill>
                <a:latin typeface="Arial" panose="020B0604020202020204" pitchFamily="34" charset="0"/>
                <a:cs typeface="Arial" panose="020B0604020202020204" pitchFamily="34" charset="0"/>
              </a:rPr>
              <a:t> </a:t>
            </a:r>
            <a:r>
              <a:rPr lang="de-AT" sz="1800" i="1" dirty="0" err="1">
                <a:solidFill>
                  <a:schemeClr val="bg1"/>
                </a:solidFill>
                <a:latin typeface="Arial" panose="020B0604020202020204" pitchFamily="34" charset="0"/>
                <a:cs typeface="Arial" panose="020B0604020202020204" pitchFamily="34" charset="0"/>
              </a:rPr>
              <a:t>this</a:t>
            </a:r>
            <a:r>
              <a:rPr lang="de-AT" sz="1800" i="1" dirty="0">
                <a:solidFill>
                  <a:schemeClr val="bg1"/>
                </a:solidFill>
                <a:latin typeface="Arial" panose="020B0604020202020204" pitchFamily="34" charset="0"/>
                <a:cs typeface="Arial" panose="020B0604020202020204" pitchFamily="34" charset="0"/>
              </a:rPr>
              <a:t> </a:t>
            </a:r>
            <a:r>
              <a:rPr lang="de-AT" sz="1800" b="1" i="1" dirty="0" err="1">
                <a:solidFill>
                  <a:schemeClr val="bg1"/>
                </a:solidFill>
                <a:latin typeface="Arial" panose="020B0604020202020204" pitchFamily="34" charset="0"/>
                <a:cs typeface="Arial" panose="020B0604020202020204" pitchFamily="34" charset="0"/>
              </a:rPr>
              <a:t>bullshit</a:t>
            </a:r>
            <a:r>
              <a:rPr lang="de-AT" sz="1800" b="1" i="1" dirty="0">
                <a:solidFill>
                  <a:schemeClr val="bg1"/>
                </a:solidFill>
                <a:latin typeface="Arial" panose="020B0604020202020204" pitchFamily="34" charset="0"/>
                <a:cs typeface="Arial" panose="020B0604020202020204" pitchFamily="34" charset="0"/>
              </a:rPr>
              <a:t>?</a:t>
            </a:r>
          </a:p>
        </p:txBody>
      </p:sp>
      <p:sp>
        <p:nvSpPr>
          <p:cNvPr id="31" name="Sprechblase: oval 30">
            <a:extLst>
              <a:ext uri="{FF2B5EF4-FFF2-40B4-BE49-F238E27FC236}">
                <a16:creationId xmlns:a16="http://schemas.microsoft.com/office/drawing/2014/main" id="{58F94FFB-05BF-4ED1-844D-8A5F1F7A22EA}"/>
              </a:ext>
            </a:extLst>
          </p:cNvPr>
          <p:cNvSpPr/>
          <p:nvPr/>
        </p:nvSpPr>
        <p:spPr bwMode="auto">
          <a:xfrm>
            <a:off x="2699446" y="4074150"/>
            <a:ext cx="1606064" cy="480960"/>
          </a:xfrm>
          <a:prstGeom prst="wedgeEllipseCallout">
            <a:avLst>
              <a:gd name="adj1" fmla="val -65744"/>
              <a:gd name="adj2" fmla="val 86438"/>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bg1"/>
              </a:solidFill>
            </a:endParaRPr>
          </a:p>
        </p:txBody>
      </p:sp>
      <p:sp>
        <p:nvSpPr>
          <p:cNvPr id="32" name="Textfeld 31">
            <a:extLst>
              <a:ext uri="{FF2B5EF4-FFF2-40B4-BE49-F238E27FC236}">
                <a16:creationId xmlns:a16="http://schemas.microsoft.com/office/drawing/2014/main" id="{895B3EA8-69CD-427F-9280-8015CC8A59D9}"/>
              </a:ext>
            </a:extLst>
          </p:cNvPr>
          <p:cNvSpPr txBox="1"/>
          <p:nvPr/>
        </p:nvSpPr>
        <p:spPr bwMode="auto">
          <a:xfrm>
            <a:off x="6791774" y="1103416"/>
            <a:ext cx="5306484" cy="3139321"/>
          </a:xfrm>
          <a:prstGeom prst="rect">
            <a:avLst/>
          </a:prstGeom>
          <a:noFill/>
        </p:spPr>
        <p:txBody>
          <a:bodyPr wrap="square" rtlCol="0">
            <a:spAutoFit/>
          </a:bodyPr>
          <a:lstStyle/>
          <a:p>
            <a:r>
              <a:rPr lang="de-DE" dirty="0" err="1">
                <a:solidFill>
                  <a:schemeClr val="bg1"/>
                </a:solidFill>
                <a:latin typeface="Arial" panose="020B0604020202020204" pitchFamily="34" charset="0"/>
                <a:cs typeface="Arial" panose="020B0604020202020204" pitchFamily="34" charset="0"/>
              </a:rPr>
              <a:t>Causal</a:t>
            </a:r>
            <a:r>
              <a:rPr lang="de-DE" dirty="0">
                <a:solidFill>
                  <a:schemeClr val="bg1"/>
                </a:solidFill>
                <a:latin typeface="Arial" panose="020B0604020202020204" pitchFamily="34" charset="0"/>
                <a:cs typeface="Arial" panose="020B0604020202020204" pitchFamily="34" charset="0"/>
              </a:rPr>
              <a:t> ML </a:t>
            </a:r>
            <a:r>
              <a:rPr lang="de-DE" dirty="0" err="1">
                <a:solidFill>
                  <a:schemeClr val="bg1"/>
                </a:solidFill>
                <a:latin typeface="Arial" panose="020B0604020202020204" pitchFamily="34" charset="0"/>
                <a:cs typeface="Arial" panose="020B0604020202020204" pitchFamily="34" charset="0"/>
              </a:rPr>
              <a:t>encompasses</a:t>
            </a:r>
            <a:r>
              <a:rPr lang="de-DE" dirty="0">
                <a:solidFill>
                  <a:schemeClr val="bg1"/>
                </a:solidFill>
                <a:latin typeface="Arial" panose="020B0604020202020204" pitchFamily="34" charset="0"/>
                <a:cs typeface="Arial" panose="020B0604020202020204" pitchFamily="34" charset="0"/>
              </a:rPr>
              <a:t> innovative </a:t>
            </a:r>
            <a:r>
              <a:rPr lang="de-DE" dirty="0" err="1">
                <a:solidFill>
                  <a:schemeClr val="bg1"/>
                </a:solidFill>
                <a:latin typeface="Arial" panose="020B0604020202020204" pitchFamily="34" charset="0"/>
                <a:cs typeface="Arial" panose="020B0604020202020204" pitchFamily="34" charset="0"/>
              </a:rPr>
              <a:t>approaches</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that</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achieve</a:t>
            </a:r>
            <a:r>
              <a:rPr lang="de-DE" dirty="0">
                <a:solidFill>
                  <a:schemeClr val="bg1"/>
                </a:solidFill>
                <a:latin typeface="Arial" panose="020B0604020202020204" pitchFamily="34" charset="0"/>
                <a:cs typeface="Arial" panose="020B0604020202020204" pitchFamily="34" charset="0"/>
              </a:rPr>
              <a:t> </a:t>
            </a:r>
            <a:r>
              <a:rPr lang="de-DE" i="1" dirty="0" err="1">
                <a:solidFill>
                  <a:schemeClr val="bg1"/>
                </a:solidFill>
                <a:latin typeface="Arial" panose="020B0604020202020204" pitchFamily="34" charset="0"/>
                <a:cs typeface="Arial" panose="020B0604020202020204" pitchFamily="34" charset="0"/>
              </a:rPr>
              <a:t>greater</a:t>
            </a:r>
            <a:r>
              <a:rPr lang="de-DE" i="1" dirty="0">
                <a:solidFill>
                  <a:schemeClr val="bg1"/>
                </a:solidFill>
                <a:latin typeface="Arial" panose="020B0604020202020204" pitchFamily="34" charset="0"/>
                <a:cs typeface="Arial" panose="020B0604020202020204" pitchFamily="34" charset="0"/>
              </a:rPr>
              <a:t> </a:t>
            </a:r>
            <a:r>
              <a:rPr lang="de-DE" i="1" dirty="0" err="1">
                <a:solidFill>
                  <a:schemeClr val="bg1"/>
                </a:solidFill>
                <a:latin typeface="Arial" panose="020B0604020202020204" pitchFamily="34" charset="0"/>
                <a:cs typeface="Arial" panose="020B0604020202020204" pitchFamily="34" charset="0"/>
              </a:rPr>
              <a:t>flexibility</a:t>
            </a:r>
            <a:r>
              <a:rPr lang="de-DE" i="1"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to</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ensure</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the</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specification</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of</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correct</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models</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of</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the</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treatment</a:t>
            </a:r>
            <a:r>
              <a:rPr lang="de-DE" dirty="0">
                <a:solidFill>
                  <a:schemeClr val="bg1"/>
                </a:solidFill>
                <a:latin typeface="Arial" panose="020B0604020202020204" pitchFamily="34" charset="0"/>
                <a:cs typeface="Arial" panose="020B0604020202020204" pitchFamily="34" charset="0"/>
              </a:rPr>
              <a:t> and </a:t>
            </a:r>
            <a:r>
              <a:rPr lang="de-DE" dirty="0" err="1">
                <a:solidFill>
                  <a:schemeClr val="bg1"/>
                </a:solidFill>
                <a:latin typeface="Arial" panose="020B0604020202020204" pitchFamily="34" charset="0"/>
                <a:cs typeface="Arial" panose="020B0604020202020204" pitchFamily="34" charset="0"/>
              </a:rPr>
              <a:t>the</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outcome</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while</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making</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the</a:t>
            </a:r>
            <a:r>
              <a:rPr lang="de-DE" dirty="0">
                <a:solidFill>
                  <a:schemeClr val="bg1"/>
                </a:solidFill>
                <a:latin typeface="Arial" panose="020B0604020202020204" pitchFamily="34" charset="0"/>
                <a:cs typeface="Arial" panose="020B0604020202020204" pitchFamily="34" charset="0"/>
              </a:rPr>
              <a:t> </a:t>
            </a:r>
            <a:r>
              <a:rPr lang="de-DE" b="1" dirty="0">
                <a:solidFill>
                  <a:schemeClr val="bg1"/>
                </a:solidFill>
                <a:latin typeface="Arial" panose="020B0604020202020204" pitchFamily="34" charset="0"/>
                <a:cs typeface="Arial" panose="020B0604020202020204" pitchFamily="34" charset="0"/>
              </a:rPr>
              <a:t>same </a:t>
            </a:r>
            <a:r>
              <a:rPr lang="de-DE" b="1" dirty="0" err="1">
                <a:solidFill>
                  <a:schemeClr val="bg1"/>
                </a:solidFill>
                <a:latin typeface="Arial" panose="020B0604020202020204" pitchFamily="34" charset="0"/>
                <a:cs typeface="Arial" panose="020B0604020202020204" pitchFamily="34" charset="0"/>
              </a:rPr>
              <a:t>assumptions</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regarding</a:t>
            </a:r>
            <a:r>
              <a:rPr lang="de-DE" dirty="0">
                <a:solidFill>
                  <a:schemeClr val="bg1"/>
                </a:solidFill>
                <a:latin typeface="Arial" panose="020B0604020202020204" pitchFamily="34" charset="0"/>
                <a:cs typeface="Arial" panose="020B0604020202020204" pitchFamily="34" charset="0"/>
              </a:rPr>
              <a:t> </a:t>
            </a:r>
            <a:r>
              <a:rPr lang="de-DE" b="1" dirty="0" err="1">
                <a:solidFill>
                  <a:schemeClr val="bg1"/>
                </a:solidFill>
                <a:latin typeface="Arial" panose="020B0604020202020204" pitchFamily="34" charset="0"/>
                <a:cs typeface="Arial" panose="020B0604020202020204" pitchFamily="34" charset="0"/>
              </a:rPr>
              <a:t>identifiability</a:t>
            </a:r>
            <a:r>
              <a:rPr lang="de-DE" dirty="0">
                <a:solidFill>
                  <a:schemeClr val="bg1"/>
                </a:solidFill>
                <a:latin typeface="Arial" panose="020B0604020202020204" pitchFamily="34" charset="0"/>
                <a:cs typeface="Arial" panose="020B0604020202020204" pitchFamily="34" charset="0"/>
              </a:rPr>
              <a:t> and </a:t>
            </a:r>
            <a:r>
              <a:rPr lang="de-DE" b="1" dirty="0" err="1">
                <a:solidFill>
                  <a:schemeClr val="bg1"/>
                </a:solidFill>
                <a:latin typeface="Arial" panose="020B0604020202020204" pitchFamily="34" charset="0"/>
                <a:cs typeface="Arial" panose="020B0604020202020204" pitchFamily="34" charset="0"/>
              </a:rPr>
              <a:t>sufficiency</a:t>
            </a:r>
            <a:r>
              <a:rPr lang="de-DE" b="1" dirty="0">
                <a:solidFill>
                  <a:schemeClr val="bg1"/>
                </a:solidFill>
                <a:latin typeface="Arial" panose="020B0604020202020204" pitchFamily="34" charset="0"/>
                <a:cs typeface="Arial" panose="020B0604020202020204" pitchFamily="34" charset="0"/>
              </a:rPr>
              <a:t> </a:t>
            </a:r>
            <a:r>
              <a:rPr lang="de-DE" dirty="0">
                <a:solidFill>
                  <a:schemeClr val="bg1"/>
                </a:solidFill>
                <a:latin typeface="Arial" panose="020B0604020202020204" pitchFamily="34" charset="0"/>
                <a:cs typeface="Arial" panose="020B0604020202020204" pitchFamily="34" charset="0"/>
              </a:rPr>
              <a:t>(i.e., </a:t>
            </a:r>
            <a:r>
              <a:rPr lang="de-DE" dirty="0" err="1">
                <a:solidFill>
                  <a:schemeClr val="bg1"/>
                </a:solidFill>
                <a:latin typeface="Arial" panose="020B0604020202020204" pitchFamily="34" charset="0"/>
                <a:cs typeface="Arial" panose="020B0604020202020204" pitchFamily="34" charset="0"/>
              </a:rPr>
              <a:t>knowledge</a:t>
            </a:r>
            <a:r>
              <a:rPr lang="de-DE" dirty="0">
                <a:solidFill>
                  <a:schemeClr val="bg1"/>
                </a:solidFill>
                <a:latin typeface="Arial" panose="020B0604020202020204" pitchFamily="34" charset="0"/>
                <a:cs typeface="Arial" panose="020B0604020202020204" pitchFamily="34" charset="0"/>
              </a:rPr>
              <a:t> &amp; </a:t>
            </a:r>
            <a:r>
              <a:rPr lang="de-DE" dirty="0" err="1">
                <a:solidFill>
                  <a:schemeClr val="bg1"/>
                </a:solidFill>
                <a:latin typeface="Arial" panose="020B0604020202020204" pitchFamily="34" charset="0"/>
                <a:cs typeface="Arial" panose="020B0604020202020204" pitchFamily="34" charset="0"/>
              </a:rPr>
              <a:t>data</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about</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the</a:t>
            </a:r>
            <a:r>
              <a:rPr lang="de-DE" dirty="0">
                <a:solidFill>
                  <a:schemeClr val="bg1"/>
                </a:solidFill>
                <a:latin typeface="Arial" panose="020B0604020202020204" pitchFamily="34" charset="0"/>
                <a:cs typeface="Arial" panose="020B0604020202020204" pitchFamily="34" charset="0"/>
              </a:rPr>
              <a:t> variables </a:t>
            </a:r>
            <a:r>
              <a:rPr lang="de-DE" dirty="0" err="1">
                <a:solidFill>
                  <a:schemeClr val="bg1"/>
                </a:solidFill>
                <a:latin typeface="Arial" panose="020B0604020202020204" pitchFamily="34" charset="0"/>
                <a:cs typeface="Arial" panose="020B0604020202020204" pitchFamily="34" charset="0"/>
              </a:rPr>
              <a:t>necessary</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for</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causal</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estimation</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as</a:t>
            </a:r>
            <a:r>
              <a:rPr lang="de-DE" dirty="0">
                <a:solidFill>
                  <a:schemeClr val="bg1"/>
                </a:solidFill>
                <a:latin typeface="Arial" panose="020B0604020202020204" pitchFamily="34" charset="0"/>
                <a:cs typeface="Arial" panose="020B0604020202020204" pitchFamily="34" charset="0"/>
              </a:rPr>
              <a:t> non-ML </a:t>
            </a:r>
            <a:r>
              <a:rPr lang="de-DE" dirty="0" err="1">
                <a:solidFill>
                  <a:schemeClr val="bg1"/>
                </a:solidFill>
                <a:latin typeface="Arial" panose="020B0604020202020204" pitchFamily="34" charset="0"/>
                <a:cs typeface="Arial" panose="020B0604020202020204" pitchFamily="34" charset="0"/>
              </a:rPr>
              <a:t>methods</a:t>
            </a:r>
            <a:r>
              <a:rPr lang="de-DE" dirty="0">
                <a:solidFill>
                  <a:schemeClr val="bg1"/>
                </a:solidFill>
                <a:latin typeface="Arial" panose="020B0604020202020204" pitchFamily="34" charset="0"/>
                <a:cs typeface="Arial" panose="020B0604020202020204" pitchFamily="34" charset="0"/>
              </a:rPr>
              <a:t>.</a:t>
            </a:r>
          </a:p>
          <a:p>
            <a:endParaRPr lang="de-DE" dirty="0">
              <a:solidFill>
                <a:schemeClr val="bg1"/>
              </a:solidFill>
              <a:latin typeface="Arial" panose="020B0604020202020204" pitchFamily="34" charset="0"/>
              <a:cs typeface="Arial" panose="020B0604020202020204" pitchFamily="34" charset="0"/>
            </a:endParaRPr>
          </a:p>
          <a:p>
            <a:r>
              <a:rPr lang="de-DE" dirty="0">
                <a:solidFill>
                  <a:schemeClr val="bg1"/>
                </a:solidFill>
                <a:latin typeface="Arial" panose="020B0604020202020204" pitchFamily="34" charset="0"/>
                <a:cs typeface="Arial" panose="020B0604020202020204" pitchFamily="34" charset="0"/>
              </a:rPr>
              <a:t>These </a:t>
            </a:r>
            <a:r>
              <a:rPr lang="de-DE" b="1" dirty="0" err="1">
                <a:solidFill>
                  <a:schemeClr val="bg1"/>
                </a:solidFill>
                <a:latin typeface="Arial" panose="020B0604020202020204" pitchFamily="34" charset="0"/>
                <a:cs typeface="Arial" panose="020B0604020202020204" pitchFamily="34" charset="0"/>
              </a:rPr>
              <a:t>assumptions</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remain</a:t>
            </a:r>
            <a:r>
              <a:rPr lang="de-DE" dirty="0">
                <a:solidFill>
                  <a:schemeClr val="bg1"/>
                </a:solidFill>
                <a:latin typeface="Arial" panose="020B0604020202020204" pitchFamily="34" charset="0"/>
                <a:cs typeface="Arial" panose="020B0604020202020204" pitchFamily="34" charset="0"/>
              </a:rPr>
              <a:t> </a:t>
            </a:r>
            <a:r>
              <a:rPr lang="de-DE" b="1" dirty="0" err="1">
                <a:solidFill>
                  <a:schemeClr val="bg1"/>
                </a:solidFill>
                <a:latin typeface="Arial" panose="020B0604020202020204" pitchFamily="34" charset="0"/>
                <a:cs typeface="Arial" panose="020B0604020202020204" pitchFamily="34" charset="0"/>
              </a:rPr>
              <a:t>as</a:t>
            </a:r>
            <a:r>
              <a:rPr lang="de-DE" b="1" dirty="0">
                <a:solidFill>
                  <a:schemeClr val="bg1"/>
                </a:solidFill>
                <a:latin typeface="Arial" panose="020B0604020202020204" pitchFamily="34" charset="0"/>
                <a:cs typeface="Arial" panose="020B0604020202020204" pitchFamily="34" charset="0"/>
              </a:rPr>
              <a:t> </a:t>
            </a:r>
            <a:r>
              <a:rPr lang="de-DE" b="1" dirty="0" err="1">
                <a:solidFill>
                  <a:schemeClr val="bg1"/>
                </a:solidFill>
                <a:latin typeface="Arial" panose="020B0604020202020204" pitchFamily="34" charset="0"/>
                <a:cs typeface="Arial" panose="020B0604020202020204" pitchFamily="34" charset="0"/>
              </a:rPr>
              <a:t>hard</a:t>
            </a:r>
            <a:r>
              <a:rPr lang="de-DE" b="1" dirty="0">
                <a:solidFill>
                  <a:schemeClr val="bg1"/>
                </a:solidFill>
                <a:latin typeface="Arial" panose="020B0604020202020204" pitchFamily="34" charset="0"/>
                <a:cs typeface="Arial" panose="020B0604020202020204" pitchFamily="34" charset="0"/>
              </a:rPr>
              <a:t> </a:t>
            </a:r>
            <a:r>
              <a:rPr lang="de-DE" b="1" dirty="0" err="1">
                <a:solidFill>
                  <a:schemeClr val="bg1"/>
                </a:solidFill>
                <a:latin typeface="Arial" panose="020B0604020202020204" pitchFamily="34" charset="0"/>
                <a:cs typeface="Arial" panose="020B0604020202020204" pitchFamily="34" charset="0"/>
              </a:rPr>
              <a:t>to</a:t>
            </a:r>
            <a:r>
              <a:rPr lang="de-DE" b="1" dirty="0">
                <a:solidFill>
                  <a:schemeClr val="bg1"/>
                </a:solidFill>
                <a:latin typeface="Arial" panose="020B0604020202020204" pitchFamily="34" charset="0"/>
                <a:cs typeface="Arial" panose="020B0604020202020204" pitchFamily="34" charset="0"/>
              </a:rPr>
              <a:t> </a:t>
            </a:r>
            <a:r>
              <a:rPr lang="de-DE" b="1" dirty="0" err="1">
                <a:solidFill>
                  <a:schemeClr val="bg1"/>
                </a:solidFill>
                <a:latin typeface="Arial" panose="020B0604020202020204" pitchFamily="34" charset="0"/>
                <a:cs typeface="Arial" panose="020B0604020202020204" pitchFamily="34" charset="0"/>
              </a:rPr>
              <a:t>fulfill</a:t>
            </a:r>
            <a:r>
              <a:rPr lang="de-DE" b="1"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with</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observational</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data</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as</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with</a:t>
            </a:r>
            <a:r>
              <a:rPr lang="de-DE" dirty="0">
                <a:solidFill>
                  <a:schemeClr val="bg1"/>
                </a:solidFill>
                <a:latin typeface="Arial" panose="020B0604020202020204" pitchFamily="34" charset="0"/>
                <a:cs typeface="Arial" panose="020B0604020202020204" pitchFamily="34" charset="0"/>
              </a:rPr>
              <a:t> non-ML </a:t>
            </a:r>
            <a:r>
              <a:rPr lang="de-DE" dirty="0" err="1">
                <a:solidFill>
                  <a:schemeClr val="bg1"/>
                </a:solidFill>
                <a:latin typeface="Arial" panose="020B0604020202020204" pitchFamily="34" charset="0"/>
                <a:cs typeface="Arial" panose="020B0604020202020204" pitchFamily="34" charset="0"/>
              </a:rPr>
              <a:t>methods</a:t>
            </a:r>
            <a:r>
              <a:rPr lang="de-DE" dirty="0">
                <a:solidFill>
                  <a:schemeClr val="bg1"/>
                </a:solidFill>
                <a:latin typeface="Arial" panose="020B0604020202020204" pitchFamily="34" charset="0"/>
                <a:cs typeface="Arial" panose="020B0604020202020204" pitchFamily="34" charset="0"/>
              </a:rPr>
              <a:t>.</a:t>
            </a:r>
          </a:p>
        </p:txBody>
      </p:sp>
      <p:sp>
        <p:nvSpPr>
          <p:cNvPr id="38" name="Abgerundetes Rechteck 41">
            <a:extLst>
              <a:ext uri="{FF2B5EF4-FFF2-40B4-BE49-F238E27FC236}">
                <a16:creationId xmlns:a16="http://schemas.microsoft.com/office/drawing/2014/main" id="{71201F53-2B45-44D4-9D62-8A9DD61FB765}"/>
              </a:ext>
            </a:extLst>
          </p:cNvPr>
          <p:cNvSpPr/>
          <p:nvPr/>
        </p:nvSpPr>
        <p:spPr>
          <a:xfrm>
            <a:off x="9292281" y="5957917"/>
            <a:ext cx="2610159" cy="838199"/>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dirty="0">
                <a:ln>
                  <a:noFill/>
                </a:ln>
                <a:solidFill>
                  <a:prstClr val="white"/>
                </a:solidFill>
                <a:effectLst/>
                <a:uLnTx/>
                <a:uFillTx/>
                <a:latin typeface="Arial" panose="020B0604020202020204"/>
                <a:ea typeface="+mn-ea"/>
                <a:cs typeface="+mn-cs"/>
              </a:rPr>
              <a:t>I)   </a:t>
            </a:r>
            <a:r>
              <a:rPr kumimoji="0" lang="de-CH" sz="1200" b="0" i="0" u="none" strike="noStrike" kern="1200" cap="none" spc="0" normalizeH="0" baseline="0" noProof="0" dirty="0" err="1">
                <a:ln>
                  <a:noFill/>
                </a:ln>
                <a:solidFill>
                  <a:prstClr val="white"/>
                </a:solidFill>
                <a:effectLst/>
                <a:uLnTx/>
                <a:uFillTx/>
                <a:latin typeface="Arial" panose="020B0604020202020204"/>
                <a:ea typeface="+mn-ea"/>
                <a:cs typeface="+mn-cs"/>
              </a:rPr>
              <a:t>What</a:t>
            </a:r>
            <a:r>
              <a:rPr kumimoji="0" lang="de-CH" sz="12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b="0" i="1" u="none" strike="noStrike" kern="1200" cap="none" spc="0" normalizeH="0" baseline="0" noProof="0" dirty="0" err="1">
                <a:ln>
                  <a:noFill/>
                </a:ln>
                <a:solidFill>
                  <a:prstClr val="white"/>
                </a:solidFill>
                <a:effectLst/>
                <a:uLnTx/>
                <a:uFillTx/>
                <a:latin typeface="Arial" panose="020B0604020202020204"/>
                <a:ea typeface="+mn-ea"/>
                <a:cs typeface="+mn-cs"/>
              </a:rPr>
              <a:t>is</a:t>
            </a:r>
            <a:r>
              <a:rPr kumimoji="0" lang="de-CH" sz="1200" b="0" i="0" u="none" strike="noStrike" kern="1200" cap="none" spc="0" normalizeH="0" baseline="0" noProof="0" dirty="0">
                <a:ln>
                  <a:noFill/>
                </a:ln>
                <a:solidFill>
                  <a:prstClr val="white"/>
                </a:solidFill>
                <a:effectLst/>
                <a:uLnTx/>
                <a:uFillTx/>
                <a:latin typeface="Arial" panose="020B0604020202020204"/>
                <a:ea typeface="+mn-ea"/>
                <a:cs typeface="+mn-cs"/>
              </a:rPr>
              <a:t> CML?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i="0" u="none" strike="noStrike" kern="1200" cap="none" spc="0" normalizeH="0" baseline="0" noProof="0" dirty="0">
                <a:ln>
                  <a:noFill/>
                </a:ln>
                <a:solidFill>
                  <a:prstClr val="white"/>
                </a:solidFill>
                <a:effectLst/>
                <a:uLnTx/>
                <a:uFillTx/>
                <a:latin typeface="Arial" panose="020B0604020202020204"/>
                <a:ea typeface="+mn-ea"/>
                <a:cs typeface="+mn-cs"/>
              </a:rPr>
              <a:t>II)  The </a:t>
            </a:r>
            <a:r>
              <a:rPr kumimoji="0" lang="de-CH" sz="1200" i="1" u="none" strike="noStrike" kern="1200" cap="none" spc="0" normalizeH="0" baseline="0" noProof="0" dirty="0" err="1">
                <a:ln>
                  <a:noFill/>
                </a:ln>
                <a:solidFill>
                  <a:prstClr val="white"/>
                </a:solidFill>
                <a:effectLst/>
                <a:uLnTx/>
                <a:uFillTx/>
                <a:latin typeface="Arial" panose="020B0604020202020204"/>
                <a:ea typeface="+mn-ea"/>
                <a:cs typeface="+mn-cs"/>
              </a:rPr>
              <a:t>Bayesian</a:t>
            </a:r>
            <a:r>
              <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i="1" u="none" strike="noStrike" kern="1200" cap="none" spc="0" normalizeH="0" baseline="0" noProof="0" dirty="0" err="1">
                <a:ln>
                  <a:noFill/>
                </a:ln>
                <a:solidFill>
                  <a:prstClr val="white"/>
                </a:solidFill>
                <a:effectLst/>
                <a:uLnTx/>
                <a:uFillTx/>
                <a:latin typeface="Arial" panose="020B0604020202020204"/>
                <a:ea typeface="+mn-ea"/>
                <a:cs typeface="+mn-cs"/>
              </a:rPr>
              <a:t>causal</a:t>
            </a:r>
            <a:r>
              <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i="1" u="none" strike="noStrike" kern="1200" cap="none" spc="0" normalizeH="0" baseline="0" noProof="0" dirty="0" err="1">
                <a:ln>
                  <a:noFill/>
                </a:ln>
                <a:solidFill>
                  <a:prstClr val="white"/>
                </a:solidFill>
                <a:effectLst/>
                <a:uLnTx/>
                <a:uFillTx/>
                <a:latin typeface="Arial" panose="020B0604020202020204"/>
                <a:ea typeface="+mn-ea"/>
                <a:cs typeface="+mn-cs"/>
              </a:rPr>
              <a:t>forest</a:t>
            </a:r>
            <a:endPar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i="0" u="none" strike="noStrike" kern="1200" cap="none" spc="0" normalizeH="0" baseline="0" noProof="0" dirty="0">
                <a:ln>
                  <a:noFill/>
                </a:ln>
                <a:solidFill>
                  <a:prstClr val="white"/>
                </a:solidFill>
                <a:effectLst/>
                <a:uLnTx/>
                <a:uFillTx/>
                <a:latin typeface="Arial" panose="020B0604020202020204"/>
                <a:ea typeface="+mn-ea"/>
                <a:cs typeface="+mn-cs"/>
              </a:rPr>
              <a:t>III) </a:t>
            </a:r>
            <a:r>
              <a:rPr kumimoji="0" lang="de-CH" sz="1200" i="1" u="none" strike="noStrike" kern="1200" cap="none" spc="0" normalizeH="0" baseline="0" noProof="0" dirty="0" err="1">
                <a:ln>
                  <a:noFill/>
                </a:ln>
                <a:solidFill>
                  <a:prstClr val="white"/>
                </a:solidFill>
                <a:effectLst/>
                <a:uLnTx/>
                <a:uFillTx/>
                <a:latin typeface="Arial" panose="020B0604020202020204"/>
                <a:ea typeface="+mn-ea"/>
                <a:cs typeface="+mn-cs"/>
              </a:rPr>
              <a:t>Uniqueness</a:t>
            </a:r>
            <a:r>
              <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i="0" u="none" strike="noStrike" kern="1200" cap="none" spc="0" normalizeH="0" baseline="0" noProof="0" dirty="0" err="1">
                <a:ln>
                  <a:noFill/>
                </a:ln>
                <a:solidFill>
                  <a:prstClr val="white"/>
                </a:solidFill>
                <a:effectLst/>
                <a:uLnTx/>
                <a:uFillTx/>
                <a:latin typeface="Arial" panose="020B0604020202020204"/>
                <a:ea typeface="+mn-ea"/>
                <a:cs typeface="+mn-cs"/>
              </a:rPr>
              <a:t>of</a:t>
            </a:r>
            <a:r>
              <a:rPr kumimoji="0" lang="de-CH" sz="1200" i="0" u="none" strike="noStrike" kern="1200" cap="none" spc="0" normalizeH="0" baseline="0" noProof="0" dirty="0">
                <a:ln>
                  <a:noFill/>
                </a:ln>
                <a:solidFill>
                  <a:prstClr val="white"/>
                </a:solidFill>
                <a:effectLst/>
                <a:uLnTx/>
                <a:uFillTx/>
                <a:latin typeface="Arial" panose="020B0604020202020204"/>
                <a:ea typeface="+mn-ea"/>
                <a:cs typeface="+mn-cs"/>
              </a:rPr>
              <a:t> CML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b="1" i="1" u="none" strike="noStrike" kern="1200" cap="none" spc="0" normalizeH="0" baseline="0" noProof="0" dirty="0">
                <a:ln>
                  <a:noFill/>
                </a:ln>
                <a:solidFill>
                  <a:prstClr val="white"/>
                </a:solidFill>
                <a:effectLst/>
                <a:uLnTx/>
                <a:uFillTx/>
                <a:latin typeface="Arial" panose="020B0604020202020204"/>
                <a:ea typeface="+mn-ea"/>
                <a:cs typeface="+mn-cs"/>
              </a:rPr>
              <a:t>IV) </a:t>
            </a:r>
            <a:r>
              <a:rPr kumimoji="0" lang="de-CH" sz="1200" b="1" i="1" u="none" strike="noStrike" kern="1200" cap="none" spc="0" normalizeH="0" baseline="0" noProof="0" dirty="0" err="1">
                <a:ln>
                  <a:noFill/>
                </a:ln>
                <a:solidFill>
                  <a:prstClr val="white"/>
                </a:solidFill>
                <a:effectLst/>
                <a:uLnTx/>
                <a:uFillTx/>
                <a:latin typeface="Arial" panose="020B0604020202020204"/>
                <a:ea typeface="+mn-ea"/>
                <a:cs typeface="+mn-cs"/>
              </a:rPr>
              <a:t>Implications</a:t>
            </a:r>
            <a:r>
              <a:rPr kumimoji="0" lang="de-CH" sz="1200" b="1"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b="1" i="0" u="none" strike="noStrike" kern="1200" cap="none" spc="0" normalizeH="0" baseline="0" noProof="0" dirty="0" err="1">
                <a:ln>
                  <a:noFill/>
                </a:ln>
                <a:solidFill>
                  <a:prstClr val="white"/>
                </a:solidFill>
                <a:effectLst/>
                <a:uLnTx/>
                <a:uFillTx/>
                <a:latin typeface="Arial" panose="020B0604020202020204"/>
                <a:ea typeface="+mn-ea"/>
                <a:cs typeface="+mn-cs"/>
              </a:rPr>
              <a:t>for</a:t>
            </a:r>
            <a:r>
              <a:rPr kumimoji="0" lang="de-CH" sz="1200" b="1"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b="1" i="0" u="none" strike="noStrike" kern="1200" cap="none" spc="0" normalizeH="0" baseline="0" noProof="0" dirty="0" err="1">
                <a:ln>
                  <a:noFill/>
                </a:ln>
                <a:solidFill>
                  <a:prstClr val="white"/>
                </a:solidFill>
                <a:effectLst/>
                <a:uLnTx/>
                <a:uFillTx/>
                <a:latin typeface="Arial" panose="020B0604020202020204"/>
                <a:ea typeface="+mn-ea"/>
                <a:cs typeface="+mn-cs"/>
              </a:rPr>
              <a:t>our</a:t>
            </a:r>
            <a:r>
              <a:rPr kumimoji="0" lang="de-CH" sz="1200" b="1"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b="1" i="0" u="none" strike="noStrike" kern="1200" cap="none" spc="0" normalizeH="0" baseline="0" noProof="0" dirty="0" err="1">
                <a:ln>
                  <a:noFill/>
                </a:ln>
                <a:solidFill>
                  <a:prstClr val="white"/>
                </a:solidFill>
                <a:effectLst/>
                <a:uLnTx/>
                <a:uFillTx/>
                <a:latin typeface="Arial" panose="020B0604020202020204"/>
                <a:ea typeface="+mn-ea"/>
                <a:cs typeface="+mn-cs"/>
              </a:rPr>
              <a:t>research</a:t>
            </a:r>
            <a:endParaRPr kumimoji="0" lang="de-CH" sz="1200" b="1"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3505217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bg>
      <p:bgPr>
        <a:solidFill>
          <a:schemeClr val="tx1"/>
        </a:solidFill>
        <a:effectLst/>
      </p:bgPr>
    </p:bg>
    <p:spTree>
      <p:nvGrpSpPr>
        <p:cNvPr id="1" name=""/>
        <p:cNvGrpSpPr/>
        <p:nvPr/>
      </p:nvGrpSpPr>
      <p:grpSpPr bwMode="auto">
        <a:xfrm>
          <a:off x="0" y="0"/>
          <a:ext cx="0" cy="0"/>
          <a:chOff x="0" y="0"/>
          <a:chExt cx="0" cy="0"/>
        </a:xfrm>
      </p:grpSpPr>
      <p:sp>
        <p:nvSpPr>
          <p:cNvPr id="4" name="Rechteck 3">
            <a:extLst>
              <a:ext uri="{FF2B5EF4-FFF2-40B4-BE49-F238E27FC236}">
                <a16:creationId xmlns:a16="http://schemas.microsoft.com/office/drawing/2014/main" id="{7524DA9A-46A3-4912-BF4E-032E888E93B0}"/>
              </a:ext>
            </a:extLst>
          </p:cNvPr>
          <p:cNvSpPr/>
          <p:nvPr/>
        </p:nvSpPr>
        <p:spPr>
          <a:xfrm>
            <a:off x="119336" y="585247"/>
            <a:ext cx="11953328" cy="561662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8" name="Textfeld 27">
            <a:extLst>
              <a:ext uri="{FF2B5EF4-FFF2-40B4-BE49-F238E27FC236}">
                <a16:creationId xmlns:a16="http://schemas.microsoft.com/office/drawing/2014/main" id="{3926715B-E100-4E13-B8ED-83B40B2D37E8}"/>
              </a:ext>
            </a:extLst>
          </p:cNvPr>
          <p:cNvSpPr txBox="1"/>
          <p:nvPr/>
        </p:nvSpPr>
        <p:spPr bwMode="auto">
          <a:xfrm>
            <a:off x="3676996" y="605722"/>
            <a:ext cx="5037190" cy="461665"/>
          </a:xfrm>
          <a:prstGeom prst="rect">
            <a:avLst/>
          </a:prstGeom>
          <a:noFill/>
        </p:spPr>
        <p:txBody>
          <a:bodyPr wrap="square" rtlCol="0">
            <a:spAutoFit/>
          </a:bodyPr>
          <a:lstStyle/>
          <a:p>
            <a:pPr algn="ctr"/>
            <a:r>
              <a:rPr lang="de-DE" sz="2400" b="1" dirty="0" err="1">
                <a:solidFill>
                  <a:schemeClr val="bg1"/>
                </a:solidFill>
                <a:latin typeface="Arial" panose="020B0604020202020204" pitchFamily="34" charset="0"/>
                <a:cs typeface="Arial" panose="020B0604020202020204" pitchFamily="34" charset="0"/>
              </a:rPr>
              <a:t>Implications</a:t>
            </a:r>
            <a:endParaRPr lang="de-DE" sz="2400" b="1" dirty="0">
              <a:solidFill>
                <a:schemeClr val="bg1"/>
              </a:solidFill>
              <a:latin typeface="Arial" panose="020B0604020202020204" pitchFamily="34" charset="0"/>
              <a:cs typeface="Arial" panose="020B0604020202020204" pitchFamily="34" charset="0"/>
            </a:endParaRPr>
          </a:p>
        </p:txBody>
      </p:sp>
      <p:cxnSp>
        <p:nvCxnSpPr>
          <p:cNvPr id="30" name="Gerade Verbindung mit Pfeil 29">
            <a:extLst>
              <a:ext uri="{FF2B5EF4-FFF2-40B4-BE49-F238E27FC236}">
                <a16:creationId xmlns:a16="http://schemas.microsoft.com/office/drawing/2014/main" id="{695BD1A6-35AA-4ADC-814E-6D23E8DE38B3}"/>
              </a:ext>
            </a:extLst>
          </p:cNvPr>
          <p:cNvCxnSpPr>
            <a:cxnSpLocks/>
            <a:endCxn id="28" idx="2"/>
          </p:cNvCxnSpPr>
          <p:nvPr/>
        </p:nvCxnSpPr>
        <p:spPr bwMode="auto">
          <a:xfrm flipH="1" flipV="1">
            <a:off x="6195591" y="1067387"/>
            <a:ext cx="679754" cy="2850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Textfeld 31">
            <a:extLst>
              <a:ext uri="{FF2B5EF4-FFF2-40B4-BE49-F238E27FC236}">
                <a16:creationId xmlns:a16="http://schemas.microsoft.com/office/drawing/2014/main" id="{895B3EA8-69CD-427F-9280-8015CC8A59D9}"/>
              </a:ext>
            </a:extLst>
          </p:cNvPr>
          <p:cNvSpPr txBox="1"/>
          <p:nvPr/>
        </p:nvSpPr>
        <p:spPr bwMode="auto">
          <a:xfrm>
            <a:off x="199711" y="1099475"/>
            <a:ext cx="11792578" cy="5632311"/>
          </a:xfrm>
          <a:prstGeom prst="rect">
            <a:avLst/>
          </a:prstGeom>
          <a:noFill/>
        </p:spPr>
        <p:txBody>
          <a:bodyPr wrap="square" rtlCol="0">
            <a:spAutoFit/>
          </a:bodyPr>
          <a:lstStyle/>
          <a:p>
            <a:r>
              <a:rPr lang="de-DE" b="1" dirty="0" err="1">
                <a:solidFill>
                  <a:schemeClr val="bg1"/>
                </a:solidFill>
                <a:latin typeface="Arial" panose="020B0604020202020204" pitchFamily="34" charset="0"/>
                <a:cs typeface="Arial" panose="020B0604020202020204" pitchFamily="34" charset="0"/>
              </a:rPr>
              <a:t>Causal</a:t>
            </a:r>
            <a:r>
              <a:rPr lang="de-DE" b="1" dirty="0">
                <a:solidFill>
                  <a:schemeClr val="bg1"/>
                </a:solidFill>
                <a:latin typeface="Arial" panose="020B0604020202020204" pitchFamily="34" charset="0"/>
                <a:cs typeface="Arial" panose="020B0604020202020204" pitchFamily="34" charset="0"/>
              </a:rPr>
              <a:t> ML </a:t>
            </a:r>
            <a:r>
              <a:rPr lang="de-DE" b="1" dirty="0" err="1">
                <a:solidFill>
                  <a:schemeClr val="bg1"/>
                </a:solidFill>
                <a:latin typeface="Arial" panose="020B0604020202020204" pitchFamily="34" charset="0"/>
                <a:cs typeface="Arial" panose="020B0604020202020204" pitchFamily="34" charset="0"/>
              </a:rPr>
              <a:t>sufficiency</a:t>
            </a:r>
            <a:r>
              <a:rPr lang="de-DE" b="1" dirty="0">
                <a:solidFill>
                  <a:schemeClr val="bg1"/>
                </a:solidFill>
                <a:latin typeface="Arial" panose="020B0604020202020204" pitchFamily="34" charset="0"/>
                <a:cs typeface="Arial" panose="020B0604020202020204" pitchFamily="34" charset="0"/>
              </a:rPr>
              <a:t> </a:t>
            </a:r>
            <a:r>
              <a:rPr lang="de-DE" b="1" dirty="0" err="1">
                <a:solidFill>
                  <a:schemeClr val="bg1"/>
                </a:solidFill>
                <a:latin typeface="Arial" panose="020B0604020202020204" pitchFamily="34" charset="0"/>
                <a:cs typeface="Arial" panose="020B0604020202020204" pitchFamily="34" charset="0"/>
              </a:rPr>
              <a:t>fallacy</a:t>
            </a:r>
            <a:r>
              <a:rPr lang="de-DE" dirty="0">
                <a:solidFill>
                  <a:schemeClr val="bg1"/>
                </a:solidFill>
                <a:latin typeface="Arial" panose="020B0604020202020204" pitchFamily="34" charset="0"/>
                <a:cs typeface="Arial" panose="020B0604020202020204" pitchFamily="34" charset="0"/>
              </a:rPr>
              <a:t>: More powerful </a:t>
            </a:r>
            <a:r>
              <a:rPr lang="de-DE" dirty="0" err="1">
                <a:solidFill>
                  <a:schemeClr val="bg1"/>
                </a:solidFill>
                <a:latin typeface="Arial" panose="020B0604020202020204" pitchFamily="34" charset="0"/>
                <a:cs typeface="Arial" panose="020B0604020202020204" pitchFamily="34" charset="0"/>
              </a:rPr>
              <a:t>models</a:t>
            </a:r>
            <a:r>
              <a:rPr lang="de-DE" dirty="0">
                <a:solidFill>
                  <a:schemeClr val="bg1"/>
                </a:solidFill>
                <a:latin typeface="Arial" panose="020B0604020202020204" pitchFamily="34" charset="0"/>
                <a:cs typeface="Arial" panose="020B0604020202020204" pitchFamily="34" charset="0"/>
              </a:rPr>
              <a:t> </a:t>
            </a:r>
            <a:r>
              <a:rPr lang="de-DE" i="1" dirty="0" err="1">
                <a:solidFill>
                  <a:schemeClr val="bg1"/>
                </a:solidFill>
                <a:latin typeface="Arial" panose="020B0604020202020204" pitchFamily="34" charset="0"/>
                <a:cs typeface="Arial" panose="020B0604020202020204" pitchFamily="34" charset="0"/>
              </a:rPr>
              <a:t>lessen</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or</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even</a:t>
            </a:r>
            <a:r>
              <a:rPr lang="de-DE" dirty="0">
                <a:solidFill>
                  <a:schemeClr val="bg1"/>
                </a:solidFill>
                <a:latin typeface="Arial" panose="020B0604020202020204" pitchFamily="34" charset="0"/>
                <a:cs typeface="Arial" panose="020B0604020202020204" pitchFamily="34" charset="0"/>
              </a:rPr>
              <a:t> </a:t>
            </a:r>
            <a:r>
              <a:rPr lang="de-DE" i="1" dirty="0" err="1">
                <a:solidFill>
                  <a:schemeClr val="bg1"/>
                </a:solidFill>
                <a:latin typeface="Arial" panose="020B0604020202020204" pitchFamily="34" charset="0"/>
                <a:cs typeface="Arial" panose="020B0604020202020204" pitchFamily="34" charset="0"/>
              </a:rPr>
              <a:t>erase</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the</a:t>
            </a:r>
            <a:r>
              <a:rPr lang="de-DE" dirty="0">
                <a:solidFill>
                  <a:schemeClr val="bg1"/>
                </a:solidFill>
                <a:latin typeface="Arial" panose="020B0604020202020204" pitchFamily="34" charset="0"/>
                <a:cs typeface="Arial" panose="020B0604020202020204" pitchFamily="34" charset="0"/>
              </a:rPr>
              <a:t> </a:t>
            </a:r>
            <a:r>
              <a:rPr lang="de-DE" i="1" dirty="0" err="1">
                <a:solidFill>
                  <a:schemeClr val="bg1"/>
                </a:solidFill>
                <a:latin typeface="Arial" panose="020B0604020202020204" pitchFamily="34" charset="0"/>
                <a:cs typeface="Arial" panose="020B0604020202020204" pitchFamily="34" charset="0"/>
              </a:rPr>
              <a:t>requirements</a:t>
            </a:r>
            <a:r>
              <a:rPr lang="de-DE" i="1" dirty="0">
                <a:solidFill>
                  <a:schemeClr val="bg1"/>
                </a:solidFill>
                <a:latin typeface="Arial" panose="020B0604020202020204" pitchFamily="34" charset="0"/>
                <a:cs typeface="Arial" panose="020B0604020202020204" pitchFamily="34" charset="0"/>
              </a:rPr>
              <a:t> </a:t>
            </a:r>
            <a:r>
              <a:rPr lang="de-DE" i="1" dirty="0" err="1">
                <a:solidFill>
                  <a:schemeClr val="bg1"/>
                </a:solidFill>
                <a:latin typeface="Arial" panose="020B0604020202020204" pitchFamily="34" charset="0"/>
                <a:cs typeface="Arial" panose="020B0604020202020204" pitchFamily="34" charset="0"/>
              </a:rPr>
              <a:t>for</a:t>
            </a:r>
            <a:r>
              <a:rPr lang="de-DE" i="1" dirty="0">
                <a:solidFill>
                  <a:schemeClr val="bg1"/>
                </a:solidFill>
                <a:latin typeface="Arial" panose="020B0604020202020204" pitchFamily="34" charset="0"/>
                <a:cs typeface="Arial" panose="020B0604020202020204" pitchFamily="34" charset="0"/>
              </a:rPr>
              <a:t> </a:t>
            </a:r>
            <a:r>
              <a:rPr lang="de-DE" i="1" dirty="0" err="1">
                <a:solidFill>
                  <a:schemeClr val="bg1"/>
                </a:solidFill>
                <a:latin typeface="Arial" panose="020B0604020202020204" pitchFamily="34" charset="0"/>
                <a:cs typeface="Arial" panose="020B0604020202020204" pitchFamily="34" charset="0"/>
              </a:rPr>
              <a:t>causal</a:t>
            </a:r>
            <a:r>
              <a:rPr lang="de-DE" i="1" dirty="0">
                <a:solidFill>
                  <a:schemeClr val="bg1"/>
                </a:solidFill>
                <a:latin typeface="Arial" panose="020B0604020202020204" pitchFamily="34" charset="0"/>
                <a:cs typeface="Arial" panose="020B0604020202020204" pitchFamily="34" charset="0"/>
              </a:rPr>
              <a:t> </a:t>
            </a:r>
            <a:r>
              <a:rPr lang="de-DE" i="1" dirty="0" err="1">
                <a:solidFill>
                  <a:schemeClr val="bg1"/>
                </a:solidFill>
                <a:latin typeface="Arial" panose="020B0604020202020204" pitchFamily="34" charset="0"/>
                <a:cs typeface="Arial" panose="020B0604020202020204" pitchFamily="34" charset="0"/>
              </a:rPr>
              <a:t>estimation</a:t>
            </a:r>
            <a:r>
              <a:rPr lang="de-DE" i="1" dirty="0">
                <a:solidFill>
                  <a:schemeClr val="bg1"/>
                </a:solidFill>
                <a:latin typeface="Arial" panose="020B0604020202020204" pitchFamily="34" charset="0"/>
                <a:cs typeface="Arial" panose="020B0604020202020204" pitchFamily="34" charset="0"/>
              </a:rPr>
              <a:t> </a:t>
            </a:r>
            <a:r>
              <a:rPr lang="de-DE" dirty="0">
                <a:solidFill>
                  <a:schemeClr val="bg1"/>
                </a:solidFill>
                <a:latin typeface="Arial" panose="020B0604020202020204" pitchFamily="34" charset="0"/>
                <a:cs typeface="Arial" panose="020B0604020202020204" pitchFamily="34" charset="0"/>
              </a:rPr>
              <a:t>(e.g., </a:t>
            </a:r>
            <a:r>
              <a:rPr lang="de-DE" dirty="0" err="1">
                <a:solidFill>
                  <a:schemeClr val="bg1"/>
                </a:solidFill>
                <a:latin typeface="Arial" panose="020B0604020202020204" pitchFamily="34" charset="0"/>
                <a:cs typeface="Arial" panose="020B0604020202020204" pitchFamily="34" charset="0"/>
              </a:rPr>
              <a:t>if</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there</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is</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no</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causal</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effect</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the</a:t>
            </a:r>
            <a:r>
              <a:rPr lang="de-DE" dirty="0">
                <a:solidFill>
                  <a:schemeClr val="bg1"/>
                </a:solidFill>
                <a:latin typeface="Arial" panose="020B0604020202020204" pitchFamily="34" charset="0"/>
                <a:cs typeface="Arial" panose="020B0604020202020204" pitchFamily="34" charset="0"/>
              </a:rPr>
              <a:t> CML </a:t>
            </a:r>
            <a:r>
              <a:rPr lang="de-DE" dirty="0" err="1">
                <a:solidFill>
                  <a:schemeClr val="bg1"/>
                </a:solidFill>
                <a:latin typeface="Arial" panose="020B0604020202020204" pitchFamily="34" charset="0"/>
                <a:cs typeface="Arial" panose="020B0604020202020204" pitchFamily="34" charset="0"/>
              </a:rPr>
              <a:t>model</a:t>
            </a:r>
            <a:r>
              <a:rPr lang="de-DE" dirty="0">
                <a:solidFill>
                  <a:schemeClr val="bg1"/>
                </a:solidFill>
                <a:latin typeface="Arial" panose="020B0604020202020204" pitchFamily="34" charset="0"/>
                <a:cs typeface="Arial" panose="020B0604020202020204" pitchFamily="34" charset="0"/>
              </a:rPr>
              <a:t> will </a:t>
            </a:r>
            <a:r>
              <a:rPr lang="de-DE" dirty="0" err="1">
                <a:solidFill>
                  <a:schemeClr val="bg1"/>
                </a:solidFill>
                <a:latin typeface="Arial" panose="020B0604020202020204" pitchFamily="34" charset="0"/>
                <a:cs typeface="Arial" panose="020B0604020202020204" pitchFamily="34" charset="0"/>
              </a:rPr>
              <a:t>correctly</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estimate</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it</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to</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be</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zero</a:t>
            </a:r>
            <a:r>
              <a:rPr lang="de-DE" dirty="0">
                <a:solidFill>
                  <a:schemeClr val="bg1"/>
                </a:solidFill>
                <a:latin typeface="Arial" panose="020B0604020202020204" pitchFamily="34" charset="0"/>
                <a:cs typeface="Arial" panose="020B0604020202020204" pitchFamily="34" charset="0"/>
              </a:rPr>
              <a:t>).</a:t>
            </a:r>
          </a:p>
          <a:p>
            <a:r>
              <a:rPr lang="de-DE" dirty="0" err="1">
                <a:solidFill>
                  <a:schemeClr val="bg1"/>
                </a:solidFill>
                <a:latin typeface="Arial" panose="020B0604020202020204" pitchFamily="34" charset="0"/>
                <a:cs typeface="Arial" panose="020B0604020202020204" pitchFamily="34" charset="0"/>
              </a:rPr>
              <a:t>They</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don`t</a:t>
            </a:r>
            <a:r>
              <a:rPr lang="de-DE" dirty="0">
                <a:solidFill>
                  <a:schemeClr val="bg1"/>
                </a:solidFill>
                <a:latin typeface="Arial" panose="020B0604020202020204" pitchFamily="34" charset="0"/>
                <a:cs typeface="Arial" panose="020B0604020202020204" pitchFamily="34" charset="0"/>
              </a:rPr>
              <a:t>.</a:t>
            </a:r>
          </a:p>
          <a:p>
            <a:endParaRPr lang="de-DE" dirty="0">
              <a:solidFill>
                <a:schemeClr val="bg1"/>
              </a:solidFill>
              <a:latin typeface="Arial" panose="020B0604020202020204" pitchFamily="34" charset="0"/>
              <a:cs typeface="Arial" panose="020B0604020202020204" pitchFamily="34" charset="0"/>
            </a:endParaRPr>
          </a:p>
          <a:p>
            <a:r>
              <a:rPr lang="de-DE" dirty="0">
                <a:solidFill>
                  <a:schemeClr val="bg1"/>
                </a:solidFill>
                <a:latin typeface="Arial" panose="020B0604020202020204" pitchFamily="34" charset="0"/>
                <a:cs typeface="Arial" panose="020B0604020202020204" pitchFamily="34" charset="0"/>
              </a:rPr>
              <a:t>H1: </a:t>
            </a:r>
            <a:r>
              <a:rPr lang="de-DE" dirty="0" err="1">
                <a:solidFill>
                  <a:schemeClr val="bg1"/>
                </a:solidFill>
                <a:latin typeface="Arial" panose="020B0604020202020204" pitchFamily="34" charset="0"/>
                <a:cs typeface="Arial" panose="020B0604020202020204" pitchFamily="34" charset="0"/>
              </a:rPr>
              <a:t>Portraying</a:t>
            </a:r>
            <a:r>
              <a:rPr lang="de-DE" dirty="0">
                <a:solidFill>
                  <a:schemeClr val="bg1"/>
                </a:solidFill>
                <a:latin typeface="Arial" panose="020B0604020202020204" pitchFamily="34" charset="0"/>
                <a:cs typeface="Arial" panose="020B0604020202020204" pitchFamily="34" charset="0"/>
              </a:rPr>
              <a:t> a </a:t>
            </a:r>
            <a:r>
              <a:rPr lang="de-DE" dirty="0" err="1">
                <a:solidFill>
                  <a:schemeClr val="bg1"/>
                </a:solidFill>
                <a:latin typeface="Arial" panose="020B0604020202020204" pitchFamily="34" charset="0"/>
                <a:cs typeface="Arial" panose="020B0604020202020204" pitchFamily="34" charset="0"/>
              </a:rPr>
              <a:t>method</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as</a:t>
            </a:r>
            <a:r>
              <a:rPr lang="de-DE" dirty="0">
                <a:solidFill>
                  <a:schemeClr val="bg1"/>
                </a:solidFill>
                <a:latin typeface="Arial" panose="020B0604020202020204" pitchFamily="34" charset="0"/>
                <a:cs typeface="Arial" panose="020B0604020202020204" pitchFamily="34" charset="0"/>
              </a:rPr>
              <a:t> CML…</a:t>
            </a:r>
          </a:p>
          <a:p>
            <a:endParaRPr lang="de-DE" dirty="0">
              <a:solidFill>
                <a:schemeClr val="bg1"/>
              </a:solidFill>
              <a:latin typeface="Arial" panose="020B0604020202020204" pitchFamily="34" charset="0"/>
              <a:cs typeface="Arial" panose="020B0604020202020204" pitchFamily="34" charset="0"/>
            </a:endParaRPr>
          </a:p>
          <a:p>
            <a:r>
              <a:rPr lang="de-DE" dirty="0">
                <a:solidFill>
                  <a:schemeClr val="bg1"/>
                </a:solidFill>
                <a:latin typeface="Arial" panose="020B0604020202020204" pitchFamily="34" charset="0"/>
                <a:cs typeface="Arial" panose="020B0604020202020204" pitchFamily="34" charset="0"/>
              </a:rPr>
              <a:t>H1a: …</a:t>
            </a:r>
            <a:r>
              <a:rPr lang="de-DE" dirty="0" err="1">
                <a:solidFill>
                  <a:schemeClr val="bg1"/>
                </a:solidFill>
                <a:latin typeface="Arial" panose="020B0604020202020204" pitchFamily="34" charset="0"/>
                <a:cs typeface="Arial" panose="020B0604020202020204" pitchFamily="34" charset="0"/>
              </a:rPr>
              <a:t>misleadingly</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decreases</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the</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requirements</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for</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accepting</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estimates</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to</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be</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causal</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authors</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reviewers</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readers</a:t>
            </a:r>
            <a:r>
              <a:rPr lang="de-DE" dirty="0">
                <a:solidFill>
                  <a:schemeClr val="bg1"/>
                </a:solidFill>
                <a:latin typeface="Arial" panose="020B0604020202020204" pitchFamily="34" charset="0"/>
                <a:cs typeface="Arial" panose="020B0604020202020204" pitchFamily="34" charset="0"/>
              </a:rPr>
              <a:t>)</a:t>
            </a:r>
          </a:p>
          <a:p>
            <a:endParaRPr lang="de-DE" dirty="0">
              <a:solidFill>
                <a:schemeClr val="bg1"/>
              </a:solidFill>
              <a:latin typeface="Arial" panose="020B0604020202020204" pitchFamily="34" charset="0"/>
              <a:cs typeface="Arial" panose="020B0604020202020204" pitchFamily="34" charset="0"/>
            </a:endParaRPr>
          </a:p>
          <a:p>
            <a:r>
              <a:rPr lang="de-DE" dirty="0">
                <a:solidFill>
                  <a:schemeClr val="bg1"/>
                </a:solidFill>
                <a:latin typeface="Arial" panose="020B0604020202020204" pitchFamily="34" charset="0"/>
                <a:cs typeface="Arial" panose="020B0604020202020204" pitchFamily="34" charset="0"/>
              </a:rPr>
              <a:t>H1b: …</a:t>
            </a:r>
            <a:r>
              <a:rPr lang="de-DE" dirty="0" err="1">
                <a:solidFill>
                  <a:schemeClr val="bg1"/>
                </a:solidFill>
                <a:latin typeface="Arial" panose="020B0604020202020204" pitchFamily="34" charset="0"/>
                <a:cs typeface="Arial" panose="020B0604020202020204" pitchFamily="34" charset="0"/>
              </a:rPr>
              <a:t>misleadingly</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decreases</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the</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requirements</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for</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accepting</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moderation</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to</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be</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interpreted</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as</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causal</a:t>
            </a:r>
            <a:endParaRPr lang="de-DE" dirty="0">
              <a:solidFill>
                <a:schemeClr val="bg1"/>
              </a:solidFill>
              <a:latin typeface="Arial" panose="020B0604020202020204" pitchFamily="34" charset="0"/>
              <a:cs typeface="Arial" panose="020B0604020202020204" pitchFamily="34" charset="0"/>
            </a:endParaRPr>
          </a:p>
          <a:p>
            <a:endParaRPr lang="de-DE" dirty="0">
              <a:solidFill>
                <a:schemeClr val="bg1"/>
              </a:solidFill>
              <a:latin typeface="Arial" panose="020B0604020202020204" pitchFamily="34" charset="0"/>
              <a:cs typeface="Arial" panose="020B0604020202020204" pitchFamily="34" charset="0"/>
            </a:endParaRPr>
          </a:p>
          <a:p>
            <a:r>
              <a:rPr lang="de-DE" dirty="0">
                <a:solidFill>
                  <a:schemeClr val="bg1"/>
                </a:solidFill>
                <a:latin typeface="Arial" panose="020B0604020202020204" pitchFamily="34" charset="0"/>
                <a:cs typeface="Arial" panose="020B0604020202020204" pitchFamily="34" charset="0"/>
              </a:rPr>
              <a:t>H2: CML </a:t>
            </a:r>
            <a:r>
              <a:rPr lang="de-DE" dirty="0" err="1">
                <a:solidFill>
                  <a:schemeClr val="bg1"/>
                </a:solidFill>
                <a:latin typeface="Arial" panose="020B0604020202020204" pitchFamily="34" charset="0"/>
                <a:cs typeface="Arial" panose="020B0604020202020204" pitchFamily="34" charset="0"/>
              </a:rPr>
              <a:t>provides</a:t>
            </a:r>
            <a:r>
              <a:rPr lang="de-DE" dirty="0">
                <a:solidFill>
                  <a:schemeClr val="bg1"/>
                </a:solidFill>
                <a:latin typeface="Arial" panose="020B0604020202020204" pitchFamily="34" charset="0"/>
                <a:cs typeface="Arial" panose="020B0604020202020204" pitchFamily="34" charset="0"/>
              </a:rPr>
              <a:t> </a:t>
            </a:r>
            <a:r>
              <a:rPr lang="de-DE" i="1" dirty="0" err="1">
                <a:solidFill>
                  <a:schemeClr val="bg1"/>
                </a:solidFill>
                <a:latin typeface="Arial" panose="020B0604020202020204" pitchFamily="34" charset="0"/>
                <a:cs typeface="Arial" panose="020B0604020202020204" pitchFamily="34" charset="0"/>
              </a:rPr>
              <a:t>affordances</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regarding</a:t>
            </a:r>
            <a:r>
              <a:rPr lang="de-DE" dirty="0">
                <a:solidFill>
                  <a:schemeClr val="bg1"/>
                </a:solidFill>
                <a:latin typeface="Arial" panose="020B0604020202020204" pitchFamily="34" charset="0"/>
                <a:cs typeface="Arial" panose="020B0604020202020204" pitchFamily="34" charset="0"/>
              </a:rPr>
              <a:t> </a:t>
            </a:r>
            <a:r>
              <a:rPr lang="de-DE" i="1" dirty="0" err="1">
                <a:solidFill>
                  <a:schemeClr val="bg1"/>
                </a:solidFill>
                <a:latin typeface="Arial" panose="020B0604020202020204" pitchFamily="34" charset="0"/>
                <a:cs typeface="Arial" panose="020B0604020202020204" pitchFamily="34" charset="0"/>
              </a:rPr>
              <a:t>estimation</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that</a:t>
            </a:r>
            <a:r>
              <a:rPr lang="de-DE" dirty="0">
                <a:solidFill>
                  <a:schemeClr val="bg1"/>
                </a:solidFill>
                <a:latin typeface="Arial" panose="020B0604020202020204" pitchFamily="34" charset="0"/>
                <a:cs typeface="Arial" panose="020B0604020202020204" pitchFamily="34" charset="0"/>
              </a:rPr>
              <a:t> </a:t>
            </a:r>
            <a:r>
              <a:rPr lang="de-DE" i="1" dirty="0" err="1">
                <a:solidFill>
                  <a:schemeClr val="bg1"/>
                </a:solidFill>
                <a:latin typeface="Arial" panose="020B0604020202020204" pitchFamily="34" charset="0"/>
                <a:cs typeface="Arial" panose="020B0604020202020204" pitchFamily="34" charset="0"/>
              </a:rPr>
              <a:t>remain</a:t>
            </a:r>
            <a:r>
              <a:rPr lang="de-DE" i="1" dirty="0">
                <a:solidFill>
                  <a:schemeClr val="bg1"/>
                </a:solidFill>
                <a:latin typeface="Arial" panose="020B0604020202020204" pitchFamily="34" charset="0"/>
                <a:cs typeface="Arial" panose="020B0604020202020204" pitchFamily="34" charset="0"/>
              </a:rPr>
              <a:t> </a:t>
            </a:r>
            <a:r>
              <a:rPr lang="de-DE" i="1" dirty="0" err="1">
                <a:solidFill>
                  <a:schemeClr val="bg1"/>
                </a:solidFill>
                <a:latin typeface="Arial" panose="020B0604020202020204" pitchFamily="34" charset="0"/>
                <a:cs typeface="Arial" panose="020B0604020202020204" pitchFamily="34" charset="0"/>
              </a:rPr>
              <a:t>overlooked</a:t>
            </a:r>
            <a:r>
              <a:rPr lang="de-DE" i="1" dirty="0">
                <a:solidFill>
                  <a:schemeClr val="bg1"/>
                </a:solidFill>
                <a:latin typeface="Arial" panose="020B0604020202020204" pitchFamily="34" charset="0"/>
                <a:cs typeface="Arial" panose="020B0604020202020204" pitchFamily="34" charset="0"/>
              </a:rPr>
              <a:t>/</a:t>
            </a:r>
            <a:r>
              <a:rPr lang="de-DE" i="1" dirty="0" err="1">
                <a:solidFill>
                  <a:schemeClr val="bg1"/>
                </a:solidFill>
                <a:latin typeface="Arial" panose="020B0604020202020204" pitchFamily="34" charset="0"/>
                <a:cs typeface="Arial" panose="020B0604020202020204" pitchFamily="34" charset="0"/>
              </a:rPr>
              <a:t>disregarded</a:t>
            </a:r>
            <a:r>
              <a:rPr lang="de-DE" i="1" dirty="0">
                <a:solidFill>
                  <a:schemeClr val="bg1"/>
                </a:solidFill>
                <a:latin typeface="Arial" panose="020B0604020202020204" pitchFamily="34" charset="0"/>
                <a:cs typeface="Arial" panose="020B0604020202020204" pitchFamily="34" charset="0"/>
              </a:rPr>
              <a:t> </a:t>
            </a:r>
            <a:r>
              <a:rPr lang="de-DE" dirty="0">
                <a:solidFill>
                  <a:schemeClr val="bg1"/>
                </a:solidFill>
                <a:latin typeface="Arial" panose="020B0604020202020204" pitchFamily="34" charset="0"/>
                <a:cs typeface="Arial" panose="020B0604020202020204" pitchFamily="34" charset="0"/>
              </a:rPr>
              <a:t>in social </a:t>
            </a:r>
            <a:r>
              <a:rPr lang="de-DE" dirty="0" err="1">
                <a:solidFill>
                  <a:schemeClr val="bg1"/>
                </a:solidFill>
                <a:latin typeface="Arial" panose="020B0604020202020204" pitchFamily="34" charset="0"/>
                <a:cs typeface="Arial" panose="020B0604020202020204" pitchFamily="34" charset="0"/>
              </a:rPr>
              <a:t>science</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research</a:t>
            </a:r>
            <a:endParaRPr lang="de-DE" dirty="0">
              <a:solidFill>
                <a:schemeClr val="bg1"/>
              </a:solidFill>
              <a:latin typeface="Arial" panose="020B0604020202020204" pitchFamily="34" charset="0"/>
              <a:cs typeface="Arial" panose="020B0604020202020204" pitchFamily="34" charset="0"/>
            </a:endParaRPr>
          </a:p>
          <a:p>
            <a:r>
              <a:rPr lang="de-DE" dirty="0">
                <a:solidFill>
                  <a:schemeClr val="bg1"/>
                </a:solidFill>
                <a:latin typeface="Arial" panose="020B0604020202020204" pitchFamily="34" charset="0"/>
                <a:cs typeface="Arial" panose="020B0604020202020204" pitchFamily="34" charset="0"/>
              </a:rPr>
              <a:t>(</a:t>
            </a:r>
            <a:r>
              <a:rPr lang="de-DE" dirty="0" err="1">
                <a:solidFill>
                  <a:schemeClr val="bg1"/>
                </a:solidFill>
                <a:latin typeface="Arial" panose="020B0604020202020204" pitchFamily="34" charset="0"/>
                <a:cs typeface="Arial" panose="020B0604020202020204" pitchFamily="34" charset="0"/>
              </a:rPr>
              <a:t>esp</a:t>
            </a:r>
            <a:r>
              <a:rPr lang="de-DE" dirty="0">
                <a:solidFill>
                  <a:schemeClr val="bg1"/>
                </a:solidFill>
                <a:latin typeface="Arial" panose="020B0604020202020204" pitchFamily="34" charset="0"/>
                <a:cs typeface="Arial" panose="020B0604020202020204" pitchFamily="34" charset="0"/>
              </a:rPr>
              <a:t>./</a:t>
            </a:r>
            <a:r>
              <a:rPr lang="de-DE" dirty="0" err="1">
                <a:solidFill>
                  <a:schemeClr val="bg1"/>
                </a:solidFill>
                <a:latin typeface="Arial" panose="020B0604020202020204" pitchFamily="34" charset="0"/>
                <a:cs typeface="Arial" panose="020B0604020202020204" pitchFamily="34" charset="0"/>
              </a:rPr>
              <a:t>only</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with</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samples</a:t>
            </a:r>
            <a:r>
              <a:rPr lang="de-DE" dirty="0">
                <a:solidFill>
                  <a:schemeClr val="bg1"/>
                </a:solidFill>
                <a:latin typeface="Arial" panose="020B0604020202020204" pitchFamily="34" charset="0"/>
                <a:cs typeface="Arial" panose="020B0604020202020204" pitchFamily="34" charset="0"/>
              </a:rPr>
              <a:t> &gt; 1,000/10,000; Speck et al., 2026)</a:t>
            </a:r>
          </a:p>
          <a:p>
            <a:endParaRPr lang="de-DE" dirty="0">
              <a:solidFill>
                <a:schemeClr val="bg1"/>
              </a:solidFill>
              <a:latin typeface="Arial" panose="020B0604020202020204" pitchFamily="34" charset="0"/>
              <a:cs typeface="Arial" panose="020B0604020202020204" pitchFamily="34" charset="0"/>
            </a:endParaRPr>
          </a:p>
          <a:p>
            <a:r>
              <a:rPr lang="de-DE" dirty="0" err="1">
                <a:solidFill>
                  <a:schemeClr val="bg1"/>
                </a:solidFill>
                <a:latin typeface="Arial" panose="020B0604020202020204" pitchFamily="34" charset="0"/>
                <a:cs typeface="Arial" panose="020B0604020202020204" pitchFamily="34" charset="0"/>
              </a:rPr>
              <a:t>Implication</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We</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should</a:t>
            </a:r>
            <a:r>
              <a:rPr lang="de-DE" dirty="0">
                <a:solidFill>
                  <a:schemeClr val="bg1"/>
                </a:solidFill>
                <a:latin typeface="Arial" panose="020B0604020202020204" pitchFamily="34" charset="0"/>
                <a:cs typeface="Arial" panose="020B0604020202020204" pitchFamily="34" charset="0"/>
              </a:rPr>
              <a:t>…</a:t>
            </a:r>
          </a:p>
          <a:p>
            <a:r>
              <a:rPr lang="de-DE" dirty="0">
                <a:solidFill>
                  <a:schemeClr val="bg1"/>
                </a:solidFill>
                <a:latin typeface="Arial" panose="020B0604020202020204" pitchFamily="34" charset="0"/>
                <a:cs typeface="Arial" panose="020B0604020202020204" pitchFamily="34" charset="0"/>
              </a:rPr>
              <a:t>…</a:t>
            </a:r>
            <a:r>
              <a:rPr lang="de-DE" dirty="0" err="1">
                <a:solidFill>
                  <a:schemeClr val="bg1"/>
                </a:solidFill>
                <a:latin typeface="Arial" panose="020B0604020202020204" pitchFamily="34" charset="0"/>
                <a:cs typeface="Arial" panose="020B0604020202020204" pitchFamily="34" charset="0"/>
              </a:rPr>
              <a:t>remain</a:t>
            </a:r>
            <a:r>
              <a:rPr lang="de-DE" dirty="0">
                <a:solidFill>
                  <a:schemeClr val="bg1"/>
                </a:solidFill>
                <a:latin typeface="Arial" panose="020B0604020202020204" pitchFamily="34" charset="0"/>
                <a:cs typeface="Arial" panose="020B0604020202020204" pitchFamily="34" charset="0"/>
              </a:rPr>
              <a:t> persistent </a:t>
            </a:r>
            <a:r>
              <a:rPr lang="de-DE" dirty="0" err="1">
                <a:solidFill>
                  <a:schemeClr val="bg1"/>
                </a:solidFill>
                <a:latin typeface="Arial" panose="020B0604020202020204" pitchFamily="34" charset="0"/>
                <a:cs typeface="Arial" panose="020B0604020202020204" pitchFamily="34" charset="0"/>
              </a:rPr>
              <a:t>about</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the</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limitations</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of</a:t>
            </a:r>
            <a:r>
              <a:rPr lang="de-DE" dirty="0">
                <a:solidFill>
                  <a:schemeClr val="bg1"/>
                </a:solidFill>
                <a:latin typeface="Arial" panose="020B0604020202020204" pitchFamily="34" charset="0"/>
                <a:cs typeface="Arial" panose="020B0604020202020204" pitchFamily="34" charset="0"/>
              </a:rPr>
              <a:t> CML</a:t>
            </a:r>
          </a:p>
          <a:p>
            <a:r>
              <a:rPr lang="de-DE" dirty="0">
                <a:solidFill>
                  <a:schemeClr val="bg1"/>
                </a:solidFill>
                <a:latin typeface="Arial" panose="020B0604020202020204" pitchFamily="34" charset="0"/>
                <a:cs typeface="Arial" panose="020B0604020202020204" pitchFamily="34" charset="0"/>
              </a:rPr>
              <a:t>…</a:t>
            </a:r>
            <a:r>
              <a:rPr lang="de-DE" dirty="0" err="1">
                <a:solidFill>
                  <a:schemeClr val="bg1"/>
                </a:solidFill>
                <a:latin typeface="Arial" panose="020B0604020202020204" pitchFamily="34" charset="0"/>
                <a:cs typeface="Arial" panose="020B0604020202020204" pitchFamily="34" charset="0"/>
              </a:rPr>
              <a:t>be</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more</a:t>
            </a:r>
            <a:r>
              <a:rPr lang="de-DE" dirty="0">
                <a:solidFill>
                  <a:schemeClr val="bg1"/>
                </a:solidFill>
                <a:latin typeface="Arial" panose="020B0604020202020204" pitchFamily="34" charset="0"/>
                <a:cs typeface="Arial" panose="020B0604020202020204" pitchFamily="34" charset="0"/>
              </a:rPr>
              <a:t> open </a:t>
            </a:r>
            <a:r>
              <a:rPr lang="de-DE" dirty="0" err="1">
                <a:solidFill>
                  <a:schemeClr val="bg1"/>
                </a:solidFill>
                <a:latin typeface="Arial" panose="020B0604020202020204" pitchFamily="34" charset="0"/>
                <a:cs typeface="Arial" panose="020B0604020202020204" pitchFamily="34" charset="0"/>
              </a:rPr>
              <a:t>about</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the</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advantages</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of</a:t>
            </a:r>
            <a:r>
              <a:rPr lang="de-DE" dirty="0">
                <a:solidFill>
                  <a:schemeClr val="bg1"/>
                </a:solidFill>
                <a:latin typeface="Arial" panose="020B0604020202020204" pitchFamily="34" charset="0"/>
                <a:cs typeface="Arial" panose="020B0604020202020204" pitchFamily="34" charset="0"/>
              </a:rPr>
              <a:t> CML</a:t>
            </a:r>
          </a:p>
          <a:p>
            <a:r>
              <a:rPr lang="de-DE" dirty="0">
                <a:solidFill>
                  <a:schemeClr val="bg1"/>
                </a:solidFill>
                <a:latin typeface="Arial" panose="020B0604020202020204" pitchFamily="34" charset="0"/>
                <a:cs typeface="Arial" panose="020B0604020202020204" pitchFamily="34" charset="0"/>
              </a:rPr>
              <a:t>…</a:t>
            </a:r>
            <a:r>
              <a:rPr lang="de-DE" dirty="0" err="1">
                <a:solidFill>
                  <a:schemeClr val="bg1"/>
                </a:solidFill>
                <a:latin typeface="Arial" panose="020B0604020202020204" pitchFamily="34" charset="0"/>
                <a:cs typeface="Arial" panose="020B0604020202020204" pitchFamily="34" charset="0"/>
              </a:rPr>
              <a:t>consider</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these</a:t>
            </a:r>
            <a:r>
              <a:rPr lang="de-DE" dirty="0">
                <a:solidFill>
                  <a:schemeClr val="bg1"/>
                </a:solidFill>
                <a:latin typeface="Arial" panose="020B0604020202020204" pitchFamily="34" charset="0"/>
                <a:cs typeface="Arial" panose="020B0604020202020204" pitchFamily="34" charset="0"/>
              </a:rPr>
              <a:t> </a:t>
            </a:r>
            <a:r>
              <a:rPr lang="de-DE" dirty="0" err="1">
                <a:solidFill>
                  <a:schemeClr val="bg1"/>
                </a:solidFill>
                <a:latin typeface="Arial" panose="020B0604020202020204" pitchFamily="34" charset="0"/>
                <a:cs typeface="Arial" panose="020B0604020202020204" pitchFamily="34" charset="0"/>
              </a:rPr>
              <a:t>points</a:t>
            </a:r>
            <a:r>
              <a:rPr lang="de-DE" dirty="0">
                <a:solidFill>
                  <a:schemeClr val="bg1"/>
                </a:solidFill>
                <a:latin typeface="Arial" panose="020B0604020202020204" pitchFamily="34" charset="0"/>
                <a:cs typeface="Arial" panose="020B0604020202020204" pitchFamily="34" charset="0"/>
              </a:rPr>
              <a:t> in </a:t>
            </a:r>
            <a:r>
              <a:rPr lang="de-DE" dirty="0" err="1">
                <a:solidFill>
                  <a:schemeClr val="bg1"/>
                </a:solidFill>
                <a:latin typeface="Arial" panose="020B0604020202020204" pitchFamily="34" charset="0"/>
                <a:cs typeface="Arial" panose="020B0604020202020204" pitchFamily="34" charset="0"/>
              </a:rPr>
              <a:t>teaching</a:t>
            </a:r>
            <a:r>
              <a:rPr lang="de-DE" dirty="0">
                <a:solidFill>
                  <a:schemeClr val="bg1"/>
                </a:solidFill>
                <a:latin typeface="Arial" panose="020B0604020202020204" pitchFamily="34" charset="0"/>
                <a:cs typeface="Arial" panose="020B0604020202020204" pitchFamily="34" charset="0"/>
              </a:rPr>
              <a:t>, review, and </a:t>
            </a:r>
            <a:r>
              <a:rPr lang="de-DE" dirty="0" err="1">
                <a:solidFill>
                  <a:schemeClr val="bg1"/>
                </a:solidFill>
                <a:latin typeface="Arial" panose="020B0604020202020204" pitchFamily="34" charset="0"/>
                <a:cs typeface="Arial" panose="020B0604020202020204" pitchFamily="34" charset="0"/>
              </a:rPr>
              <a:t>our</a:t>
            </a:r>
            <a:r>
              <a:rPr lang="de-DE" dirty="0">
                <a:solidFill>
                  <a:schemeClr val="bg1"/>
                </a:solidFill>
                <a:latin typeface="Arial" panose="020B0604020202020204" pitchFamily="34" charset="0"/>
                <a:cs typeface="Arial" panose="020B0604020202020204" pitchFamily="34" charset="0"/>
              </a:rPr>
              <a:t> own </a:t>
            </a:r>
            <a:r>
              <a:rPr lang="de-DE" dirty="0" err="1">
                <a:solidFill>
                  <a:schemeClr val="bg1"/>
                </a:solidFill>
                <a:latin typeface="Arial" panose="020B0604020202020204" pitchFamily="34" charset="0"/>
                <a:cs typeface="Arial" panose="020B0604020202020204" pitchFamily="34" charset="0"/>
              </a:rPr>
              <a:t>research</a:t>
            </a:r>
            <a:endParaRPr lang="de-DE" dirty="0">
              <a:solidFill>
                <a:schemeClr val="bg1"/>
              </a:solidFill>
              <a:latin typeface="Arial" panose="020B0604020202020204" pitchFamily="34" charset="0"/>
              <a:cs typeface="Arial" panose="020B0604020202020204" pitchFamily="34" charset="0"/>
            </a:endParaRPr>
          </a:p>
          <a:p>
            <a:endParaRPr lang="de-DE" dirty="0">
              <a:solidFill>
                <a:schemeClr val="bg1"/>
              </a:solidFill>
              <a:latin typeface="Arial" panose="020B0604020202020204" pitchFamily="34" charset="0"/>
              <a:cs typeface="Arial" panose="020B0604020202020204" pitchFamily="34" charset="0"/>
            </a:endParaRPr>
          </a:p>
          <a:p>
            <a:endParaRPr lang="de-DE" dirty="0">
              <a:solidFill>
                <a:schemeClr val="bg1"/>
              </a:solidFill>
              <a:latin typeface="Arial" panose="020B0604020202020204" pitchFamily="34" charset="0"/>
              <a:cs typeface="Arial" panose="020B0604020202020204" pitchFamily="34" charset="0"/>
            </a:endParaRPr>
          </a:p>
        </p:txBody>
      </p:sp>
      <p:sp>
        <p:nvSpPr>
          <p:cNvPr id="13" name="Abgerundetes Rechteck 41">
            <a:extLst>
              <a:ext uri="{FF2B5EF4-FFF2-40B4-BE49-F238E27FC236}">
                <a16:creationId xmlns:a16="http://schemas.microsoft.com/office/drawing/2014/main" id="{D98855AD-E5E1-4B52-83B5-7F5E6245BCFD}"/>
              </a:ext>
            </a:extLst>
          </p:cNvPr>
          <p:cNvSpPr/>
          <p:nvPr/>
        </p:nvSpPr>
        <p:spPr>
          <a:xfrm>
            <a:off x="9279925" y="5957917"/>
            <a:ext cx="2622516" cy="838199"/>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dirty="0">
                <a:ln>
                  <a:noFill/>
                </a:ln>
                <a:solidFill>
                  <a:prstClr val="white"/>
                </a:solidFill>
                <a:effectLst/>
                <a:uLnTx/>
                <a:uFillTx/>
                <a:latin typeface="Arial" panose="020B0604020202020204"/>
                <a:ea typeface="+mn-ea"/>
                <a:cs typeface="+mn-cs"/>
              </a:rPr>
              <a:t>I)   </a:t>
            </a:r>
            <a:r>
              <a:rPr kumimoji="0" lang="de-CH" sz="1200" b="0" i="0" u="none" strike="noStrike" kern="1200" cap="none" spc="0" normalizeH="0" baseline="0" noProof="0" dirty="0" err="1">
                <a:ln>
                  <a:noFill/>
                </a:ln>
                <a:solidFill>
                  <a:prstClr val="white"/>
                </a:solidFill>
                <a:effectLst/>
                <a:uLnTx/>
                <a:uFillTx/>
                <a:latin typeface="Arial" panose="020B0604020202020204"/>
                <a:ea typeface="+mn-ea"/>
                <a:cs typeface="+mn-cs"/>
              </a:rPr>
              <a:t>What</a:t>
            </a:r>
            <a:r>
              <a:rPr kumimoji="0" lang="de-CH" sz="12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b="0" i="1" u="none" strike="noStrike" kern="1200" cap="none" spc="0" normalizeH="0" baseline="0" noProof="0" dirty="0" err="1">
                <a:ln>
                  <a:noFill/>
                </a:ln>
                <a:solidFill>
                  <a:prstClr val="white"/>
                </a:solidFill>
                <a:effectLst/>
                <a:uLnTx/>
                <a:uFillTx/>
                <a:latin typeface="Arial" panose="020B0604020202020204"/>
                <a:ea typeface="+mn-ea"/>
                <a:cs typeface="+mn-cs"/>
              </a:rPr>
              <a:t>is</a:t>
            </a:r>
            <a:r>
              <a:rPr kumimoji="0" lang="de-CH" sz="1200" b="0" i="0" u="none" strike="noStrike" kern="1200" cap="none" spc="0" normalizeH="0" baseline="0" noProof="0" dirty="0">
                <a:ln>
                  <a:noFill/>
                </a:ln>
                <a:solidFill>
                  <a:prstClr val="white"/>
                </a:solidFill>
                <a:effectLst/>
                <a:uLnTx/>
                <a:uFillTx/>
                <a:latin typeface="Arial" panose="020B0604020202020204"/>
                <a:ea typeface="+mn-ea"/>
                <a:cs typeface="+mn-cs"/>
              </a:rPr>
              <a:t> CML?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i="0" u="none" strike="noStrike" kern="1200" cap="none" spc="0" normalizeH="0" baseline="0" noProof="0" dirty="0">
                <a:ln>
                  <a:noFill/>
                </a:ln>
                <a:solidFill>
                  <a:prstClr val="white"/>
                </a:solidFill>
                <a:effectLst/>
                <a:uLnTx/>
                <a:uFillTx/>
                <a:latin typeface="Arial" panose="020B0604020202020204"/>
                <a:ea typeface="+mn-ea"/>
                <a:cs typeface="+mn-cs"/>
              </a:rPr>
              <a:t>II)  The </a:t>
            </a:r>
            <a:r>
              <a:rPr kumimoji="0" lang="de-CH" sz="1200" i="1" u="none" strike="noStrike" kern="1200" cap="none" spc="0" normalizeH="0" baseline="0" noProof="0" dirty="0" err="1">
                <a:ln>
                  <a:noFill/>
                </a:ln>
                <a:solidFill>
                  <a:prstClr val="white"/>
                </a:solidFill>
                <a:effectLst/>
                <a:uLnTx/>
                <a:uFillTx/>
                <a:latin typeface="Arial" panose="020B0604020202020204"/>
                <a:ea typeface="+mn-ea"/>
                <a:cs typeface="+mn-cs"/>
              </a:rPr>
              <a:t>Bayesian</a:t>
            </a:r>
            <a:r>
              <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i="1" u="none" strike="noStrike" kern="1200" cap="none" spc="0" normalizeH="0" baseline="0" noProof="0" dirty="0" err="1">
                <a:ln>
                  <a:noFill/>
                </a:ln>
                <a:solidFill>
                  <a:prstClr val="white"/>
                </a:solidFill>
                <a:effectLst/>
                <a:uLnTx/>
                <a:uFillTx/>
                <a:latin typeface="Arial" panose="020B0604020202020204"/>
                <a:ea typeface="+mn-ea"/>
                <a:cs typeface="+mn-cs"/>
              </a:rPr>
              <a:t>causal</a:t>
            </a:r>
            <a:r>
              <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i="1" u="none" strike="noStrike" kern="1200" cap="none" spc="0" normalizeH="0" baseline="0" noProof="0" dirty="0" err="1">
                <a:ln>
                  <a:noFill/>
                </a:ln>
                <a:solidFill>
                  <a:prstClr val="white"/>
                </a:solidFill>
                <a:effectLst/>
                <a:uLnTx/>
                <a:uFillTx/>
                <a:latin typeface="Arial" panose="020B0604020202020204"/>
                <a:ea typeface="+mn-ea"/>
                <a:cs typeface="+mn-cs"/>
              </a:rPr>
              <a:t>forest</a:t>
            </a:r>
            <a:endPar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i="0" u="none" strike="noStrike" kern="1200" cap="none" spc="0" normalizeH="0" baseline="0" noProof="0" dirty="0">
                <a:ln>
                  <a:noFill/>
                </a:ln>
                <a:solidFill>
                  <a:prstClr val="white"/>
                </a:solidFill>
                <a:effectLst/>
                <a:uLnTx/>
                <a:uFillTx/>
                <a:latin typeface="Arial" panose="020B0604020202020204"/>
                <a:ea typeface="+mn-ea"/>
                <a:cs typeface="+mn-cs"/>
              </a:rPr>
              <a:t>III) </a:t>
            </a:r>
            <a:r>
              <a:rPr kumimoji="0" lang="de-CH" sz="1200" i="1" u="none" strike="noStrike" kern="1200" cap="none" spc="0" normalizeH="0" baseline="0" noProof="0" dirty="0" err="1">
                <a:ln>
                  <a:noFill/>
                </a:ln>
                <a:solidFill>
                  <a:prstClr val="white"/>
                </a:solidFill>
                <a:effectLst/>
                <a:uLnTx/>
                <a:uFillTx/>
                <a:latin typeface="Arial" panose="020B0604020202020204"/>
                <a:ea typeface="+mn-ea"/>
                <a:cs typeface="+mn-cs"/>
              </a:rPr>
              <a:t>Uniqueness</a:t>
            </a:r>
            <a:r>
              <a:rPr kumimoji="0" lang="de-CH" sz="1200"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i="0" u="none" strike="noStrike" kern="1200" cap="none" spc="0" normalizeH="0" baseline="0" noProof="0" dirty="0" err="1">
                <a:ln>
                  <a:noFill/>
                </a:ln>
                <a:solidFill>
                  <a:prstClr val="white"/>
                </a:solidFill>
                <a:effectLst/>
                <a:uLnTx/>
                <a:uFillTx/>
                <a:latin typeface="Arial" panose="020B0604020202020204"/>
                <a:ea typeface="+mn-ea"/>
                <a:cs typeface="+mn-cs"/>
              </a:rPr>
              <a:t>of</a:t>
            </a:r>
            <a:r>
              <a:rPr kumimoji="0" lang="de-CH" sz="1200" i="0" u="none" strike="noStrike" kern="1200" cap="none" spc="0" normalizeH="0" baseline="0" noProof="0" dirty="0">
                <a:ln>
                  <a:noFill/>
                </a:ln>
                <a:solidFill>
                  <a:prstClr val="white"/>
                </a:solidFill>
                <a:effectLst/>
                <a:uLnTx/>
                <a:uFillTx/>
                <a:latin typeface="Arial" panose="020B0604020202020204"/>
                <a:ea typeface="+mn-ea"/>
                <a:cs typeface="+mn-cs"/>
              </a:rPr>
              <a:t> CML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b="1" i="1" u="none" strike="noStrike" kern="1200" cap="none" spc="0" normalizeH="0" baseline="0" noProof="0" dirty="0">
                <a:ln>
                  <a:noFill/>
                </a:ln>
                <a:solidFill>
                  <a:prstClr val="white"/>
                </a:solidFill>
                <a:effectLst/>
                <a:uLnTx/>
                <a:uFillTx/>
                <a:latin typeface="Arial" panose="020B0604020202020204"/>
                <a:ea typeface="+mn-ea"/>
                <a:cs typeface="+mn-cs"/>
              </a:rPr>
              <a:t>IV) </a:t>
            </a:r>
            <a:r>
              <a:rPr kumimoji="0" lang="de-CH" sz="1200" b="1" i="1" u="none" strike="noStrike" kern="1200" cap="none" spc="0" normalizeH="0" baseline="0" noProof="0" dirty="0" err="1">
                <a:ln>
                  <a:noFill/>
                </a:ln>
                <a:solidFill>
                  <a:prstClr val="white"/>
                </a:solidFill>
                <a:effectLst/>
                <a:uLnTx/>
                <a:uFillTx/>
                <a:latin typeface="Arial" panose="020B0604020202020204"/>
                <a:ea typeface="+mn-ea"/>
                <a:cs typeface="+mn-cs"/>
              </a:rPr>
              <a:t>Implications</a:t>
            </a:r>
            <a:r>
              <a:rPr kumimoji="0" lang="de-CH" sz="1200" b="1" i="1"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b="1" i="0" u="none" strike="noStrike" kern="1200" cap="none" spc="0" normalizeH="0" baseline="0" noProof="0" dirty="0" err="1">
                <a:ln>
                  <a:noFill/>
                </a:ln>
                <a:solidFill>
                  <a:prstClr val="white"/>
                </a:solidFill>
                <a:effectLst/>
                <a:uLnTx/>
                <a:uFillTx/>
                <a:latin typeface="Arial" panose="020B0604020202020204"/>
                <a:ea typeface="+mn-ea"/>
                <a:cs typeface="+mn-cs"/>
              </a:rPr>
              <a:t>for</a:t>
            </a:r>
            <a:r>
              <a:rPr kumimoji="0" lang="de-CH" sz="1200" b="1"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b="1" i="0" u="none" strike="noStrike" kern="1200" cap="none" spc="0" normalizeH="0" baseline="0" noProof="0" dirty="0" err="1">
                <a:ln>
                  <a:noFill/>
                </a:ln>
                <a:solidFill>
                  <a:prstClr val="white"/>
                </a:solidFill>
                <a:effectLst/>
                <a:uLnTx/>
                <a:uFillTx/>
                <a:latin typeface="Arial" panose="020B0604020202020204"/>
                <a:ea typeface="+mn-ea"/>
                <a:cs typeface="+mn-cs"/>
              </a:rPr>
              <a:t>our</a:t>
            </a:r>
            <a:r>
              <a:rPr kumimoji="0" lang="de-CH" sz="1200" b="1"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CH" sz="1200" b="1" i="0" u="none" strike="noStrike" kern="1200" cap="none" spc="0" normalizeH="0" baseline="0" noProof="0" dirty="0" err="1">
                <a:ln>
                  <a:noFill/>
                </a:ln>
                <a:solidFill>
                  <a:prstClr val="white"/>
                </a:solidFill>
                <a:effectLst/>
                <a:uLnTx/>
                <a:uFillTx/>
                <a:latin typeface="Arial" panose="020B0604020202020204"/>
                <a:ea typeface="+mn-ea"/>
                <a:cs typeface="+mn-cs"/>
              </a:rPr>
              <a:t>research</a:t>
            </a:r>
            <a:endParaRPr kumimoji="0" lang="de-CH" sz="1200" b="1"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1049929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2">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2">
                                            <p:txEl>
                                              <p:pRg st="10" end="1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2">
                                            <p:txEl>
                                              <p:pRg st="12" end="1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2">
                                            <p:txEl>
                                              <p:pRg st="13" end="1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2">
                                            <p:txEl>
                                              <p:pRg st="14" end="1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2">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3" name="Picture 8" descr="Jogger erschreckt Pferd – wer ist schuld? – FIT for LIFE">
            <a:extLst>
              <a:ext uri="{FF2B5EF4-FFF2-40B4-BE49-F238E27FC236}">
                <a16:creationId xmlns:a16="http://schemas.microsoft.com/office/drawing/2014/main" id="{C5AF85F8-23B2-49C6-848B-2A86BF36291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610" r="37230" b="5684"/>
          <a:stretch/>
        </p:blipFill>
        <p:spPr bwMode="auto">
          <a:xfrm>
            <a:off x="41223" y="765587"/>
            <a:ext cx="441414" cy="658549"/>
          </a:xfrm>
          <a:prstGeom prst="rect">
            <a:avLst/>
          </a:prstGeom>
          <a:noFill/>
          <a:extLst>
            <a:ext uri="{909E8E84-426E-40DD-AFC4-6F175D3DCCD1}">
              <a14:hiddenFill xmlns:a14="http://schemas.microsoft.com/office/drawing/2010/main">
                <a:solidFill>
                  <a:srgbClr val="FFFFFF"/>
                </a:solidFill>
              </a14:hiddenFill>
            </a:ext>
          </a:extLst>
        </p:spPr>
      </p:pic>
      <p:sp>
        <p:nvSpPr>
          <p:cNvPr id="4" name="Rechteck 3"/>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2" name="Abgerundetes Rechteck 41"/>
          <p:cNvSpPr/>
          <p:nvPr/>
        </p:nvSpPr>
        <p:spPr>
          <a:xfrm>
            <a:off x="4027242" y="515394"/>
            <a:ext cx="4137515" cy="1456629"/>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CH" sz="3200" b="1" dirty="0" err="1">
                <a:solidFill>
                  <a:prstClr val="white"/>
                </a:solidFill>
                <a:latin typeface="Arial" panose="020B0604020202020204"/>
              </a:rPr>
              <a:t>Thank</a:t>
            </a:r>
            <a:r>
              <a:rPr lang="de-CH" sz="3200" b="1" dirty="0">
                <a:solidFill>
                  <a:prstClr val="white"/>
                </a:solidFill>
                <a:latin typeface="Arial" panose="020B0604020202020204"/>
              </a:rPr>
              <a:t> </a:t>
            </a:r>
            <a:r>
              <a:rPr lang="de-CH" sz="3200" b="1" dirty="0" err="1">
                <a:solidFill>
                  <a:prstClr val="white"/>
                </a:solidFill>
                <a:latin typeface="Arial" panose="020B0604020202020204"/>
              </a:rPr>
              <a:t>you</a:t>
            </a:r>
            <a:endParaRPr kumimoji="0" lang="en-US" sz="3200" b="1"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7" name="Rechteck 6">
            <a:extLst>
              <a:ext uri="{FF2B5EF4-FFF2-40B4-BE49-F238E27FC236}">
                <a16:creationId xmlns:a16="http://schemas.microsoft.com/office/drawing/2014/main" id="{58777529-30BE-48C8-8099-65A4DF64480C}"/>
              </a:ext>
            </a:extLst>
          </p:cNvPr>
          <p:cNvSpPr/>
          <p:nvPr/>
        </p:nvSpPr>
        <p:spPr>
          <a:xfrm>
            <a:off x="307810" y="5496037"/>
            <a:ext cx="12192000" cy="1200329"/>
          </a:xfrm>
          <a:prstGeom prst="rect">
            <a:avLst/>
          </a:prstGeom>
        </p:spPr>
        <p:txBody>
          <a:bodyPr wrap="square">
            <a:spAutoFit/>
          </a:bodyPr>
          <a:lstStyle/>
          <a:p>
            <a:r>
              <a:rPr lang="de-DE" sz="800" dirty="0">
                <a:solidFill>
                  <a:schemeClr val="bg1"/>
                </a:solidFill>
                <a:latin typeface="Arial" panose="020B0604020202020204" pitchFamily="34" charset="0"/>
              </a:rPr>
              <a:t>Auspurg, K., &amp; Brüderl, J. (2026). </a:t>
            </a:r>
            <a:r>
              <a:rPr lang="de-DE" sz="800" dirty="0" err="1">
                <a:solidFill>
                  <a:schemeClr val="bg1"/>
                </a:solidFill>
                <a:latin typeface="Arial" panose="020B0604020202020204" pitchFamily="34" charset="0"/>
              </a:rPr>
              <a:t>How</a:t>
            </a:r>
            <a:r>
              <a:rPr lang="de-DE" sz="800" dirty="0">
                <a:solidFill>
                  <a:schemeClr val="bg1"/>
                </a:solidFill>
                <a:latin typeface="Arial" panose="020B0604020202020204" pitchFamily="34" charset="0"/>
              </a:rPr>
              <a:t> (Not) </a:t>
            </a:r>
            <a:r>
              <a:rPr lang="de-DE" sz="800" dirty="0" err="1">
                <a:solidFill>
                  <a:schemeClr val="bg1"/>
                </a:solidFill>
                <a:latin typeface="Arial" panose="020B0604020202020204" pitchFamily="34" charset="0"/>
              </a:rPr>
              <a:t>to</a:t>
            </a:r>
            <a:r>
              <a:rPr lang="de-DE" sz="800" dirty="0">
                <a:solidFill>
                  <a:schemeClr val="bg1"/>
                </a:solidFill>
                <a:latin typeface="Arial" panose="020B0604020202020204" pitchFamily="34" charset="0"/>
              </a:rPr>
              <a:t> Fuck </a:t>
            </a:r>
            <a:r>
              <a:rPr lang="de-DE" sz="800" dirty="0" err="1">
                <a:solidFill>
                  <a:schemeClr val="bg1"/>
                </a:solidFill>
                <a:latin typeface="Arial" panose="020B0604020202020204" pitchFamily="34" charset="0"/>
              </a:rPr>
              <a:t>up</a:t>
            </a:r>
            <a:r>
              <a:rPr lang="de-DE" sz="800" dirty="0">
                <a:solidFill>
                  <a:schemeClr val="bg1"/>
                </a:solidFill>
                <a:latin typeface="Arial" panose="020B0604020202020204" pitchFamily="34" charset="0"/>
              </a:rPr>
              <a:t> </a:t>
            </a:r>
            <a:r>
              <a:rPr lang="de-DE" sz="800" dirty="0" err="1">
                <a:solidFill>
                  <a:schemeClr val="bg1"/>
                </a:solidFill>
                <a:latin typeface="Arial" panose="020B0604020202020204" pitchFamily="34" charset="0"/>
              </a:rPr>
              <a:t>Your</a:t>
            </a:r>
            <a:r>
              <a:rPr lang="de-DE" sz="800" dirty="0">
                <a:solidFill>
                  <a:schemeClr val="bg1"/>
                </a:solidFill>
                <a:latin typeface="Arial" panose="020B0604020202020204" pitchFamily="34" charset="0"/>
              </a:rPr>
              <a:t> </a:t>
            </a:r>
            <a:r>
              <a:rPr lang="de-DE" sz="800" dirty="0" err="1">
                <a:solidFill>
                  <a:schemeClr val="bg1"/>
                </a:solidFill>
                <a:latin typeface="Arial" panose="020B0604020202020204" pitchFamily="34" charset="0"/>
              </a:rPr>
              <a:t>Causal</a:t>
            </a:r>
            <a:r>
              <a:rPr lang="de-DE" sz="800" dirty="0">
                <a:solidFill>
                  <a:schemeClr val="bg1"/>
                </a:solidFill>
                <a:latin typeface="Arial" panose="020B0604020202020204" pitchFamily="34" charset="0"/>
              </a:rPr>
              <a:t> Analysis. </a:t>
            </a:r>
            <a:r>
              <a:rPr lang="de-DE" sz="800" dirty="0" err="1">
                <a:solidFill>
                  <a:schemeClr val="bg1"/>
                </a:solidFill>
                <a:latin typeface="Arial" panose="020B0604020202020204" pitchFamily="34" charset="0"/>
              </a:rPr>
              <a:t>Presentation</a:t>
            </a:r>
            <a:r>
              <a:rPr lang="de-DE" sz="800" dirty="0">
                <a:solidFill>
                  <a:schemeClr val="bg1"/>
                </a:solidFill>
                <a:latin typeface="Arial" panose="020B0604020202020204" pitchFamily="34" charset="0"/>
              </a:rPr>
              <a:t> at </a:t>
            </a:r>
            <a:r>
              <a:rPr lang="de-DE" sz="800" dirty="0" err="1">
                <a:solidFill>
                  <a:schemeClr val="bg1"/>
                </a:solidFill>
                <a:latin typeface="Arial" panose="020B0604020202020204" pitchFamily="34" charset="0"/>
              </a:rPr>
              <a:t>the</a:t>
            </a:r>
            <a:r>
              <a:rPr lang="de-DE" sz="800" dirty="0">
                <a:solidFill>
                  <a:schemeClr val="bg1"/>
                </a:solidFill>
                <a:latin typeface="Arial" panose="020B0604020202020204" pitchFamily="34" charset="0"/>
              </a:rPr>
              <a:t> </a:t>
            </a:r>
            <a:r>
              <a:rPr lang="de-DE" sz="800" i="1" dirty="0">
                <a:solidFill>
                  <a:schemeClr val="bg1"/>
                </a:solidFill>
                <a:latin typeface="Arial" panose="020B0604020202020204" pitchFamily="34" charset="0"/>
              </a:rPr>
              <a:t>Research Colloquium Analytical </a:t>
            </a:r>
            <a:r>
              <a:rPr lang="de-DE" sz="800" i="1" dirty="0" err="1">
                <a:solidFill>
                  <a:schemeClr val="bg1"/>
                </a:solidFill>
                <a:latin typeface="Arial" panose="020B0604020202020204" pitchFamily="34" charset="0"/>
              </a:rPr>
              <a:t>Sociology</a:t>
            </a:r>
            <a:r>
              <a:rPr lang="de-DE" sz="800" dirty="0">
                <a:solidFill>
                  <a:schemeClr val="bg1"/>
                </a:solidFill>
                <a:latin typeface="Arial" panose="020B0604020202020204" pitchFamily="34" charset="0"/>
              </a:rPr>
              <a:t>, LMU Munich, Germany.</a:t>
            </a:r>
          </a:p>
          <a:p>
            <a:r>
              <a:rPr lang="de-DE" sz="800" dirty="0" err="1">
                <a:solidFill>
                  <a:schemeClr val="bg1"/>
                </a:solidFill>
                <a:latin typeface="Arial" panose="020B0604020202020204" pitchFamily="34" charset="0"/>
              </a:rPr>
              <a:t>Chernozhukov</a:t>
            </a:r>
            <a:r>
              <a:rPr lang="de-DE" sz="800" dirty="0">
                <a:solidFill>
                  <a:schemeClr val="bg1"/>
                </a:solidFill>
                <a:latin typeface="Arial" panose="020B0604020202020204" pitchFamily="34" charset="0"/>
              </a:rPr>
              <a:t>, V., Hansen, C., Kallus, N., Spindler, M., &amp; </a:t>
            </a:r>
            <a:r>
              <a:rPr lang="de-DE" sz="800" dirty="0" err="1">
                <a:solidFill>
                  <a:schemeClr val="bg1"/>
                </a:solidFill>
                <a:latin typeface="Arial" panose="020B0604020202020204" pitchFamily="34" charset="0"/>
              </a:rPr>
              <a:t>Syrgkanis</a:t>
            </a:r>
            <a:r>
              <a:rPr lang="de-DE" sz="800" dirty="0">
                <a:solidFill>
                  <a:schemeClr val="bg1"/>
                </a:solidFill>
                <a:latin typeface="Arial" panose="020B0604020202020204" pitchFamily="34" charset="0"/>
              </a:rPr>
              <a:t>, V. (2024). Applied </a:t>
            </a:r>
            <a:r>
              <a:rPr lang="de-DE" sz="800" dirty="0" err="1">
                <a:solidFill>
                  <a:schemeClr val="bg1"/>
                </a:solidFill>
                <a:latin typeface="Arial" panose="020B0604020202020204" pitchFamily="34" charset="0"/>
              </a:rPr>
              <a:t>causal</a:t>
            </a:r>
            <a:r>
              <a:rPr lang="de-DE" sz="800" dirty="0">
                <a:solidFill>
                  <a:schemeClr val="bg1"/>
                </a:solidFill>
                <a:latin typeface="Arial" panose="020B0604020202020204" pitchFamily="34" charset="0"/>
              </a:rPr>
              <a:t> </a:t>
            </a:r>
            <a:r>
              <a:rPr lang="de-DE" sz="800" dirty="0" err="1">
                <a:solidFill>
                  <a:schemeClr val="bg1"/>
                </a:solidFill>
                <a:latin typeface="Arial" panose="020B0604020202020204" pitchFamily="34" charset="0"/>
              </a:rPr>
              <a:t>inference</a:t>
            </a:r>
            <a:r>
              <a:rPr lang="de-DE" sz="800" dirty="0">
                <a:solidFill>
                  <a:schemeClr val="bg1"/>
                </a:solidFill>
                <a:latin typeface="Arial" panose="020B0604020202020204" pitchFamily="34" charset="0"/>
              </a:rPr>
              <a:t> </a:t>
            </a:r>
            <a:r>
              <a:rPr lang="de-DE" sz="800" dirty="0" err="1">
                <a:solidFill>
                  <a:schemeClr val="bg1"/>
                </a:solidFill>
                <a:latin typeface="Arial" panose="020B0604020202020204" pitchFamily="34" charset="0"/>
              </a:rPr>
              <a:t>powered</a:t>
            </a:r>
            <a:r>
              <a:rPr lang="de-DE" sz="800" dirty="0">
                <a:solidFill>
                  <a:schemeClr val="bg1"/>
                </a:solidFill>
                <a:latin typeface="Arial" panose="020B0604020202020204" pitchFamily="34" charset="0"/>
              </a:rPr>
              <a:t> </a:t>
            </a:r>
            <a:r>
              <a:rPr lang="de-DE" sz="800" dirty="0" err="1">
                <a:solidFill>
                  <a:schemeClr val="bg1"/>
                </a:solidFill>
                <a:latin typeface="Arial" panose="020B0604020202020204" pitchFamily="34" charset="0"/>
              </a:rPr>
              <a:t>by</a:t>
            </a:r>
            <a:r>
              <a:rPr lang="de-DE" sz="800" dirty="0">
                <a:solidFill>
                  <a:schemeClr val="bg1"/>
                </a:solidFill>
                <a:latin typeface="Arial" panose="020B0604020202020204" pitchFamily="34" charset="0"/>
              </a:rPr>
              <a:t> ML and AI. </a:t>
            </a:r>
            <a:r>
              <a:rPr lang="de-DE" sz="800" i="1" dirty="0" err="1">
                <a:solidFill>
                  <a:schemeClr val="bg1"/>
                </a:solidFill>
                <a:latin typeface="Arial" panose="020B0604020202020204" pitchFamily="34" charset="0"/>
              </a:rPr>
              <a:t>arXiv</a:t>
            </a:r>
            <a:r>
              <a:rPr lang="de-DE" sz="800" i="1" dirty="0">
                <a:solidFill>
                  <a:schemeClr val="bg1"/>
                </a:solidFill>
                <a:latin typeface="Arial" panose="020B0604020202020204" pitchFamily="34" charset="0"/>
              </a:rPr>
              <a:t> </a:t>
            </a:r>
            <a:r>
              <a:rPr lang="de-DE" sz="800" i="1" dirty="0" err="1">
                <a:solidFill>
                  <a:schemeClr val="bg1"/>
                </a:solidFill>
                <a:latin typeface="Arial" panose="020B0604020202020204" pitchFamily="34" charset="0"/>
              </a:rPr>
              <a:t>preprint</a:t>
            </a:r>
            <a:r>
              <a:rPr lang="de-DE" sz="800" i="1" dirty="0">
                <a:solidFill>
                  <a:schemeClr val="bg1"/>
                </a:solidFill>
                <a:latin typeface="Arial" panose="020B0604020202020204" pitchFamily="34" charset="0"/>
              </a:rPr>
              <a:t> arXiv:2403.02467</a:t>
            </a:r>
            <a:r>
              <a:rPr lang="de-DE" sz="800" dirty="0">
                <a:solidFill>
                  <a:schemeClr val="bg1"/>
                </a:solidFill>
                <a:latin typeface="Arial" panose="020B0604020202020204" pitchFamily="34" charset="0"/>
              </a:rPr>
              <a:t>.</a:t>
            </a:r>
          </a:p>
          <a:p>
            <a:r>
              <a:rPr lang="en-US" sz="800" dirty="0" err="1">
                <a:solidFill>
                  <a:schemeClr val="bg1"/>
                </a:solidFill>
                <a:latin typeface="Arial" panose="020B0604020202020204" pitchFamily="34" charset="0"/>
              </a:rPr>
              <a:t>Kaddour</a:t>
            </a:r>
            <a:r>
              <a:rPr lang="en-US" sz="800" dirty="0">
                <a:solidFill>
                  <a:schemeClr val="bg1"/>
                </a:solidFill>
                <a:latin typeface="Arial" panose="020B0604020202020204" pitchFamily="34" charset="0"/>
              </a:rPr>
              <a:t>, J., Lynch, A., Liu, Q., </a:t>
            </a:r>
            <a:r>
              <a:rPr lang="en-US" sz="800" dirty="0" err="1">
                <a:solidFill>
                  <a:schemeClr val="bg1"/>
                </a:solidFill>
                <a:latin typeface="Arial" panose="020B0604020202020204" pitchFamily="34" charset="0"/>
              </a:rPr>
              <a:t>Kusner</a:t>
            </a:r>
            <a:r>
              <a:rPr lang="en-US" sz="800" dirty="0">
                <a:solidFill>
                  <a:schemeClr val="bg1"/>
                </a:solidFill>
                <a:latin typeface="Arial" panose="020B0604020202020204" pitchFamily="34" charset="0"/>
              </a:rPr>
              <a:t>, M. J., &amp; Ricardo, S. (2025). Causal machine learning: A survey and open problems. </a:t>
            </a:r>
            <a:r>
              <a:rPr lang="en-US" sz="800" i="1" dirty="0">
                <a:solidFill>
                  <a:schemeClr val="bg1"/>
                </a:solidFill>
                <a:latin typeface="Arial" panose="020B0604020202020204" pitchFamily="34" charset="0"/>
              </a:rPr>
              <a:t>Foundations and Trends in Optimization</a:t>
            </a:r>
            <a:r>
              <a:rPr lang="en-US" sz="800" dirty="0">
                <a:solidFill>
                  <a:schemeClr val="bg1"/>
                </a:solidFill>
                <a:latin typeface="Arial" panose="020B0604020202020204" pitchFamily="34" charset="0"/>
              </a:rPr>
              <a:t>, </a:t>
            </a:r>
            <a:r>
              <a:rPr lang="en-US" sz="800" i="1" dirty="0">
                <a:solidFill>
                  <a:schemeClr val="bg1"/>
                </a:solidFill>
                <a:latin typeface="Arial" panose="020B0604020202020204" pitchFamily="34" charset="0"/>
              </a:rPr>
              <a:t>9</a:t>
            </a:r>
            <a:r>
              <a:rPr lang="en-US" sz="800" dirty="0">
                <a:solidFill>
                  <a:schemeClr val="bg1"/>
                </a:solidFill>
                <a:latin typeface="Arial" panose="020B0604020202020204" pitchFamily="34" charset="0"/>
              </a:rPr>
              <a:t>(1-2), 1-247.</a:t>
            </a:r>
          </a:p>
          <a:p>
            <a:r>
              <a:rPr lang="en-US" sz="800" dirty="0" err="1">
                <a:solidFill>
                  <a:schemeClr val="bg1"/>
                </a:solidFill>
              </a:rPr>
              <a:t>Kossakowski</a:t>
            </a:r>
            <a:r>
              <a:rPr lang="en-US" sz="800" dirty="0">
                <a:solidFill>
                  <a:schemeClr val="bg1"/>
                </a:solidFill>
              </a:rPr>
              <a:t>, J. J., </a:t>
            </a:r>
            <a:r>
              <a:rPr lang="en-US" sz="800" dirty="0" err="1">
                <a:solidFill>
                  <a:schemeClr val="bg1"/>
                </a:solidFill>
              </a:rPr>
              <a:t>Waldorp</a:t>
            </a:r>
            <a:r>
              <a:rPr lang="en-US" sz="800" dirty="0">
                <a:solidFill>
                  <a:schemeClr val="bg1"/>
                </a:solidFill>
              </a:rPr>
              <a:t>, L. J., &amp; van der Maas, H. L. J. (2021). The search for causality: A comparison of different techniques for causal inference graphs. </a:t>
            </a:r>
            <a:r>
              <a:rPr lang="en-US" sz="800" i="1" dirty="0">
                <a:solidFill>
                  <a:schemeClr val="bg1"/>
                </a:solidFill>
              </a:rPr>
              <a:t>Psychological Methods, 26</a:t>
            </a:r>
            <a:r>
              <a:rPr lang="en-US" sz="800" dirty="0">
                <a:solidFill>
                  <a:schemeClr val="bg1"/>
                </a:solidFill>
              </a:rPr>
              <a:t>(6), 719–742. </a:t>
            </a:r>
            <a:r>
              <a:rPr lang="en-US" sz="800" dirty="0">
                <a:solidFill>
                  <a:schemeClr val="bg1"/>
                </a:solidFill>
                <a:hlinkClick r:id="rId3"/>
              </a:rPr>
              <a:t>https://doi-org.emedien.ub.uni-muenchen.de/10.1037/met0000390</a:t>
            </a:r>
            <a:endParaRPr lang="en-US" sz="800" dirty="0">
              <a:solidFill>
                <a:schemeClr val="bg1"/>
              </a:solidFill>
            </a:endParaRPr>
          </a:p>
          <a:p>
            <a:r>
              <a:rPr lang="en-US" sz="800" dirty="0">
                <a:solidFill>
                  <a:schemeClr val="bg1"/>
                </a:solidFill>
              </a:rPr>
              <a:t>Speck, K. L., </a:t>
            </a:r>
            <a:r>
              <a:rPr lang="en-US" sz="800" dirty="0" err="1">
                <a:solidFill>
                  <a:schemeClr val="bg1"/>
                </a:solidFill>
              </a:rPr>
              <a:t>Jankowsky</a:t>
            </a:r>
            <a:r>
              <a:rPr lang="en-US" sz="800" dirty="0">
                <a:solidFill>
                  <a:schemeClr val="bg1"/>
                </a:solidFill>
              </a:rPr>
              <a:t>, K., Scharf, F., &amp; </a:t>
            </a:r>
            <a:r>
              <a:rPr lang="en-US" sz="800" dirty="0" err="1">
                <a:solidFill>
                  <a:schemeClr val="bg1"/>
                </a:solidFill>
              </a:rPr>
              <a:t>Schroeders</a:t>
            </a:r>
            <a:r>
              <a:rPr lang="en-US" sz="800" dirty="0">
                <a:solidFill>
                  <a:schemeClr val="bg1"/>
                </a:solidFill>
              </a:rPr>
              <a:t>, U. (2026). Beyond the hype: A simulation study evaluating the predictive performance of machine learning models in psychology. </a:t>
            </a:r>
            <a:r>
              <a:rPr lang="en-US" sz="800" i="1" dirty="0">
                <a:solidFill>
                  <a:schemeClr val="bg1"/>
                </a:solidFill>
              </a:rPr>
              <a:t>Psychological Methods</a:t>
            </a:r>
            <a:r>
              <a:rPr lang="en-US" sz="800" dirty="0">
                <a:solidFill>
                  <a:schemeClr val="bg1"/>
                </a:solidFill>
              </a:rPr>
              <a:t>.</a:t>
            </a:r>
          </a:p>
          <a:p>
            <a:r>
              <a:rPr lang="en-US" sz="800" dirty="0" err="1">
                <a:solidFill>
                  <a:schemeClr val="bg1"/>
                </a:solidFill>
              </a:rPr>
              <a:t>Wiedermann</a:t>
            </a:r>
            <a:r>
              <a:rPr lang="en-US" sz="800" dirty="0">
                <a:solidFill>
                  <a:schemeClr val="bg1"/>
                </a:solidFill>
              </a:rPr>
              <a:t>, W., Kim, D., </a:t>
            </a:r>
            <a:r>
              <a:rPr lang="en-US" sz="800" dirty="0" err="1">
                <a:solidFill>
                  <a:schemeClr val="bg1"/>
                </a:solidFill>
              </a:rPr>
              <a:t>Sungur</a:t>
            </a:r>
            <a:r>
              <a:rPr lang="en-US" sz="800" dirty="0">
                <a:solidFill>
                  <a:schemeClr val="bg1"/>
                </a:solidFill>
              </a:rPr>
              <a:t>, E. A., &amp; Eye, A. von. (2020). </a:t>
            </a:r>
            <a:r>
              <a:rPr lang="en-US" sz="800" i="1" dirty="0">
                <a:solidFill>
                  <a:schemeClr val="bg1"/>
                </a:solidFill>
              </a:rPr>
              <a:t>Direction Dependence in Statistical Modeling: Methods of Analysis</a:t>
            </a:r>
            <a:r>
              <a:rPr lang="en-US" sz="800" dirty="0">
                <a:solidFill>
                  <a:schemeClr val="bg1"/>
                </a:solidFill>
              </a:rPr>
              <a:t>. John Wiley &amp; Sons.</a:t>
            </a:r>
            <a:endParaRPr lang="de-DE" sz="800" dirty="0">
              <a:solidFill>
                <a:schemeClr val="bg1"/>
              </a:solidFill>
            </a:endParaRPr>
          </a:p>
          <a:p>
            <a:r>
              <a:rPr lang="en-US" sz="800" dirty="0" err="1">
                <a:solidFill>
                  <a:schemeClr val="bg1"/>
                </a:solidFill>
                <a:latin typeface="Arial" panose="020B0604020202020204" pitchFamily="34" charset="0"/>
              </a:rPr>
              <a:t>Yarkoni</a:t>
            </a:r>
            <a:r>
              <a:rPr lang="en-US" sz="800" dirty="0">
                <a:solidFill>
                  <a:schemeClr val="bg1"/>
                </a:solidFill>
                <a:latin typeface="Arial" panose="020B0604020202020204" pitchFamily="34" charset="0"/>
              </a:rPr>
              <a:t>, T., &amp; Westfall, J. (2017). Choosing prediction over explanation in psychology: Lessons from machine learning. </a:t>
            </a:r>
            <a:r>
              <a:rPr lang="en-US" sz="800" i="1" dirty="0">
                <a:solidFill>
                  <a:schemeClr val="bg1"/>
                </a:solidFill>
                <a:latin typeface="Arial" panose="020B0604020202020204" pitchFamily="34" charset="0"/>
              </a:rPr>
              <a:t>Perspectives on Psychological Science</a:t>
            </a:r>
            <a:r>
              <a:rPr lang="en-US" sz="800" dirty="0">
                <a:solidFill>
                  <a:schemeClr val="bg1"/>
                </a:solidFill>
                <a:latin typeface="Arial" panose="020B0604020202020204" pitchFamily="34" charset="0"/>
              </a:rPr>
              <a:t>, </a:t>
            </a:r>
            <a:r>
              <a:rPr lang="en-US" sz="800" i="1" dirty="0">
                <a:solidFill>
                  <a:schemeClr val="bg1"/>
                </a:solidFill>
                <a:latin typeface="Arial" panose="020B0604020202020204" pitchFamily="34" charset="0"/>
              </a:rPr>
              <a:t>12</a:t>
            </a:r>
            <a:r>
              <a:rPr lang="en-US" sz="800" dirty="0">
                <a:solidFill>
                  <a:schemeClr val="bg1"/>
                </a:solidFill>
                <a:latin typeface="Arial" panose="020B0604020202020204" pitchFamily="34" charset="0"/>
              </a:rPr>
              <a:t>(6), 1100-1122.</a:t>
            </a:r>
            <a:endParaRPr lang="de-DE" sz="800" dirty="0">
              <a:solidFill>
                <a:schemeClr val="bg1"/>
              </a:solidFill>
            </a:endParaRPr>
          </a:p>
          <a:p>
            <a:endParaRPr lang="de-DE" sz="800" dirty="0">
              <a:solidFill>
                <a:schemeClr val="bg1"/>
              </a:solidFill>
            </a:endParaRPr>
          </a:p>
        </p:txBody>
      </p:sp>
      <p:sp>
        <p:nvSpPr>
          <p:cNvPr id="18" name="Abgerundetes Rechteck 41">
            <a:extLst>
              <a:ext uri="{FF2B5EF4-FFF2-40B4-BE49-F238E27FC236}">
                <a16:creationId xmlns:a16="http://schemas.microsoft.com/office/drawing/2014/main" id="{D67A524E-A708-4B0B-92AE-0CC8B048249E}"/>
              </a:ext>
            </a:extLst>
          </p:cNvPr>
          <p:cNvSpPr/>
          <p:nvPr/>
        </p:nvSpPr>
        <p:spPr>
          <a:xfrm>
            <a:off x="236219" y="2035656"/>
            <a:ext cx="11719560" cy="1456629"/>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CH" sz="2400" b="1" dirty="0">
                <a:solidFill>
                  <a:prstClr val="white"/>
                </a:solidFill>
                <a:latin typeface="Arial" panose="020B0604020202020204"/>
              </a:rPr>
              <a:t>Podcast </a:t>
            </a:r>
            <a:r>
              <a:rPr lang="de-CH" sz="2400" b="1" dirty="0" err="1">
                <a:solidFill>
                  <a:prstClr val="white"/>
                </a:solidFill>
                <a:latin typeface="Arial" panose="020B0604020202020204"/>
              </a:rPr>
              <a:t>recommentations</a:t>
            </a:r>
            <a:endParaRPr lang="de-CH" sz="2400" b="1" dirty="0">
              <a:solidFill>
                <a:prstClr val="white"/>
              </a:solidFill>
              <a:latin typeface="Arial" panose="020B0604020202020204"/>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2400" b="1"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de-CH" sz="2400" b="1" dirty="0">
              <a:solidFill>
                <a:prstClr val="white"/>
              </a:solidFill>
              <a:latin typeface="Arial" panose="020B0604020202020204"/>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9" name="Abgerundetes Rechteck 41">
            <a:extLst>
              <a:ext uri="{FF2B5EF4-FFF2-40B4-BE49-F238E27FC236}">
                <a16:creationId xmlns:a16="http://schemas.microsoft.com/office/drawing/2014/main" id="{741468E9-06B1-485E-A2C8-12BB3A24D164}"/>
              </a:ext>
            </a:extLst>
          </p:cNvPr>
          <p:cNvSpPr/>
          <p:nvPr/>
        </p:nvSpPr>
        <p:spPr>
          <a:xfrm>
            <a:off x="236219" y="3677167"/>
            <a:ext cx="11719560" cy="1456629"/>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CH" sz="2400" b="1" dirty="0" err="1">
                <a:solidFill>
                  <a:prstClr val="white"/>
                </a:solidFill>
                <a:latin typeface="Arial" panose="020B0604020202020204"/>
              </a:rPr>
              <a:t>Literature</a:t>
            </a:r>
            <a:r>
              <a:rPr lang="de-CH" sz="2400" b="1" dirty="0">
                <a:solidFill>
                  <a:prstClr val="white"/>
                </a:solidFill>
                <a:latin typeface="Arial" panose="020B0604020202020204"/>
              </a:rPr>
              <a:t> </a:t>
            </a:r>
            <a:r>
              <a:rPr lang="de-CH" sz="2400" b="1" dirty="0" err="1">
                <a:solidFill>
                  <a:prstClr val="white"/>
                </a:solidFill>
                <a:latin typeface="Arial" panose="020B0604020202020204"/>
              </a:rPr>
              <a:t>recommentations</a:t>
            </a:r>
            <a:endParaRPr lang="de-CH" sz="2400" b="1" dirty="0">
              <a:solidFill>
                <a:prstClr val="white"/>
              </a:solidFill>
              <a:latin typeface="Arial" panose="020B0604020202020204"/>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2400" b="1"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de-CH" sz="2400" b="1" dirty="0">
              <a:solidFill>
                <a:prstClr val="white"/>
              </a:solidFill>
              <a:latin typeface="Arial" panose="020B0604020202020204"/>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2" name="Abgerundetes Rechteck 41">
            <a:extLst>
              <a:ext uri="{FF2B5EF4-FFF2-40B4-BE49-F238E27FC236}">
                <a16:creationId xmlns:a16="http://schemas.microsoft.com/office/drawing/2014/main" id="{4409E5B1-0DCA-4BCD-8FA3-1385F52AABF2}"/>
              </a:ext>
            </a:extLst>
          </p:cNvPr>
          <p:cNvSpPr/>
          <p:nvPr/>
        </p:nvSpPr>
        <p:spPr>
          <a:xfrm>
            <a:off x="236218" y="5171803"/>
            <a:ext cx="11719561" cy="1352822"/>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CH" sz="2400" b="1" dirty="0">
                <a:solidFill>
                  <a:prstClr val="white"/>
                </a:solidFill>
                <a:latin typeface="Arial" panose="020B0604020202020204"/>
              </a:rPr>
              <a:t>References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2000" b="1"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de-CH" sz="1200" b="1" dirty="0">
              <a:solidFill>
                <a:prstClr val="white"/>
              </a:solidFill>
              <a:latin typeface="Arial" panose="020B0604020202020204"/>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Arial" panose="020B0604020202020204"/>
              <a:ea typeface="+mn-ea"/>
              <a:cs typeface="+mn-cs"/>
            </a:endParaRPr>
          </a:p>
        </p:txBody>
      </p:sp>
      <p:pic>
        <p:nvPicPr>
          <p:cNvPr id="8" name="Grafik 7">
            <a:hlinkClick r:id="rId4"/>
            <a:extLst>
              <a:ext uri="{FF2B5EF4-FFF2-40B4-BE49-F238E27FC236}">
                <a16:creationId xmlns:a16="http://schemas.microsoft.com/office/drawing/2014/main" id="{BC7D8CA1-D827-44FF-AF2C-0C8D0437A7DC}"/>
              </a:ext>
            </a:extLst>
          </p:cNvPr>
          <p:cNvPicPr>
            <a:picLocks noChangeAspect="1"/>
          </p:cNvPicPr>
          <p:nvPr/>
        </p:nvPicPr>
        <p:blipFill rotWithShape="1">
          <a:blip r:embed="rId5"/>
          <a:srcRect l="51967" t="85973"/>
          <a:stretch/>
        </p:blipFill>
        <p:spPr>
          <a:xfrm>
            <a:off x="482637" y="4133761"/>
            <a:ext cx="3653969" cy="867582"/>
          </a:xfrm>
          <a:prstGeom prst="rect">
            <a:avLst/>
          </a:prstGeom>
        </p:spPr>
      </p:pic>
      <p:pic>
        <p:nvPicPr>
          <p:cNvPr id="2" name="Grafik 1">
            <a:hlinkClick r:id="rId6"/>
            <a:extLst>
              <a:ext uri="{FF2B5EF4-FFF2-40B4-BE49-F238E27FC236}">
                <a16:creationId xmlns:a16="http://schemas.microsoft.com/office/drawing/2014/main" id="{C9A68604-89F9-451F-8CD5-E9B6CD86335D}"/>
              </a:ext>
            </a:extLst>
          </p:cNvPr>
          <p:cNvPicPr>
            <a:picLocks noChangeAspect="1"/>
          </p:cNvPicPr>
          <p:nvPr/>
        </p:nvPicPr>
        <p:blipFill>
          <a:blip r:embed="rId7"/>
          <a:stretch>
            <a:fillRect/>
          </a:stretch>
        </p:blipFill>
        <p:spPr>
          <a:xfrm>
            <a:off x="580430" y="2228123"/>
            <a:ext cx="3446812" cy="1164615"/>
          </a:xfrm>
          <a:prstGeom prst="rect">
            <a:avLst/>
          </a:prstGeom>
        </p:spPr>
      </p:pic>
      <p:pic>
        <p:nvPicPr>
          <p:cNvPr id="10" name="Grafik 9">
            <a:extLst>
              <a:ext uri="{FF2B5EF4-FFF2-40B4-BE49-F238E27FC236}">
                <a16:creationId xmlns:a16="http://schemas.microsoft.com/office/drawing/2014/main" id="{0E1319CB-3D9D-4DCF-8D20-9B6D8D86145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bwMode="auto">
          <a:xfrm>
            <a:off x="9993290" y="119066"/>
            <a:ext cx="1387283" cy="1387283"/>
          </a:xfrm>
          <a:prstGeom prst="rect">
            <a:avLst/>
          </a:prstGeom>
        </p:spPr>
      </p:pic>
      <p:sp>
        <p:nvSpPr>
          <p:cNvPr id="11" name="Textfeld 10">
            <a:extLst>
              <a:ext uri="{FF2B5EF4-FFF2-40B4-BE49-F238E27FC236}">
                <a16:creationId xmlns:a16="http://schemas.microsoft.com/office/drawing/2014/main" id="{B96F245D-5D9C-4249-965B-CD1FAC4D2711}"/>
              </a:ext>
            </a:extLst>
          </p:cNvPr>
          <p:cNvSpPr txBox="1"/>
          <p:nvPr/>
        </p:nvSpPr>
        <p:spPr bwMode="auto">
          <a:xfrm>
            <a:off x="9042492" y="1537451"/>
            <a:ext cx="3288878" cy="369332"/>
          </a:xfrm>
          <a:prstGeom prst="rect">
            <a:avLst/>
          </a:prstGeom>
          <a:noFill/>
        </p:spPr>
        <p:txBody>
          <a:bodyPr wrap="square" rtlCol="0">
            <a:spAutoFit/>
          </a:bodyPr>
          <a:lstStyle/>
          <a:p>
            <a:r>
              <a:rPr lang="de-DE" dirty="0">
                <a:solidFill>
                  <a:schemeClr val="bg1"/>
                </a:solidFill>
                <a:latin typeface="Arial" panose="020B0604020202020204" pitchFamily="34" charset="0"/>
                <a:cs typeface="Arial" panose="020B0604020202020204" pitchFamily="34" charset="0"/>
                <a:hlinkClick r:id="rId9" action="ppaction://hlinkfile">
                  <a:extLst>
                    <a:ext uri="{A12FA001-AC4F-418D-AE19-62706E023703}">
                      <ahyp:hlinkClr xmlns:ahyp="http://schemas.microsoft.com/office/drawing/2018/hyperlinkcolor" val="tx"/>
                    </a:ext>
                  </a:extLst>
                </a:hlinkClick>
              </a:rPr>
              <a:t>bit.ly/</a:t>
            </a:r>
            <a:r>
              <a:rPr lang="de-DE" dirty="0" err="1">
                <a:solidFill>
                  <a:schemeClr val="bg1"/>
                </a:solidFill>
                <a:latin typeface="Arial" panose="020B0604020202020204" pitchFamily="34" charset="0"/>
                <a:cs typeface="Arial" panose="020B0604020202020204" pitchFamily="34" charset="0"/>
                <a:hlinkClick r:id="rId9" action="ppaction://hlinkfile">
                  <a:extLst>
                    <a:ext uri="{A12FA001-AC4F-418D-AE19-62706E023703}">
                      <ahyp:hlinkClr xmlns:ahyp="http://schemas.microsoft.com/office/drawing/2018/hyperlinkcolor" val="tx"/>
                    </a:ext>
                  </a:extLst>
                </a:hlinkClick>
              </a:rPr>
              <a:t>PeterE_presentations</a:t>
            </a:r>
            <a:r>
              <a:rPr lang="de-DE" dirty="0">
                <a:solidFill>
                  <a:schemeClr val="bg1"/>
                </a:solidFill>
                <a:latin typeface="Arial" panose="020B0604020202020204" pitchFamily="34" charset="0"/>
                <a:cs typeface="Arial" panose="020B0604020202020204" pitchFamily="34" charset="0"/>
                <a:hlinkClick r:id="rId9" action="ppaction://hlinkfile">
                  <a:extLst>
                    <a:ext uri="{A12FA001-AC4F-418D-AE19-62706E023703}">
                      <ahyp:hlinkClr xmlns:ahyp="http://schemas.microsoft.com/office/drawing/2018/hyperlinkcolor" val="tx"/>
                    </a:ext>
                  </a:extLst>
                </a:hlinkClick>
              </a:rPr>
              <a:t> </a:t>
            </a:r>
            <a:endParaRPr lang="de-DE" dirty="0">
              <a:solidFill>
                <a:schemeClr val="bg1"/>
              </a:solidFill>
              <a:latin typeface="Arial" panose="020B0604020202020204" pitchFamily="34" charset="0"/>
              <a:cs typeface="Arial" panose="020B0604020202020204" pitchFamily="34" charset="0"/>
            </a:endParaRPr>
          </a:p>
        </p:txBody>
      </p:sp>
      <p:pic>
        <p:nvPicPr>
          <p:cNvPr id="3" name="Grafik 2">
            <a:hlinkClick r:id="rId10"/>
            <a:extLst>
              <a:ext uri="{FF2B5EF4-FFF2-40B4-BE49-F238E27FC236}">
                <a16:creationId xmlns:a16="http://schemas.microsoft.com/office/drawing/2014/main" id="{9A5D76BA-86A6-41FF-918E-5BBFE10AAEB7}"/>
              </a:ext>
            </a:extLst>
          </p:cNvPr>
          <p:cNvPicPr>
            <a:picLocks noChangeAspect="1"/>
          </p:cNvPicPr>
          <p:nvPr/>
        </p:nvPicPr>
        <p:blipFill>
          <a:blip r:embed="rId11"/>
          <a:stretch>
            <a:fillRect/>
          </a:stretch>
        </p:blipFill>
        <p:spPr>
          <a:xfrm>
            <a:off x="8303739" y="2093845"/>
            <a:ext cx="2782071" cy="1220855"/>
          </a:xfrm>
          <a:prstGeom prst="rect">
            <a:avLst/>
          </a:prstGeom>
        </p:spPr>
      </p:pic>
      <p:pic>
        <p:nvPicPr>
          <p:cNvPr id="5" name="Grafik 4">
            <a:hlinkClick r:id="rId12"/>
            <a:extLst>
              <a:ext uri="{FF2B5EF4-FFF2-40B4-BE49-F238E27FC236}">
                <a16:creationId xmlns:a16="http://schemas.microsoft.com/office/drawing/2014/main" id="{C7C780D8-0E13-426F-97FC-A1704BC47985}"/>
              </a:ext>
            </a:extLst>
          </p:cNvPr>
          <p:cNvPicPr>
            <a:picLocks noChangeAspect="1"/>
          </p:cNvPicPr>
          <p:nvPr/>
        </p:nvPicPr>
        <p:blipFill>
          <a:blip r:embed="rId13"/>
          <a:stretch>
            <a:fillRect/>
          </a:stretch>
        </p:blipFill>
        <p:spPr>
          <a:xfrm>
            <a:off x="8616049" y="3840443"/>
            <a:ext cx="2305227" cy="1213142"/>
          </a:xfrm>
          <a:prstGeom prst="rect">
            <a:avLst/>
          </a:prstGeom>
        </p:spPr>
      </p:pic>
      <p:pic>
        <p:nvPicPr>
          <p:cNvPr id="6" name="Grafik 5">
            <a:extLst>
              <a:ext uri="{FF2B5EF4-FFF2-40B4-BE49-F238E27FC236}">
                <a16:creationId xmlns:a16="http://schemas.microsoft.com/office/drawing/2014/main" id="{78FBE15A-144F-4106-B493-197C2489D6B4}"/>
              </a:ext>
            </a:extLst>
          </p:cNvPr>
          <p:cNvPicPr>
            <a:picLocks noChangeAspect="1"/>
          </p:cNvPicPr>
          <p:nvPr/>
        </p:nvPicPr>
        <p:blipFill>
          <a:blip r:embed="rId14"/>
          <a:stretch>
            <a:fillRect/>
          </a:stretch>
        </p:blipFill>
        <p:spPr>
          <a:xfrm>
            <a:off x="441413" y="700167"/>
            <a:ext cx="3501119" cy="1002114"/>
          </a:xfrm>
          <a:prstGeom prst="rect">
            <a:avLst/>
          </a:prstGeom>
        </p:spPr>
      </p:pic>
    </p:spTree>
    <p:extLst>
      <p:ext uri="{BB962C8B-B14F-4D97-AF65-F5344CB8AC3E}">
        <p14:creationId xmlns:p14="http://schemas.microsoft.com/office/powerpoint/2010/main" val="91813305"/>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12124</Words>
  <Application>Microsoft Office PowerPoint</Application>
  <PresentationFormat>Breitbild</PresentationFormat>
  <Paragraphs>864</Paragraphs>
  <Slides>25</Slides>
  <Notes>23</Notes>
  <HiddenSlides>0</HiddenSlides>
  <MMClips>0</MMClips>
  <ScaleCrop>false</ScaleCrop>
  <HeadingPairs>
    <vt:vector size="6" baseType="variant">
      <vt:variant>
        <vt:lpstr>Verwendete Schriftarten</vt:lpstr>
      </vt:variant>
      <vt:variant>
        <vt:i4>4</vt:i4>
      </vt:variant>
      <vt:variant>
        <vt:lpstr>Design</vt:lpstr>
      </vt:variant>
      <vt:variant>
        <vt:i4>2</vt:i4>
      </vt:variant>
      <vt:variant>
        <vt:lpstr>Folientitel</vt:lpstr>
      </vt:variant>
      <vt:variant>
        <vt:i4>25</vt:i4>
      </vt:variant>
    </vt:vector>
  </HeadingPairs>
  <TitlesOfParts>
    <vt:vector size="31" baseType="lpstr">
      <vt:lpstr>Arial</vt:lpstr>
      <vt:lpstr>Calibri</vt:lpstr>
      <vt:lpstr>Symbol</vt:lpstr>
      <vt:lpstr>Times New Roman</vt:lpstr>
      <vt:lpstr>1_Office Theme</vt:lpstr>
      <vt:lpstr>Office</vt:lpstr>
      <vt:lpstr>Hold your causal Horses!</vt:lpstr>
      <vt:lpstr>2024</vt:lpstr>
      <vt:lpstr>2024</vt:lpstr>
      <vt:lpstr>What I want from today</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Peter Edelsbrunner</dc:creator>
  <cp:lastModifiedBy>Peter Edelsbrunner</cp:lastModifiedBy>
  <cp:revision>238</cp:revision>
  <dcterms:created xsi:type="dcterms:W3CDTF">2026-06-15T08:45:54Z</dcterms:created>
  <dcterms:modified xsi:type="dcterms:W3CDTF">2026-07-15T11:46:04Z</dcterms:modified>
</cp:coreProperties>
</file>