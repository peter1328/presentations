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64" r:id="rId6"/>
    <p:sldId id="259" r:id="rId7"/>
    <p:sldId id="263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9" autoAdjust="0"/>
    <p:restoredTop sz="75592" autoAdjust="0"/>
  </p:normalViewPr>
  <p:slideViewPr>
    <p:cSldViewPr snapToGrid="0">
      <p:cViewPr varScale="1">
        <p:scale>
          <a:sx n="62" d="100"/>
          <a:sy n="62" d="100"/>
        </p:scale>
        <p:origin x="12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14E3C-7CCA-4CED-B542-EE761E89E80E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DF02F-235B-4F98-BD33-6752A0EF7F3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26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DF02F-235B-4F98-BD33-6752A0EF7F3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9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Anwesenheitspflicht:</a:t>
            </a:r>
          </a:p>
          <a:p>
            <a:r>
              <a:rPr lang="de-DE" dirty="0"/>
              <a:t>Gesetzlich nicht möglich.</a:t>
            </a:r>
          </a:p>
          <a:p>
            <a:r>
              <a:rPr lang="de-DE" dirty="0"/>
              <a:t>Sonst Aufgaben, die Anwesenheit erfordern?</a:t>
            </a:r>
          </a:p>
          <a:p>
            <a:r>
              <a:rPr lang="de-DE" dirty="0"/>
              <a:t>Auslandssemester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DF02F-235B-4F98-BD33-6752A0EF7F3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565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Anwesenheitspflicht:</a:t>
            </a:r>
          </a:p>
          <a:p>
            <a:r>
              <a:rPr lang="de-DE" dirty="0"/>
              <a:t>Gesetzlich nicht möglich.</a:t>
            </a:r>
          </a:p>
          <a:p>
            <a:r>
              <a:rPr lang="de-DE" dirty="0"/>
              <a:t>Sonst Aufgaben, die Anwesenheit erfordern?</a:t>
            </a:r>
          </a:p>
          <a:p>
            <a:r>
              <a:rPr lang="de-DE" dirty="0"/>
              <a:t>Auslandssemester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DF02F-235B-4F98-BD33-6752A0EF7F3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3185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Anwesenheitspflicht:</a:t>
            </a:r>
          </a:p>
          <a:p>
            <a:r>
              <a:rPr lang="de-DE" dirty="0"/>
              <a:t>Gesetzlich nicht möglich.</a:t>
            </a:r>
          </a:p>
          <a:p>
            <a:r>
              <a:rPr lang="de-DE" dirty="0"/>
              <a:t>Sonst Aufgaben, die Anwesenheit erfordern?</a:t>
            </a:r>
          </a:p>
          <a:p>
            <a:r>
              <a:rPr lang="de-DE" dirty="0"/>
              <a:t>Auslandssemester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DF02F-235B-4F98-BD33-6752A0EF7F3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113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616DC-1E2A-4867-BDF8-28C39F1F3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48E91D-EBB5-4FE6-92B0-10FF48148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8819C3-3561-47DD-8B53-5F7A6F924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D0D5E5-0B6B-4BC5-8B3F-154861CC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89A95E-B1A1-4591-B7DD-D74914DD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87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4979A-8E03-4103-B4B9-B5B9D55E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1DA0AC-0B37-4B57-815F-BC6B210CF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E233B3-9CA2-4481-9924-35C3E490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D92EB2-1C17-491D-A96F-AFE0F053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BBF12F-5C38-4E4A-BBCD-6CC48D8E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411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CCA55-CB96-4E7E-9A73-C3922058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2C83E1-E481-4725-B4DF-1A5662B31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082754-E911-4B7C-A0C6-725520E2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73CAFB-BC9A-4F65-ACDA-B6608F83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C19EB1-7904-40C5-BB8B-160BFD4E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03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33FBB-1089-4F4C-840F-BC7496B0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E7774D-95A7-4768-A094-49D736263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ABFE66-A05D-47E1-9680-10D49A555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CCD0C5-BE6A-4500-B0EA-1B28D275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14C397-4B90-4373-9946-C72D799A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E452B1-0A3E-4E8D-BA3E-8D1EEF4E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490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8F82D-3497-4D74-9E98-6E4635CE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8E9479-4E97-4380-B391-085B49A2B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29CAC7-310D-4EC7-BCBF-866B497B6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ABF98C-6E72-48D7-8AD6-B4F900318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A718AB-3AD4-432E-8885-C8CB113EF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F42A30-3B83-41AD-A776-803B189B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74DBF8-7AA5-4AAF-8655-B357FA368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F0E665-848A-4621-AE06-93987FA3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0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8C0A18-7E90-41DD-ACD4-31A2B44A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6230EF-19AC-40CA-8FF4-57E47852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DA0259-CB83-4631-856D-4B04C9C5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D002C0-8902-410B-B810-A448269B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3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F40279-1DEA-4410-A1FD-D827E0D7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31FD82-8A10-49B0-A992-7175146E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ABBC66-D3E7-45A4-BDC2-07BDF160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11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34E200-C107-46A9-A78D-91E33D99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40C3DE-E808-4C86-9202-9245FCBD4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454411-5A6E-4468-9D2B-6E05EB6DA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FEAF371-F1A5-4DDB-97F2-FF43729B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DEA227-EE7E-4FD5-835A-D0C612D0B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2F5BAF-C425-41EE-B812-F3305F5D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463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22EEB-EA03-4F65-853F-E9238C7F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F1FA9A-1F21-4DCB-A101-7BB3ACCF4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E7E47C-43E0-44EA-856D-B2E507A9C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16C952-F79D-4F9D-812A-199AD81E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E45D98-4423-4708-AD18-89ADD4F0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95BAC1-72EA-4EA1-82E9-5961925C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34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AABA2E-7657-49FF-9948-8C0C70BB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F578BD-398E-4BEB-8413-4C24783F3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10E512-6764-4171-B860-2DC35BD5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1966CA-5E02-4444-9A14-72AD812A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F8D933-2AB2-4F4A-8B91-6C999D9E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4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EFD31-0943-4512-B31F-5C4B5BE51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B2B585-E1FC-4C4E-BE07-21BD881C1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0D8563-E8A6-4123-BF6D-CEEB3D5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57B3AD-3835-43C9-828F-E8751FB8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051814-6380-4DF3-B959-1996979A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920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6AA0937-3E77-4A71-B50A-8B08009E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6795BE-6D2A-4EB5-81B6-8417E3C53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840668-EB8C-457B-9D5E-89552F6F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241D7-9A1D-4A5E-BB36-307CD74252A4}" type="datetimeFigureOut">
              <a:rPr lang="de-DE" smtClean="0"/>
              <a:t>13.06.2026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98F8C7-CC48-44E8-984C-E90A9CDC2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5C029-761D-40E9-9F75-9E7BDF5B5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5C970-D960-4906-A5EC-A022847DB42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83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it.ly/3PpcMYk" TargetMode="External"/><Relationship Id="rId5" Type="http://schemas.openxmlformats.org/officeDocument/2006/relationships/hyperlink" Target="https://github.com/peter1328/presentations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3646328?casa_token=u3MR4kD8TDsAAAAA:5Zjn5yEku5aSbGp3V3JQW32Dd0xsEU3tmOSBMgKkLLZCH9Q53Q21VeF1jh_FF_dBUg8wvUDPcwyKf-CNZ91fgiDjZb5YLPkvYvQSlHwFbteXn6V95N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www.sciencedirect.com/science/article/pii/S104160802030087X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F1ECE25-9148-45BE-9ADC-77841A0E6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185243" y="851286"/>
            <a:ext cx="6864867" cy="514865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1333E0D-9224-4B59-8830-9D47AC7E40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0" r="53815"/>
          <a:stretch/>
        </p:blipFill>
        <p:spPr>
          <a:xfrm rot="5400000">
            <a:off x="464241" y="-413611"/>
            <a:ext cx="3261555" cy="41900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EB6EAE7-E408-489B-9FE3-C4FDF2E114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58" t="19155"/>
          <a:stretch/>
        </p:blipFill>
        <p:spPr>
          <a:xfrm rot="5400000">
            <a:off x="248486" y="2916452"/>
            <a:ext cx="3693063" cy="419003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6BFCCD-115A-41AD-85C1-6FF29298C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598" y="3104541"/>
            <a:ext cx="8306765" cy="1428554"/>
          </a:xfrm>
        </p:spPr>
        <p:txBody>
          <a:bodyPr/>
          <a:lstStyle/>
          <a:p>
            <a:r>
              <a:rPr lang="de-DE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Präsenzuni &lt;-&gt; Fernuni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14D9218-ECCE-4F12-87BC-EC3286A71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402" y="4472696"/>
            <a:ext cx="9144000" cy="1655762"/>
          </a:xfrm>
        </p:spPr>
        <p:txBody>
          <a:bodyPr/>
          <a:lstStyle/>
          <a:p>
            <a:r>
              <a:rPr lang="de-DE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Wie bekommen wir wieder mehr Studierende an die Uni;</a:t>
            </a:r>
          </a:p>
          <a:p>
            <a:r>
              <a:rPr lang="de-DE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und, </a:t>
            </a:r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wollen wir das</a:t>
            </a:r>
            <a:r>
              <a:rPr lang="de-DE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DF8B540-774A-4AD3-A206-5FFC196DA005}"/>
              </a:ext>
            </a:extLst>
          </p:cNvPr>
          <p:cNvSpPr/>
          <p:nvPr/>
        </p:nvSpPr>
        <p:spPr>
          <a:xfrm>
            <a:off x="4322254" y="50630"/>
            <a:ext cx="45576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Slides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https://github.com/peter1328/presentations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https://bit.ly/3PpcMYk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981488F-47CD-4E29-9C06-23CF28F74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0356" y="916462"/>
            <a:ext cx="1808725" cy="18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1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D94D6269-7245-4909-8098-2C7741663628}"/>
              </a:ext>
            </a:extLst>
          </p:cNvPr>
          <p:cNvSpPr txBox="1"/>
          <p:nvPr/>
        </p:nvSpPr>
        <p:spPr>
          <a:xfrm>
            <a:off x="2607733" y="546705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Typisch LMU-Lehrveranstaltungen?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9B1C854-43AE-42B3-8A32-B148F9DC8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35" y="1308649"/>
            <a:ext cx="5002646" cy="5002646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C8FABFD5-8031-4E13-9205-A76C73D14838}"/>
              </a:ext>
            </a:extLst>
          </p:cNvPr>
          <p:cNvCxnSpPr/>
          <p:nvPr/>
        </p:nvCxnSpPr>
        <p:spPr>
          <a:xfrm>
            <a:off x="4734701" y="3437657"/>
            <a:ext cx="0" cy="1050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7DDD146C-9C93-409E-B28B-EA914ED9D46B}"/>
              </a:ext>
            </a:extLst>
          </p:cNvPr>
          <p:cNvSpPr txBox="1"/>
          <p:nvPr/>
        </p:nvSpPr>
        <p:spPr>
          <a:xfrm>
            <a:off x="3476376" y="2760753"/>
            <a:ext cx="2148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ein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whoopsie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  nach oben vor der Klausur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AF3B65-669E-42C0-B39C-49C8D902B0AE}"/>
              </a:ext>
            </a:extLst>
          </p:cNvPr>
          <p:cNvSpPr txBox="1"/>
          <p:nvPr/>
        </p:nvSpPr>
        <p:spPr>
          <a:xfrm>
            <a:off x="5968314" y="1146664"/>
            <a:ext cx="62236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Welche Faktoren beeinflussen Studierendenpräsenz?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- Welche können wir beeinflussen?</a:t>
            </a: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Übung mit Diskussion:</a:t>
            </a:r>
          </a:p>
          <a:p>
            <a:pPr marL="285750" indent="-285750">
              <a:buFontTx/>
              <a:buChar char="-"/>
            </a:pP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Wie ist es bei dir momentan?</a:t>
            </a:r>
          </a:p>
          <a:p>
            <a:pPr marL="285750" indent="-285750">
              <a:buFontTx/>
              <a:buChar char="-"/>
            </a:pP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Wo willst du hin?</a:t>
            </a:r>
          </a:p>
          <a:p>
            <a:pPr marL="285750" indent="-285750">
              <a:buFontTx/>
              <a:buChar char="-"/>
            </a:pP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Wie willst du da hin, was sind Barrieren?</a:t>
            </a:r>
          </a:p>
          <a:p>
            <a:pPr marL="285750" indent="-28575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Übergeordnetes Ziel: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Situation &amp; Möglichkeiten sichtbar machen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Übergeordnete Vision:</a:t>
            </a: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In 20 Jahren zur Fernuni?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C4CBF5E-C23B-40A2-98DB-DBE72EACC525}"/>
              </a:ext>
            </a:extLst>
          </p:cNvPr>
          <p:cNvCxnSpPr>
            <a:cxnSpLocks/>
          </p:cNvCxnSpPr>
          <p:nvPr/>
        </p:nvCxnSpPr>
        <p:spPr>
          <a:xfrm flipV="1">
            <a:off x="4429125" y="4768215"/>
            <a:ext cx="305576" cy="1693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E8E3F79-AF57-49D5-8C42-1984A7FA46D4}"/>
              </a:ext>
            </a:extLst>
          </p:cNvPr>
          <p:cNvCxnSpPr>
            <a:cxnSpLocks/>
          </p:cNvCxnSpPr>
          <p:nvPr/>
        </p:nvCxnSpPr>
        <p:spPr>
          <a:xfrm>
            <a:off x="4734701" y="4768215"/>
            <a:ext cx="279259" cy="3304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7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D94D6269-7245-4909-8098-2C7741663628}"/>
              </a:ext>
            </a:extLst>
          </p:cNvPr>
          <p:cNvSpPr txBox="1"/>
          <p:nvPr/>
        </p:nvSpPr>
        <p:spPr>
          <a:xfrm>
            <a:off x="2459452" y="225430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Gründe für (An-/)Abwesenheit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1316CC2-85F4-4E07-A630-9EF1CDDC20A7}"/>
              </a:ext>
            </a:extLst>
          </p:cNvPr>
          <p:cNvSpPr txBox="1"/>
          <p:nvPr/>
        </p:nvSpPr>
        <p:spPr>
          <a:xfrm>
            <a:off x="0" y="909516"/>
            <a:ext cx="125421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Anwesenheitspflicht (gibt‘s [offiziell] nicht und [fast] niemals)</a:t>
            </a:r>
          </a:p>
          <a:p>
            <a:pPr marL="342900" indent="-342900">
              <a:buFontTx/>
              <a:buChar char="-"/>
            </a:pPr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Privatsituation (arbeitslos in Schwabing vs. berufstätig-alleinerziehend in Rosenheim)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Thema (Forschungsmethoden vs. </a:t>
            </a:r>
            <a:r>
              <a:rPr lang="de-DE" sz="2400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Sozialpsych</a:t>
            </a:r>
            <a:r>
              <a:rPr lang="de-DE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Theoriegedöns vs. Anwendungsnah)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Unterrichtsqualität (</a:t>
            </a:r>
            <a:r>
              <a:rPr lang="de-DE" sz="2400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Referateseminar</a:t>
            </a:r>
            <a:r>
              <a:rPr lang="de-DE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de-DE" sz="2400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de-DE" sz="24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Research, Markus M vs. Peter E., Struktur, Organisiertheit, &amp; Klarheit)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Org. Präsenzbonus (Folien im Nachhinein vs. Zoom-Link, kein Skript vs. Bühner Buch)</a:t>
            </a:r>
          </a:p>
          <a:p>
            <a:endParaRPr lang="de-DE" sz="24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Benotung (Hausaufgaben vs. Klausur ohne Hilfsmittel vs. beides [Portfolio/Übungsmappe])</a:t>
            </a:r>
          </a:p>
        </p:txBody>
      </p:sp>
    </p:spTree>
    <p:extLst>
      <p:ext uri="{BB962C8B-B14F-4D97-AF65-F5344CB8AC3E}">
        <p14:creationId xmlns:p14="http://schemas.microsoft.com/office/powerpoint/2010/main" val="386056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D94D6269-7245-4909-8098-2C7741663628}"/>
              </a:ext>
            </a:extLst>
          </p:cNvPr>
          <p:cNvSpPr txBox="1"/>
          <p:nvPr/>
        </p:nvSpPr>
        <p:spPr>
          <a:xfrm>
            <a:off x="2459452" y="225430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4840591-CB2A-460D-9C72-1DD630274DB4}"/>
              </a:ext>
            </a:extLst>
          </p:cNvPr>
          <p:cNvSpPr/>
          <p:nvPr/>
        </p:nvSpPr>
        <p:spPr>
          <a:xfrm>
            <a:off x="127322" y="1076446"/>
            <a:ext cx="7048982" cy="2882096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26D2859-9D24-42BC-A22A-E4BBF9C104A6}"/>
              </a:ext>
            </a:extLst>
          </p:cNvPr>
          <p:cNvSpPr txBox="1"/>
          <p:nvPr/>
        </p:nvSpPr>
        <p:spPr>
          <a:xfrm>
            <a:off x="1903669" y="5483537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Sture Präsenzuni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1E5469-B5C1-49E7-BDF0-2725C010D487}"/>
              </a:ext>
            </a:extLst>
          </p:cNvPr>
          <p:cNvSpPr txBox="1"/>
          <p:nvPr/>
        </p:nvSpPr>
        <p:spPr>
          <a:xfrm>
            <a:off x="6935286" y="5483536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Entgegenkommen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A261B1A-1650-4335-B2E3-DAD726EACDC1}"/>
              </a:ext>
            </a:extLst>
          </p:cNvPr>
          <p:cNvCxnSpPr>
            <a:endCxn id="7" idx="1"/>
          </p:cNvCxnSpPr>
          <p:nvPr/>
        </p:nvCxnSpPr>
        <p:spPr>
          <a:xfrm>
            <a:off x="4533172" y="5714368"/>
            <a:ext cx="240211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3B15E1F-A685-4793-A017-A869C4D95FE0}"/>
              </a:ext>
            </a:extLst>
          </p:cNvPr>
          <p:cNvSpPr txBox="1"/>
          <p:nvPr/>
        </p:nvSpPr>
        <p:spPr>
          <a:xfrm>
            <a:off x="1567420" y="5895797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Keine Aufzeichnungen/Skript/ Hilfsmittel bei Klausur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8DF4665-2C5A-4548-88E3-E4E5927527FE}"/>
              </a:ext>
            </a:extLst>
          </p:cNvPr>
          <p:cNvSpPr txBox="1"/>
          <p:nvPr/>
        </p:nvSpPr>
        <p:spPr>
          <a:xfrm>
            <a:off x="6732087" y="5895796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Live &amp; Aufzeichnungen, Skript, Hilfsmittel bei Klausur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83CFE805-9B61-453F-B726-8FD58ECFEBCC}"/>
              </a:ext>
            </a:extLst>
          </p:cNvPr>
          <p:cNvSpPr/>
          <p:nvPr/>
        </p:nvSpPr>
        <p:spPr>
          <a:xfrm rot="12533163">
            <a:off x="9653637" y="5388699"/>
            <a:ext cx="517236" cy="452627"/>
          </a:xfrm>
          <a:custGeom>
            <a:avLst/>
            <a:gdLst>
              <a:gd name="connsiteX0" fmla="*/ 0 w 517236"/>
              <a:gd name="connsiteY0" fmla="*/ 184728 h 452627"/>
              <a:gd name="connsiteX1" fmla="*/ 36945 w 517236"/>
              <a:gd name="connsiteY1" fmla="*/ 110837 h 452627"/>
              <a:gd name="connsiteX2" fmla="*/ 83127 w 517236"/>
              <a:gd name="connsiteY2" fmla="*/ 55419 h 452627"/>
              <a:gd name="connsiteX3" fmla="*/ 138545 w 517236"/>
              <a:gd name="connsiteY3" fmla="*/ 18473 h 452627"/>
              <a:gd name="connsiteX4" fmla="*/ 166254 w 517236"/>
              <a:gd name="connsiteY4" fmla="*/ 0 h 452627"/>
              <a:gd name="connsiteX5" fmla="*/ 387927 w 517236"/>
              <a:gd name="connsiteY5" fmla="*/ 18473 h 452627"/>
              <a:gd name="connsiteX6" fmla="*/ 424872 w 517236"/>
              <a:gd name="connsiteY6" fmla="*/ 27710 h 452627"/>
              <a:gd name="connsiteX7" fmla="*/ 471054 w 517236"/>
              <a:gd name="connsiteY7" fmla="*/ 36946 h 452627"/>
              <a:gd name="connsiteX8" fmla="*/ 489527 w 517236"/>
              <a:gd name="connsiteY8" fmla="*/ 64655 h 452627"/>
              <a:gd name="connsiteX9" fmla="*/ 498763 w 517236"/>
              <a:gd name="connsiteY9" fmla="*/ 92364 h 452627"/>
              <a:gd name="connsiteX10" fmla="*/ 517236 w 517236"/>
              <a:gd name="connsiteY10" fmla="*/ 138546 h 452627"/>
              <a:gd name="connsiteX11" fmla="*/ 480290 w 517236"/>
              <a:gd name="connsiteY11" fmla="*/ 341746 h 452627"/>
              <a:gd name="connsiteX12" fmla="*/ 452581 w 517236"/>
              <a:gd name="connsiteY12" fmla="*/ 369455 h 452627"/>
              <a:gd name="connsiteX13" fmla="*/ 415636 w 517236"/>
              <a:gd name="connsiteY13" fmla="*/ 397164 h 452627"/>
              <a:gd name="connsiteX14" fmla="*/ 360218 w 517236"/>
              <a:gd name="connsiteY14" fmla="*/ 424873 h 452627"/>
              <a:gd name="connsiteX15" fmla="*/ 332509 w 517236"/>
              <a:gd name="connsiteY15" fmla="*/ 443346 h 452627"/>
              <a:gd name="connsiteX16" fmla="*/ 203200 w 517236"/>
              <a:gd name="connsiteY16" fmla="*/ 443346 h 452627"/>
              <a:gd name="connsiteX17" fmla="*/ 166254 w 517236"/>
              <a:gd name="connsiteY17" fmla="*/ 434110 h 452627"/>
              <a:gd name="connsiteX18" fmla="*/ 110836 w 517236"/>
              <a:gd name="connsiteY18" fmla="*/ 415637 h 452627"/>
              <a:gd name="connsiteX19" fmla="*/ 55418 w 517236"/>
              <a:gd name="connsiteY19" fmla="*/ 378691 h 452627"/>
              <a:gd name="connsiteX20" fmla="*/ 27709 w 517236"/>
              <a:gd name="connsiteY20" fmla="*/ 360219 h 452627"/>
              <a:gd name="connsiteX21" fmla="*/ 9236 w 517236"/>
              <a:gd name="connsiteY21" fmla="*/ 314037 h 45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7236" h="452627">
                <a:moveTo>
                  <a:pt x="0" y="184728"/>
                </a:moveTo>
                <a:cubicBezTo>
                  <a:pt x="18461" y="92420"/>
                  <a:pt x="-7409" y="177368"/>
                  <a:pt x="36945" y="110837"/>
                </a:cubicBezTo>
                <a:cubicBezTo>
                  <a:pt x="75727" y="52663"/>
                  <a:pt x="-628" y="114048"/>
                  <a:pt x="83127" y="55419"/>
                </a:cubicBezTo>
                <a:cubicBezTo>
                  <a:pt x="101315" y="42687"/>
                  <a:pt x="120072" y="30788"/>
                  <a:pt x="138545" y="18473"/>
                </a:cubicBezTo>
                <a:lnTo>
                  <a:pt x="166254" y="0"/>
                </a:lnTo>
                <a:cubicBezTo>
                  <a:pt x="227513" y="4084"/>
                  <a:pt x="322108" y="8347"/>
                  <a:pt x="387927" y="18473"/>
                </a:cubicBezTo>
                <a:cubicBezTo>
                  <a:pt x="400473" y="20403"/>
                  <a:pt x="412480" y="24956"/>
                  <a:pt x="424872" y="27710"/>
                </a:cubicBezTo>
                <a:cubicBezTo>
                  <a:pt x="440197" y="31116"/>
                  <a:pt x="455660" y="33867"/>
                  <a:pt x="471054" y="36946"/>
                </a:cubicBezTo>
                <a:cubicBezTo>
                  <a:pt x="477212" y="46182"/>
                  <a:pt x="484563" y="54726"/>
                  <a:pt x="489527" y="64655"/>
                </a:cubicBezTo>
                <a:cubicBezTo>
                  <a:pt x="493881" y="73363"/>
                  <a:pt x="495345" y="83248"/>
                  <a:pt x="498763" y="92364"/>
                </a:cubicBezTo>
                <a:cubicBezTo>
                  <a:pt x="504585" y="107888"/>
                  <a:pt x="511078" y="123152"/>
                  <a:pt x="517236" y="138546"/>
                </a:cubicBezTo>
                <a:cubicBezTo>
                  <a:pt x="511121" y="193581"/>
                  <a:pt x="520272" y="285771"/>
                  <a:pt x="480290" y="341746"/>
                </a:cubicBezTo>
                <a:cubicBezTo>
                  <a:pt x="472698" y="352375"/>
                  <a:pt x="462499" y="360954"/>
                  <a:pt x="452581" y="369455"/>
                </a:cubicBezTo>
                <a:cubicBezTo>
                  <a:pt x="440893" y="379473"/>
                  <a:pt x="428162" y="388216"/>
                  <a:pt x="415636" y="397164"/>
                </a:cubicBezTo>
                <a:cubicBezTo>
                  <a:pt x="384302" y="419546"/>
                  <a:pt x="394533" y="413435"/>
                  <a:pt x="360218" y="424873"/>
                </a:cubicBezTo>
                <a:cubicBezTo>
                  <a:pt x="350982" y="431031"/>
                  <a:pt x="342903" y="439448"/>
                  <a:pt x="332509" y="443346"/>
                </a:cubicBezTo>
                <a:cubicBezTo>
                  <a:pt x="285457" y="460990"/>
                  <a:pt x="254924" y="449093"/>
                  <a:pt x="203200" y="443346"/>
                </a:cubicBezTo>
                <a:cubicBezTo>
                  <a:pt x="190885" y="440267"/>
                  <a:pt x="178413" y="437758"/>
                  <a:pt x="166254" y="434110"/>
                </a:cubicBezTo>
                <a:cubicBezTo>
                  <a:pt x="147603" y="428515"/>
                  <a:pt x="110836" y="415637"/>
                  <a:pt x="110836" y="415637"/>
                </a:cubicBezTo>
                <a:lnTo>
                  <a:pt x="55418" y="378691"/>
                </a:lnTo>
                <a:lnTo>
                  <a:pt x="27709" y="360219"/>
                </a:lnTo>
                <a:cubicBezTo>
                  <a:pt x="16295" y="325979"/>
                  <a:pt x="22826" y="341218"/>
                  <a:pt x="9236" y="31403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C0C68F4-17FD-4E0A-B54E-4494D80FEC60}"/>
              </a:ext>
            </a:extLst>
          </p:cNvPr>
          <p:cNvSpPr txBox="1"/>
          <p:nvPr/>
        </p:nvSpPr>
        <p:spPr>
          <a:xfrm>
            <a:off x="7509921" y="463219"/>
            <a:ext cx="44452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Aufgabenstellung:</a:t>
            </a: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(1) Wie zufrieden bist du mit der aktuellen Anwesenheitssituation in deinen Kursen und deren Entwicklung?</a:t>
            </a: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(2) Was möchtest du in Bezug auf mögliche Hebel ändern, was sind für dich dabei die größten Hindernisse?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7C85BF0-D1FA-4058-B68A-F373B7BC2005}"/>
              </a:ext>
            </a:extLst>
          </p:cNvPr>
          <p:cNvSpPr txBox="1"/>
          <p:nvPr/>
        </p:nvSpPr>
        <p:spPr>
          <a:xfrm>
            <a:off x="309704" y="4139969"/>
            <a:ext cx="72361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Denkanschub:</a:t>
            </a: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Bringt Anwesenheit </a:t>
            </a:r>
            <a:r>
              <a:rPr lang="de-DE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wirklich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 was?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(nicht nur vermutlich/“</a:t>
            </a:r>
            <a:r>
              <a:rPr lang="de-DE" i="1" dirty="0">
                <a:latin typeface="Arial" panose="020B0604020202020204" pitchFamily="34" charset="0"/>
                <a:cs typeface="Arial" panose="020B0604020202020204" pitchFamily="34" charset="0"/>
              </a:rPr>
              <a:t>die, die anwesend sind, haben immer die besten Noten!“;</a:t>
            </a:r>
          </a:p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Bratti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&amp;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Staffolani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, 2013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Hollett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et al., 2020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611D30D-142E-4CF8-AE32-FB48180AB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30" y="1113766"/>
            <a:ext cx="7222689" cy="288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8B0F5FAB-8362-4446-A0BB-4E2188DC553B}"/>
              </a:ext>
            </a:extLst>
          </p:cNvPr>
          <p:cNvSpPr txBox="1"/>
          <p:nvPr/>
        </p:nvSpPr>
        <p:spPr>
          <a:xfrm>
            <a:off x="341087" y="5211783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Sture Präsenzuni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CD6A30-CEF8-40CB-8621-01A42839843B}"/>
              </a:ext>
            </a:extLst>
          </p:cNvPr>
          <p:cNvSpPr txBox="1"/>
          <p:nvPr/>
        </p:nvSpPr>
        <p:spPr>
          <a:xfrm>
            <a:off x="5372704" y="5211782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Entgegenkommen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A4CBD46-4658-401A-9352-C440FECD4371}"/>
              </a:ext>
            </a:extLst>
          </p:cNvPr>
          <p:cNvCxnSpPr>
            <a:endCxn id="15" idx="1"/>
          </p:cNvCxnSpPr>
          <p:nvPr/>
        </p:nvCxnSpPr>
        <p:spPr>
          <a:xfrm>
            <a:off x="2970590" y="5442614"/>
            <a:ext cx="240211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A697D248-7D55-4E09-B22A-77CAEA514A2C}"/>
              </a:ext>
            </a:extLst>
          </p:cNvPr>
          <p:cNvSpPr txBox="1"/>
          <p:nvPr/>
        </p:nvSpPr>
        <p:spPr>
          <a:xfrm>
            <a:off x="4838" y="5624043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Keine Aufzeichnungen/Skript/ Hilfsmittel bei Klausur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5F61D06-E249-41F2-8349-254BED2754BC}"/>
              </a:ext>
            </a:extLst>
          </p:cNvPr>
          <p:cNvSpPr txBox="1"/>
          <p:nvPr/>
        </p:nvSpPr>
        <p:spPr>
          <a:xfrm>
            <a:off x="5169505" y="5624042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Live &amp; Aufzeichnungen, Skript, Hilfsmittel bei Klausur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41097B9-03E3-410A-B191-55F99399C979}"/>
              </a:ext>
            </a:extLst>
          </p:cNvPr>
          <p:cNvSpPr txBox="1"/>
          <p:nvPr/>
        </p:nvSpPr>
        <p:spPr>
          <a:xfrm>
            <a:off x="926495" y="4199357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sweet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spot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444553E-B6F2-4203-87CA-9684CD90DF76}"/>
              </a:ext>
            </a:extLst>
          </p:cNvPr>
          <p:cNvSpPr txBox="1"/>
          <p:nvPr/>
        </p:nvSpPr>
        <p:spPr>
          <a:xfrm>
            <a:off x="1076476" y="2828835"/>
            <a:ext cx="6710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Ist ein Entgegenkommen bei gleichzeitiger Aufrechterhaltung ordentlicher Anwesenheitsquoten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möglich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5360F6-8B26-4188-85A4-6B864040B87C}"/>
              </a:ext>
            </a:extLst>
          </p:cNvPr>
          <p:cNvSpPr txBox="1"/>
          <p:nvPr/>
        </p:nvSpPr>
        <p:spPr>
          <a:xfrm>
            <a:off x="3318933" y="584388"/>
            <a:ext cx="9071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Wie wichtig ist euch die Anwesenheit der Studierenden?</a:t>
            </a:r>
          </a:p>
          <a:p>
            <a:pPr algn="ctr"/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Wie kann diese gefördert werden?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B40DB66-7152-4B14-BE1A-2B8BFA9CAF7A}"/>
              </a:ext>
            </a:extLst>
          </p:cNvPr>
          <p:cNvSpPr txBox="1"/>
          <p:nvPr/>
        </p:nvSpPr>
        <p:spPr>
          <a:xfrm>
            <a:off x="115522" y="2033812"/>
            <a:ext cx="9645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Gründe für Wichtigkeit der Anwesenheit? (z.B. „ich mag das“; Wettbewerb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ggü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Privat-Fernunis, z.B. Teilzeit- und Fernstudium)</a:t>
            </a:r>
          </a:p>
        </p:txBody>
      </p:sp>
    </p:spTree>
    <p:extLst>
      <p:ext uri="{BB962C8B-B14F-4D97-AF65-F5344CB8AC3E}">
        <p14:creationId xmlns:p14="http://schemas.microsoft.com/office/powerpoint/2010/main" val="352613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D94D6269-7245-4909-8098-2C7741663628}"/>
              </a:ext>
            </a:extLst>
          </p:cNvPr>
          <p:cNvSpPr txBox="1"/>
          <p:nvPr/>
        </p:nvSpPr>
        <p:spPr>
          <a:xfrm>
            <a:off x="2607733" y="546705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Typisch LMU-Lehrveranstaltungen mit Peter E.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9B1C854-43AE-42B3-8A32-B148F9DC8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39201"/>
            <a:ext cx="4217613" cy="421761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040B69D-308F-45EF-90F3-863E7AEA79F5}"/>
              </a:ext>
            </a:extLst>
          </p:cNvPr>
          <p:cNvSpPr txBox="1"/>
          <p:nvPr/>
        </p:nvSpPr>
        <p:spPr>
          <a:xfrm>
            <a:off x="0" y="1175660"/>
            <a:ext cx="55613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Forschungsmethoden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Vorlesung m. Übungen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Solider Unterricht &amp; Vortragender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Zoom-Link u. Aufzeichnungen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Schlechtes Skript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Klausur recht neu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AB00E6D-D223-4CED-9048-93C00A910A41}"/>
              </a:ext>
            </a:extLst>
          </p:cNvPr>
          <p:cNvSpPr txBox="1"/>
          <p:nvPr/>
        </p:nvSpPr>
        <p:spPr>
          <a:xfrm>
            <a:off x="1903669" y="5483537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Sture Präsenzuni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B663A6F-4ABD-4B96-8B1A-C93FEEE1A3A0}"/>
              </a:ext>
            </a:extLst>
          </p:cNvPr>
          <p:cNvSpPr txBox="1"/>
          <p:nvPr/>
        </p:nvSpPr>
        <p:spPr>
          <a:xfrm>
            <a:off x="6935286" y="5483536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Entgegenkommen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4B84E92-687E-4D75-A4F2-776D02821D71}"/>
              </a:ext>
            </a:extLst>
          </p:cNvPr>
          <p:cNvCxnSpPr>
            <a:endCxn id="6" idx="1"/>
          </p:cNvCxnSpPr>
          <p:nvPr/>
        </p:nvCxnSpPr>
        <p:spPr>
          <a:xfrm>
            <a:off x="4533172" y="5714368"/>
            <a:ext cx="240211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A8DE9A0E-535C-4021-BB07-066A653A0EA4}"/>
              </a:ext>
            </a:extLst>
          </p:cNvPr>
          <p:cNvSpPr txBox="1"/>
          <p:nvPr/>
        </p:nvSpPr>
        <p:spPr>
          <a:xfrm>
            <a:off x="1567420" y="5895797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Keine Aufzeichnungen/Skript/ Hilfsmittel bei Klausur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489F86A-616C-4612-B5FE-D733F772D7F4}"/>
              </a:ext>
            </a:extLst>
          </p:cNvPr>
          <p:cNvSpPr txBox="1"/>
          <p:nvPr/>
        </p:nvSpPr>
        <p:spPr>
          <a:xfrm>
            <a:off x="6732087" y="5895796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Live &amp; Aufzeichnungen, Skript, Hilfsmittel bei Klausur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F753B6CE-37B9-43F3-9E7D-6BA956BFD704}"/>
              </a:ext>
            </a:extLst>
          </p:cNvPr>
          <p:cNvSpPr/>
          <p:nvPr/>
        </p:nvSpPr>
        <p:spPr>
          <a:xfrm rot="12533163">
            <a:off x="9653637" y="5388699"/>
            <a:ext cx="517236" cy="452627"/>
          </a:xfrm>
          <a:custGeom>
            <a:avLst/>
            <a:gdLst>
              <a:gd name="connsiteX0" fmla="*/ 0 w 517236"/>
              <a:gd name="connsiteY0" fmla="*/ 184728 h 452627"/>
              <a:gd name="connsiteX1" fmla="*/ 36945 w 517236"/>
              <a:gd name="connsiteY1" fmla="*/ 110837 h 452627"/>
              <a:gd name="connsiteX2" fmla="*/ 83127 w 517236"/>
              <a:gd name="connsiteY2" fmla="*/ 55419 h 452627"/>
              <a:gd name="connsiteX3" fmla="*/ 138545 w 517236"/>
              <a:gd name="connsiteY3" fmla="*/ 18473 h 452627"/>
              <a:gd name="connsiteX4" fmla="*/ 166254 w 517236"/>
              <a:gd name="connsiteY4" fmla="*/ 0 h 452627"/>
              <a:gd name="connsiteX5" fmla="*/ 387927 w 517236"/>
              <a:gd name="connsiteY5" fmla="*/ 18473 h 452627"/>
              <a:gd name="connsiteX6" fmla="*/ 424872 w 517236"/>
              <a:gd name="connsiteY6" fmla="*/ 27710 h 452627"/>
              <a:gd name="connsiteX7" fmla="*/ 471054 w 517236"/>
              <a:gd name="connsiteY7" fmla="*/ 36946 h 452627"/>
              <a:gd name="connsiteX8" fmla="*/ 489527 w 517236"/>
              <a:gd name="connsiteY8" fmla="*/ 64655 h 452627"/>
              <a:gd name="connsiteX9" fmla="*/ 498763 w 517236"/>
              <a:gd name="connsiteY9" fmla="*/ 92364 h 452627"/>
              <a:gd name="connsiteX10" fmla="*/ 517236 w 517236"/>
              <a:gd name="connsiteY10" fmla="*/ 138546 h 452627"/>
              <a:gd name="connsiteX11" fmla="*/ 480290 w 517236"/>
              <a:gd name="connsiteY11" fmla="*/ 341746 h 452627"/>
              <a:gd name="connsiteX12" fmla="*/ 452581 w 517236"/>
              <a:gd name="connsiteY12" fmla="*/ 369455 h 452627"/>
              <a:gd name="connsiteX13" fmla="*/ 415636 w 517236"/>
              <a:gd name="connsiteY13" fmla="*/ 397164 h 452627"/>
              <a:gd name="connsiteX14" fmla="*/ 360218 w 517236"/>
              <a:gd name="connsiteY14" fmla="*/ 424873 h 452627"/>
              <a:gd name="connsiteX15" fmla="*/ 332509 w 517236"/>
              <a:gd name="connsiteY15" fmla="*/ 443346 h 452627"/>
              <a:gd name="connsiteX16" fmla="*/ 203200 w 517236"/>
              <a:gd name="connsiteY16" fmla="*/ 443346 h 452627"/>
              <a:gd name="connsiteX17" fmla="*/ 166254 w 517236"/>
              <a:gd name="connsiteY17" fmla="*/ 434110 h 452627"/>
              <a:gd name="connsiteX18" fmla="*/ 110836 w 517236"/>
              <a:gd name="connsiteY18" fmla="*/ 415637 h 452627"/>
              <a:gd name="connsiteX19" fmla="*/ 55418 w 517236"/>
              <a:gd name="connsiteY19" fmla="*/ 378691 h 452627"/>
              <a:gd name="connsiteX20" fmla="*/ 27709 w 517236"/>
              <a:gd name="connsiteY20" fmla="*/ 360219 h 452627"/>
              <a:gd name="connsiteX21" fmla="*/ 9236 w 517236"/>
              <a:gd name="connsiteY21" fmla="*/ 314037 h 45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7236" h="452627">
                <a:moveTo>
                  <a:pt x="0" y="184728"/>
                </a:moveTo>
                <a:cubicBezTo>
                  <a:pt x="18461" y="92420"/>
                  <a:pt x="-7409" y="177368"/>
                  <a:pt x="36945" y="110837"/>
                </a:cubicBezTo>
                <a:cubicBezTo>
                  <a:pt x="75727" y="52663"/>
                  <a:pt x="-628" y="114048"/>
                  <a:pt x="83127" y="55419"/>
                </a:cubicBezTo>
                <a:cubicBezTo>
                  <a:pt x="101315" y="42687"/>
                  <a:pt x="120072" y="30788"/>
                  <a:pt x="138545" y="18473"/>
                </a:cubicBezTo>
                <a:lnTo>
                  <a:pt x="166254" y="0"/>
                </a:lnTo>
                <a:cubicBezTo>
                  <a:pt x="227513" y="4084"/>
                  <a:pt x="322108" y="8347"/>
                  <a:pt x="387927" y="18473"/>
                </a:cubicBezTo>
                <a:cubicBezTo>
                  <a:pt x="400473" y="20403"/>
                  <a:pt x="412480" y="24956"/>
                  <a:pt x="424872" y="27710"/>
                </a:cubicBezTo>
                <a:cubicBezTo>
                  <a:pt x="440197" y="31116"/>
                  <a:pt x="455660" y="33867"/>
                  <a:pt x="471054" y="36946"/>
                </a:cubicBezTo>
                <a:cubicBezTo>
                  <a:pt x="477212" y="46182"/>
                  <a:pt x="484563" y="54726"/>
                  <a:pt x="489527" y="64655"/>
                </a:cubicBezTo>
                <a:cubicBezTo>
                  <a:pt x="493881" y="73363"/>
                  <a:pt x="495345" y="83248"/>
                  <a:pt x="498763" y="92364"/>
                </a:cubicBezTo>
                <a:cubicBezTo>
                  <a:pt x="504585" y="107888"/>
                  <a:pt x="511078" y="123152"/>
                  <a:pt x="517236" y="138546"/>
                </a:cubicBezTo>
                <a:cubicBezTo>
                  <a:pt x="511121" y="193581"/>
                  <a:pt x="520272" y="285771"/>
                  <a:pt x="480290" y="341746"/>
                </a:cubicBezTo>
                <a:cubicBezTo>
                  <a:pt x="472698" y="352375"/>
                  <a:pt x="462499" y="360954"/>
                  <a:pt x="452581" y="369455"/>
                </a:cubicBezTo>
                <a:cubicBezTo>
                  <a:pt x="440893" y="379473"/>
                  <a:pt x="428162" y="388216"/>
                  <a:pt x="415636" y="397164"/>
                </a:cubicBezTo>
                <a:cubicBezTo>
                  <a:pt x="384302" y="419546"/>
                  <a:pt x="394533" y="413435"/>
                  <a:pt x="360218" y="424873"/>
                </a:cubicBezTo>
                <a:cubicBezTo>
                  <a:pt x="350982" y="431031"/>
                  <a:pt x="342903" y="439448"/>
                  <a:pt x="332509" y="443346"/>
                </a:cubicBezTo>
                <a:cubicBezTo>
                  <a:pt x="285457" y="460990"/>
                  <a:pt x="254924" y="449093"/>
                  <a:pt x="203200" y="443346"/>
                </a:cubicBezTo>
                <a:cubicBezTo>
                  <a:pt x="190885" y="440267"/>
                  <a:pt x="178413" y="437758"/>
                  <a:pt x="166254" y="434110"/>
                </a:cubicBezTo>
                <a:cubicBezTo>
                  <a:pt x="147603" y="428515"/>
                  <a:pt x="110836" y="415637"/>
                  <a:pt x="110836" y="415637"/>
                </a:cubicBezTo>
                <a:lnTo>
                  <a:pt x="55418" y="378691"/>
                </a:lnTo>
                <a:lnTo>
                  <a:pt x="27709" y="360219"/>
                </a:lnTo>
                <a:cubicBezTo>
                  <a:pt x="16295" y="325979"/>
                  <a:pt x="22826" y="341218"/>
                  <a:pt x="9236" y="31403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736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D94D6269-7245-4909-8098-2C7741663628}"/>
              </a:ext>
            </a:extLst>
          </p:cNvPr>
          <p:cNvSpPr txBox="1"/>
          <p:nvPr/>
        </p:nvSpPr>
        <p:spPr>
          <a:xfrm>
            <a:off x="2607733" y="546705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Gründe für (An-/)Abwesenheit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1316CC2-85F4-4E07-A630-9EF1CDDC20A7}"/>
              </a:ext>
            </a:extLst>
          </p:cNvPr>
          <p:cNvSpPr txBox="1"/>
          <p:nvPr/>
        </p:nvSpPr>
        <p:spPr>
          <a:xfrm>
            <a:off x="2334380" y="1100668"/>
            <a:ext cx="91899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Thema (Forschungsmethoden vs.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Sozialpsych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Unterricht (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Referateseminar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Research)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Vortragende:r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(Markus M. vs. Peter E.)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Verpflichtungen (arbeitslos vs. alleinerziehend)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Wohnort (Schwabing vs. Rosenheim)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Aufzeichnungen (Folien erst im Nachhinein vs. Zoom-Link)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Skript (keines vs. Bühner-Buch)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Klausurruf (Hilfsmittel erlaubt vs. Peter E.)</a:t>
            </a:r>
          </a:p>
        </p:txBody>
      </p:sp>
    </p:spTree>
    <p:extLst>
      <p:ext uri="{BB962C8B-B14F-4D97-AF65-F5344CB8AC3E}">
        <p14:creationId xmlns:p14="http://schemas.microsoft.com/office/powerpoint/2010/main" val="33004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1316CC2-85F4-4E07-A630-9EF1CDDC20A7}"/>
              </a:ext>
            </a:extLst>
          </p:cNvPr>
          <p:cNvSpPr txBox="1"/>
          <p:nvPr/>
        </p:nvSpPr>
        <p:spPr>
          <a:xfrm>
            <a:off x="111878" y="394540"/>
            <a:ext cx="918996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Anwesenheitspflicht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Thema (Forschungsmethoden vs.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Sozialpsych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Unterricht (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Referateseminar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Research)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Vortragende:r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(Markus M. vs. Peter E.)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Verpflichtungen (arbeitslos vs. alleinerziehend)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Wohnort (Schwabing vs. Rosenheim)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Aufzeichnungen (Folien erst im Nachhinein vs. Zoom-Link)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Skript (keines vs. Bühner-Buch)</a:t>
            </a:r>
          </a:p>
          <a:p>
            <a:pPr marL="342900" indent="-342900">
              <a:buFontTx/>
              <a:buChar char="-"/>
            </a:pP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Klausurruf (Hilfsmittel erlaubt vs. Peter E.)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1ACA867-0F51-4468-960E-7EE920E50032}"/>
              </a:ext>
            </a:extLst>
          </p:cNvPr>
          <p:cNvSpPr txBox="1"/>
          <p:nvPr/>
        </p:nvSpPr>
        <p:spPr>
          <a:xfrm>
            <a:off x="9020930" y="2483"/>
            <a:ext cx="203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Wichtigkeit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323C9E-C767-4684-ADE6-0D9E5D5CCCFA}"/>
              </a:ext>
            </a:extLst>
          </p:cNvPr>
          <p:cNvSpPr txBox="1"/>
          <p:nvPr/>
        </p:nvSpPr>
        <p:spPr>
          <a:xfrm>
            <a:off x="10728779" y="2482"/>
            <a:ext cx="203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Beeinflbk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B01FEDE-2BB3-4C6C-A627-E3B4220B1507}"/>
              </a:ext>
            </a:extLst>
          </p:cNvPr>
          <p:cNvSpPr txBox="1"/>
          <p:nvPr/>
        </p:nvSpPr>
        <p:spPr>
          <a:xfrm>
            <a:off x="7151005" y="2484"/>
            <a:ext cx="203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Entwicklung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3404F06-AF99-4936-9363-A03EA32B3140}"/>
              </a:ext>
            </a:extLst>
          </p:cNvPr>
          <p:cNvCxnSpPr/>
          <p:nvPr/>
        </p:nvCxnSpPr>
        <p:spPr>
          <a:xfrm>
            <a:off x="7634514" y="1349828"/>
            <a:ext cx="8611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E526555-EF41-4AD4-858F-D77A2C4BC457}"/>
              </a:ext>
            </a:extLst>
          </p:cNvPr>
          <p:cNvCxnSpPr>
            <a:cxnSpLocks/>
          </p:cNvCxnSpPr>
          <p:nvPr/>
        </p:nvCxnSpPr>
        <p:spPr>
          <a:xfrm flipV="1">
            <a:off x="9540724" y="1179133"/>
            <a:ext cx="626534" cy="341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585A0CA-80D4-4FDA-8681-EA13FBF9384E}"/>
              </a:ext>
            </a:extLst>
          </p:cNvPr>
          <p:cNvCxnSpPr>
            <a:cxnSpLocks/>
          </p:cNvCxnSpPr>
          <p:nvPr/>
        </p:nvCxnSpPr>
        <p:spPr>
          <a:xfrm>
            <a:off x="11178421" y="1179133"/>
            <a:ext cx="660398" cy="274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DD602C3-61A2-4066-8F8B-E1DAA41ADE71}"/>
              </a:ext>
            </a:extLst>
          </p:cNvPr>
          <p:cNvCxnSpPr>
            <a:cxnSpLocks/>
          </p:cNvCxnSpPr>
          <p:nvPr/>
        </p:nvCxnSpPr>
        <p:spPr>
          <a:xfrm flipV="1">
            <a:off x="7653866" y="1925562"/>
            <a:ext cx="861181" cy="316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D81ABA5-93E3-461D-A4B7-BFA249F3FCB0}"/>
              </a:ext>
            </a:extLst>
          </p:cNvPr>
          <p:cNvCxnSpPr>
            <a:cxnSpLocks/>
          </p:cNvCxnSpPr>
          <p:nvPr/>
        </p:nvCxnSpPr>
        <p:spPr>
          <a:xfrm flipV="1">
            <a:off x="9540724" y="1867505"/>
            <a:ext cx="662819" cy="29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EFF5D55-6257-45E5-AF82-60F4258E4C2F}"/>
              </a:ext>
            </a:extLst>
          </p:cNvPr>
          <p:cNvCxnSpPr>
            <a:cxnSpLocks/>
          </p:cNvCxnSpPr>
          <p:nvPr/>
        </p:nvCxnSpPr>
        <p:spPr>
          <a:xfrm flipV="1">
            <a:off x="11156646" y="1896534"/>
            <a:ext cx="661612" cy="28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3708E9D-D932-4B58-B1B1-5BAF7068DEEF}"/>
              </a:ext>
            </a:extLst>
          </p:cNvPr>
          <p:cNvCxnSpPr>
            <a:cxnSpLocks/>
          </p:cNvCxnSpPr>
          <p:nvPr/>
        </p:nvCxnSpPr>
        <p:spPr>
          <a:xfrm flipV="1">
            <a:off x="7634514" y="2659742"/>
            <a:ext cx="861181" cy="316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20AC3EC-DA43-469F-A2C6-9790819AE134}"/>
              </a:ext>
            </a:extLst>
          </p:cNvPr>
          <p:cNvCxnSpPr>
            <a:cxnSpLocks/>
          </p:cNvCxnSpPr>
          <p:nvPr/>
        </p:nvCxnSpPr>
        <p:spPr>
          <a:xfrm flipV="1">
            <a:off x="9423400" y="2470905"/>
            <a:ext cx="861181" cy="316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DFE5293-6077-4F8A-A2EB-39F082C4AC77}"/>
              </a:ext>
            </a:extLst>
          </p:cNvPr>
          <p:cNvCxnSpPr>
            <a:cxnSpLocks/>
          </p:cNvCxnSpPr>
          <p:nvPr/>
        </p:nvCxnSpPr>
        <p:spPr>
          <a:xfrm>
            <a:off x="11088915" y="2403923"/>
            <a:ext cx="743857" cy="262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E0677DD-141A-4A51-908F-790CDA18C324}"/>
              </a:ext>
            </a:extLst>
          </p:cNvPr>
          <p:cNvCxnSpPr>
            <a:cxnSpLocks/>
          </p:cNvCxnSpPr>
          <p:nvPr/>
        </p:nvCxnSpPr>
        <p:spPr>
          <a:xfrm>
            <a:off x="8127999" y="3313716"/>
            <a:ext cx="0" cy="440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F7320D70-68CC-492C-B05A-2F4C703CBB7F}"/>
              </a:ext>
            </a:extLst>
          </p:cNvPr>
          <p:cNvCxnSpPr>
            <a:cxnSpLocks/>
          </p:cNvCxnSpPr>
          <p:nvPr/>
        </p:nvCxnSpPr>
        <p:spPr>
          <a:xfrm flipV="1">
            <a:off x="9872133" y="3215294"/>
            <a:ext cx="0" cy="539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4B3B855A-4322-4FBF-9A8C-EEFB8D62702A}"/>
              </a:ext>
            </a:extLst>
          </p:cNvPr>
          <p:cNvCxnSpPr>
            <a:cxnSpLocks/>
          </p:cNvCxnSpPr>
          <p:nvPr/>
        </p:nvCxnSpPr>
        <p:spPr>
          <a:xfrm>
            <a:off x="11407624" y="3239200"/>
            <a:ext cx="0" cy="49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CA7F7BB-4984-42D1-AF78-A72A6D2F48A1}"/>
              </a:ext>
            </a:extLst>
          </p:cNvPr>
          <p:cNvCxnSpPr>
            <a:cxnSpLocks/>
          </p:cNvCxnSpPr>
          <p:nvPr/>
        </p:nvCxnSpPr>
        <p:spPr>
          <a:xfrm>
            <a:off x="7825617" y="4006138"/>
            <a:ext cx="517677" cy="283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6988C3B2-0236-4575-B44D-E6078E5FF632}"/>
              </a:ext>
            </a:extLst>
          </p:cNvPr>
          <p:cNvCxnSpPr>
            <a:cxnSpLocks/>
          </p:cNvCxnSpPr>
          <p:nvPr/>
        </p:nvCxnSpPr>
        <p:spPr>
          <a:xfrm flipV="1">
            <a:off x="9622972" y="3877450"/>
            <a:ext cx="447524" cy="540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8193B309-2985-4E3F-B5F9-EC04A883BBC9}"/>
              </a:ext>
            </a:extLst>
          </p:cNvPr>
          <p:cNvCxnSpPr>
            <a:cxnSpLocks/>
          </p:cNvCxnSpPr>
          <p:nvPr/>
        </p:nvCxnSpPr>
        <p:spPr>
          <a:xfrm>
            <a:off x="11362570" y="3877450"/>
            <a:ext cx="196546" cy="460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EFF3A241-C612-40C0-8770-5E2702CD5058}"/>
              </a:ext>
            </a:extLst>
          </p:cNvPr>
          <p:cNvCxnSpPr>
            <a:cxnSpLocks/>
          </p:cNvCxnSpPr>
          <p:nvPr/>
        </p:nvCxnSpPr>
        <p:spPr>
          <a:xfrm flipV="1">
            <a:off x="8495695" y="4813905"/>
            <a:ext cx="556382" cy="228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CD11EA51-769F-4E10-95FE-289C539BB23E}"/>
              </a:ext>
            </a:extLst>
          </p:cNvPr>
          <p:cNvSpPr txBox="1"/>
          <p:nvPr/>
        </p:nvSpPr>
        <p:spPr>
          <a:xfrm>
            <a:off x="10614781" y="4289546"/>
            <a:ext cx="1763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(Ziehen wir nach Garching??) :)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EF23E336-0210-4DFF-861A-9E6947880A01}"/>
              </a:ext>
            </a:extLst>
          </p:cNvPr>
          <p:cNvCxnSpPr>
            <a:cxnSpLocks/>
          </p:cNvCxnSpPr>
          <p:nvPr/>
        </p:nvCxnSpPr>
        <p:spPr>
          <a:xfrm flipV="1">
            <a:off x="9554936" y="4844013"/>
            <a:ext cx="646793" cy="249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21A93EA-1D9B-43E5-9C32-EDDDEB9360E5}"/>
              </a:ext>
            </a:extLst>
          </p:cNvPr>
          <p:cNvCxnSpPr>
            <a:cxnSpLocks/>
          </p:cNvCxnSpPr>
          <p:nvPr/>
        </p:nvCxnSpPr>
        <p:spPr>
          <a:xfrm flipV="1">
            <a:off x="10623853" y="4729000"/>
            <a:ext cx="0" cy="479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BE061E06-EA7F-4C53-AB84-B7D22CB65101}"/>
              </a:ext>
            </a:extLst>
          </p:cNvPr>
          <p:cNvCxnSpPr>
            <a:cxnSpLocks/>
          </p:cNvCxnSpPr>
          <p:nvPr/>
        </p:nvCxnSpPr>
        <p:spPr>
          <a:xfrm flipV="1">
            <a:off x="7759094" y="5667825"/>
            <a:ext cx="612020" cy="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7A8DC74-D1CE-448E-8F2C-49B39EF8B68B}"/>
              </a:ext>
            </a:extLst>
          </p:cNvPr>
          <p:cNvCxnSpPr>
            <a:cxnSpLocks/>
          </p:cNvCxnSpPr>
          <p:nvPr/>
        </p:nvCxnSpPr>
        <p:spPr>
          <a:xfrm>
            <a:off x="9352038" y="5656783"/>
            <a:ext cx="718458" cy="1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5126D49-DF9E-4E99-B3E9-42E07092A99D}"/>
              </a:ext>
            </a:extLst>
          </p:cNvPr>
          <p:cNvCxnSpPr>
            <a:cxnSpLocks/>
          </p:cNvCxnSpPr>
          <p:nvPr/>
        </p:nvCxnSpPr>
        <p:spPr>
          <a:xfrm flipV="1">
            <a:off x="11460843" y="5355771"/>
            <a:ext cx="0" cy="482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60252B43-17CE-4F3E-A4A7-244269594FCB}"/>
              </a:ext>
            </a:extLst>
          </p:cNvPr>
          <p:cNvCxnSpPr>
            <a:cxnSpLocks/>
          </p:cNvCxnSpPr>
          <p:nvPr/>
        </p:nvCxnSpPr>
        <p:spPr>
          <a:xfrm flipV="1">
            <a:off x="7759094" y="6473771"/>
            <a:ext cx="612020" cy="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5540BA0C-1563-4949-977B-207C38D789AD}"/>
              </a:ext>
            </a:extLst>
          </p:cNvPr>
          <p:cNvCxnSpPr>
            <a:cxnSpLocks/>
          </p:cNvCxnSpPr>
          <p:nvPr/>
        </p:nvCxnSpPr>
        <p:spPr>
          <a:xfrm flipV="1">
            <a:off x="9405257" y="6469494"/>
            <a:ext cx="612020" cy="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F40C8352-F62B-41F6-BBE3-1AD22F81B630}"/>
              </a:ext>
            </a:extLst>
          </p:cNvPr>
          <p:cNvCxnSpPr>
            <a:cxnSpLocks/>
          </p:cNvCxnSpPr>
          <p:nvPr/>
        </p:nvCxnSpPr>
        <p:spPr>
          <a:xfrm flipV="1">
            <a:off x="11157860" y="6228204"/>
            <a:ext cx="566056" cy="247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F139328-F1D6-45A5-A2AF-4F791B9F69CC}"/>
              </a:ext>
            </a:extLst>
          </p:cNvPr>
          <p:cNvCxnSpPr>
            <a:cxnSpLocks/>
          </p:cNvCxnSpPr>
          <p:nvPr/>
        </p:nvCxnSpPr>
        <p:spPr>
          <a:xfrm>
            <a:off x="8088634" y="464147"/>
            <a:ext cx="0" cy="53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52DCD01-0C95-4400-8A84-032627357FF5}"/>
              </a:ext>
            </a:extLst>
          </p:cNvPr>
          <p:cNvCxnSpPr>
            <a:cxnSpLocks/>
          </p:cNvCxnSpPr>
          <p:nvPr/>
        </p:nvCxnSpPr>
        <p:spPr>
          <a:xfrm flipV="1">
            <a:off x="9719571" y="464147"/>
            <a:ext cx="0" cy="539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ECF81DA-2AB5-4196-A086-A5588D82CAB3}"/>
              </a:ext>
            </a:extLst>
          </p:cNvPr>
          <p:cNvCxnSpPr>
            <a:cxnSpLocks/>
          </p:cNvCxnSpPr>
          <p:nvPr/>
        </p:nvCxnSpPr>
        <p:spPr>
          <a:xfrm>
            <a:off x="11440888" y="497576"/>
            <a:ext cx="0" cy="538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935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D94D6269-7245-4909-8098-2C7741663628}"/>
              </a:ext>
            </a:extLst>
          </p:cNvPr>
          <p:cNvSpPr txBox="1"/>
          <p:nvPr/>
        </p:nvSpPr>
        <p:spPr>
          <a:xfrm>
            <a:off x="2607733" y="546705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Wo wollen wir hin?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9B1C854-43AE-42B3-8A32-B148F9DC8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257" y="311916"/>
            <a:ext cx="2316238" cy="231623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040B69D-308F-45EF-90F3-863E7AEA79F5}"/>
              </a:ext>
            </a:extLst>
          </p:cNvPr>
          <p:cNvSpPr txBox="1"/>
          <p:nvPr/>
        </p:nvSpPr>
        <p:spPr>
          <a:xfrm>
            <a:off x="1209524" y="1671189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Präsenzuni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4C7C800-BC68-4792-8ABB-F9AE42A38133}"/>
              </a:ext>
            </a:extLst>
          </p:cNvPr>
          <p:cNvSpPr txBox="1"/>
          <p:nvPr/>
        </p:nvSpPr>
        <p:spPr>
          <a:xfrm>
            <a:off x="5372704" y="1671188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Fernuni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1B991BC-75B3-40AA-ABB0-C147F6948206}"/>
              </a:ext>
            </a:extLst>
          </p:cNvPr>
          <p:cNvCxnSpPr>
            <a:endCxn id="5" idx="1"/>
          </p:cNvCxnSpPr>
          <p:nvPr/>
        </p:nvCxnSpPr>
        <p:spPr>
          <a:xfrm>
            <a:off x="2970590" y="1902020"/>
            <a:ext cx="240211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E956F90-12B1-4685-A8B1-840682A8EE6E}"/>
              </a:ext>
            </a:extLst>
          </p:cNvPr>
          <p:cNvCxnSpPr/>
          <p:nvPr/>
        </p:nvCxnSpPr>
        <p:spPr>
          <a:xfrm flipV="1">
            <a:off x="4373638" y="1983619"/>
            <a:ext cx="0" cy="687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0120E5A-61E8-4C80-A9DB-FE131D7423B6}"/>
              </a:ext>
            </a:extLst>
          </p:cNvPr>
          <p:cNvSpPr txBox="1"/>
          <p:nvPr/>
        </p:nvSpPr>
        <p:spPr>
          <a:xfrm>
            <a:off x="3611638" y="2670629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momentan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D3A28E-9B45-47A6-857A-4A06A56FD7EF}"/>
              </a:ext>
            </a:extLst>
          </p:cNvPr>
          <p:cNvSpPr txBox="1"/>
          <p:nvPr/>
        </p:nvSpPr>
        <p:spPr>
          <a:xfrm>
            <a:off x="1698171" y="3389086"/>
            <a:ext cx="6773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Unterrichtsqualität kann man beeinflussen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B10F5E0-F431-426B-A04C-027112DE4B24}"/>
              </a:ext>
            </a:extLst>
          </p:cNvPr>
          <p:cNvSpPr txBox="1"/>
          <p:nvPr/>
        </p:nvSpPr>
        <p:spPr>
          <a:xfrm>
            <a:off x="1744133" y="4069601"/>
            <a:ext cx="917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Anwesenheitspflicht, Arbeit, Verpflichtungen und Wohnort nicht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0F5FAB-8362-4446-A0BB-4E2188DC553B}"/>
              </a:ext>
            </a:extLst>
          </p:cNvPr>
          <p:cNvSpPr txBox="1"/>
          <p:nvPr/>
        </p:nvSpPr>
        <p:spPr>
          <a:xfrm>
            <a:off x="341087" y="5211783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Sture Präsenzuni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CD6A30-CEF8-40CB-8621-01A42839843B}"/>
              </a:ext>
            </a:extLst>
          </p:cNvPr>
          <p:cNvSpPr txBox="1"/>
          <p:nvPr/>
        </p:nvSpPr>
        <p:spPr>
          <a:xfrm>
            <a:off x="5372704" y="5211782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Entgegenkommen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A4CBD46-4658-401A-9352-C440FECD4371}"/>
              </a:ext>
            </a:extLst>
          </p:cNvPr>
          <p:cNvCxnSpPr>
            <a:endCxn id="15" idx="1"/>
          </p:cNvCxnSpPr>
          <p:nvPr/>
        </p:nvCxnSpPr>
        <p:spPr>
          <a:xfrm>
            <a:off x="2970590" y="5442614"/>
            <a:ext cx="240211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A697D248-7D55-4E09-B22A-77CAEA514A2C}"/>
              </a:ext>
            </a:extLst>
          </p:cNvPr>
          <p:cNvSpPr txBox="1"/>
          <p:nvPr/>
        </p:nvSpPr>
        <p:spPr>
          <a:xfrm>
            <a:off x="4838" y="5624043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Keine Aufzeichnungen/Skript/ Hilfsmittel bei Klausur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5F61D06-E249-41F2-8349-254BED2754BC}"/>
              </a:ext>
            </a:extLst>
          </p:cNvPr>
          <p:cNvSpPr txBox="1"/>
          <p:nvPr/>
        </p:nvSpPr>
        <p:spPr>
          <a:xfrm>
            <a:off x="5169505" y="5624042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Live &amp; Aufzeichnungen, Skript, Hilfsmittel bei Klausur</a:t>
            </a:r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5C4A110B-BBA1-48A4-AC5C-E7FB8BB6EAA6}"/>
              </a:ext>
            </a:extLst>
          </p:cNvPr>
          <p:cNvSpPr/>
          <p:nvPr/>
        </p:nvSpPr>
        <p:spPr>
          <a:xfrm rot="12533163">
            <a:off x="8091055" y="5116945"/>
            <a:ext cx="517236" cy="452627"/>
          </a:xfrm>
          <a:custGeom>
            <a:avLst/>
            <a:gdLst>
              <a:gd name="connsiteX0" fmla="*/ 0 w 517236"/>
              <a:gd name="connsiteY0" fmla="*/ 184728 h 452627"/>
              <a:gd name="connsiteX1" fmla="*/ 36945 w 517236"/>
              <a:gd name="connsiteY1" fmla="*/ 110837 h 452627"/>
              <a:gd name="connsiteX2" fmla="*/ 83127 w 517236"/>
              <a:gd name="connsiteY2" fmla="*/ 55419 h 452627"/>
              <a:gd name="connsiteX3" fmla="*/ 138545 w 517236"/>
              <a:gd name="connsiteY3" fmla="*/ 18473 h 452627"/>
              <a:gd name="connsiteX4" fmla="*/ 166254 w 517236"/>
              <a:gd name="connsiteY4" fmla="*/ 0 h 452627"/>
              <a:gd name="connsiteX5" fmla="*/ 387927 w 517236"/>
              <a:gd name="connsiteY5" fmla="*/ 18473 h 452627"/>
              <a:gd name="connsiteX6" fmla="*/ 424872 w 517236"/>
              <a:gd name="connsiteY6" fmla="*/ 27710 h 452627"/>
              <a:gd name="connsiteX7" fmla="*/ 471054 w 517236"/>
              <a:gd name="connsiteY7" fmla="*/ 36946 h 452627"/>
              <a:gd name="connsiteX8" fmla="*/ 489527 w 517236"/>
              <a:gd name="connsiteY8" fmla="*/ 64655 h 452627"/>
              <a:gd name="connsiteX9" fmla="*/ 498763 w 517236"/>
              <a:gd name="connsiteY9" fmla="*/ 92364 h 452627"/>
              <a:gd name="connsiteX10" fmla="*/ 517236 w 517236"/>
              <a:gd name="connsiteY10" fmla="*/ 138546 h 452627"/>
              <a:gd name="connsiteX11" fmla="*/ 480290 w 517236"/>
              <a:gd name="connsiteY11" fmla="*/ 341746 h 452627"/>
              <a:gd name="connsiteX12" fmla="*/ 452581 w 517236"/>
              <a:gd name="connsiteY12" fmla="*/ 369455 h 452627"/>
              <a:gd name="connsiteX13" fmla="*/ 415636 w 517236"/>
              <a:gd name="connsiteY13" fmla="*/ 397164 h 452627"/>
              <a:gd name="connsiteX14" fmla="*/ 360218 w 517236"/>
              <a:gd name="connsiteY14" fmla="*/ 424873 h 452627"/>
              <a:gd name="connsiteX15" fmla="*/ 332509 w 517236"/>
              <a:gd name="connsiteY15" fmla="*/ 443346 h 452627"/>
              <a:gd name="connsiteX16" fmla="*/ 203200 w 517236"/>
              <a:gd name="connsiteY16" fmla="*/ 443346 h 452627"/>
              <a:gd name="connsiteX17" fmla="*/ 166254 w 517236"/>
              <a:gd name="connsiteY17" fmla="*/ 434110 h 452627"/>
              <a:gd name="connsiteX18" fmla="*/ 110836 w 517236"/>
              <a:gd name="connsiteY18" fmla="*/ 415637 h 452627"/>
              <a:gd name="connsiteX19" fmla="*/ 55418 w 517236"/>
              <a:gd name="connsiteY19" fmla="*/ 378691 h 452627"/>
              <a:gd name="connsiteX20" fmla="*/ 27709 w 517236"/>
              <a:gd name="connsiteY20" fmla="*/ 360219 h 452627"/>
              <a:gd name="connsiteX21" fmla="*/ 9236 w 517236"/>
              <a:gd name="connsiteY21" fmla="*/ 314037 h 45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7236" h="452627">
                <a:moveTo>
                  <a:pt x="0" y="184728"/>
                </a:moveTo>
                <a:cubicBezTo>
                  <a:pt x="18461" y="92420"/>
                  <a:pt x="-7409" y="177368"/>
                  <a:pt x="36945" y="110837"/>
                </a:cubicBezTo>
                <a:cubicBezTo>
                  <a:pt x="75727" y="52663"/>
                  <a:pt x="-628" y="114048"/>
                  <a:pt x="83127" y="55419"/>
                </a:cubicBezTo>
                <a:cubicBezTo>
                  <a:pt x="101315" y="42687"/>
                  <a:pt x="120072" y="30788"/>
                  <a:pt x="138545" y="18473"/>
                </a:cubicBezTo>
                <a:lnTo>
                  <a:pt x="166254" y="0"/>
                </a:lnTo>
                <a:cubicBezTo>
                  <a:pt x="227513" y="4084"/>
                  <a:pt x="322108" y="8347"/>
                  <a:pt x="387927" y="18473"/>
                </a:cubicBezTo>
                <a:cubicBezTo>
                  <a:pt x="400473" y="20403"/>
                  <a:pt x="412480" y="24956"/>
                  <a:pt x="424872" y="27710"/>
                </a:cubicBezTo>
                <a:cubicBezTo>
                  <a:pt x="440197" y="31116"/>
                  <a:pt x="455660" y="33867"/>
                  <a:pt x="471054" y="36946"/>
                </a:cubicBezTo>
                <a:cubicBezTo>
                  <a:pt x="477212" y="46182"/>
                  <a:pt x="484563" y="54726"/>
                  <a:pt x="489527" y="64655"/>
                </a:cubicBezTo>
                <a:cubicBezTo>
                  <a:pt x="493881" y="73363"/>
                  <a:pt x="495345" y="83248"/>
                  <a:pt x="498763" y="92364"/>
                </a:cubicBezTo>
                <a:cubicBezTo>
                  <a:pt x="504585" y="107888"/>
                  <a:pt x="511078" y="123152"/>
                  <a:pt x="517236" y="138546"/>
                </a:cubicBezTo>
                <a:cubicBezTo>
                  <a:pt x="511121" y="193581"/>
                  <a:pt x="520272" y="285771"/>
                  <a:pt x="480290" y="341746"/>
                </a:cubicBezTo>
                <a:cubicBezTo>
                  <a:pt x="472698" y="352375"/>
                  <a:pt x="462499" y="360954"/>
                  <a:pt x="452581" y="369455"/>
                </a:cubicBezTo>
                <a:cubicBezTo>
                  <a:pt x="440893" y="379473"/>
                  <a:pt x="428162" y="388216"/>
                  <a:pt x="415636" y="397164"/>
                </a:cubicBezTo>
                <a:cubicBezTo>
                  <a:pt x="384302" y="419546"/>
                  <a:pt x="394533" y="413435"/>
                  <a:pt x="360218" y="424873"/>
                </a:cubicBezTo>
                <a:cubicBezTo>
                  <a:pt x="350982" y="431031"/>
                  <a:pt x="342903" y="439448"/>
                  <a:pt x="332509" y="443346"/>
                </a:cubicBezTo>
                <a:cubicBezTo>
                  <a:pt x="285457" y="460990"/>
                  <a:pt x="254924" y="449093"/>
                  <a:pt x="203200" y="443346"/>
                </a:cubicBezTo>
                <a:cubicBezTo>
                  <a:pt x="190885" y="440267"/>
                  <a:pt x="178413" y="437758"/>
                  <a:pt x="166254" y="434110"/>
                </a:cubicBezTo>
                <a:cubicBezTo>
                  <a:pt x="147603" y="428515"/>
                  <a:pt x="110836" y="415637"/>
                  <a:pt x="110836" y="415637"/>
                </a:cubicBezTo>
                <a:lnTo>
                  <a:pt x="55418" y="378691"/>
                </a:lnTo>
                <a:lnTo>
                  <a:pt x="27709" y="360219"/>
                </a:lnTo>
                <a:cubicBezTo>
                  <a:pt x="16295" y="325979"/>
                  <a:pt x="22826" y="341218"/>
                  <a:pt x="9236" y="31403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2137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8B0F5FAB-8362-4446-A0BB-4E2188DC553B}"/>
              </a:ext>
            </a:extLst>
          </p:cNvPr>
          <p:cNvSpPr txBox="1"/>
          <p:nvPr/>
        </p:nvSpPr>
        <p:spPr>
          <a:xfrm>
            <a:off x="341087" y="5211783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Sture Präsenzuni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CD6A30-CEF8-40CB-8621-01A42839843B}"/>
              </a:ext>
            </a:extLst>
          </p:cNvPr>
          <p:cNvSpPr txBox="1"/>
          <p:nvPr/>
        </p:nvSpPr>
        <p:spPr>
          <a:xfrm>
            <a:off x="5372704" y="5211782"/>
            <a:ext cx="361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Entgegenkommen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A4CBD46-4658-401A-9352-C440FECD4371}"/>
              </a:ext>
            </a:extLst>
          </p:cNvPr>
          <p:cNvCxnSpPr>
            <a:endCxn id="15" idx="1"/>
          </p:cNvCxnSpPr>
          <p:nvPr/>
        </p:nvCxnSpPr>
        <p:spPr>
          <a:xfrm>
            <a:off x="2970590" y="5442614"/>
            <a:ext cx="240211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A697D248-7D55-4E09-B22A-77CAEA514A2C}"/>
              </a:ext>
            </a:extLst>
          </p:cNvPr>
          <p:cNvSpPr txBox="1"/>
          <p:nvPr/>
        </p:nvSpPr>
        <p:spPr>
          <a:xfrm>
            <a:off x="4838" y="5624043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Keine Aufzeichnungen/Skript/ Hilfsmittel bei Klausur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5F61D06-E249-41F2-8349-254BED2754BC}"/>
              </a:ext>
            </a:extLst>
          </p:cNvPr>
          <p:cNvSpPr txBox="1"/>
          <p:nvPr/>
        </p:nvSpPr>
        <p:spPr>
          <a:xfrm>
            <a:off x="5169505" y="5624042"/>
            <a:ext cx="45913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Live &amp; Aufzeichnungen, Skript, Hilfsmittel bei Klausur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41097B9-03E3-410A-B191-55F99399C979}"/>
              </a:ext>
            </a:extLst>
          </p:cNvPr>
          <p:cNvSpPr txBox="1"/>
          <p:nvPr/>
        </p:nvSpPr>
        <p:spPr>
          <a:xfrm>
            <a:off x="926495" y="4199357"/>
            <a:ext cx="671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sweet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spot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444553E-B6F2-4203-87CA-9684CD90DF76}"/>
              </a:ext>
            </a:extLst>
          </p:cNvPr>
          <p:cNvSpPr txBox="1"/>
          <p:nvPr/>
        </p:nvSpPr>
        <p:spPr>
          <a:xfrm>
            <a:off x="1076476" y="2828835"/>
            <a:ext cx="6710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Ist ein Entgegenkommen bei gleichzeitiger Aufrechterhaltung ordentlicher Anwesenheitsquoten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möglich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5360F6-8B26-4188-85A4-6B864040B87C}"/>
              </a:ext>
            </a:extLst>
          </p:cNvPr>
          <p:cNvSpPr txBox="1"/>
          <p:nvPr/>
        </p:nvSpPr>
        <p:spPr>
          <a:xfrm>
            <a:off x="3318933" y="584388"/>
            <a:ext cx="9071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Wie wichtig ist euch die Anwesenheit der Studierenden?</a:t>
            </a:r>
          </a:p>
          <a:p>
            <a:pPr algn="ctr"/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Wie kann diese gefördert werden?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B40DB66-7152-4B14-BE1A-2B8BFA9CAF7A}"/>
              </a:ext>
            </a:extLst>
          </p:cNvPr>
          <p:cNvSpPr txBox="1"/>
          <p:nvPr/>
        </p:nvSpPr>
        <p:spPr>
          <a:xfrm>
            <a:off x="115522" y="2033812"/>
            <a:ext cx="9645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Gründe für Wichtigkeit der Anwesenheit? (z.B. „ich mag das“; Wettbewerb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ggü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Privat-Fernunis, z.B. Teilzeit- und Fernstudium)</a:t>
            </a:r>
          </a:p>
        </p:txBody>
      </p:sp>
    </p:spTree>
    <p:extLst>
      <p:ext uri="{BB962C8B-B14F-4D97-AF65-F5344CB8AC3E}">
        <p14:creationId xmlns:p14="http://schemas.microsoft.com/office/powerpoint/2010/main" val="373015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Breitbild</PresentationFormat>
  <Paragraphs>146</Paragraphs>
  <Slides>10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</vt:lpstr>
      <vt:lpstr>Präsenzuni &lt;-&gt; Fernuni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Präsenzuni &lt;-&gt; Fernuni</dc:title>
  <dc:creator>Peter Edelsbrunner</dc:creator>
  <cp:lastModifiedBy>Peter Edelsbrunner</cp:lastModifiedBy>
  <cp:revision>68</cp:revision>
  <dcterms:created xsi:type="dcterms:W3CDTF">2026-02-16T19:23:33Z</dcterms:created>
  <dcterms:modified xsi:type="dcterms:W3CDTF">2026-06-15T08:28:45Z</dcterms:modified>
</cp:coreProperties>
</file>