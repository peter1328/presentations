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5"/>
  </p:notesMasterIdLst>
  <p:sldIdLst>
    <p:sldId id="282" r:id="rId3"/>
    <p:sldId id="563" r:id="rId4"/>
    <p:sldId id="582" r:id="rId5"/>
    <p:sldId id="583" r:id="rId6"/>
    <p:sldId id="564" r:id="rId7"/>
    <p:sldId id="579" r:id="rId8"/>
    <p:sldId id="292" r:id="rId9"/>
    <p:sldId id="568" r:id="rId10"/>
    <p:sldId id="569" r:id="rId11"/>
    <p:sldId id="571" r:id="rId12"/>
    <p:sldId id="573" r:id="rId13"/>
    <p:sldId id="570" r:id="rId14"/>
    <p:sldId id="574" r:id="rId15"/>
    <p:sldId id="577" r:id="rId16"/>
    <p:sldId id="575" r:id="rId17"/>
    <p:sldId id="581" r:id="rId18"/>
    <p:sldId id="576" r:id="rId19"/>
    <p:sldId id="584" r:id="rId20"/>
    <p:sldId id="586" r:id="rId21"/>
    <p:sldId id="587" r:id="rId22"/>
    <p:sldId id="589" r:id="rId23"/>
    <p:sldId id="590" r:id="rId24"/>
    <p:sldId id="591" r:id="rId25"/>
    <p:sldId id="592" r:id="rId26"/>
    <p:sldId id="593" r:id="rId27"/>
    <p:sldId id="599" r:id="rId28"/>
    <p:sldId id="603" r:id="rId29"/>
    <p:sldId id="604" r:id="rId30"/>
    <p:sldId id="605" r:id="rId31"/>
    <p:sldId id="595" r:id="rId32"/>
    <p:sldId id="596" r:id="rId33"/>
    <p:sldId id="597" r:id="rId34"/>
    <p:sldId id="600" r:id="rId35"/>
    <p:sldId id="598" r:id="rId36"/>
    <p:sldId id="601" r:id="rId37"/>
    <p:sldId id="606" r:id="rId38"/>
    <p:sldId id="607" r:id="rId39"/>
    <p:sldId id="609" r:id="rId40"/>
    <p:sldId id="610" r:id="rId41"/>
    <p:sldId id="612" r:id="rId42"/>
    <p:sldId id="613" r:id="rId43"/>
    <p:sldId id="614" r:id="rId44"/>
    <p:sldId id="611" r:id="rId45"/>
    <p:sldId id="616" r:id="rId46"/>
    <p:sldId id="619" r:id="rId47"/>
    <p:sldId id="620" r:id="rId48"/>
    <p:sldId id="617" r:id="rId49"/>
    <p:sldId id="618" r:id="rId50"/>
    <p:sldId id="621" r:id="rId51"/>
    <p:sldId id="594" r:id="rId52"/>
    <p:sldId id="608" r:id="rId53"/>
    <p:sldId id="615" r:id="rId54"/>
    <p:sldId id="572" r:id="rId55"/>
    <p:sldId id="567" r:id="rId56"/>
    <p:sldId id="566" r:id="rId57"/>
    <p:sldId id="565" r:id="rId58"/>
    <p:sldId id="291" r:id="rId59"/>
    <p:sldId id="290" r:id="rId60"/>
    <p:sldId id="578" r:id="rId61"/>
    <p:sldId id="289" r:id="rId62"/>
    <p:sldId id="283" r:id="rId63"/>
    <p:sldId id="284" r:id="rId64"/>
    <p:sldId id="288" r:id="rId65"/>
    <p:sldId id="285" r:id="rId66"/>
    <p:sldId id="286" r:id="rId67"/>
    <p:sldId id="287" r:id="rId68"/>
    <p:sldId id="276" r:id="rId69"/>
    <p:sldId id="280" r:id="rId70"/>
    <p:sldId id="281" r:id="rId71"/>
    <p:sldId id="277" r:id="rId72"/>
    <p:sldId id="278" r:id="rId73"/>
    <p:sldId id="274" r:id="rId74"/>
    <p:sldId id="275" r:id="rId75"/>
    <p:sldId id="271" r:id="rId76"/>
    <p:sldId id="272" r:id="rId77"/>
    <p:sldId id="273" r:id="rId78"/>
    <p:sldId id="269" r:id="rId79"/>
    <p:sldId id="256" r:id="rId80"/>
    <p:sldId id="266" r:id="rId81"/>
    <p:sldId id="268" r:id="rId82"/>
    <p:sldId id="265" r:id="rId83"/>
    <p:sldId id="264" r:id="rId84"/>
    <p:sldId id="267" r:id="rId85"/>
    <p:sldId id="270" r:id="rId86"/>
    <p:sldId id="257" r:id="rId87"/>
    <p:sldId id="263" r:id="rId88"/>
    <p:sldId id="262" r:id="rId89"/>
    <p:sldId id="259" r:id="rId90"/>
    <p:sldId id="260" r:id="rId91"/>
    <p:sldId id="261" r:id="rId92"/>
    <p:sldId id="279" r:id="rId93"/>
    <p:sldId id="258"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5" autoAdjust="0"/>
    <p:restoredTop sz="73474" autoAdjust="0"/>
  </p:normalViewPr>
  <p:slideViewPr>
    <p:cSldViewPr snapToGrid="0">
      <p:cViewPr>
        <p:scale>
          <a:sx n="75" d="100"/>
          <a:sy n="75" d="100"/>
        </p:scale>
        <p:origin x="43" y="-67"/>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03893-562D-436A-A187-CF6C5987BB4D}" type="datetimeFigureOut">
              <a:rPr lang="de-DE" smtClean="0"/>
              <a:t>18.08.2026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3851DE-F466-402D-BCCE-A21736686A05}" type="slidenum">
              <a:rPr lang="de-DE" smtClean="0"/>
              <a:t>‹Nr.›</a:t>
            </a:fld>
            <a:endParaRPr lang="de-DE"/>
          </a:p>
        </p:txBody>
      </p:sp>
    </p:spTree>
    <p:extLst>
      <p:ext uri="{BB962C8B-B14F-4D97-AF65-F5344CB8AC3E}">
        <p14:creationId xmlns:p14="http://schemas.microsoft.com/office/powerpoint/2010/main" val="258475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Xxx</a:t>
            </a:r>
            <a:r>
              <a:rPr lang="de-DE" dirty="0"/>
              <a:t>, </a:t>
            </a:r>
            <a:r>
              <a:rPr lang="de-DE" dirty="0" err="1"/>
              <a:t>welcome</a:t>
            </a:r>
            <a:r>
              <a:rPr lang="de-DE" dirty="0"/>
              <a:t>!</a:t>
            </a:r>
          </a:p>
          <a:p>
            <a:endParaRPr lang="de-DE" dirty="0"/>
          </a:p>
          <a:p>
            <a:r>
              <a:rPr lang="de-DE" dirty="0"/>
              <a:t>In </a:t>
            </a:r>
            <a:r>
              <a:rPr lang="de-DE" dirty="0" err="1"/>
              <a:t>the</a:t>
            </a:r>
            <a:r>
              <a:rPr lang="de-DE" dirty="0"/>
              <a:t> </a:t>
            </a:r>
            <a:r>
              <a:rPr lang="de-DE" dirty="0" err="1"/>
              <a:t>begining</a:t>
            </a:r>
            <a:r>
              <a:rPr lang="de-DE" dirty="0"/>
              <a:t> </a:t>
            </a:r>
            <a:r>
              <a:rPr lang="de-DE" dirty="0" err="1"/>
              <a:t>of</a:t>
            </a:r>
            <a:r>
              <a:rPr lang="de-DE" dirty="0"/>
              <a:t> </a:t>
            </a:r>
            <a:r>
              <a:rPr lang="de-DE" dirty="0" err="1"/>
              <a:t>my</a:t>
            </a:r>
            <a:r>
              <a:rPr lang="de-DE" dirty="0"/>
              <a:t> PhD, </a:t>
            </a:r>
            <a:r>
              <a:rPr lang="de-DE" dirty="0" err="1"/>
              <a:t>there</a:t>
            </a:r>
            <a:r>
              <a:rPr lang="de-DE" dirty="0"/>
              <a:t> was an </a:t>
            </a:r>
            <a:r>
              <a:rPr lang="de-DE" dirty="0" err="1"/>
              <a:t>epic</a:t>
            </a:r>
            <a:r>
              <a:rPr lang="de-DE" dirty="0"/>
              <a:t> battle in </a:t>
            </a:r>
            <a:r>
              <a:rPr lang="de-DE" dirty="0" err="1"/>
              <a:t>conceptual</a:t>
            </a:r>
            <a:r>
              <a:rPr lang="de-DE" dirty="0"/>
              <a:t> </a:t>
            </a:r>
            <a:r>
              <a:rPr lang="de-DE" dirty="0" err="1"/>
              <a:t>change</a:t>
            </a:r>
            <a:r>
              <a:rPr lang="de-DE" dirty="0"/>
              <a:t> </a:t>
            </a:r>
            <a:r>
              <a:rPr lang="de-DE" dirty="0" err="1"/>
              <a:t>research</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1</a:t>
            </a:fld>
            <a:endParaRPr lang="de-DE"/>
          </a:p>
        </p:txBody>
      </p:sp>
    </p:spTree>
    <p:extLst>
      <p:ext uri="{BB962C8B-B14F-4D97-AF65-F5344CB8AC3E}">
        <p14:creationId xmlns:p14="http://schemas.microsoft.com/office/powerpoint/2010/main" val="497316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Imagine a </a:t>
            </a:r>
            <a:r>
              <a:rPr lang="de-DE" dirty="0" err="1"/>
              <a:t>child</a:t>
            </a:r>
            <a:r>
              <a:rPr lang="de-DE" dirty="0"/>
              <a:t> </a:t>
            </a:r>
            <a:r>
              <a:rPr lang="de-DE" dirty="0" err="1"/>
              <a:t>experiencing</a:t>
            </a:r>
            <a:r>
              <a:rPr lang="de-DE" dirty="0"/>
              <a:t> a </a:t>
            </a:r>
            <a:r>
              <a:rPr lang="de-DE" dirty="0" err="1"/>
              <a:t>natural</a:t>
            </a:r>
            <a:r>
              <a:rPr lang="de-DE" dirty="0"/>
              <a:t> </a:t>
            </a:r>
            <a:r>
              <a:rPr lang="de-DE" dirty="0" err="1"/>
              <a:t>phenomenon</a:t>
            </a:r>
            <a:r>
              <a:rPr lang="de-DE" dirty="0"/>
              <a:t>, such </a:t>
            </a:r>
            <a:r>
              <a:rPr lang="de-DE" dirty="0" err="1"/>
              <a:t>as</a:t>
            </a:r>
            <a:r>
              <a:rPr lang="de-DE" dirty="0"/>
              <a:t> a </a:t>
            </a:r>
            <a:r>
              <a:rPr lang="de-DE" dirty="0" err="1"/>
              <a:t>stone</a:t>
            </a:r>
            <a:r>
              <a:rPr lang="de-DE" dirty="0"/>
              <a:t> </a:t>
            </a:r>
            <a:r>
              <a:rPr lang="de-DE" dirty="0" err="1"/>
              <a:t>cube</a:t>
            </a:r>
            <a:r>
              <a:rPr lang="de-DE" dirty="0"/>
              <a:t> </a:t>
            </a:r>
            <a:r>
              <a:rPr lang="de-DE" dirty="0" err="1"/>
              <a:t>sinking</a:t>
            </a:r>
            <a:r>
              <a:rPr lang="de-DE" dirty="0"/>
              <a:t> in </a:t>
            </a:r>
            <a:r>
              <a:rPr lang="de-DE" dirty="0" err="1"/>
              <a:t>water</a:t>
            </a:r>
            <a:r>
              <a:rPr lang="de-DE" dirty="0"/>
              <a:t> but a </a:t>
            </a:r>
            <a:r>
              <a:rPr lang="de-DE" dirty="0" err="1"/>
              <a:t>wooden</a:t>
            </a:r>
            <a:r>
              <a:rPr lang="de-DE" dirty="0"/>
              <a:t> </a:t>
            </a:r>
            <a:r>
              <a:rPr lang="de-DE" dirty="0" err="1"/>
              <a:t>cube</a:t>
            </a:r>
            <a:r>
              <a:rPr lang="de-DE" dirty="0"/>
              <a:t> not, </a:t>
            </a:r>
            <a:r>
              <a:rPr lang="de-DE" dirty="0" err="1"/>
              <a:t>the</a:t>
            </a:r>
            <a:r>
              <a:rPr lang="de-DE" dirty="0"/>
              <a:t> </a:t>
            </a:r>
            <a:r>
              <a:rPr lang="de-DE" dirty="0" err="1"/>
              <a:t>sun</a:t>
            </a:r>
            <a:r>
              <a:rPr lang="de-DE" dirty="0"/>
              <a:t> </a:t>
            </a:r>
            <a:r>
              <a:rPr lang="de-DE" dirty="0" err="1"/>
              <a:t>rising</a:t>
            </a:r>
            <a:r>
              <a:rPr lang="de-DE" dirty="0"/>
              <a:t>, </a:t>
            </a:r>
            <a:r>
              <a:rPr lang="de-DE" dirty="0" err="1"/>
              <a:t>or</a:t>
            </a:r>
            <a:r>
              <a:rPr lang="de-DE" dirty="0"/>
              <a:t> a </a:t>
            </a:r>
            <a:r>
              <a:rPr lang="de-DE" dirty="0" err="1"/>
              <a:t>blanket</a:t>
            </a:r>
            <a:r>
              <a:rPr lang="de-DE" dirty="0"/>
              <a:t> </a:t>
            </a:r>
            <a:r>
              <a:rPr lang="de-DE" dirty="0" err="1"/>
              <a:t>keeping</a:t>
            </a:r>
            <a:r>
              <a:rPr lang="de-DE" dirty="0"/>
              <a:t> </a:t>
            </a:r>
            <a:r>
              <a:rPr lang="de-DE" dirty="0" err="1"/>
              <a:t>you</a:t>
            </a:r>
            <a:r>
              <a:rPr lang="de-DE" dirty="0"/>
              <a:t> warm.</a:t>
            </a:r>
          </a:p>
          <a:p>
            <a:r>
              <a:rPr lang="de-DE" dirty="0" err="1"/>
              <a:t>When</a:t>
            </a:r>
            <a:r>
              <a:rPr lang="de-DE" dirty="0"/>
              <a:t> a </a:t>
            </a:r>
            <a:r>
              <a:rPr lang="de-DE" dirty="0" err="1"/>
              <a:t>child</a:t>
            </a:r>
            <a:r>
              <a:rPr lang="de-DE" dirty="0"/>
              <a:t> </a:t>
            </a:r>
            <a:r>
              <a:rPr lang="de-DE" dirty="0" err="1"/>
              <a:t>tries</a:t>
            </a:r>
            <a:r>
              <a:rPr lang="de-DE" dirty="0"/>
              <a:t> </a:t>
            </a:r>
            <a:r>
              <a:rPr lang="de-DE" dirty="0" err="1"/>
              <a:t>to</a:t>
            </a:r>
            <a:r>
              <a:rPr lang="de-DE" dirty="0"/>
              <a:t> </a:t>
            </a:r>
            <a:r>
              <a:rPr lang="de-DE" dirty="0" err="1"/>
              <a:t>explain</a:t>
            </a:r>
            <a:r>
              <a:rPr lang="de-DE" dirty="0"/>
              <a:t> </a:t>
            </a:r>
            <a:r>
              <a:rPr lang="de-DE" dirty="0" err="1"/>
              <a:t>these</a:t>
            </a:r>
            <a:r>
              <a:rPr lang="de-DE" dirty="0"/>
              <a:t> </a:t>
            </a:r>
            <a:r>
              <a:rPr lang="de-DE" dirty="0" err="1"/>
              <a:t>phenomena</a:t>
            </a:r>
            <a:r>
              <a:rPr lang="de-DE" dirty="0"/>
              <a:t>, </a:t>
            </a:r>
            <a:r>
              <a:rPr lang="de-DE" dirty="0" err="1"/>
              <a:t>what</a:t>
            </a:r>
            <a:r>
              <a:rPr lang="de-DE" dirty="0"/>
              <a:t> </a:t>
            </a:r>
            <a:r>
              <a:rPr lang="de-DE" dirty="0" err="1"/>
              <a:t>does</a:t>
            </a:r>
            <a:r>
              <a:rPr lang="de-DE" dirty="0"/>
              <a:t> </a:t>
            </a:r>
            <a:r>
              <a:rPr lang="de-DE" dirty="0" err="1"/>
              <a:t>the</a:t>
            </a:r>
            <a:r>
              <a:rPr lang="de-DE" dirty="0"/>
              <a:t> </a:t>
            </a:r>
            <a:r>
              <a:rPr lang="de-DE" dirty="0" err="1"/>
              <a:t>resulting</a:t>
            </a:r>
            <a:r>
              <a:rPr lang="de-DE" dirty="0"/>
              <a:t> intuitive </a:t>
            </a:r>
            <a:r>
              <a:rPr lang="de-DE" dirty="0" err="1"/>
              <a:t>knowledge</a:t>
            </a:r>
            <a:r>
              <a:rPr lang="de-DE" dirty="0"/>
              <a:t> </a:t>
            </a:r>
            <a:r>
              <a:rPr lang="de-DE" dirty="0" err="1"/>
              <a:t>look</a:t>
            </a:r>
            <a:r>
              <a:rPr lang="de-DE" dirty="0"/>
              <a:t> like?</a:t>
            </a:r>
          </a:p>
          <a:p>
            <a:r>
              <a:rPr lang="de-DE" dirty="0" err="1"/>
              <a:t>One</a:t>
            </a:r>
            <a:r>
              <a:rPr lang="de-DE" dirty="0"/>
              <a:t> </a:t>
            </a:r>
            <a:r>
              <a:rPr lang="de-DE" dirty="0" err="1"/>
              <a:t>major</a:t>
            </a:r>
            <a:r>
              <a:rPr lang="de-DE" dirty="0"/>
              <a:t> </a:t>
            </a:r>
            <a:r>
              <a:rPr lang="de-DE" dirty="0" err="1"/>
              <a:t>theory</a:t>
            </a:r>
            <a:r>
              <a:rPr lang="de-DE" dirty="0"/>
              <a:t>, </a:t>
            </a:r>
            <a:r>
              <a:rPr lang="de-DE" dirty="0" err="1"/>
              <a:t>by</a:t>
            </a:r>
            <a:r>
              <a:rPr lang="de-DE" dirty="0"/>
              <a:t> Stella Vosniadou </a:t>
            </a:r>
            <a:r>
              <a:rPr lang="de-DE" dirty="0" err="1"/>
              <a:t>says</a:t>
            </a:r>
            <a:r>
              <a:rPr lang="de-DE" dirty="0"/>
              <a:t> </a:t>
            </a:r>
            <a:r>
              <a:rPr lang="de-DE" dirty="0" err="1"/>
              <a:t>that</a:t>
            </a:r>
            <a:r>
              <a:rPr lang="de-DE" dirty="0"/>
              <a:t> </a:t>
            </a:r>
            <a:r>
              <a:rPr lang="de-DE" dirty="0" err="1"/>
              <a:t>children`s</a:t>
            </a:r>
            <a:r>
              <a:rPr lang="de-DE" dirty="0"/>
              <a:t> intuitive </a:t>
            </a:r>
            <a:r>
              <a:rPr lang="de-DE" dirty="0" err="1"/>
              <a:t>knowledge</a:t>
            </a:r>
            <a:r>
              <a:rPr lang="de-DE" dirty="0"/>
              <a:t> </a:t>
            </a:r>
            <a:r>
              <a:rPr lang="de-DE" dirty="0" err="1"/>
              <a:t>is</a:t>
            </a:r>
            <a:r>
              <a:rPr lang="de-DE" dirty="0"/>
              <a:t> </a:t>
            </a:r>
            <a:r>
              <a:rPr lang="de-DE" dirty="0" err="1"/>
              <a:t>structured</a:t>
            </a:r>
            <a:r>
              <a:rPr lang="de-DE" dirty="0"/>
              <a:t> like a </a:t>
            </a:r>
            <a:r>
              <a:rPr lang="de-DE" dirty="0" err="1"/>
              <a:t>rudimentary</a:t>
            </a:r>
            <a:r>
              <a:rPr lang="de-DE" dirty="0"/>
              <a:t> </a:t>
            </a:r>
            <a:r>
              <a:rPr lang="de-DE" dirty="0" err="1"/>
              <a:t>yet</a:t>
            </a:r>
            <a:r>
              <a:rPr lang="de-DE" dirty="0"/>
              <a:t> </a:t>
            </a:r>
            <a:r>
              <a:rPr lang="de-DE" dirty="0" err="1"/>
              <a:t>coherent</a:t>
            </a:r>
            <a:r>
              <a:rPr lang="de-DE" dirty="0"/>
              <a:t> </a:t>
            </a:r>
            <a:r>
              <a:rPr lang="de-DE" dirty="0" err="1"/>
              <a:t>theory</a:t>
            </a:r>
            <a:r>
              <a:rPr lang="de-DE" dirty="0"/>
              <a:t> </a:t>
            </a:r>
            <a:r>
              <a:rPr lang="de-DE" dirty="0" err="1"/>
              <a:t>about</a:t>
            </a:r>
            <a:r>
              <a:rPr lang="de-DE" dirty="0"/>
              <a:t> </a:t>
            </a:r>
            <a:r>
              <a:rPr lang="de-DE" dirty="0" err="1"/>
              <a:t>the</a:t>
            </a:r>
            <a:r>
              <a:rPr lang="de-DE" dirty="0"/>
              <a:t> </a:t>
            </a:r>
            <a:r>
              <a:rPr lang="de-DE" dirty="0" err="1"/>
              <a:t>respective</a:t>
            </a:r>
            <a:r>
              <a:rPr lang="de-DE" dirty="0"/>
              <a:t> </a:t>
            </a:r>
            <a:r>
              <a:rPr lang="de-DE" dirty="0" err="1"/>
              <a:t>topic</a:t>
            </a:r>
            <a:r>
              <a:rPr lang="de-DE" dirty="0"/>
              <a:t>.</a:t>
            </a:r>
          </a:p>
          <a:p>
            <a:r>
              <a:rPr lang="de-DE" dirty="0"/>
              <a:t>The </a:t>
            </a:r>
            <a:r>
              <a:rPr lang="de-DE" dirty="0" err="1"/>
              <a:t>other</a:t>
            </a:r>
            <a:r>
              <a:rPr lang="de-DE" dirty="0"/>
              <a:t> </a:t>
            </a:r>
            <a:r>
              <a:rPr lang="de-DE" dirty="0" err="1"/>
              <a:t>theory</a:t>
            </a:r>
            <a:r>
              <a:rPr lang="de-DE" dirty="0"/>
              <a:t>, </a:t>
            </a:r>
            <a:r>
              <a:rPr lang="de-DE" dirty="0" err="1"/>
              <a:t>by</a:t>
            </a:r>
            <a:r>
              <a:rPr lang="de-DE" dirty="0"/>
              <a:t> Andrea </a:t>
            </a:r>
            <a:r>
              <a:rPr lang="de-DE" dirty="0" err="1"/>
              <a:t>diSessa</a:t>
            </a:r>
            <a:r>
              <a:rPr lang="de-DE" dirty="0"/>
              <a:t>, </a:t>
            </a:r>
            <a:r>
              <a:rPr lang="de-DE" dirty="0" err="1"/>
              <a:t>says</a:t>
            </a:r>
            <a:r>
              <a:rPr lang="de-DE" dirty="0"/>
              <a:t> </a:t>
            </a:r>
            <a:r>
              <a:rPr lang="de-DE" dirty="0" err="1"/>
              <a:t>that</a:t>
            </a:r>
            <a:r>
              <a:rPr lang="de-DE" dirty="0"/>
              <a:t> </a:t>
            </a:r>
            <a:r>
              <a:rPr lang="de-DE" dirty="0" err="1"/>
              <a:t>children`s</a:t>
            </a:r>
            <a:r>
              <a:rPr lang="de-DE" dirty="0"/>
              <a:t> </a:t>
            </a:r>
            <a:r>
              <a:rPr lang="de-DE" dirty="0" err="1"/>
              <a:t>knowledge</a:t>
            </a:r>
            <a:r>
              <a:rPr lang="de-DE" dirty="0"/>
              <a:t> </a:t>
            </a:r>
            <a:r>
              <a:rPr lang="de-DE" dirty="0" err="1"/>
              <a:t>is</a:t>
            </a:r>
            <a:r>
              <a:rPr lang="de-DE" dirty="0"/>
              <a:t> not like a </a:t>
            </a:r>
            <a:r>
              <a:rPr lang="de-DE" dirty="0" err="1"/>
              <a:t>coherent</a:t>
            </a:r>
            <a:r>
              <a:rPr lang="de-DE" dirty="0"/>
              <a:t> </a:t>
            </a:r>
            <a:r>
              <a:rPr lang="de-DE" dirty="0" err="1"/>
              <a:t>theory</a:t>
            </a:r>
            <a:r>
              <a:rPr lang="de-DE" dirty="0"/>
              <a:t>, but like </a:t>
            </a:r>
            <a:r>
              <a:rPr lang="de-DE" dirty="0" err="1"/>
              <a:t>fragmented</a:t>
            </a:r>
            <a:r>
              <a:rPr lang="de-DE" dirty="0"/>
              <a:t> </a:t>
            </a:r>
            <a:r>
              <a:rPr lang="de-DE" dirty="0" err="1"/>
              <a:t>pieces</a:t>
            </a:r>
            <a:r>
              <a:rPr lang="de-DE" dirty="0"/>
              <a:t> </a:t>
            </a:r>
            <a:r>
              <a:rPr lang="de-DE" dirty="0" err="1"/>
              <a:t>of</a:t>
            </a:r>
            <a:r>
              <a:rPr lang="de-DE" dirty="0"/>
              <a:t> </a:t>
            </a:r>
            <a:r>
              <a:rPr lang="de-DE" dirty="0" err="1"/>
              <a:t>knowledge</a:t>
            </a:r>
            <a:r>
              <a:rPr lang="de-DE" dirty="0"/>
              <a:t>.</a:t>
            </a:r>
          </a:p>
          <a:p>
            <a:r>
              <a:rPr lang="de-DE" dirty="0"/>
              <a:t>The </a:t>
            </a:r>
            <a:r>
              <a:rPr lang="de-DE" dirty="0" err="1"/>
              <a:t>most</a:t>
            </a:r>
            <a:r>
              <a:rPr lang="de-DE" dirty="0"/>
              <a:t> </a:t>
            </a:r>
            <a:r>
              <a:rPr lang="de-DE" dirty="0" err="1"/>
              <a:t>interesting</a:t>
            </a:r>
            <a:r>
              <a:rPr lang="de-DE" dirty="0"/>
              <a:t> </a:t>
            </a:r>
            <a:r>
              <a:rPr lang="de-DE" dirty="0" err="1"/>
              <a:t>phenomenon</a:t>
            </a:r>
            <a:r>
              <a:rPr lang="de-DE" dirty="0"/>
              <a:t> </a:t>
            </a:r>
            <a:r>
              <a:rPr lang="de-DE" dirty="0" err="1"/>
              <a:t>for</a:t>
            </a:r>
            <a:r>
              <a:rPr lang="de-DE" dirty="0"/>
              <a:t> </a:t>
            </a:r>
            <a:r>
              <a:rPr lang="de-DE" dirty="0" err="1"/>
              <a:t>me</a:t>
            </a:r>
            <a:r>
              <a:rPr lang="de-DE" dirty="0"/>
              <a:t> </a:t>
            </a:r>
            <a:r>
              <a:rPr lang="de-DE" dirty="0" err="1"/>
              <a:t>is</a:t>
            </a:r>
            <a:r>
              <a:rPr lang="de-DE" dirty="0"/>
              <a:t> </a:t>
            </a:r>
            <a:r>
              <a:rPr lang="de-DE" dirty="0" err="1"/>
              <a:t>seeing</a:t>
            </a:r>
            <a:r>
              <a:rPr lang="de-DE" dirty="0"/>
              <a:t> </a:t>
            </a:r>
            <a:r>
              <a:rPr lang="de-DE" dirty="0" err="1"/>
              <a:t>these</a:t>
            </a:r>
            <a:r>
              <a:rPr lang="de-DE" dirty="0"/>
              <a:t> </a:t>
            </a:r>
            <a:r>
              <a:rPr lang="de-DE" dirty="0" err="1"/>
              <a:t>two</a:t>
            </a:r>
            <a:r>
              <a:rPr lang="de-DE" dirty="0"/>
              <a:t> </a:t>
            </a:r>
            <a:r>
              <a:rPr lang="de-DE" dirty="0" err="1"/>
              <a:t>debate</a:t>
            </a:r>
            <a:r>
              <a:rPr lang="de-DE" dirty="0"/>
              <a:t> </a:t>
            </a:r>
            <a:r>
              <a:rPr lang="de-DE" dirty="0" err="1"/>
              <a:t>about</a:t>
            </a:r>
            <a:r>
              <a:rPr lang="de-DE" dirty="0"/>
              <a:t> </a:t>
            </a:r>
            <a:r>
              <a:rPr lang="de-DE" dirty="0" err="1"/>
              <a:t>their</a:t>
            </a:r>
            <a:r>
              <a:rPr lang="de-DE" dirty="0"/>
              <a:t> </a:t>
            </a:r>
            <a:r>
              <a:rPr lang="de-DE" dirty="0" err="1"/>
              <a:t>theories</a:t>
            </a:r>
            <a:r>
              <a:rPr lang="de-DE" dirty="0"/>
              <a:t>; I </a:t>
            </a:r>
            <a:r>
              <a:rPr lang="de-DE" dirty="0" err="1"/>
              <a:t>had</a:t>
            </a:r>
            <a:r>
              <a:rPr lang="de-DE" dirty="0"/>
              <a:t> </a:t>
            </a:r>
            <a:r>
              <a:rPr lang="de-DE" dirty="0" err="1"/>
              <a:t>the</a:t>
            </a:r>
            <a:r>
              <a:rPr lang="de-DE" dirty="0"/>
              <a:t> </a:t>
            </a:r>
            <a:r>
              <a:rPr lang="de-DE" dirty="0" err="1"/>
              <a:t>honor</a:t>
            </a:r>
            <a:r>
              <a:rPr lang="de-DE" dirty="0"/>
              <a:t> </a:t>
            </a:r>
            <a:r>
              <a:rPr lang="de-DE" dirty="0" err="1"/>
              <a:t>to</a:t>
            </a:r>
            <a:r>
              <a:rPr lang="de-DE" dirty="0"/>
              <a:t> </a:t>
            </a:r>
            <a:r>
              <a:rPr lang="de-DE" dirty="0" err="1"/>
              <a:t>experience</a:t>
            </a:r>
            <a:r>
              <a:rPr lang="de-DE" dirty="0"/>
              <a:t> </a:t>
            </a:r>
            <a:r>
              <a:rPr lang="de-DE" dirty="0" err="1"/>
              <a:t>it</a:t>
            </a:r>
            <a:r>
              <a:rPr lang="de-DE" dirty="0"/>
              <a:t> </a:t>
            </a:r>
            <a:r>
              <a:rPr lang="de-DE" dirty="0" err="1"/>
              <a:t>once</a:t>
            </a:r>
            <a:r>
              <a:rPr lang="de-DE" dirty="0"/>
              <a:t> and </a:t>
            </a:r>
            <a:r>
              <a:rPr lang="de-DE" dirty="0" err="1"/>
              <a:t>to</a:t>
            </a:r>
            <a:r>
              <a:rPr lang="de-DE" dirty="0"/>
              <a:t> </a:t>
            </a:r>
            <a:r>
              <a:rPr lang="de-DE" dirty="0" err="1"/>
              <a:t>this</a:t>
            </a:r>
            <a:r>
              <a:rPr lang="de-DE" dirty="0"/>
              <a:t> </a:t>
            </a:r>
            <a:r>
              <a:rPr lang="de-DE" dirty="0" err="1"/>
              <a:t>day</a:t>
            </a:r>
            <a:r>
              <a:rPr lang="de-DE" dirty="0"/>
              <a:t>, </a:t>
            </a:r>
            <a:r>
              <a:rPr lang="de-DE" dirty="0" err="1"/>
              <a:t>it</a:t>
            </a:r>
            <a:r>
              <a:rPr lang="de-DE" dirty="0"/>
              <a:t> </a:t>
            </a:r>
            <a:r>
              <a:rPr lang="de-DE" dirty="0" err="1"/>
              <a:t>has</a:t>
            </a:r>
            <a:r>
              <a:rPr lang="de-DE" dirty="0"/>
              <a:t> </a:t>
            </a:r>
            <a:r>
              <a:rPr lang="de-DE" dirty="0" err="1"/>
              <a:t>had</a:t>
            </a:r>
            <a:r>
              <a:rPr lang="de-DE" dirty="0"/>
              <a:t> a </a:t>
            </a:r>
            <a:r>
              <a:rPr lang="de-DE" dirty="0" err="1"/>
              <a:t>lasting</a:t>
            </a:r>
            <a:r>
              <a:rPr lang="de-DE" dirty="0"/>
              <a:t> </a:t>
            </a:r>
            <a:r>
              <a:rPr lang="de-DE" dirty="0" err="1"/>
              <a:t>impact</a:t>
            </a:r>
            <a:r>
              <a:rPr lang="de-DE" dirty="0"/>
              <a:t> on </a:t>
            </a:r>
            <a:r>
              <a:rPr lang="de-DE" dirty="0" err="1"/>
              <a:t>my</a:t>
            </a:r>
            <a:r>
              <a:rPr lang="de-DE" dirty="0"/>
              <a:t> mental </a:t>
            </a:r>
            <a:r>
              <a:rPr lang="de-DE" dirty="0" err="1"/>
              <a:t>development</a:t>
            </a:r>
            <a:r>
              <a:rPr lang="de-DE" dirty="0"/>
              <a:t>.</a:t>
            </a:r>
          </a:p>
          <a:p>
            <a:endParaRPr lang="de-DE" dirty="0"/>
          </a:p>
          <a:p>
            <a:r>
              <a:rPr lang="de-DE" dirty="0"/>
              <a:t>After </a:t>
            </a:r>
            <a:r>
              <a:rPr lang="de-DE" dirty="0" err="1"/>
              <a:t>arguing</a:t>
            </a:r>
            <a:r>
              <a:rPr lang="de-DE" dirty="0"/>
              <a:t> </a:t>
            </a:r>
            <a:r>
              <a:rPr lang="de-DE" dirty="0" err="1"/>
              <a:t>about</a:t>
            </a:r>
            <a:r>
              <a:rPr lang="de-DE" dirty="0"/>
              <a:t> </a:t>
            </a:r>
            <a:r>
              <a:rPr lang="de-DE" dirty="0" err="1"/>
              <a:t>this</a:t>
            </a:r>
            <a:r>
              <a:rPr lang="de-DE" dirty="0"/>
              <a:t> </a:t>
            </a:r>
            <a:r>
              <a:rPr lang="de-DE" dirty="0" err="1"/>
              <a:t>for</a:t>
            </a:r>
            <a:r>
              <a:rPr lang="de-DE" dirty="0"/>
              <a:t> a </a:t>
            </a:r>
            <a:r>
              <a:rPr lang="de-DE" dirty="0" err="1"/>
              <a:t>long</a:t>
            </a:r>
            <a:r>
              <a:rPr lang="de-DE" dirty="0"/>
              <a:t> time, Michael Schneider </a:t>
            </a:r>
            <a:r>
              <a:rPr lang="de-DE" dirty="0" err="1"/>
              <a:t>came</a:t>
            </a:r>
            <a:r>
              <a:rPr lang="de-DE" dirty="0"/>
              <a:t> </a:t>
            </a:r>
            <a:r>
              <a:rPr lang="de-DE" dirty="0" err="1"/>
              <a:t>up</a:t>
            </a:r>
            <a:r>
              <a:rPr lang="de-DE" dirty="0"/>
              <a:t> </a:t>
            </a:r>
            <a:r>
              <a:rPr lang="de-DE" dirty="0" err="1"/>
              <a:t>with</a:t>
            </a:r>
            <a:r>
              <a:rPr lang="de-DE" dirty="0"/>
              <a:t> a </a:t>
            </a:r>
            <a:r>
              <a:rPr lang="de-DE" dirty="0" err="1"/>
              <a:t>consensus</a:t>
            </a:r>
            <a:r>
              <a:rPr lang="de-DE" dirty="0"/>
              <a:t> </a:t>
            </a:r>
            <a:r>
              <a:rPr lang="de-DE" dirty="0" err="1"/>
              <a:t>view</a:t>
            </a:r>
            <a:r>
              <a:rPr lang="de-DE" dirty="0"/>
              <a:t>:</a:t>
            </a:r>
          </a:p>
          <a:p>
            <a:r>
              <a:rPr lang="de-DE" dirty="0"/>
              <a:t>Both </a:t>
            </a:r>
            <a:r>
              <a:rPr lang="de-DE" dirty="0" err="1"/>
              <a:t>are</a:t>
            </a:r>
            <a:r>
              <a:rPr lang="de-DE" dirty="0"/>
              <a:t> </a:t>
            </a:r>
            <a:r>
              <a:rPr lang="de-DE" dirty="0" err="1"/>
              <a:t>right</a:t>
            </a:r>
            <a:r>
              <a:rPr lang="de-DE" dirty="0"/>
              <a:t>, </a:t>
            </a:r>
            <a:r>
              <a:rPr lang="de-DE" dirty="0" err="1"/>
              <a:t>because</a:t>
            </a:r>
            <a:r>
              <a:rPr lang="de-DE" dirty="0"/>
              <a:t> </a:t>
            </a:r>
            <a:r>
              <a:rPr lang="de-DE" dirty="0" err="1"/>
              <a:t>chilren`s</a:t>
            </a:r>
            <a:r>
              <a:rPr lang="de-DE" dirty="0"/>
              <a:t> intuitive </a:t>
            </a:r>
            <a:r>
              <a:rPr lang="de-DE" dirty="0" err="1"/>
              <a:t>knowledge</a:t>
            </a:r>
            <a:r>
              <a:rPr lang="de-DE" dirty="0"/>
              <a:t> </a:t>
            </a:r>
            <a:r>
              <a:rPr lang="de-DE" dirty="0" err="1"/>
              <a:t>differs</a:t>
            </a:r>
            <a:r>
              <a:rPr lang="de-DE" dirty="0"/>
              <a:t> – </a:t>
            </a:r>
            <a:r>
              <a:rPr lang="de-DE" dirty="0" err="1"/>
              <a:t>for</a:t>
            </a:r>
            <a:r>
              <a:rPr lang="de-DE" dirty="0"/>
              <a:t> </a:t>
            </a:r>
            <a:r>
              <a:rPr lang="de-DE" dirty="0" err="1"/>
              <a:t>some</a:t>
            </a:r>
            <a:r>
              <a:rPr lang="de-DE" dirty="0"/>
              <a:t> </a:t>
            </a:r>
            <a:r>
              <a:rPr lang="de-DE" dirty="0" err="1"/>
              <a:t>children</a:t>
            </a:r>
            <a:r>
              <a:rPr lang="de-DE" dirty="0"/>
              <a:t>, </a:t>
            </a:r>
            <a:r>
              <a:rPr lang="de-DE" dirty="0" err="1"/>
              <a:t>Stella`s</a:t>
            </a:r>
            <a:r>
              <a:rPr lang="de-DE" dirty="0"/>
              <a:t> </a:t>
            </a:r>
            <a:r>
              <a:rPr lang="de-DE" dirty="0" err="1"/>
              <a:t>view</a:t>
            </a:r>
            <a:r>
              <a:rPr lang="de-DE" dirty="0"/>
              <a:t> </a:t>
            </a:r>
            <a:r>
              <a:rPr lang="de-DE" dirty="0" err="1"/>
              <a:t>is</a:t>
            </a:r>
            <a:r>
              <a:rPr lang="de-DE" dirty="0"/>
              <a:t> </a:t>
            </a:r>
            <a:r>
              <a:rPr lang="de-DE" dirty="0" err="1"/>
              <a:t>more</a:t>
            </a:r>
            <a:r>
              <a:rPr lang="de-DE" dirty="0"/>
              <a:t> </a:t>
            </a:r>
            <a:r>
              <a:rPr lang="de-DE" dirty="0" err="1"/>
              <a:t>fitting</a:t>
            </a:r>
            <a:r>
              <a:rPr lang="de-DE" dirty="0"/>
              <a:t>, and </a:t>
            </a:r>
            <a:r>
              <a:rPr lang="de-DE" dirty="0" err="1"/>
              <a:t>for</a:t>
            </a:r>
            <a:r>
              <a:rPr lang="de-DE" dirty="0"/>
              <a:t> </a:t>
            </a:r>
            <a:r>
              <a:rPr lang="de-DE" dirty="0" err="1"/>
              <a:t>other</a:t>
            </a:r>
            <a:r>
              <a:rPr lang="de-DE" dirty="0"/>
              <a:t> </a:t>
            </a:r>
            <a:r>
              <a:rPr lang="de-DE" dirty="0" err="1"/>
              <a:t>children</a:t>
            </a:r>
            <a:r>
              <a:rPr lang="de-DE" dirty="0"/>
              <a:t>, </a:t>
            </a:r>
            <a:r>
              <a:rPr lang="de-DE" dirty="0" err="1"/>
              <a:t>Andrea`s</a:t>
            </a:r>
            <a:r>
              <a:rPr lang="de-DE" dirty="0"/>
              <a:t> </a:t>
            </a:r>
            <a:r>
              <a:rPr lang="de-DE" dirty="0" err="1"/>
              <a:t>view</a:t>
            </a:r>
            <a:r>
              <a:rPr lang="de-DE" dirty="0"/>
              <a:t>.</a:t>
            </a:r>
          </a:p>
          <a:p>
            <a:endParaRPr lang="de-DE" dirty="0"/>
          </a:p>
          <a:p>
            <a:r>
              <a:rPr lang="de-DE" dirty="0"/>
              <a:t>This </a:t>
            </a:r>
            <a:r>
              <a:rPr lang="de-DE" dirty="0" err="1"/>
              <a:t>insight</a:t>
            </a:r>
            <a:r>
              <a:rPr lang="de-DE" dirty="0"/>
              <a:t> </a:t>
            </a:r>
            <a:r>
              <a:rPr lang="de-DE" dirty="0" err="1"/>
              <a:t>came</a:t>
            </a:r>
            <a:r>
              <a:rPr lang="de-DE" dirty="0"/>
              <a:t> </a:t>
            </a:r>
            <a:r>
              <a:rPr lang="de-DE" dirty="0" err="1"/>
              <a:t>to</a:t>
            </a:r>
            <a:r>
              <a:rPr lang="de-DE" dirty="0"/>
              <a:t> Michael </a:t>
            </a:r>
            <a:r>
              <a:rPr lang="de-DE" dirty="0" err="1"/>
              <a:t>through</a:t>
            </a:r>
            <a:r>
              <a:rPr lang="de-DE" dirty="0"/>
              <a:t> a </a:t>
            </a:r>
            <a:r>
              <a:rPr lang="de-DE" dirty="0" err="1"/>
              <a:t>statistical</a:t>
            </a:r>
            <a:r>
              <a:rPr lang="de-DE" dirty="0"/>
              <a:t> </a:t>
            </a:r>
            <a:r>
              <a:rPr lang="de-DE" dirty="0" err="1"/>
              <a:t>model</a:t>
            </a:r>
            <a:r>
              <a:rPr lang="de-DE" dirty="0"/>
              <a:t>, </a:t>
            </a:r>
            <a:r>
              <a:rPr lang="de-DE" dirty="0" err="1"/>
              <a:t>called</a:t>
            </a:r>
            <a:r>
              <a:rPr lang="de-DE" dirty="0"/>
              <a:t> </a:t>
            </a:r>
            <a:r>
              <a:rPr lang="de-DE" dirty="0" err="1"/>
              <a:t>the</a:t>
            </a:r>
            <a:r>
              <a:rPr lang="de-DE" dirty="0"/>
              <a:t> </a:t>
            </a:r>
            <a:r>
              <a:rPr lang="de-DE" dirty="0" err="1"/>
              <a:t>mixture</a:t>
            </a:r>
            <a:r>
              <a:rPr lang="de-DE" dirty="0"/>
              <a:t> </a:t>
            </a:r>
            <a:r>
              <a:rPr lang="de-DE" dirty="0" err="1"/>
              <a:t>model</a:t>
            </a:r>
            <a:r>
              <a:rPr lang="de-DE" dirty="0"/>
              <a:t>.</a:t>
            </a:r>
          </a:p>
          <a:p>
            <a:r>
              <a:rPr lang="de-DE" dirty="0"/>
              <a:t>In </a:t>
            </a:r>
            <a:r>
              <a:rPr lang="de-DE" dirty="0" err="1"/>
              <a:t>the</a:t>
            </a:r>
            <a:r>
              <a:rPr lang="de-DE" dirty="0"/>
              <a:t> </a:t>
            </a:r>
            <a:r>
              <a:rPr lang="de-DE" dirty="0" err="1"/>
              <a:t>mixture</a:t>
            </a:r>
            <a:r>
              <a:rPr lang="de-DE" dirty="0"/>
              <a:t> </a:t>
            </a:r>
            <a:r>
              <a:rPr lang="de-DE" dirty="0" err="1"/>
              <a:t>model</a:t>
            </a:r>
            <a:r>
              <a:rPr lang="de-DE" dirty="0"/>
              <a:t>, </a:t>
            </a:r>
            <a:r>
              <a:rPr lang="de-DE" dirty="0" err="1"/>
              <a:t>we</a:t>
            </a:r>
            <a:r>
              <a:rPr lang="de-DE" dirty="0"/>
              <a:t> </a:t>
            </a:r>
            <a:r>
              <a:rPr lang="de-DE" dirty="0" err="1"/>
              <a:t>assume</a:t>
            </a:r>
            <a:r>
              <a:rPr lang="de-DE" dirty="0"/>
              <a:t> </a:t>
            </a:r>
            <a:r>
              <a:rPr lang="de-DE" dirty="0" err="1"/>
              <a:t>that</a:t>
            </a:r>
            <a:r>
              <a:rPr lang="de-DE" dirty="0"/>
              <a:t> not all </a:t>
            </a:r>
            <a:r>
              <a:rPr lang="de-DE" dirty="0" err="1"/>
              <a:t>data</a:t>
            </a:r>
            <a:r>
              <a:rPr lang="de-DE" dirty="0"/>
              <a:t> </a:t>
            </a:r>
            <a:r>
              <a:rPr lang="de-DE" dirty="0" err="1"/>
              <a:t>points</a:t>
            </a:r>
            <a:r>
              <a:rPr lang="de-DE" dirty="0"/>
              <a:t> </a:t>
            </a:r>
            <a:r>
              <a:rPr lang="de-DE" dirty="0" err="1"/>
              <a:t>we</a:t>
            </a:r>
            <a:r>
              <a:rPr lang="de-DE" dirty="0"/>
              <a:t> </a:t>
            </a:r>
            <a:r>
              <a:rPr lang="de-DE" dirty="0" err="1"/>
              <a:t>model</a:t>
            </a:r>
            <a:r>
              <a:rPr lang="de-DE" dirty="0"/>
              <a:t> </a:t>
            </a:r>
            <a:r>
              <a:rPr lang="de-DE" dirty="0" err="1"/>
              <a:t>have</a:t>
            </a:r>
            <a:r>
              <a:rPr lang="de-DE" dirty="0"/>
              <a:t> </a:t>
            </a:r>
            <a:r>
              <a:rPr lang="de-DE" dirty="0" err="1"/>
              <a:t>been</a:t>
            </a:r>
            <a:r>
              <a:rPr lang="de-DE" dirty="0"/>
              <a:t> </a:t>
            </a:r>
            <a:r>
              <a:rPr lang="de-DE" dirty="0" err="1"/>
              <a:t>created</a:t>
            </a:r>
            <a:r>
              <a:rPr lang="de-DE" dirty="0"/>
              <a:t> </a:t>
            </a:r>
            <a:r>
              <a:rPr lang="de-DE" dirty="0" err="1"/>
              <a:t>by</a:t>
            </a:r>
            <a:r>
              <a:rPr lang="de-DE" dirty="0"/>
              <a:t> </a:t>
            </a:r>
            <a:r>
              <a:rPr lang="de-DE" dirty="0" err="1"/>
              <a:t>the</a:t>
            </a:r>
            <a:r>
              <a:rPr lang="de-DE" dirty="0"/>
              <a:t> same </a:t>
            </a:r>
            <a:r>
              <a:rPr lang="de-DE" dirty="0" err="1"/>
              <a:t>process</a:t>
            </a:r>
            <a:r>
              <a:rPr lang="de-DE" dirty="0"/>
              <a:t>. </a:t>
            </a:r>
            <a:r>
              <a:rPr lang="de-DE" dirty="0" err="1"/>
              <a:t>Instead</a:t>
            </a:r>
            <a:r>
              <a:rPr lang="de-DE" dirty="0"/>
              <a:t>, </a:t>
            </a:r>
            <a:r>
              <a:rPr lang="de-DE" dirty="0" err="1"/>
              <a:t>there</a:t>
            </a:r>
            <a:r>
              <a:rPr lang="de-DE" dirty="0"/>
              <a:t> </a:t>
            </a:r>
            <a:r>
              <a:rPr lang="de-DE" dirty="0" err="1"/>
              <a:t>is</a:t>
            </a:r>
            <a:r>
              <a:rPr lang="de-DE" dirty="0"/>
              <a:t> </a:t>
            </a:r>
            <a:r>
              <a:rPr lang="de-DE" dirty="0" err="1"/>
              <a:t>systematic</a:t>
            </a:r>
            <a:r>
              <a:rPr lang="de-DE" dirty="0"/>
              <a:t> </a:t>
            </a:r>
            <a:r>
              <a:rPr lang="de-DE" dirty="0" err="1"/>
              <a:t>heterogeneity</a:t>
            </a:r>
            <a:r>
              <a:rPr lang="de-DE" dirty="0"/>
              <a:t> – individual </a:t>
            </a:r>
            <a:r>
              <a:rPr lang="de-DE" dirty="0" err="1"/>
              <a:t>differences</a:t>
            </a:r>
            <a:r>
              <a:rPr lang="de-DE" dirty="0"/>
              <a:t> </a:t>
            </a:r>
            <a:r>
              <a:rPr lang="de-DE" dirty="0" err="1"/>
              <a:t>between</a:t>
            </a:r>
            <a:r>
              <a:rPr lang="de-DE" dirty="0"/>
              <a:t> </a:t>
            </a:r>
            <a:r>
              <a:rPr lang="de-DE" dirty="0" err="1"/>
              <a:t>learners</a:t>
            </a:r>
            <a:r>
              <a:rPr lang="de-DE" dirty="0"/>
              <a:t>, </a:t>
            </a:r>
            <a:r>
              <a:rPr lang="de-DE" dirty="0" err="1"/>
              <a:t>or</a:t>
            </a:r>
            <a:r>
              <a:rPr lang="de-DE" dirty="0"/>
              <a:t> </a:t>
            </a:r>
            <a:r>
              <a:rPr lang="de-DE" dirty="0" err="1"/>
              <a:t>within</a:t>
            </a:r>
            <a:r>
              <a:rPr lang="de-DE" dirty="0"/>
              <a:t> </a:t>
            </a:r>
            <a:r>
              <a:rPr lang="de-DE" dirty="0" err="1"/>
              <a:t>learners</a:t>
            </a:r>
            <a:r>
              <a:rPr lang="de-DE" dirty="0"/>
              <a:t> </a:t>
            </a:r>
            <a:r>
              <a:rPr lang="de-DE" dirty="0" err="1"/>
              <a:t>over</a:t>
            </a:r>
            <a:r>
              <a:rPr lang="de-DE" dirty="0"/>
              <a:t> time.</a:t>
            </a:r>
          </a:p>
          <a:p>
            <a:r>
              <a:rPr lang="de-DE" dirty="0"/>
              <a:t>In </a:t>
            </a:r>
            <a:r>
              <a:rPr lang="de-DE" dirty="0" err="1"/>
              <a:t>this</a:t>
            </a:r>
            <a:r>
              <a:rPr lang="de-DE" dirty="0"/>
              <a:t> </a:t>
            </a:r>
            <a:r>
              <a:rPr lang="de-DE" dirty="0" err="1"/>
              <a:t>case</a:t>
            </a:r>
            <a:r>
              <a:rPr lang="de-DE" dirty="0"/>
              <a:t>, Michael </a:t>
            </a:r>
            <a:r>
              <a:rPr lang="de-DE" dirty="0" err="1"/>
              <a:t>analyzed</a:t>
            </a:r>
            <a:r>
              <a:rPr lang="de-DE" dirty="0"/>
              <a:t> </a:t>
            </a:r>
            <a:r>
              <a:rPr lang="de-DE" dirty="0" err="1"/>
              <a:t>data</a:t>
            </a:r>
            <a:r>
              <a:rPr lang="de-DE" dirty="0"/>
              <a:t> </a:t>
            </a:r>
            <a:r>
              <a:rPr lang="de-DE" dirty="0" err="1"/>
              <a:t>from</a:t>
            </a:r>
            <a:r>
              <a:rPr lang="de-DE" dirty="0"/>
              <a:t> an </a:t>
            </a:r>
            <a:r>
              <a:rPr lang="de-DE" dirty="0" err="1"/>
              <a:t>intervention</a:t>
            </a:r>
            <a:r>
              <a:rPr lang="de-DE" dirty="0"/>
              <a:t> </a:t>
            </a:r>
            <a:r>
              <a:rPr lang="de-DE" dirty="0" err="1"/>
              <a:t>teaching</a:t>
            </a:r>
            <a:r>
              <a:rPr lang="de-DE" dirty="0"/>
              <a:t> </a:t>
            </a:r>
            <a:r>
              <a:rPr lang="de-DE" dirty="0" err="1"/>
              <a:t>children</a:t>
            </a:r>
            <a:r>
              <a:rPr lang="de-DE" dirty="0"/>
              <a:t> </a:t>
            </a:r>
            <a:r>
              <a:rPr lang="de-DE" dirty="0" err="1"/>
              <a:t>about</a:t>
            </a:r>
            <a:r>
              <a:rPr lang="de-DE" dirty="0"/>
              <a:t> </a:t>
            </a:r>
            <a:r>
              <a:rPr lang="de-DE" dirty="0" err="1"/>
              <a:t>floating</a:t>
            </a:r>
            <a:r>
              <a:rPr lang="de-DE" dirty="0"/>
              <a:t> and </a:t>
            </a:r>
            <a:r>
              <a:rPr lang="de-DE" dirty="0" err="1"/>
              <a:t>sinking-phenomena</a:t>
            </a:r>
            <a:r>
              <a:rPr lang="de-DE" dirty="0"/>
              <a:t>. He and </a:t>
            </a:r>
            <a:r>
              <a:rPr lang="de-DE" dirty="0" err="1"/>
              <a:t>found</a:t>
            </a:r>
            <a:r>
              <a:rPr lang="de-DE" dirty="0"/>
              <a:t> </a:t>
            </a:r>
            <a:r>
              <a:rPr lang="de-DE" dirty="0" err="1"/>
              <a:t>that</a:t>
            </a:r>
            <a:r>
              <a:rPr lang="de-DE" dirty="0"/>
              <a:t> </a:t>
            </a:r>
            <a:r>
              <a:rPr lang="de-DE" dirty="0" err="1"/>
              <a:t>for</a:t>
            </a:r>
            <a:r>
              <a:rPr lang="de-DE" dirty="0"/>
              <a:t> </a:t>
            </a:r>
            <a:r>
              <a:rPr lang="de-DE" dirty="0" err="1"/>
              <a:t>some</a:t>
            </a:r>
            <a:r>
              <a:rPr lang="de-DE" dirty="0"/>
              <a:t> </a:t>
            </a:r>
            <a:r>
              <a:rPr lang="de-DE" dirty="0" err="1"/>
              <a:t>children</a:t>
            </a:r>
            <a:r>
              <a:rPr lang="de-DE" dirty="0"/>
              <a:t>, different beliefs </a:t>
            </a:r>
            <a:r>
              <a:rPr lang="de-DE" dirty="0" err="1"/>
              <a:t>about</a:t>
            </a:r>
            <a:r>
              <a:rPr lang="de-DE" dirty="0"/>
              <a:t> </a:t>
            </a:r>
            <a:r>
              <a:rPr lang="de-DE" dirty="0" err="1"/>
              <a:t>this</a:t>
            </a:r>
            <a:r>
              <a:rPr lang="de-DE" dirty="0"/>
              <a:t> </a:t>
            </a:r>
            <a:r>
              <a:rPr lang="de-DE" dirty="0" err="1"/>
              <a:t>topic</a:t>
            </a:r>
            <a:r>
              <a:rPr lang="de-DE" dirty="0"/>
              <a:t> form </a:t>
            </a:r>
            <a:r>
              <a:rPr lang="de-DE" dirty="0" err="1"/>
              <a:t>knowledge</a:t>
            </a:r>
            <a:r>
              <a:rPr lang="de-DE" dirty="0"/>
              <a:t> </a:t>
            </a:r>
            <a:r>
              <a:rPr lang="de-DE" dirty="0" err="1"/>
              <a:t>states</a:t>
            </a:r>
            <a:r>
              <a:rPr lang="de-DE" dirty="0"/>
              <a:t> </a:t>
            </a:r>
            <a:r>
              <a:rPr lang="de-DE" dirty="0" err="1"/>
              <a:t>that</a:t>
            </a:r>
            <a:r>
              <a:rPr lang="de-DE" dirty="0"/>
              <a:t> </a:t>
            </a:r>
            <a:r>
              <a:rPr lang="de-DE" dirty="0" err="1"/>
              <a:t>are</a:t>
            </a:r>
            <a:r>
              <a:rPr lang="de-DE" dirty="0"/>
              <a:t> </a:t>
            </a:r>
            <a:r>
              <a:rPr lang="de-DE" dirty="0" err="1"/>
              <a:t>rather</a:t>
            </a:r>
            <a:r>
              <a:rPr lang="de-DE" dirty="0"/>
              <a:t> </a:t>
            </a:r>
            <a:r>
              <a:rPr lang="de-DE" dirty="0" err="1"/>
              <a:t>congruent</a:t>
            </a:r>
            <a:r>
              <a:rPr lang="de-DE" dirty="0"/>
              <a:t> </a:t>
            </a:r>
            <a:r>
              <a:rPr lang="de-DE" dirty="0" err="1"/>
              <a:t>with</a:t>
            </a:r>
            <a:r>
              <a:rPr lang="de-DE" dirty="0"/>
              <a:t> </a:t>
            </a:r>
            <a:r>
              <a:rPr lang="de-DE" dirty="0" err="1"/>
              <a:t>Stella`s</a:t>
            </a:r>
            <a:r>
              <a:rPr lang="de-DE" dirty="0"/>
              <a:t> </a:t>
            </a:r>
            <a:r>
              <a:rPr lang="de-DE" dirty="0" err="1"/>
              <a:t>view</a:t>
            </a:r>
            <a:r>
              <a:rPr lang="de-DE" dirty="0"/>
              <a:t>, </a:t>
            </a:r>
            <a:r>
              <a:rPr lang="de-DE" dirty="0" err="1"/>
              <a:t>whereas</a:t>
            </a:r>
            <a:r>
              <a:rPr lang="de-DE" dirty="0"/>
              <a:t> </a:t>
            </a:r>
            <a:r>
              <a:rPr lang="de-DE" dirty="0" err="1"/>
              <a:t>for</a:t>
            </a:r>
            <a:r>
              <a:rPr lang="de-DE" dirty="0"/>
              <a:t> </a:t>
            </a:r>
            <a:r>
              <a:rPr lang="de-DE" dirty="0" err="1"/>
              <a:t>other</a:t>
            </a:r>
            <a:r>
              <a:rPr lang="de-DE" dirty="0"/>
              <a:t> </a:t>
            </a:r>
            <a:r>
              <a:rPr lang="de-DE" dirty="0" err="1"/>
              <a:t>children</a:t>
            </a:r>
            <a:r>
              <a:rPr lang="de-DE" dirty="0"/>
              <a:t>, </a:t>
            </a:r>
            <a:r>
              <a:rPr lang="de-DE" dirty="0" err="1"/>
              <a:t>Andrea`s</a:t>
            </a:r>
            <a:r>
              <a:rPr lang="de-DE" dirty="0"/>
              <a:t> </a:t>
            </a:r>
            <a:r>
              <a:rPr lang="de-DE" dirty="0" err="1"/>
              <a:t>view</a:t>
            </a:r>
            <a:r>
              <a:rPr lang="de-DE" dirty="0"/>
              <a:t> </a:t>
            </a:r>
            <a:r>
              <a:rPr lang="de-DE" dirty="0" err="1"/>
              <a:t>may</a:t>
            </a:r>
            <a:r>
              <a:rPr lang="de-DE" dirty="0"/>
              <a:t> </a:t>
            </a:r>
            <a:r>
              <a:rPr lang="de-DE" dirty="0" err="1"/>
              <a:t>be</a:t>
            </a:r>
            <a:r>
              <a:rPr lang="de-DE" dirty="0"/>
              <a:t> </a:t>
            </a:r>
            <a:r>
              <a:rPr lang="de-DE" dirty="0" err="1"/>
              <a:t>more</a:t>
            </a:r>
            <a:r>
              <a:rPr lang="de-DE" dirty="0"/>
              <a:t> </a:t>
            </a:r>
            <a:r>
              <a:rPr lang="de-DE" dirty="0" err="1"/>
              <a:t>appropriate</a:t>
            </a:r>
            <a:r>
              <a:rPr lang="de-DE" dirty="0"/>
              <a:t>.</a:t>
            </a:r>
          </a:p>
          <a:p>
            <a:endParaRPr lang="de-DE" dirty="0"/>
          </a:p>
          <a:p>
            <a:r>
              <a:rPr lang="de-DE" dirty="0" err="1"/>
              <a:t>You</a:t>
            </a:r>
            <a:r>
              <a:rPr lang="de-DE" dirty="0"/>
              <a:t> </a:t>
            </a:r>
            <a:r>
              <a:rPr lang="de-DE" dirty="0" err="1"/>
              <a:t>may</a:t>
            </a:r>
            <a:r>
              <a:rPr lang="de-DE" dirty="0"/>
              <a:t> </a:t>
            </a:r>
            <a:r>
              <a:rPr lang="de-DE" dirty="0" err="1"/>
              <a:t>or</a:t>
            </a:r>
            <a:r>
              <a:rPr lang="de-DE" dirty="0"/>
              <a:t> </a:t>
            </a:r>
            <a:r>
              <a:rPr lang="de-DE" dirty="0" err="1"/>
              <a:t>may</a:t>
            </a:r>
            <a:r>
              <a:rPr lang="de-DE" dirty="0"/>
              <a:t> not </a:t>
            </a:r>
            <a:r>
              <a:rPr lang="de-DE" dirty="0" err="1"/>
              <a:t>agree</a:t>
            </a:r>
            <a:r>
              <a:rPr lang="de-DE" dirty="0"/>
              <a:t> </a:t>
            </a:r>
            <a:r>
              <a:rPr lang="de-DE" dirty="0" err="1"/>
              <a:t>with</a:t>
            </a:r>
            <a:r>
              <a:rPr lang="de-DE" dirty="0"/>
              <a:t> </a:t>
            </a:r>
            <a:r>
              <a:rPr lang="de-DE" dirty="0" err="1"/>
              <a:t>Michael`s</a:t>
            </a:r>
            <a:r>
              <a:rPr lang="de-DE" dirty="0"/>
              <a:t> </a:t>
            </a:r>
            <a:r>
              <a:rPr lang="de-DE" dirty="0" err="1"/>
              <a:t>thinking</a:t>
            </a:r>
            <a:r>
              <a:rPr lang="de-DE" dirty="0"/>
              <a:t>, but </a:t>
            </a:r>
            <a:r>
              <a:rPr lang="de-DE" dirty="0" err="1"/>
              <a:t>one</a:t>
            </a:r>
            <a:r>
              <a:rPr lang="de-DE" dirty="0"/>
              <a:t> </a:t>
            </a:r>
            <a:r>
              <a:rPr lang="de-DE" dirty="0" err="1"/>
              <a:t>thing</a:t>
            </a:r>
            <a:r>
              <a:rPr lang="de-DE" dirty="0"/>
              <a:t> </a:t>
            </a:r>
            <a:r>
              <a:rPr lang="de-DE" dirty="0" err="1"/>
              <a:t>is</a:t>
            </a:r>
            <a:r>
              <a:rPr lang="de-DE" dirty="0"/>
              <a:t> </a:t>
            </a:r>
            <a:r>
              <a:rPr lang="de-DE" dirty="0" err="1"/>
              <a:t>clear</a:t>
            </a:r>
            <a:r>
              <a:rPr lang="de-DE" dirty="0"/>
              <a:t>:</a:t>
            </a:r>
          </a:p>
          <a:p>
            <a:r>
              <a:rPr lang="de-DE" dirty="0"/>
              <a:t>In </a:t>
            </a:r>
            <a:r>
              <a:rPr lang="de-DE" dirty="0" err="1"/>
              <a:t>this</a:t>
            </a:r>
            <a:r>
              <a:rPr lang="de-DE" dirty="0"/>
              <a:t> </a:t>
            </a:r>
            <a:r>
              <a:rPr lang="de-DE" dirty="0" err="1"/>
              <a:t>case</a:t>
            </a:r>
            <a:r>
              <a:rPr lang="de-DE" dirty="0"/>
              <a:t>, a </a:t>
            </a:r>
            <a:r>
              <a:rPr lang="de-DE" dirty="0" err="1"/>
              <a:t>statistical</a:t>
            </a:r>
            <a:r>
              <a:rPr lang="de-DE" dirty="0"/>
              <a:t> </a:t>
            </a:r>
            <a:r>
              <a:rPr lang="de-DE" dirty="0" err="1"/>
              <a:t>model</a:t>
            </a:r>
            <a:r>
              <a:rPr lang="de-DE" dirty="0"/>
              <a:t> </a:t>
            </a:r>
            <a:r>
              <a:rPr lang="de-DE" dirty="0" err="1"/>
              <a:t>inspired</a:t>
            </a:r>
            <a:r>
              <a:rPr lang="de-DE" dirty="0"/>
              <a:t> a </a:t>
            </a:r>
            <a:r>
              <a:rPr lang="de-DE" dirty="0" err="1"/>
              <a:t>theoretical</a:t>
            </a:r>
            <a:r>
              <a:rPr lang="de-DE" dirty="0"/>
              <a:t> </a:t>
            </a:r>
            <a:r>
              <a:rPr lang="de-DE" dirty="0" err="1"/>
              <a:t>innovation</a:t>
            </a:r>
            <a:r>
              <a:rPr lang="de-DE" dirty="0"/>
              <a:t>. This </a:t>
            </a:r>
            <a:r>
              <a:rPr lang="de-DE" dirty="0" err="1"/>
              <a:t>is</a:t>
            </a:r>
            <a:r>
              <a:rPr lang="de-DE" dirty="0"/>
              <a:t> </a:t>
            </a:r>
            <a:r>
              <a:rPr lang="de-DE" dirty="0" err="1"/>
              <a:t>what</a:t>
            </a:r>
            <a:r>
              <a:rPr lang="de-DE" dirty="0"/>
              <a:t> I </a:t>
            </a:r>
            <a:r>
              <a:rPr lang="de-DE" dirty="0" err="1"/>
              <a:t>talk</a:t>
            </a:r>
            <a:r>
              <a:rPr lang="de-DE" dirty="0"/>
              <a:t> </a:t>
            </a:r>
            <a:r>
              <a:rPr lang="de-DE" dirty="0" err="1"/>
              <a:t>about</a:t>
            </a:r>
            <a:r>
              <a:rPr lang="de-DE" dirty="0"/>
              <a:t>:</a:t>
            </a:r>
          </a:p>
          <a:p>
            <a:r>
              <a:rPr lang="de-DE" dirty="0"/>
              <a:t>The </a:t>
            </a:r>
            <a:r>
              <a:rPr lang="de-DE" dirty="0" err="1"/>
              <a:t>relatio</a:t>
            </a:r>
            <a:r>
              <a:rPr lang="de-DE" dirty="0"/>
              <a:t> </a:t>
            </a:r>
            <a:r>
              <a:rPr lang="de-DE" dirty="0" err="1"/>
              <a:t>between</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learners</a:t>
            </a:r>
            <a:r>
              <a:rPr lang="de-DE" dirty="0"/>
              <a:t>` </a:t>
            </a:r>
            <a:r>
              <a:rPr lang="de-DE" dirty="0" err="1"/>
              <a:t>knowledge</a:t>
            </a:r>
            <a:r>
              <a:rPr lang="de-DE" dirty="0"/>
              <a:t>, and </a:t>
            </a:r>
            <a:r>
              <a:rPr lang="de-DE" dirty="0" err="1"/>
              <a:t>statistical</a:t>
            </a:r>
            <a:r>
              <a:rPr lang="de-DE" dirty="0"/>
              <a:t> </a:t>
            </a:r>
            <a:r>
              <a:rPr lang="de-DE" dirty="0" err="1"/>
              <a:t>models</a:t>
            </a:r>
            <a:r>
              <a:rPr lang="de-DE" dirty="0"/>
              <a:t> </a:t>
            </a:r>
            <a:r>
              <a:rPr lang="de-DE" dirty="0" err="1"/>
              <a:t>of</a:t>
            </a:r>
            <a:r>
              <a:rPr lang="de-DE" dirty="0"/>
              <a:t> </a:t>
            </a:r>
            <a:r>
              <a:rPr lang="de-DE" dirty="0" err="1"/>
              <a:t>those</a:t>
            </a:r>
            <a:r>
              <a:rPr lang="de-DE" dirty="0"/>
              <a:t> </a:t>
            </a:r>
            <a:r>
              <a:rPr lang="de-DE" dirty="0" err="1"/>
              <a:t>theories</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2</a:t>
            </a:fld>
            <a:endParaRPr lang="de-DE"/>
          </a:p>
        </p:txBody>
      </p:sp>
    </p:spTree>
    <p:extLst>
      <p:ext uri="{BB962C8B-B14F-4D97-AF65-F5344CB8AC3E}">
        <p14:creationId xmlns:p14="http://schemas.microsoft.com/office/powerpoint/2010/main" val="216067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a:p>
            <a:r>
              <a:rPr lang="de-DE" dirty="0" err="1"/>
              <a:t>Let`s</a:t>
            </a:r>
            <a:r>
              <a:rPr lang="de-DE" dirty="0"/>
              <a:t> </a:t>
            </a:r>
            <a:r>
              <a:rPr lang="de-DE" dirty="0" err="1"/>
              <a:t>dive</a:t>
            </a:r>
            <a:r>
              <a:rPr lang="de-DE" dirty="0"/>
              <a:t> </a:t>
            </a:r>
            <a:r>
              <a:rPr lang="de-DE" dirty="0" err="1"/>
              <a:t>deeper</a:t>
            </a:r>
            <a:r>
              <a:rPr lang="de-DE" dirty="0"/>
              <a:t> </a:t>
            </a:r>
            <a:r>
              <a:rPr lang="de-DE" dirty="0" err="1"/>
              <a:t>into</a:t>
            </a:r>
            <a:r>
              <a:rPr lang="de-DE" dirty="0"/>
              <a:t> </a:t>
            </a:r>
            <a:r>
              <a:rPr lang="de-DE" dirty="0" err="1"/>
              <a:t>this</a:t>
            </a:r>
            <a:r>
              <a:rPr lang="de-DE" dirty="0"/>
              <a:t>. I will </a:t>
            </a:r>
            <a:r>
              <a:rPr lang="de-DE" dirty="0" err="1"/>
              <a:t>start</a:t>
            </a:r>
            <a:r>
              <a:rPr lang="de-DE" dirty="0"/>
              <a:t> in </a:t>
            </a:r>
            <a:r>
              <a:rPr lang="de-DE" dirty="0" err="1"/>
              <a:t>th</a:t>
            </a:r>
            <a:r>
              <a:rPr lang="de-DE" dirty="0"/>
              <a:t> 1970s, </a:t>
            </a:r>
            <a:r>
              <a:rPr lang="de-DE" dirty="0" err="1"/>
              <a:t>showing</a:t>
            </a:r>
            <a:r>
              <a:rPr lang="de-DE" dirty="0"/>
              <a:t> </a:t>
            </a:r>
            <a:r>
              <a:rPr lang="de-DE" dirty="0" err="1"/>
              <a:t>how</a:t>
            </a:r>
            <a:r>
              <a:rPr lang="de-DE" dirty="0"/>
              <a:t> </a:t>
            </a:r>
            <a:r>
              <a:rPr lang="de-DE" dirty="0" err="1"/>
              <a:t>repeatedly</a:t>
            </a:r>
            <a:r>
              <a:rPr lang="de-DE" dirty="0"/>
              <a:t>, </a:t>
            </a:r>
            <a:r>
              <a:rPr lang="de-DE" dirty="0" err="1"/>
              <a:t>theoretical</a:t>
            </a:r>
            <a:r>
              <a:rPr lang="de-DE" dirty="0"/>
              <a:t> </a:t>
            </a:r>
            <a:r>
              <a:rPr lang="de-DE" dirty="0" err="1"/>
              <a:t>ideas</a:t>
            </a:r>
            <a:r>
              <a:rPr lang="de-DE" dirty="0"/>
              <a:t> </a:t>
            </a:r>
            <a:r>
              <a:rPr lang="de-DE" dirty="0" err="1"/>
              <a:t>about</a:t>
            </a:r>
            <a:r>
              <a:rPr lang="de-DE" dirty="0"/>
              <a:t>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inspired</a:t>
            </a:r>
            <a:r>
              <a:rPr lang="de-DE" dirty="0"/>
              <a:t> </a:t>
            </a:r>
            <a:r>
              <a:rPr lang="de-DE" dirty="0" err="1"/>
              <a:t>statistical</a:t>
            </a:r>
            <a:r>
              <a:rPr lang="de-DE" dirty="0"/>
              <a:t> </a:t>
            </a:r>
            <a:r>
              <a:rPr lang="de-DE" dirty="0" err="1"/>
              <a:t>modeling</a:t>
            </a:r>
            <a:r>
              <a:rPr lang="de-DE" dirty="0"/>
              <a:t>, and </a:t>
            </a:r>
            <a:r>
              <a:rPr lang="de-DE" dirty="0" err="1"/>
              <a:t>the</a:t>
            </a:r>
            <a:r>
              <a:rPr lang="de-DE" dirty="0"/>
              <a:t> </a:t>
            </a:r>
            <a:r>
              <a:rPr lang="de-DE" dirty="0" err="1"/>
              <a:t>other</a:t>
            </a:r>
            <a:r>
              <a:rPr lang="de-DE" dirty="0"/>
              <a:t> </a:t>
            </a:r>
            <a:r>
              <a:rPr lang="de-DE" dirty="0" err="1"/>
              <a:t>way</a:t>
            </a:r>
            <a:r>
              <a:rPr lang="de-DE" dirty="0"/>
              <a:t> </a:t>
            </a:r>
            <a:r>
              <a:rPr lang="de-DE" dirty="0" err="1"/>
              <a:t>round</a:t>
            </a:r>
            <a:r>
              <a:rPr lang="de-DE" dirty="0"/>
              <a:t>.</a:t>
            </a:r>
          </a:p>
          <a:p>
            <a:r>
              <a:rPr lang="de-DE" dirty="0"/>
              <a:t>I will </a:t>
            </a:r>
            <a:r>
              <a:rPr lang="de-DE" dirty="0" err="1"/>
              <a:t>argue</a:t>
            </a:r>
            <a:r>
              <a:rPr lang="de-DE" dirty="0"/>
              <a:t> </a:t>
            </a:r>
            <a:r>
              <a:rPr lang="de-DE" dirty="0" err="1"/>
              <a:t>for</a:t>
            </a:r>
            <a:r>
              <a:rPr lang="de-DE" dirty="0"/>
              <a:t> </a:t>
            </a:r>
            <a:r>
              <a:rPr lang="de-DE" dirty="0" err="1"/>
              <a:t>the</a:t>
            </a:r>
            <a:r>
              <a:rPr lang="de-DE" dirty="0"/>
              <a:t> </a:t>
            </a:r>
            <a:r>
              <a:rPr lang="de-DE" dirty="0" err="1"/>
              <a:t>following</a:t>
            </a:r>
            <a:r>
              <a:rPr lang="de-DE" dirty="0"/>
              <a:t> </a:t>
            </a:r>
            <a:r>
              <a:rPr lang="de-DE" dirty="0" err="1"/>
              <a:t>view</a:t>
            </a:r>
            <a:r>
              <a:rPr lang="de-DE" dirty="0"/>
              <a:t>:</a:t>
            </a:r>
          </a:p>
          <a:p>
            <a:r>
              <a:rPr lang="de-DE" dirty="0" err="1"/>
              <a:t>Whenever</a:t>
            </a:r>
            <a:r>
              <a:rPr lang="de-DE" dirty="0"/>
              <a:t> </a:t>
            </a:r>
            <a:r>
              <a:rPr lang="de-DE" dirty="0" err="1"/>
              <a:t>theoretical</a:t>
            </a:r>
            <a:r>
              <a:rPr lang="de-DE" dirty="0"/>
              <a:t> </a:t>
            </a:r>
            <a:r>
              <a:rPr lang="de-DE" dirty="0" err="1"/>
              <a:t>ideas</a:t>
            </a:r>
            <a:r>
              <a:rPr lang="de-DE" dirty="0"/>
              <a:t> </a:t>
            </a:r>
            <a:r>
              <a:rPr lang="de-DE" dirty="0" err="1"/>
              <a:t>inspired</a:t>
            </a:r>
            <a:r>
              <a:rPr lang="de-DE" dirty="0"/>
              <a:t> </a:t>
            </a:r>
            <a:r>
              <a:rPr lang="de-DE" dirty="0" err="1"/>
              <a:t>statistical</a:t>
            </a:r>
            <a:r>
              <a:rPr lang="de-DE" dirty="0"/>
              <a:t> </a:t>
            </a:r>
            <a:r>
              <a:rPr lang="de-DE" dirty="0" err="1"/>
              <a:t>models</a:t>
            </a:r>
            <a:r>
              <a:rPr lang="de-DE" dirty="0"/>
              <a:t>, </a:t>
            </a:r>
            <a:r>
              <a:rPr lang="de-DE" dirty="0" err="1"/>
              <a:t>this</a:t>
            </a:r>
            <a:r>
              <a:rPr lang="de-DE" dirty="0"/>
              <a:t> </a:t>
            </a:r>
            <a:r>
              <a:rPr lang="de-DE" dirty="0" err="1"/>
              <a:t>led</a:t>
            </a:r>
            <a:r>
              <a:rPr lang="de-DE" dirty="0"/>
              <a:t> </a:t>
            </a:r>
            <a:r>
              <a:rPr lang="de-DE" dirty="0" err="1"/>
              <a:t>to</a:t>
            </a:r>
            <a:r>
              <a:rPr lang="de-DE" dirty="0"/>
              <a:t> </a:t>
            </a:r>
            <a:r>
              <a:rPr lang="de-DE" dirty="0" err="1"/>
              <a:t>novel</a:t>
            </a:r>
            <a:r>
              <a:rPr lang="de-DE" dirty="0"/>
              <a:t> and </a:t>
            </a:r>
            <a:r>
              <a:rPr lang="de-DE" dirty="0" err="1"/>
              <a:t>useful</a:t>
            </a:r>
            <a:r>
              <a:rPr lang="de-DE" dirty="0"/>
              <a:t> </a:t>
            </a:r>
            <a:r>
              <a:rPr lang="de-DE" dirty="0" err="1"/>
              <a:t>contributions</a:t>
            </a:r>
            <a:r>
              <a:rPr lang="de-DE" dirty="0"/>
              <a:t> </a:t>
            </a:r>
            <a:r>
              <a:rPr lang="de-DE" dirty="0" err="1"/>
              <a:t>to</a:t>
            </a:r>
            <a:r>
              <a:rPr lang="de-DE" dirty="0"/>
              <a:t> </a:t>
            </a:r>
            <a:r>
              <a:rPr lang="de-DE" dirty="0" err="1"/>
              <a:t>the</a:t>
            </a:r>
            <a:r>
              <a:rPr lang="de-DE" dirty="0"/>
              <a:t> </a:t>
            </a:r>
            <a:r>
              <a:rPr lang="de-DE" dirty="0" err="1"/>
              <a:t>field</a:t>
            </a:r>
            <a:r>
              <a:rPr lang="de-DE" dirty="0"/>
              <a:t> – </a:t>
            </a:r>
          </a:p>
          <a:p>
            <a:r>
              <a:rPr lang="de-DE" dirty="0"/>
              <a:t>But </a:t>
            </a:r>
            <a:r>
              <a:rPr lang="de-DE" dirty="0" err="1"/>
              <a:t>whenever</a:t>
            </a:r>
            <a:r>
              <a:rPr lang="de-DE" dirty="0"/>
              <a:t> </a:t>
            </a:r>
            <a:r>
              <a:rPr lang="de-DE" dirty="0" err="1"/>
              <a:t>statistical</a:t>
            </a:r>
            <a:r>
              <a:rPr lang="de-DE" dirty="0"/>
              <a:t> </a:t>
            </a:r>
            <a:r>
              <a:rPr lang="de-DE" dirty="0" err="1"/>
              <a:t>modeling</a:t>
            </a:r>
            <a:r>
              <a:rPr lang="de-DE" dirty="0"/>
              <a:t> </a:t>
            </a:r>
            <a:r>
              <a:rPr lang="de-DE" dirty="0" err="1"/>
              <a:t>meant</a:t>
            </a:r>
            <a:r>
              <a:rPr lang="de-DE" dirty="0"/>
              <a:t> </a:t>
            </a:r>
            <a:r>
              <a:rPr lang="de-DE" dirty="0" err="1"/>
              <a:t>to</a:t>
            </a:r>
            <a:r>
              <a:rPr lang="de-DE" dirty="0"/>
              <a:t> </a:t>
            </a:r>
            <a:r>
              <a:rPr lang="de-DE" dirty="0" err="1"/>
              <a:t>dictate</a:t>
            </a:r>
            <a:r>
              <a:rPr lang="de-DE" dirty="0"/>
              <a:t> </a:t>
            </a:r>
            <a:r>
              <a:rPr lang="de-DE" dirty="0" err="1"/>
              <a:t>what</a:t>
            </a:r>
            <a:r>
              <a:rPr lang="de-DE" dirty="0"/>
              <a:t> </a:t>
            </a:r>
            <a:r>
              <a:rPr lang="de-DE" dirty="0" err="1"/>
              <a:t>educational</a:t>
            </a:r>
            <a:r>
              <a:rPr lang="de-DE" dirty="0"/>
              <a:t> </a:t>
            </a:r>
            <a:r>
              <a:rPr lang="de-DE" dirty="0" err="1"/>
              <a:t>researchers</a:t>
            </a:r>
            <a:r>
              <a:rPr lang="de-DE" dirty="0"/>
              <a:t> </a:t>
            </a:r>
            <a:r>
              <a:rPr lang="de-DE" dirty="0" err="1"/>
              <a:t>should</a:t>
            </a:r>
            <a:r>
              <a:rPr lang="de-DE" dirty="0"/>
              <a:t> </a:t>
            </a:r>
            <a:r>
              <a:rPr lang="de-DE" dirty="0" err="1"/>
              <a:t>be</a:t>
            </a:r>
            <a:r>
              <a:rPr lang="de-DE" dirty="0"/>
              <a:t> </a:t>
            </a:r>
            <a:r>
              <a:rPr lang="de-DE" dirty="0" err="1"/>
              <a:t>doing</a:t>
            </a:r>
            <a:r>
              <a:rPr lang="de-DE" dirty="0"/>
              <a:t>, </a:t>
            </a:r>
            <a:r>
              <a:rPr lang="de-DE" dirty="0" err="1"/>
              <a:t>this</a:t>
            </a:r>
            <a:r>
              <a:rPr lang="de-DE" dirty="0"/>
              <a:t> </a:t>
            </a:r>
            <a:r>
              <a:rPr lang="de-DE" dirty="0" err="1"/>
              <a:t>led</a:t>
            </a:r>
            <a:r>
              <a:rPr lang="de-DE" dirty="0"/>
              <a:t> </a:t>
            </a:r>
            <a:r>
              <a:rPr lang="de-DE" dirty="0" err="1"/>
              <a:t>to</a:t>
            </a:r>
            <a:r>
              <a:rPr lang="de-DE" dirty="0"/>
              <a:t> a </a:t>
            </a:r>
            <a:r>
              <a:rPr lang="de-DE" dirty="0" err="1"/>
              <a:t>destructive</a:t>
            </a:r>
            <a:r>
              <a:rPr lang="de-DE" dirty="0"/>
              <a:t> </a:t>
            </a:r>
            <a:r>
              <a:rPr lang="de-DE" dirty="0" err="1"/>
              <a:t>role</a:t>
            </a:r>
            <a:r>
              <a:rPr lang="de-DE" dirty="0"/>
              <a:t> </a:t>
            </a:r>
            <a:r>
              <a:rPr lang="de-DE" dirty="0" err="1"/>
              <a:t>of</a:t>
            </a:r>
            <a:r>
              <a:rPr lang="de-DE" dirty="0"/>
              <a:t> </a:t>
            </a:r>
            <a:r>
              <a:rPr lang="de-DE" dirty="0" err="1"/>
              <a:t>statistics</a:t>
            </a:r>
            <a:r>
              <a:rPr lang="de-DE" dirty="0"/>
              <a:t>.</a:t>
            </a:r>
          </a:p>
          <a:p>
            <a:r>
              <a:rPr lang="de-DE" dirty="0"/>
              <a:t>I </a:t>
            </a:r>
            <a:r>
              <a:rPr lang="de-DE" dirty="0" err="1"/>
              <a:t>provide</a:t>
            </a:r>
            <a:r>
              <a:rPr lang="de-DE" dirty="0"/>
              <a:t> an </a:t>
            </a:r>
            <a:r>
              <a:rPr lang="de-DE" dirty="0" err="1"/>
              <a:t>explanation</a:t>
            </a:r>
            <a:r>
              <a:rPr lang="de-DE" dirty="0"/>
              <a:t> </a:t>
            </a:r>
            <a:r>
              <a:rPr lang="de-DE" dirty="0" err="1"/>
              <a:t>for</a:t>
            </a:r>
            <a:r>
              <a:rPr lang="de-DE" dirty="0"/>
              <a:t> </a:t>
            </a:r>
            <a:r>
              <a:rPr lang="de-DE" dirty="0" err="1"/>
              <a:t>this</a:t>
            </a:r>
            <a:r>
              <a:rPr lang="de-DE" dirty="0"/>
              <a:t> </a:t>
            </a:r>
            <a:r>
              <a:rPr lang="de-DE" dirty="0" err="1"/>
              <a:t>historical</a:t>
            </a:r>
            <a:r>
              <a:rPr lang="de-DE" dirty="0"/>
              <a:t> </a:t>
            </a:r>
            <a:r>
              <a:rPr lang="de-DE" dirty="0" err="1"/>
              <a:t>trend</a:t>
            </a:r>
            <a:r>
              <a:rPr lang="de-DE" dirty="0"/>
              <a:t>, </a:t>
            </a:r>
            <a:r>
              <a:rPr lang="de-DE" dirty="0" err="1"/>
              <a:t>resulting</a:t>
            </a:r>
            <a:r>
              <a:rPr lang="de-DE" dirty="0"/>
              <a:t> in </a:t>
            </a:r>
            <a:r>
              <a:rPr lang="de-DE" dirty="0" err="1"/>
              <a:t>five</a:t>
            </a:r>
            <a:r>
              <a:rPr lang="de-DE" dirty="0"/>
              <a:t> </a:t>
            </a:r>
            <a:r>
              <a:rPr lang="de-DE" dirty="0" err="1"/>
              <a:t>wishes</a:t>
            </a:r>
            <a:r>
              <a:rPr lang="de-DE" dirty="0"/>
              <a:t> and </a:t>
            </a:r>
            <a:r>
              <a:rPr lang="de-DE" dirty="0" err="1"/>
              <a:t>visions</a:t>
            </a:r>
            <a:r>
              <a:rPr lang="de-DE" dirty="0"/>
              <a:t> </a:t>
            </a:r>
            <a:r>
              <a:rPr lang="de-DE" dirty="0" err="1"/>
              <a:t>for</a:t>
            </a:r>
            <a:r>
              <a:rPr lang="de-DE" dirty="0"/>
              <a:t> </a:t>
            </a:r>
            <a:r>
              <a:rPr lang="de-DE" dirty="0" err="1"/>
              <a:t>future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1970s!</a:t>
            </a:r>
          </a:p>
          <a:p>
            <a:endParaRPr lang="de-DE" dirty="0"/>
          </a:p>
          <a:p>
            <a:endParaRPr lang="de-DE" dirty="0"/>
          </a:p>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0399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543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264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7260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Rule:</a:t>
            </a:r>
            <a:br>
              <a:rPr lang="de-DE" dirty="0"/>
            </a:br>
            <a:r>
              <a:rPr lang="de-DE" dirty="0" err="1"/>
              <a:t>Strategy</a:t>
            </a:r>
            <a:r>
              <a:rPr lang="de-DE" dirty="0"/>
              <a:t>, </a:t>
            </a:r>
            <a:r>
              <a:rPr lang="de-DE" dirty="0" err="1"/>
              <a:t>procdure</a:t>
            </a:r>
            <a:r>
              <a:rPr lang="de-DE" dirty="0"/>
              <a:t>, </a:t>
            </a:r>
            <a:r>
              <a:rPr lang="de-DE" dirty="0" err="1"/>
              <a:t>skill</a:t>
            </a:r>
            <a:r>
              <a:rPr lang="de-DE" dirty="0"/>
              <a:t>, </a:t>
            </a:r>
            <a:r>
              <a:rPr lang="de-DE" dirty="0" err="1"/>
              <a:t>operation</a:t>
            </a:r>
            <a:r>
              <a:rPr lang="de-DE" dirty="0"/>
              <a:t>, </a:t>
            </a:r>
            <a:r>
              <a:rPr lang="de-DE" dirty="0" err="1"/>
              <a:t>hypothesis</a:t>
            </a:r>
            <a:r>
              <a:rPr lang="de-DE" dirty="0"/>
              <a:t>, </a:t>
            </a:r>
            <a:r>
              <a:rPr lang="de-DE" dirty="0" err="1"/>
              <a:t>conception</a:t>
            </a:r>
            <a:r>
              <a:rPr lang="de-DE" dirty="0"/>
              <a:t>, etc.</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642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175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17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5276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1647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9966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3rd </a:t>
            </a:r>
            <a:r>
              <a:rPr lang="de-DE" dirty="0" err="1"/>
              <a:t>to</a:t>
            </a:r>
            <a:r>
              <a:rPr lang="de-DE" dirty="0"/>
              <a:t> 6th </a:t>
            </a:r>
            <a:r>
              <a:rPr lang="de-DE" dirty="0" err="1"/>
              <a:t>graders</a:t>
            </a:r>
            <a:r>
              <a:rPr lang="de-DE" dirty="0"/>
              <a:t> </a:t>
            </a:r>
            <a:r>
              <a:rPr lang="de-DE" dirty="0" err="1"/>
              <a:t>using</a:t>
            </a:r>
            <a:r>
              <a:rPr lang="de-DE" dirty="0"/>
              <a:t> semi-</a:t>
            </a:r>
            <a:r>
              <a:rPr lang="de-DE" dirty="0" err="1"/>
              <a:t>structured</a:t>
            </a:r>
            <a:r>
              <a:rPr lang="de-DE" dirty="0"/>
              <a:t> </a:t>
            </a:r>
            <a:r>
              <a:rPr lang="de-DE" dirty="0" err="1"/>
              <a:t>interviews</a:t>
            </a:r>
            <a:r>
              <a:rPr lang="de-DE" dirty="0"/>
              <a:t> and </a:t>
            </a:r>
            <a:r>
              <a:rPr lang="de-DE" dirty="0" err="1"/>
              <a:t>drawings</a:t>
            </a:r>
            <a:r>
              <a:rPr lang="de-DE" dirty="0"/>
              <a:t> </a:t>
            </a:r>
            <a:r>
              <a:rPr lang="de-DE" dirty="0" err="1"/>
              <a:t>to</a:t>
            </a:r>
            <a:r>
              <a:rPr lang="de-DE" dirty="0"/>
              <a:t> </a:t>
            </a:r>
            <a:r>
              <a:rPr lang="de-DE" dirty="0" err="1"/>
              <a:t>elucidate</a:t>
            </a:r>
            <a:r>
              <a:rPr lang="de-DE" dirty="0"/>
              <a:t> </a:t>
            </a:r>
            <a:r>
              <a:rPr lang="de-DE" dirty="0" err="1"/>
              <a:t>their</a:t>
            </a:r>
            <a:r>
              <a:rPr lang="de-DE" dirty="0"/>
              <a:t> mental </a:t>
            </a:r>
            <a:r>
              <a:rPr lang="de-DE" dirty="0" err="1"/>
              <a:t>models</a:t>
            </a:r>
            <a:r>
              <a:rPr lang="de-DE" dirty="0"/>
              <a:t> </a:t>
            </a:r>
            <a:r>
              <a:rPr lang="de-DE" dirty="0" err="1"/>
              <a:t>of</a:t>
            </a:r>
            <a:r>
              <a:rPr lang="de-DE" dirty="0"/>
              <a:t> </a:t>
            </a:r>
            <a:r>
              <a:rPr lang="de-DE" dirty="0" err="1"/>
              <a:t>the</a:t>
            </a:r>
            <a:r>
              <a:rPr lang="de-DE" dirty="0"/>
              <a:t> </a:t>
            </a:r>
            <a:r>
              <a:rPr lang="de-DE" dirty="0" err="1"/>
              <a:t>earth</a:t>
            </a:r>
            <a:r>
              <a:rPr lang="de-DE" dirty="0"/>
              <a:t> and </a:t>
            </a:r>
            <a:r>
              <a:rPr lang="de-DE" dirty="0" err="1"/>
              <a:t>orbs</a:t>
            </a:r>
            <a:r>
              <a:rPr lang="de-DE" dirty="0"/>
              <a:t>, and </a:t>
            </a:r>
            <a:r>
              <a:rPr lang="de-DE" dirty="0" err="1"/>
              <a:t>where</a:t>
            </a:r>
            <a:r>
              <a:rPr lang="de-DE" dirty="0"/>
              <a:t> </a:t>
            </a:r>
            <a:r>
              <a:rPr lang="de-DE" dirty="0" err="1"/>
              <a:t>humans</a:t>
            </a:r>
            <a:r>
              <a:rPr lang="de-DE" dirty="0"/>
              <a:t> live on </a:t>
            </a:r>
            <a:r>
              <a:rPr lang="de-DE" dirty="0" err="1"/>
              <a:t>the</a:t>
            </a:r>
            <a:r>
              <a:rPr lang="de-DE" dirty="0"/>
              <a:t> </a:t>
            </a:r>
            <a:r>
              <a:rPr lang="de-DE" dirty="0" err="1"/>
              <a:t>earth</a:t>
            </a:r>
            <a:r>
              <a:rPr lang="de-DE" dirty="0"/>
              <a:t>.</a:t>
            </a:r>
          </a:p>
          <a:p>
            <a:r>
              <a:rPr lang="de-DE" dirty="0" err="1"/>
              <a:t>Raising</a:t>
            </a:r>
            <a:r>
              <a:rPr lang="de-DE" dirty="0"/>
              <a:t> </a:t>
            </a:r>
            <a:r>
              <a:rPr lang="de-DE" dirty="0" err="1"/>
              <a:t>hypotheses</a:t>
            </a:r>
            <a:r>
              <a:rPr lang="de-DE" dirty="0"/>
              <a:t> </a:t>
            </a:r>
            <a:r>
              <a:rPr lang="de-DE" dirty="0" err="1"/>
              <a:t>about</a:t>
            </a:r>
            <a:r>
              <a:rPr lang="de-DE" dirty="0"/>
              <a:t> </a:t>
            </a:r>
            <a:r>
              <a:rPr lang="de-DE" dirty="0" err="1"/>
              <a:t>how</a:t>
            </a:r>
            <a:r>
              <a:rPr lang="de-DE" dirty="0"/>
              <a:t> </a:t>
            </a:r>
            <a:r>
              <a:rPr lang="de-DE" dirty="0" err="1"/>
              <a:t>children</a:t>
            </a:r>
            <a:r>
              <a:rPr lang="de-DE" dirty="0"/>
              <a:t> </a:t>
            </a:r>
            <a:r>
              <a:rPr lang="de-DE" dirty="0" err="1"/>
              <a:t>develop</a:t>
            </a:r>
            <a:r>
              <a:rPr lang="de-DE" dirty="0"/>
              <a:t> </a:t>
            </a:r>
            <a:r>
              <a:rPr lang="de-DE" dirty="0" err="1"/>
              <a:t>synthetic</a:t>
            </a:r>
            <a:r>
              <a:rPr lang="de-DE" dirty="0"/>
              <a:t> </a:t>
            </a:r>
            <a:r>
              <a:rPr lang="de-DE" dirty="0" err="1"/>
              <a:t>models</a:t>
            </a:r>
            <a:r>
              <a:rPr lang="de-DE" dirty="0"/>
              <a:t> </a:t>
            </a:r>
            <a:r>
              <a:rPr lang="de-DE" dirty="0" err="1"/>
              <a:t>when</a:t>
            </a:r>
            <a:r>
              <a:rPr lang="de-DE" dirty="0"/>
              <a:t> </a:t>
            </a:r>
            <a:r>
              <a:rPr lang="de-DE" dirty="0" err="1"/>
              <a:t>information</a:t>
            </a:r>
            <a:r>
              <a:rPr lang="de-DE" dirty="0"/>
              <a:t> </a:t>
            </a:r>
            <a:r>
              <a:rPr lang="de-DE" dirty="0" err="1"/>
              <a:t>they</a:t>
            </a:r>
            <a:r>
              <a:rPr lang="de-DE" dirty="0"/>
              <a:t> </a:t>
            </a:r>
            <a:r>
              <a:rPr lang="de-DE" dirty="0" err="1"/>
              <a:t>learn</a:t>
            </a:r>
            <a:r>
              <a:rPr lang="de-DE" dirty="0"/>
              <a:t> in </a:t>
            </a:r>
            <a:r>
              <a:rPr lang="de-DE" dirty="0" err="1"/>
              <a:t>school</a:t>
            </a:r>
            <a:r>
              <a:rPr lang="de-DE" dirty="0"/>
              <a:t> </a:t>
            </a:r>
            <a:r>
              <a:rPr lang="de-DE" dirty="0" err="1"/>
              <a:t>disagrees</a:t>
            </a:r>
            <a:r>
              <a:rPr lang="de-DE" dirty="0"/>
              <a:t> </a:t>
            </a:r>
            <a:r>
              <a:rPr lang="de-DE" dirty="0" err="1"/>
              <a:t>with</a:t>
            </a:r>
            <a:r>
              <a:rPr lang="de-DE" dirty="0"/>
              <a:t> </a:t>
            </a:r>
            <a:r>
              <a:rPr lang="de-DE" dirty="0" err="1"/>
              <a:t>their</a:t>
            </a:r>
            <a:r>
              <a:rPr lang="de-DE" dirty="0"/>
              <a:t> </a:t>
            </a:r>
            <a:r>
              <a:rPr lang="de-DE" dirty="0" err="1"/>
              <a:t>prior</a:t>
            </a:r>
            <a:r>
              <a:rPr lang="de-DE" dirty="0"/>
              <a:t> intuitive </a:t>
            </a:r>
            <a:r>
              <a:rPr lang="de-DE" dirty="0" err="1"/>
              <a:t>conceptions</a:t>
            </a:r>
            <a:r>
              <a:rPr lang="de-DE" dirty="0"/>
              <a:t>.</a:t>
            </a: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638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3rd </a:t>
            </a:r>
            <a:r>
              <a:rPr lang="de-DE" dirty="0" err="1"/>
              <a:t>to</a:t>
            </a:r>
            <a:r>
              <a:rPr lang="de-DE" dirty="0"/>
              <a:t> 6th </a:t>
            </a:r>
            <a:r>
              <a:rPr lang="de-DE" dirty="0" err="1"/>
              <a:t>graders</a:t>
            </a:r>
            <a:r>
              <a:rPr lang="de-DE" dirty="0"/>
              <a:t> </a:t>
            </a:r>
            <a:r>
              <a:rPr lang="de-DE" dirty="0" err="1"/>
              <a:t>using</a:t>
            </a:r>
            <a:r>
              <a:rPr lang="de-DE" dirty="0"/>
              <a:t> semi-</a:t>
            </a:r>
            <a:r>
              <a:rPr lang="de-DE" dirty="0" err="1"/>
              <a:t>structured</a:t>
            </a:r>
            <a:r>
              <a:rPr lang="de-DE" dirty="0"/>
              <a:t> </a:t>
            </a:r>
            <a:r>
              <a:rPr lang="de-DE" dirty="0" err="1"/>
              <a:t>interviews</a:t>
            </a:r>
            <a:r>
              <a:rPr lang="de-DE" dirty="0"/>
              <a:t> and </a:t>
            </a:r>
            <a:r>
              <a:rPr lang="de-DE" dirty="0" err="1"/>
              <a:t>drawings</a:t>
            </a:r>
            <a:r>
              <a:rPr lang="de-DE" dirty="0"/>
              <a:t> </a:t>
            </a:r>
            <a:r>
              <a:rPr lang="de-DE" dirty="0" err="1"/>
              <a:t>to</a:t>
            </a:r>
            <a:r>
              <a:rPr lang="de-DE" dirty="0"/>
              <a:t> </a:t>
            </a:r>
            <a:r>
              <a:rPr lang="de-DE" dirty="0" err="1"/>
              <a:t>elucidate</a:t>
            </a:r>
            <a:r>
              <a:rPr lang="de-DE" dirty="0"/>
              <a:t> </a:t>
            </a:r>
            <a:r>
              <a:rPr lang="de-DE" dirty="0" err="1"/>
              <a:t>their</a:t>
            </a:r>
            <a:r>
              <a:rPr lang="de-DE" dirty="0"/>
              <a:t> mental </a:t>
            </a:r>
            <a:r>
              <a:rPr lang="de-DE" dirty="0" err="1"/>
              <a:t>models</a:t>
            </a:r>
            <a:r>
              <a:rPr lang="de-DE" dirty="0"/>
              <a:t> </a:t>
            </a:r>
            <a:r>
              <a:rPr lang="de-DE" dirty="0" err="1"/>
              <a:t>of</a:t>
            </a:r>
            <a:r>
              <a:rPr lang="de-DE" dirty="0"/>
              <a:t> </a:t>
            </a:r>
            <a:r>
              <a:rPr lang="de-DE" dirty="0" err="1"/>
              <a:t>the</a:t>
            </a:r>
            <a:r>
              <a:rPr lang="de-DE" dirty="0"/>
              <a:t> </a:t>
            </a:r>
            <a:r>
              <a:rPr lang="de-DE" dirty="0" err="1"/>
              <a:t>earth</a:t>
            </a:r>
            <a:r>
              <a:rPr lang="de-DE" dirty="0"/>
              <a:t> and </a:t>
            </a:r>
            <a:r>
              <a:rPr lang="de-DE" dirty="0" err="1"/>
              <a:t>orbs</a:t>
            </a:r>
            <a:r>
              <a:rPr lang="de-DE" dirty="0"/>
              <a:t>, and </a:t>
            </a:r>
            <a:r>
              <a:rPr lang="de-DE" dirty="0" err="1"/>
              <a:t>where</a:t>
            </a:r>
            <a:r>
              <a:rPr lang="de-DE" dirty="0"/>
              <a:t> </a:t>
            </a:r>
            <a:r>
              <a:rPr lang="de-DE" dirty="0" err="1"/>
              <a:t>humans</a:t>
            </a:r>
            <a:r>
              <a:rPr lang="de-DE" dirty="0"/>
              <a:t> live on </a:t>
            </a:r>
            <a:r>
              <a:rPr lang="de-DE" dirty="0" err="1"/>
              <a:t>the</a:t>
            </a:r>
            <a:r>
              <a:rPr lang="de-DE" dirty="0"/>
              <a:t> </a:t>
            </a:r>
            <a:r>
              <a:rPr lang="de-DE" dirty="0" err="1"/>
              <a:t>earth</a:t>
            </a:r>
            <a:r>
              <a:rPr lang="de-DE" dirty="0"/>
              <a:t>.</a:t>
            </a:r>
          </a:p>
          <a:p>
            <a:r>
              <a:rPr lang="de-DE" dirty="0" err="1"/>
              <a:t>Raising</a:t>
            </a:r>
            <a:r>
              <a:rPr lang="de-DE" dirty="0"/>
              <a:t> </a:t>
            </a:r>
            <a:r>
              <a:rPr lang="de-DE" dirty="0" err="1"/>
              <a:t>hypotheses</a:t>
            </a:r>
            <a:r>
              <a:rPr lang="de-DE" dirty="0"/>
              <a:t> </a:t>
            </a:r>
            <a:r>
              <a:rPr lang="de-DE" dirty="0" err="1"/>
              <a:t>about</a:t>
            </a:r>
            <a:r>
              <a:rPr lang="de-DE" dirty="0"/>
              <a:t> </a:t>
            </a:r>
            <a:r>
              <a:rPr lang="de-DE" dirty="0" err="1"/>
              <a:t>how</a:t>
            </a:r>
            <a:r>
              <a:rPr lang="de-DE" dirty="0"/>
              <a:t> </a:t>
            </a:r>
            <a:r>
              <a:rPr lang="de-DE" dirty="0" err="1"/>
              <a:t>children</a:t>
            </a:r>
            <a:r>
              <a:rPr lang="de-DE" dirty="0"/>
              <a:t> </a:t>
            </a:r>
            <a:r>
              <a:rPr lang="de-DE" dirty="0" err="1"/>
              <a:t>develop</a:t>
            </a:r>
            <a:r>
              <a:rPr lang="de-DE" dirty="0"/>
              <a:t> </a:t>
            </a:r>
            <a:r>
              <a:rPr lang="de-DE" dirty="0" err="1"/>
              <a:t>synthetic</a:t>
            </a:r>
            <a:r>
              <a:rPr lang="de-DE" dirty="0"/>
              <a:t> </a:t>
            </a:r>
            <a:r>
              <a:rPr lang="de-DE" dirty="0" err="1"/>
              <a:t>models</a:t>
            </a:r>
            <a:r>
              <a:rPr lang="de-DE" dirty="0"/>
              <a:t> </a:t>
            </a:r>
            <a:r>
              <a:rPr lang="de-DE" dirty="0" err="1"/>
              <a:t>when</a:t>
            </a:r>
            <a:r>
              <a:rPr lang="de-DE" dirty="0"/>
              <a:t> </a:t>
            </a:r>
            <a:r>
              <a:rPr lang="de-DE" dirty="0" err="1"/>
              <a:t>information</a:t>
            </a:r>
            <a:r>
              <a:rPr lang="de-DE" dirty="0"/>
              <a:t> </a:t>
            </a:r>
            <a:r>
              <a:rPr lang="de-DE" dirty="0" err="1"/>
              <a:t>they</a:t>
            </a:r>
            <a:r>
              <a:rPr lang="de-DE" dirty="0"/>
              <a:t> </a:t>
            </a:r>
            <a:r>
              <a:rPr lang="de-DE" dirty="0" err="1"/>
              <a:t>learn</a:t>
            </a:r>
            <a:r>
              <a:rPr lang="de-DE" dirty="0"/>
              <a:t> in </a:t>
            </a:r>
            <a:r>
              <a:rPr lang="de-DE" dirty="0" err="1"/>
              <a:t>school</a:t>
            </a:r>
            <a:r>
              <a:rPr lang="de-DE" dirty="0"/>
              <a:t> </a:t>
            </a:r>
            <a:r>
              <a:rPr lang="de-DE" dirty="0" err="1"/>
              <a:t>disagrees</a:t>
            </a:r>
            <a:r>
              <a:rPr lang="de-DE" dirty="0"/>
              <a:t> </a:t>
            </a:r>
            <a:r>
              <a:rPr lang="de-DE" dirty="0" err="1"/>
              <a:t>with</a:t>
            </a:r>
            <a:r>
              <a:rPr lang="de-DE" dirty="0"/>
              <a:t> </a:t>
            </a:r>
            <a:r>
              <a:rPr lang="de-DE" dirty="0" err="1"/>
              <a:t>their</a:t>
            </a:r>
            <a:r>
              <a:rPr lang="de-DE" dirty="0"/>
              <a:t> </a:t>
            </a:r>
            <a:r>
              <a:rPr lang="de-DE" dirty="0" err="1"/>
              <a:t>prior</a:t>
            </a:r>
            <a:r>
              <a:rPr lang="de-DE" dirty="0"/>
              <a:t> intuitive </a:t>
            </a:r>
            <a:r>
              <a:rPr lang="de-DE" dirty="0" err="1"/>
              <a:t>conceptions</a:t>
            </a:r>
            <a:r>
              <a:rPr lang="de-DE" dirty="0"/>
              <a:t>.</a:t>
            </a: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0031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784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8930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916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7420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9979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5874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006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1617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49526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083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Dictating</a:t>
            </a:r>
            <a:r>
              <a:rPr lang="de-DE" dirty="0"/>
              <a:t> </a:t>
            </a:r>
            <a:r>
              <a:rPr lang="de-DE" dirty="0" err="1"/>
              <a:t>factor</a:t>
            </a:r>
            <a:r>
              <a:rPr lang="de-DE" dirty="0"/>
              <a:t> </a:t>
            </a:r>
            <a:r>
              <a:rPr lang="de-DE" dirty="0" err="1"/>
              <a:t>analysis</a:t>
            </a:r>
            <a:r>
              <a:rPr lang="de-DE" dirty="0"/>
              <a:t> on all </a:t>
            </a:r>
            <a:r>
              <a:rPr lang="de-DE" dirty="0" err="1"/>
              <a:t>of</a:t>
            </a:r>
            <a:r>
              <a:rPr lang="de-DE" dirty="0"/>
              <a:t> </a:t>
            </a:r>
            <a:r>
              <a:rPr lang="de-DE" dirty="0" err="1"/>
              <a:t>us</a:t>
            </a:r>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311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5453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2347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4477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5697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4695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898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23704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058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4867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0979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9843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2055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29210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78209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5099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55951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48978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53899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63992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2087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1752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17630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4747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19055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77315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53953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37350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15681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17408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3970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r>
              <a:rPr lang="de-DE" dirty="0" err="1"/>
              <a:t>Siegler`s</a:t>
            </a:r>
            <a:r>
              <a:rPr lang="de-DE" dirty="0"/>
              <a:t> </a:t>
            </a:r>
            <a:r>
              <a:rPr lang="de-DE" dirty="0" err="1"/>
              <a:t>rule-based</a:t>
            </a:r>
            <a:r>
              <a:rPr lang="de-DE" dirty="0"/>
              <a:t> </a:t>
            </a:r>
            <a:r>
              <a:rPr lang="de-DE" dirty="0" err="1"/>
              <a:t>assessment</a:t>
            </a:r>
            <a:r>
              <a:rPr lang="de-DE" dirty="0"/>
              <a:t> </a:t>
            </a:r>
            <a:r>
              <a:rPr lang="de-DE" dirty="0" err="1"/>
              <a:t>methodology</a:t>
            </a:r>
            <a:r>
              <a:rPr lang="de-DE" dirty="0"/>
              <a:t>.</a:t>
            </a:r>
          </a:p>
          <a:p>
            <a:endParaRPr lang="de-DE" dirty="0"/>
          </a:p>
          <a:p>
            <a:r>
              <a:rPr lang="de-DE" dirty="0"/>
              <a:t>In </a:t>
            </a:r>
            <a:r>
              <a:rPr lang="de-DE" dirty="0" err="1"/>
              <a:t>this</a:t>
            </a:r>
            <a:r>
              <a:rPr lang="de-DE" dirty="0"/>
              <a:t> </a:t>
            </a:r>
            <a:r>
              <a:rPr lang="de-DE" dirty="0" err="1"/>
              <a:t>approach</a:t>
            </a:r>
            <a:r>
              <a:rPr lang="de-DE" dirty="0"/>
              <a:t>, </a:t>
            </a:r>
            <a:r>
              <a:rPr lang="de-DE" dirty="0" err="1"/>
              <a:t>you</a:t>
            </a:r>
            <a:r>
              <a:rPr lang="de-DE" dirty="0"/>
              <a:t> </a:t>
            </a:r>
            <a:r>
              <a:rPr lang="de-DE" dirty="0" err="1"/>
              <a:t>determine</a:t>
            </a:r>
            <a:r>
              <a:rPr lang="de-DE" dirty="0"/>
              <a:t> </a:t>
            </a:r>
            <a:r>
              <a:rPr lang="de-DE" dirty="0" err="1"/>
              <a:t>children`s</a:t>
            </a:r>
            <a:r>
              <a:rPr lang="de-DE" dirty="0"/>
              <a:t> </a:t>
            </a:r>
            <a:r>
              <a:rPr lang="de-DE" dirty="0" err="1"/>
              <a:t>developmental</a:t>
            </a:r>
            <a:r>
              <a:rPr lang="de-DE" dirty="0"/>
              <a:t> </a:t>
            </a:r>
            <a:r>
              <a:rPr lang="de-DE" dirty="0" err="1"/>
              <a:t>stage</a:t>
            </a:r>
            <a:r>
              <a:rPr lang="de-DE" dirty="0"/>
              <a:t> </a:t>
            </a:r>
            <a:r>
              <a:rPr lang="de-DE" dirty="0" err="1"/>
              <a:t>by</a:t>
            </a:r>
            <a:r>
              <a:rPr lang="de-DE" dirty="0"/>
              <a:t> </a:t>
            </a:r>
            <a:r>
              <a:rPr lang="de-DE" dirty="0" err="1"/>
              <a:t>presenting</a:t>
            </a:r>
            <a:r>
              <a:rPr lang="de-DE" dirty="0"/>
              <a:t> different </a:t>
            </a:r>
            <a:r>
              <a:rPr lang="de-DE" dirty="0" err="1"/>
              <a:t>balance</a:t>
            </a:r>
            <a:r>
              <a:rPr lang="de-DE" dirty="0"/>
              <a:t> beam </a:t>
            </a:r>
            <a:r>
              <a:rPr lang="de-DE" dirty="0" err="1"/>
              <a:t>tasks</a:t>
            </a:r>
            <a:r>
              <a:rPr lang="de-DE" dirty="0"/>
              <a:t> </a:t>
            </a:r>
            <a:r>
              <a:rPr lang="de-DE" dirty="0" err="1"/>
              <a:t>to</a:t>
            </a:r>
            <a:r>
              <a:rPr lang="de-DE" dirty="0"/>
              <a:t> </a:t>
            </a:r>
            <a:r>
              <a:rPr lang="de-DE" dirty="0" err="1"/>
              <a:t>them</a:t>
            </a:r>
            <a:r>
              <a:rPr lang="de-DE" dirty="0"/>
              <a:t>:</a:t>
            </a:r>
          </a:p>
          <a:p>
            <a:endParaRPr lang="de-DE" dirty="0"/>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7461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Xxx</a:t>
            </a:r>
            <a:r>
              <a:rPr lang="de-DE" dirty="0"/>
              <a:t>, </a:t>
            </a:r>
            <a:r>
              <a:rPr lang="de-DE" dirty="0" err="1"/>
              <a:t>welcome</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1970s.</a:t>
            </a:r>
          </a:p>
        </p:txBody>
      </p:sp>
      <p:sp>
        <p:nvSpPr>
          <p:cNvPr id="4" name="Foliennummernplatzhalter 3"/>
          <p:cNvSpPr>
            <a:spLocks noGrp="1"/>
          </p:cNvSpPr>
          <p:nvPr>
            <p:ph type="sldNum" sz="quarter" idx="5"/>
          </p:nvPr>
        </p:nvSpPr>
        <p:spPr/>
        <p:txBody>
          <a:bodyPr/>
          <a:lstStyle/>
          <a:p>
            <a:fld id="{5F3851DE-F466-402D-BCCE-A21736686A05}" type="slidenum">
              <a:rPr lang="de-DE" smtClean="0"/>
              <a:t>57</a:t>
            </a:fld>
            <a:endParaRPr lang="de-DE"/>
          </a:p>
        </p:txBody>
      </p:sp>
    </p:spTree>
    <p:extLst>
      <p:ext uri="{BB962C8B-B14F-4D97-AF65-F5344CB8AC3E}">
        <p14:creationId xmlns:p14="http://schemas.microsoft.com/office/powerpoint/2010/main" val="5197243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kind</a:t>
            </a:r>
            <a:r>
              <a:rPr lang="de-DE" dirty="0"/>
              <a:t> </a:t>
            </a:r>
            <a:r>
              <a:rPr lang="de-DE" dirty="0" err="1"/>
              <a:t>introduction</a:t>
            </a:r>
            <a:r>
              <a:rPr lang="de-DE" dirty="0"/>
              <a:t>, </a:t>
            </a:r>
            <a:r>
              <a:rPr lang="de-DE" dirty="0" err="1"/>
              <a:t>Xxx</a:t>
            </a:r>
            <a:r>
              <a:rPr lang="de-DE" dirty="0"/>
              <a:t>, and</a:t>
            </a:r>
          </a:p>
          <a:p>
            <a:r>
              <a:rPr lang="de-DE" dirty="0" err="1"/>
              <a:t>welcome</a:t>
            </a:r>
            <a:r>
              <a:rPr lang="de-DE" dirty="0"/>
              <a:t>!</a:t>
            </a:r>
          </a:p>
          <a:p>
            <a:endParaRPr lang="de-DE" dirty="0"/>
          </a:p>
          <a:p>
            <a:r>
              <a:rPr lang="de-DE" dirty="0"/>
              <a:t>Knowledge </a:t>
            </a:r>
            <a:r>
              <a:rPr lang="de-DE" dirty="0" err="1"/>
              <a:t>is</a:t>
            </a:r>
            <a:r>
              <a:rPr lang="de-DE" dirty="0"/>
              <a:t> </a:t>
            </a:r>
            <a:r>
              <a:rPr lang="de-DE" dirty="0" err="1"/>
              <a:t>generally</a:t>
            </a:r>
            <a:r>
              <a:rPr lang="de-DE" dirty="0"/>
              <a:t> </a:t>
            </a:r>
            <a:r>
              <a:rPr lang="de-DE" dirty="0" err="1"/>
              <a:t>considered</a:t>
            </a:r>
            <a:r>
              <a:rPr lang="de-DE" dirty="0"/>
              <a:t> </a:t>
            </a:r>
            <a:r>
              <a:rPr lang="de-DE" dirty="0" err="1"/>
              <a:t>to</a:t>
            </a:r>
            <a:r>
              <a:rPr lang="de-DE" dirty="0"/>
              <a:t> </a:t>
            </a:r>
            <a:r>
              <a:rPr lang="de-DE" dirty="0" err="1"/>
              <a:t>be</a:t>
            </a:r>
            <a:r>
              <a:rPr lang="de-DE" dirty="0"/>
              <a:t> a </a:t>
            </a:r>
            <a:r>
              <a:rPr lang="de-DE" dirty="0" err="1"/>
              <a:t>central</a:t>
            </a:r>
            <a:r>
              <a:rPr lang="de-DE" dirty="0"/>
              <a:t> </a:t>
            </a:r>
            <a:r>
              <a:rPr lang="de-DE" dirty="0" err="1"/>
              <a:t>outcome</a:t>
            </a:r>
            <a:r>
              <a:rPr lang="de-DE" dirty="0"/>
              <a:t> and powerful </a:t>
            </a:r>
            <a:r>
              <a:rPr lang="de-DE" dirty="0" err="1"/>
              <a:t>determinant</a:t>
            </a:r>
            <a:r>
              <a:rPr lang="de-DE" dirty="0"/>
              <a:t> </a:t>
            </a:r>
            <a:r>
              <a:rPr lang="de-DE" dirty="0" err="1"/>
              <a:t>of</a:t>
            </a:r>
            <a:r>
              <a:rPr lang="de-DE" dirty="0"/>
              <a:t> </a:t>
            </a:r>
            <a:r>
              <a:rPr lang="de-DE" dirty="0" err="1"/>
              <a:t>learning</a:t>
            </a:r>
            <a:r>
              <a:rPr lang="de-DE" dirty="0"/>
              <a:t>.</a:t>
            </a:r>
          </a:p>
          <a:p>
            <a:r>
              <a:rPr lang="de-DE" dirty="0"/>
              <a:t>So </a:t>
            </a:r>
            <a:r>
              <a:rPr lang="de-DE" dirty="0" err="1"/>
              <a:t>let`s</a:t>
            </a:r>
            <a:r>
              <a:rPr lang="de-DE" dirty="0"/>
              <a:t> </a:t>
            </a:r>
            <a:r>
              <a:rPr lang="de-DE" dirty="0" err="1"/>
              <a:t>model</a:t>
            </a:r>
            <a:r>
              <a:rPr lang="de-DE" dirty="0"/>
              <a:t> </a:t>
            </a:r>
            <a:r>
              <a:rPr lang="de-DE" dirty="0" err="1"/>
              <a:t>it!</a:t>
            </a:r>
            <a:endParaRPr lang="de-DE" dirty="0"/>
          </a:p>
          <a:p>
            <a:endParaRPr lang="de-DE" dirty="0"/>
          </a:p>
          <a:p>
            <a:r>
              <a:rPr lang="de-DE" dirty="0"/>
              <a:t>I will </a:t>
            </a:r>
            <a:r>
              <a:rPr lang="de-DE" dirty="0" err="1"/>
              <a:t>show</a:t>
            </a:r>
            <a:r>
              <a:rPr lang="de-DE" dirty="0"/>
              <a:t> </a:t>
            </a:r>
            <a:r>
              <a:rPr lang="de-DE" dirty="0" err="1"/>
              <a:t>how</a:t>
            </a:r>
            <a:r>
              <a:rPr lang="de-DE" dirty="0"/>
              <a:t> in </a:t>
            </a:r>
            <a:r>
              <a:rPr lang="de-DE" dirty="0" err="1"/>
              <a:t>educational</a:t>
            </a:r>
            <a:r>
              <a:rPr lang="de-DE" dirty="0"/>
              <a:t> </a:t>
            </a:r>
            <a:r>
              <a:rPr lang="de-DE" dirty="0" err="1"/>
              <a:t>research</a:t>
            </a:r>
            <a:r>
              <a:rPr lang="de-DE" dirty="0"/>
              <a:t>, </a:t>
            </a:r>
            <a:r>
              <a:rPr lang="de-DE" dirty="0" err="1"/>
              <a:t>theories</a:t>
            </a:r>
            <a:r>
              <a:rPr lang="de-DE" dirty="0"/>
              <a:t> </a:t>
            </a:r>
            <a:r>
              <a:rPr lang="de-DE" dirty="0" err="1"/>
              <a:t>have</a:t>
            </a:r>
            <a:r>
              <a:rPr lang="de-DE" dirty="0"/>
              <a:t> </a:t>
            </a:r>
            <a:r>
              <a:rPr lang="de-DE" dirty="0" err="1"/>
              <a:t>often</a:t>
            </a:r>
            <a:r>
              <a:rPr lang="de-DE" dirty="0"/>
              <a:t> </a:t>
            </a:r>
            <a:r>
              <a:rPr lang="de-DE" dirty="0" err="1"/>
              <a:t>inspired</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knowledge</a:t>
            </a:r>
            <a:r>
              <a:rPr lang="de-DE" dirty="0"/>
              <a:t>, </a:t>
            </a:r>
            <a:r>
              <a:rPr lang="de-DE" dirty="0" err="1"/>
              <a:t>opening</a:t>
            </a:r>
            <a:r>
              <a:rPr lang="de-DE" dirty="0"/>
              <a:t> </a:t>
            </a:r>
            <a:r>
              <a:rPr lang="de-DE" dirty="0" err="1"/>
              <a:t>up</a:t>
            </a:r>
            <a:r>
              <a:rPr lang="de-DE" dirty="0"/>
              <a:t> </a:t>
            </a:r>
            <a:r>
              <a:rPr lang="de-DE" dirty="0" err="1"/>
              <a:t>new</a:t>
            </a:r>
            <a:r>
              <a:rPr lang="de-DE" dirty="0"/>
              <a:t> </a:t>
            </a:r>
            <a:r>
              <a:rPr lang="de-DE" dirty="0" err="1"/>
              <a:t>opportunities</a:t>
            </a:r>
            <a:r>
              <a:rPr lang="de-DE" dirty="0"/>
              <a:t> </a:t>
            </a:r>
            <a:r>
              <a:rPr lang="de-DE" dirty="0" err="1"/>
              <a:t>to</a:t>
            </a:r>
            <a:r>
              <a:rPr lang="de-DE" dirty="0"/>
              <a:t> </a:t>
            </a:r>
            <a:r>
              <a:rPr lang="de-DE" dirty="0" err="1"/>
              <a:t>put</a:t>
            </a:r>
            <a:r>
              <a:rPr lang="de-DE" dirty="0"/>
              <a:t> </a:t>
            </a:r>
            <a:r>
              <a:rPr lang="de-DE" dirty="0" err="1"/>
              <a:t>our</a:t>
            </a:r>
            <a:r>
              <a:rPr lang="de-DE" dirty="0"/>
              <a:t> </a:t>
            </a:r>
            <a:r>
              <a:rPr lang="de-DE" dirty="0" err="1"/>
              <a:t>theoretical</a:t>
            </a:r>
            <a:r>
              <a:rPr lang="de-DE" dirty="0"/>
              <a:t> </a:t>
            </a:r>
            <a:r>
              <a:rPr lang="de-DE" dirty="0" err="1"/>
              <a:t>assumptions</a:t>
            </a:r>
            <a:r>
              <a:rPr lang="de-DE" dirty="0"/>
              <a:t> </a:t>
            </a:r>
            <a:r>
              <a:rPr lang="de-DE" dirty="0" err="1"/>
              <a:t>to</a:t>
            </a:r>
            <a:r>
              <a:rPr lang="de-DE" dirty="0"/>
              <a:t> </a:t>
            </a:r>
            <a:r>
              <a:rPr lang="de-DE" dirty="0" err="1"/>
              <a:t>empirical</a:t>
            </a:r>
            <a:r>
              <a:rPr lang="de-DE" dirty="0"/>
              <a:t> </a:t>
            </a:r>
            <a:r>
              <a:rPr lang="de-DE" dirty="0" err="1"/>
              <a:t>testing</a:t>
            </a:r>
            <a:r>
              <a:rPr lang="de-DE" dirty="0"/>
              <a:t>.</a:t>
            </a:r>
          </a:p>
          <a:p>
            <a:r>
              <a:rPr lang="de-DE" dirty="0" err="1"/>
              <a:t>Likewise</a:t>
            </a:r>
            <a:r>
              <a:rPr lang="de-DE" dirty="0"/>
              <a:t>, </a:t>
            </a:r>
            <a:r>
              <a:rPr lang="de-DE" dirty="0" err="1"/>
              <a:t>established</a:t>
            </a:r>
            <a:r>
              <a:rPr lang="de-DE" dirty="0"/>
              <a:t> </a:t>
            </a:r>
            <a:r>
              <a:rPr lang="de-DE" dirty="0" err="1"/>
              <a:t>statistical</a:t>
            </a:r>
            <a:r>
              <a:rPr lang="de-DE" dirty="0"/>
              <a:t> </a:t>
            </a:r>
            <a:r>
              <a:rPr lang="de-DE" dirty="0" err="1"/>
              <a:t>models</a:t>
            </a:r>
            <a:r>
              <a:rPr lang="de-DE" dirty="0"/>
              <a:t> </a:t>
            </a:r>
            <a:r>
              <a:rPr lang="de-DE" dirty="0" err="1"/>
              <a:t>have</a:t>
            </a:r>
            <a:r>
              <a:rPr lang="de-DE" dirty="0"/>
              <a:t> </a:t>
            </a:r>
            <a:r>
              <a:rPr lang="de-DE" dirty="0" err="1"/>
              <a:t>been</a:t>
            </a:r>
            <a:r>
              <a:rPr lang="de-DE" dirty="0"/>
              <a:t> </a:t>
            </a:r>
            <a:r>
              <a:rPr lang="de-DE" dirty="0" err="1"/>
              <a:t>imported</a:t>
            </a:r>
            <a:r>
              <a:rPr lang="de-DE" dirty="0"/>
              <a:t> </a:t>
            </a:r>
            <a:r>
              <a:rPr lang="de-DE" dirty="0" err="1"/>
              <a:t>into</a:t>
            </a:r>
            <a:r>
              <a:rPr lang="de-DE" dirty="0"/>
              <a:t> </a:t>
            </a:r>
            <a:r>
              <a:rPr lang="de-DE" dirty="0" err="1"/>
              <a:t>educational</a:t>
            </a:r>
            <a:r>
              <a:rPr lang="de-DE" dirty="0"/>
              <a:t> </a:t>
            </a:r>
            <a:r>
              <a:rPr lang="de-DE" dirty="0" err="1"/>
              <a:t>research</a:t>
            </a:r>
            <a:r>
              <a:rPr lang="de-DE" dirty="0"/>
              <a:t> </a:t>
            </a:r>
            <a:r>
              <a:rPr lang="de-DE" dirty="0" err="1"/>
              <a:t>to</a:t>
            </a:r>
            <a:r>
              <a:rPr lang="de-DE" dirty="0"/>
              <a:t> </a:t>
            </a:r>
            <a:r>
              <a:rPr lang="de-DE" dirty="0" err="1"/>
              <a:t>test</a:t>
            </a:r>
            <a:r>
              <a:rPr lang="de-DE" dirty="0"/>
              <a:t> </a:t>
            </a:r>
            <a:r>
              <a:rPr lang="de-DE" dirty="0" err="1"/>
              <a:t>assumptions</a:t>
            </a:r>
            <a:r>
              <a:rPr lang="de-DE" dirty="0"/>
              <a:t> </a:t>
            </a:r>
            <a:r>
              <a:rPr lang="de-DE" dirty="0" err="1"/>
              <a:t>about</a:t>
            </a:r>
            <a:r>
              <a:rPr lang="de-DE" dirty="0"/>
              <a:t> </a:t>
            </a:r>
            <a:r>
              <a:rPr lang="de-DE" dirty="0" err="1"/>
              <a:t>learners`knowledge</a:t>
            </a:r>
            <a:r>
              <a:rPr lang="de-DE" dirty="0"/>
              <a:t>.</a:t>
            </a:r>
          </a:p>
          <a:p>
            <a:r>
              <a:rPr lang="de-DE" dirty="0"/>
              <a:t>I will </a:t>
            </a:r>
            <a:r>
              <a:rPr lang="de-DE" dirty="0" err="1"/>
              <a:t>argue</a:t>
            </a:r>
            <a:r>
              <a:rPr lang="de-DE" dirty="0"/>
              <a:t> </a:t>
            </a:r>
            <a:r>
              <a:rPr lang="de-DE" dirty="0" err="1"/>
              <a:t>that</a:t>
            </a:r>
            <a:r>
              <a:rPr lang="de-DE" dirty="0"/>
              <a:t> </a:t>
            </a:r>
            <a:r>
              <a:rPr lang="de-DE" dirty="0" err="1"/>
              <a:t>one</a:t>
            </a:r>
            <a:r>
              <a:rPr lang="de-DE" dirty="0"/>
              <a:t> </a:t>
            </a:r>
            <a:r>
              <a:rPr lang="de-DE" dirty="0" err="1"/>
              <a:t>of</a:t>
            </a:r>
            <a:r>
              <a:rPr lang="de-DE" dirty="0"/>
              <a:t> </a:t>
            </a:r>
            <a:r>
              <a:rPr lang="de-DE" dirty="0" err="1"/>
              <a:t>these</a:t>
            </a:r>
            <a:r>
              <a:rPr lang="de-DE" dirty="0"/>
              <a:t> </a:t>
            </a:r>
            <a:r>
              <a:rPr lang="de-DE" dirty="0" err="1"/>
              <a:t>two</a:t>
            </a:r>
            <a:r>
              <a:rPr lang="de-DE" dirty="0"/>
              <a:t> </a:t>
            </a:r>
            <a:r>
              <a:rPr lang="de-DE" dirty="0" err="1"/>
              <a:t>roads</a:t>
            </a:r>
            <a:r>
              <a:rPr lang="de-DE" dirty="0"/>
              <a:t> </a:t>
            </a:r>
            <a:r>
              <a:rPr lang="de-DE" dirty="0" err="1"/>
              <a:t>has</a:t>
            </a:r>
            <a:r>
              <a:rPr lang="de-DE" dirty="0"/>
              <a:t> </a:t>
            </a:r>
            <a:r>
              <a:rPr lang="de-DE" dirty="0" err="1"/>
              <a:t>worked</a:t>
            </a:r>
            <a:r>
              <a:rPr lang="de-DE" dirty="0"/>
              <a:t> </a:t>
            </a:r>
            <a:r>
              <a:rPr lang="de-DE" dirty="0" err="1"/>
              <a:t>better</a:t>
            </a:r>
            <a:r>
              <a:rPr lang="de-DE" dirty="0"/>
              <a:t> </a:t>
            </a:r>
            <a:r>
              <a:rPr lang="de-DE" dirty="0" err="1"/>
              <a:t>than</a:t>
            </a:r>
            <a:r>
              <a:rPr lang="de-DE" dirty="0"/>
              <a:t> </a:t>
            </a:r>
            <a:r>
              <a:rPr lang="de-DE" dirty="0" err="1"/>
              <a:t>the</a:t>
            </a:r>
            <a:r>
              <a:rPr lang="de-DE" dirty="0"/>
              <a:t> </a:t>
            </a:r>
            <a:r>
              <a:rPr lang="de-DE" dirty="0" err="1"/>
              <a:t>other</a:t>
            </a:r>
            <a:r>
              <a:rPr lang="de-DE" dirty="0"/>
              <a:t> and I </a:t>
            </a:r>
            <a:r>
              <a:rPr lang="de-DE" dirty="0" err="1"/>
              <a:t>developed</a:t>
            </a:r>
            <a:r>
              <a:rPr lang="de-DE" dirty="0"/>
              <a:t> an </a:t>
            </a:r>
            <a:r>
              <a:rPr lang="de-DE" dirty="0" err="1"/>
              <a:t>explanation</a:t>
            </a:r>
            <a:r>
              <a:rPr lang="de-DE" dirty="0"/>
              <a:t> </a:t>
            </a:r>
            <a:r>
              <a:rPr lang="de-DE" dirty="0" err="1"/>
              <a:t>for</a:t>
            </a:r>
            <a:r>
              <a:rPr lang="de-DE" dirty="0"/>
              <a:t> </a:t>
            </a:r>
            <a:r>
              <a:rPr lang="de-DE" dirty="0" err="1"/>
              <a:t>why</a:t>
            </a:r>
            <a:r>
              <a:rPr lang="de-DE" dirty="0"/>
              <a:t> </a:t>
            </a:r>
            <a:r>
              <a:rPr lang="de-DE" dirty="0" err="1"/>
              <a:t>this</a:t>
            </a:r>
            <a:r>
              <a:rPr lang="de-DE" dirty="0"/>
              <a:t> </a:t>
            </a:r>
            <a:r>
              <a:rPr lang="de-DE" dirty="0" err="1"/>
              <a:t>is</a:t>
            </a:r>
            <a:r>
              <a:rPr lang="de-DE" dirty="0"/>
              <a:t> so; </a:t>
            </a:r>
            <a:r>
              <a:rPr lang="de-DE" dirty="0" err="1"/>
              <a:t>that</a:t>
            </a:r>
            <a:r>
              <a:rPr lang="de-DE" dirty="0"/>
              <a:t> </a:t>
            </a:r>
            <a:r>
              <a:rPr lang="de-DE" dirty="0" err="1"/>
              <a:t>one</a:t>
            </a:r>
            <a:r>
              <a:rPr lang="de-DE" dirty="0"/>
              <a:t> </a:t>
            </a:r>
            <a:r>
              <a:rPr lang="de-DE" dirty="0" err="1"/>
              <a:t>generally</a:t>
            </a:r>
            <a:r>
              <a:rPr lang="de-DE" dirty="0"/>
              <a:t> </a:t>
            </a:r>
            <a:r>
              <a:rPr lang="de-DE" dirty="0" err="1"/>
              <a:t>works</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doesn`t</a:t>
            </a:r>
            <a:r>
              <a:rPr lang="de-DE" dirty="0"/>
              <a:t>. </a:t>
            </a:r>
            <a:r>
              <a:rPr lang="de-DE" dirty="0" err="1"/>
              <a:t>Using</a:t>
            </a:r>
            <a:r>
              <a:rPr lang="de-DE" dirty="0"/>
              <a:t> </a:t>
            </a:r>
            <a:r>
              <a:rPr lang="de-DE" dirty="0" err="1"/>
              <a:t>this</a:t>
            </a:r>
            <a:r>
              <a:rPr lang="de-DE" dirty="0"/>
              <a:t> </a:t>
            </a:r>
            <a:r>
              <a:rPr lang="de-DE" dirty="0" err="1"/>
              <a:t>explanation</a:t>
            </a:r>
            <a:r>
              <a:rPr lang="de-DE" dirty="0"/>
              <a:t>, I </a:t>
            </a:r>
            <a:r>
              <a:rPr lang="de-DE" dirty="0" err="1"/>
              <a:t>present</a:t>
            </a:r>
            <a:r>
              <a:rPr lang="de-DE" dirty="0"/>
              <a:t> </a:t>
            </a:r>
            <a:r>
              <a:rPr lang="de-DE" dirty="0" err="1"/>
              <a:t>predictions</a:t>
            </a:r>
            <a:r>
              <a:rPr lang="de-DE" dirty="0"/>
              <a:t> and </a:t>
            </a:r>
            <a:r>
              <a:rPr lang="de-DE" dirty="0" err="1"/>
              <a:t>wishes</a:t>
            </a:r>
            <a:r>
              <a:rPr lang="de-DE" dirty="0"/>
              <a:t> </a:t>
            </a:r>
            <a:r>
              <a:rPr lang="de-DE" dirty="0" err="1"/>
              <a:t>towards</a:t>
            </a:r>
            <a:r>
              <a:rPr lang="de-DE" dirty="0"/>
              <a:t> </a:t>
            </a:r>
            <a:r>
              <a:rPr lang="de-DE" dirty="0" err="1"/>
              <a:t>tomorrow`s</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endParaRPr lang="de-DE" dirty="0"/>
          </a:p>
          <a:p>
            <a:endParaRPr lang="de-DE" dirty="0"/>
          </a:p>
          <a:p>
            <a:r>
              <a:rPr lang="de-DE" dirty="0"/>
              <a:t>I will </a:t>
            </a:r>
            <a:r>
              <a:rPr lang="de-DE" dirty="0" err="1"/>
              <a:t>show</a:t>
            </a:r>
            <a:r>
              <a:rPr lang="de-DE" dirty="0"/>
              <a:t> </a:t>
            </a:r>
            <a:r>
              <a:rPr lang="de-DE" dirty="0" err="1"/>
              <a:t>how</a:t>
            </a:r>
            <a:r>
              <a:rPr lang="de-DE" dirty="0"/>
              <a:t> in </a:t>
            </a:r>
            <a:r>
              <a:rPr lang="de-DE" dirty="0" err="1"/>
              <a:t>the</a:t>
            </a:r>
            <a:r>
              <a:rPr lang="de-DE" dirty="0"/>
              <a:t> last </a:t>
            </a:r>
            <a:r>
              <a:rPr lang="de-DE" dirty="0" err="1"/>
              <a:t>decades</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have</a:t>
            </a:r>
            <a:r>
              <a:rPr lang="de-DE" dirty="0"/>
              <a:t> </a:t>
            </a:r>
            <a:r>
              <a:rPr lang="de-DE" dirty="0" err="1"/>
              <a:t>often</a:t>
            </a:r>
            <a:r>
              <a:rPr lang="de-DE" dirty="0"/>
              <a:t> </a:t>
            </a:r>
            <a:r>
              <a:rPr lang="de-DE" dirty="0" err="1"/>
              <a:t>been</a:t>
            </a:r>
            <a:r>
              <a:rPr lang="de-DE" dirty="0"/>
              <a:t> </a:t>
            </a:r>
            <a:r>
              <a:rPr lang="de-DE" dirty="0" err="1"/>
              <a:t>exported</a:t>
            </a:r>
            <a:r>
              <a:rPr lang="de-DE" dirty="0"/>
              <a:t> </a:t>
            </a:r>
            <a:r>
              <a:rPr lang="de-DE" dirty="0" err="1"/>
              <a:t>into</a:t>
            </a:r>
            <a:r>
              <a:rPr lang="de-DE" dirty="0"/>
              <a:t> </a:t>
            </a:r>
            <a:r>
              <a:rPr lang="de-DE" dirty="0" err="1"/>
              <a:t>methodological</a:t>
            </a:r>
            <a:r>
              <a:rPr lang="de-DE" dirty="0"/>
              <a:t> </a:t>
            </a:r>
            <a:r>
              <a:rPr lang="de-DE" dirty="0" err="1"/>
              <a:t>research</a:t>
            </a:r>
            <a:r>
              <a:rPr lang="de-DE" dirty="0"/>
              <a:t>, </a:t>
            </a:r>
            <a:r>
              <a:rPr lang="de-DE" dirty="0" err="1"/>
              <a:t>inspiring</a:t>
            </a:r>
            <a:r>
              <a:rPr lang="de-DE" dirty="0"/>
              <a:t> </a:t>
            </a:r>
            <a:r>
              <a:rPr lang="de-DE" dirty="0" err="1"/>
              <a:t>new</a:t>
            </a:r>
            <a:r>
              <a:rPr lang="de-DE" dirty="0"/>
              <a:t> </a:t>
            </a:r>
            <a:r>
              <a:rPr lang="de-DE" dirty="0" err="1"/>
              <a:t>ways</a:t>
            </a:r>
            <a:r>
              <a:rPr lang="de-DE" dirty="0"/>
              <a:t> </a:t>
            </a:r>
            <a:r>
              <a:rPr lang="de-DE" dirty="0" err="1"/>
              <a:t>how</a:t>
            </a:r>
            <a:r>
              <a:rPr lang="de-DE" dirty="0"/>
              <a:t> </a:t>
            </a:r>
            <a:r>
              <a:rPr lang="de-DE" dirty="0" err="1"/>
              <a:t>to</a:t>
            </a:r>
            <a:r>
              <a:rPr lang="de-DE" dirty="0"/>
              <a:t> </a:t>
            </a:r>
            <a:r>
              <a:rPr lang="de-DE" dirty="0" err="1"/>
              <a:t>model</a:t>
            </a:r>
            <a:r>
              <a:rPr lang="de-DE" dirty="0"/>
              <a:t> </a:t>
            </a:r>
            <a:r>
              <a:rPr lang="de-DE" dirty="0" err="1"/>
              <a:t>knowledge</a:t>
            </a:r>
            <a:r>
              <a:rPr lang="de-DE" dirty="0"/>
              <a:t> and </a:t>
            </a:r>
            <a:r>
              <a:rPr lang="de-DE" dirty="0" err="1"/>
              <a:t>enabling</a:t>
            </a:r>
            <a:r>
              <a:rPr lang="de-DE" dirty="0"/>
              <a:t> </a:t>
            </a:r>
            <a:r>
              <a:rPr lang="de-DE" dirty="0" err="1"/>
              <a:t>us</a:t>
            </a:r>
            <a:r>
              <a:rPr lang="de-DE" dirty="0"/>
              <a:t> </a:t>
            </a:r>
            <a:r>
              <a:rPr lang="de-DE" dirty="0" err="1"/>
              <a:t>to</a:t>
            </a:r>
            <a:r>
              <a:rPr lang="de-DE" dirty="0"/>
              <a:t> </a:t>
            </a:r>
            <a:r>
              <a:rPr lang="de-DE" dirty="0" err="1"/>
              <a:t>test</a:t>
            </a:r>
            <a:r>
              <a:rPr lang="de-DE" dirty="0"/>
              <a:t> </a:t>
            </a:r>
            <a:r>
              <a:rPr lang="de-DE" dirty="0" err="1"/>
              <a:t>our</a:t>
            </a:r>
            <a:r>
              <a:rPr lang="de-DE" dirty="0"/>
              <a:t> </a:t>
            </a:r>
            <a:r>
              <a:rPr lang="de-DE" dirty="0" err="1"/>
              <a:t>assumptions</a:t>
            </a:r>
            <a:r>
              <a:rPr lang="de-DE" dirty="0"/>
              <a:t> </a:t>
            </a:r>
            <a:r>
              <a:rPr lang="de-DE" dirty="0" err="1"/>
              <a:t>about</a:t>
            </a:r>
            <a:r>
              <a:rPr lang="de-DE" dirty="0"/>
              <a:t> it.</a:t>
            </a:r>
          </a:p>
          <a:p>
            <a:r>
              <a:rPr lang="de-DE" dirty="0" err="1"/>
              <a:t>Likewise</a:t>
            </a:r>
            <a:r>
              <a:rPr lang="de-DE" dirty="0"/>
              <a:t>, </a:t>
            </a:r>
            <a:r>
              <a:rPr lang="de-DE" dirty="0" err="1"/>
              <a:t>established</a:t>
            </a:r>
            <a:r>
              <a:rPr lang="de-DE" dirty="0"/>
              <a:t> </a:t>
            </a:r>
            <a:r>
              <a:rPr lang="de-DE" dirty="0" err="1"/>
              <a:t>statistical</a:t>
            </a:r>
            <a:r>
              <a:rPr lang="de-DE" dirty="0"/>
              <a:t> </a:t>
            </a:r>
            <a:r>
              <a:rPr lang="de-DE" dirty="0" err="1"/>
              <a:t>modeling</a:t>
            </a:r>
            <a:r>
              <a:rPr lang="de-DE" dirty="0"/>
              <a:t> </a:t>
            </a:r>
            <a:r>
              <a:rPr lang="de-DE" dirty="0" err="1"/>
              <a:t>approaches</a:t>
            </a:r>
            <a:r>
              <a:rPr lang="de-DE" dirty="0"/>
              <a:t> </a:t>
            </a:r>
            <a:r>
              <a:rPr lang="de-DE" dirty="0" err="1"/>
              <a:t>have</a:t>
            </a:r>
            <a:r>
              <a:rPr lang="de-DE" dirty="0"/>
              <a:t> </a:t>
            </a:r>
            <a:r>
              <a:rPr lang="de-DE" dirty="0" err="1"/>
              <a:t>been</a:t>
            </a:r>
            <a:r>
              <a:rPr lang="de-DE" dirty="0"/>
              <a:t> </a:t>
            </a:r>
            <a:r>
              <a:rPr lang="de-DE" dirty="0" err="1"/>
              <a:t>imported</a:t>
            </a:r>
            <a:r>
              <a:rPr lang="de-DE" dirty="0"/>
              <a:t> </a:t>
            </a:r>
            <a:r>
              <a:rPr lang="de-DE" dirty="0" err="1"/>
              <a:t>into</a:t>
            </a:r>
            <a:r>
              <a:rPr lang="de-DE" dirty="0"/>
              <a:t> </a:t>
            </a:r>
            <a:r>
              <a:rPr lang="de-DE" dirty="0" err="1"/>
              <a:t>educational</a:t>
            </a:r>
            <a:r>
              <a:rPr lang="de-DE" dirty="0"/>
              <a:t> </a:t>
            </a:r>
            <a:r>
              <a:rPr lang="de-DE" dirty="0" err="1"/>
              <a:t>research</a:t>
            </a:r>
            <a:r>
              <a:rPr lang="de-DE" dirty="0"/>
              <a:t> </a:t>
            </a:r>
            <a:r>
              <a:rPr lang="de-DE" dirty="0" err="1"/>
              <a:t>aiming</a:t>
            </a:r>
            <a:r>
              <a:rPr lang="de-DE" dirty="0"/>
              <a:t> </a:t>
            </a:r>
            <a:r>
              <a:rPr lang="de-DE" dirty="0" err="1"/>
              <a:t>to</a:t>
            </a:r>
            <a:r>
              <a:rPr lang="de-DE" dirty="0"/>
              <a:t> </a:t>
            </a:r>
            <a:r>
              <a:rPr lang="de-DE" dirty="0" err="1"/>
              <a:t>model</a:t>
            </a:r>
            <a:r>
              <a:rPr lang="de-DE" dirty="0"/>
              <a:t> </a:t>
            </a:r>
            <a:r>
              <a:rPr lang="de-DE" dirty="0" err="1"/>
              <a:t>knowledge</a:t>
            </a:r>
            <a:r>
              <a:rPr lang="de-DE" dirty="0"/>
              <a:t>.</a:t>
            </a:r>
          </a:p>
          <a:p>
            <a:r>
              <a:rPr lang="de-DE" dirty="0"/>
              <a:t>I will </a:t>
            </a:r>
            <a:r>
              <a:rPr lang="de-DE" dirty="0" err="1"/>
              <a:t>argue</a:t>
            </a:r>
            <a:r>
              <a:rPr lang="de-DE" dirty="0"/>
              <a:t> </a:t>
            </a:r>
            <a:r>
              <a:rPr lang="de-DE" dirty="0" err="1"/>
              <a:t>that</a:t>
            </a:r>
            <a:r>
              <a:rPr lang="de-DE" dirty="0"/>
              <a:t> </a:t>
            </a:r>
            <a:r>
              <a:rPr lang="de-DE" dirty="0" err="1"/>
              <a:t>one</a:t>
            </a:r>
            <a:r>
              <a:rPr lang="de-DE" dirty="0"/>
              <a:t> </a:t>
            </a:r>
            <a:r>
              <a:rPr lang="de-DE" dirty="0" err="1"/>
              <a:t>of</a:t>
            </a:r>
            <a:r>
              <a:rPr lang="de-DE" dirty="0"/>
              <a:t> </a:t>
            </a:r>
            <a:r>
              <a:rPr lang="de-DE" dirty="0" err="1"/>
              <a:t>these</a:t>
            </a:r>
            <a:r>
              <a:rPr lang="de-DE" dirty="0"/>
              <a:t> </a:t>
            </a:r>
            <a:r>
              <a:rPr lang="de-DE" dirty="0" err="1"/>
              <a:t>has</a:t>
            </a:r>
            <a:r>
              <a:rPr lang="de-DE" dirty="0"/>
              <a:t> </a:t>
            </a:r>
            <a:r>
              <a:rPr lang="de-DE" dirty="0" err="1"/>
              <a:t>been</a:t>
            </a:r>
            <a:r>
              <a:rPr lang="de-DE" dirty="0"/>
              <a:t> </a:t>
            </a:r>
            <a:r>
              <a:rPr lang="de-DE" dirty="0" err="1"/>
              <a:t>mostly</a:t>
            </a:r>
            <a:r>
              <a:rPr lang="de-DE" dirty="0"/>
              <a:t> a </a:t>
            </a:r>
            <a:r>
              <a:rPr lang="de-DE" dirty="0" err="1"/>
              <a:t>good</a:t>
            </a:r>
            <a:r>
              <a:rPr lang="de-DE" dirty="0"/>
              <a:t> </a:t>
            </a:r>
            <a:r>
              <a:rPr lang="de-DE" dirty="0" err="1"/>
              <a:t>idea</a:t>
            </a:r>
            <a:r>
              <a:rPr lang="de-DE" dirty="0"/>
              <a:t>, </a:t>
            </a:r>
            <a:r>
              <a:rPr lang="de-DE" dirty="0" err="1"/>
              <a:t>really</a:t>
            </a:r>
            <a:r>
              <a:rPr lang="de-DE" dirty="0"/>
              <a:t> </a:t>
            </a:r>
            <a:r>
              <a:rPr lang="de-DE" dirty="0" err="1"/>
              <a:t>allowing</a:t>
            </a:r>
            <a:r>
              <a:rPr lang="de-DE" dirty="0"/>
              <a:t> </a:t>
            </a:r>
            <a:r>
              <a:rPr lang="de-DE" dirty="0" err="1"/>
              <a:t>new</a:t>
            </a:r>
            <a:r>
              <a:rPr lang="de-DE" dirty="0"/>
              <a:t> </a:t>
            </a:r>
            <a:r>
              <a:rPr lang="de-DE" dirty="0" err="1"/>
              <a:t>insights</a:t>
            </a:r>
            <a:r>
              <a:rPr lang="de-DE" dirty="0"/>
              <a:t> </a:t>
            </a:r>
            <a:r>
              <a:rPr lang="de-DE" dirty="0" err="1"/>
              <a:t>for</a:t>
            </a:r>
            <a:r>
              <a:rPr lang="de-DE" dirty="0"/>
              <a:t> </a:t>
            </a:r>
            <a:r>
              <a:rPr lang="de-DE" dirty="0" err="1"/>
              <a:t>educational</a:t>
            </a:r>
            <a:r>
              <a:rPr lang="de-DE" dirty="0"/>
              <a:t> </a:t>
            </a:r>
            <a:r>
              <a:rPr lang="de-DE" dirty="0" err="1"/>
              <a:t>research</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one</a:t>
            </a:r>
            <a:r>
              <a:rPr lang="de-DE" dirty="0"/>
              <a:t> </a:t>
            </a:r>
            <a:r>
              <a:rPr lang="de-DE" dirty="0" err="1"/>
              <a:t>hasn`t</a:t>
            </a:r>
            <a:r>
              <a:rPr lang="de-DE" dirty="0"/>
              <a:t> .</a:t>
            </a:r>
          </a:p>
          <a:p>
            <a:r>
              <a:rPr lang="de-DE" dirty="0" err="1"/>
              <a:t>Importantly</a:t>
            </a:r>
            <a:r>
              <a:rPr lang="de-DE" dirty="0"/>
              <a:t>, I </a:t>
            </a:r>
            <a:r>
              <a:rPr lang="de-DE" dirty="0" err="1"/>
              <a:t>demonstrate</a:t>
            </a:r>
            <a:r>
              <a:rPr lang="de-DE" dirty="0"/>
              <a:t> </a:t>
            </a:r>
            <a:r>
              <a:rPr lang="de-DE" dirty="0" err="1"/>
              <a:t>why</a:t>
            </a:r>
            <a:r>
              <a:rPr lang="de-DE" dirty="0"/>
              <a:t> in </a:t>
            </a:r>
            <a:r>
              <a:rPr lang="de-DE" dirty="0" err="1"/>
              <a:t>the</a:t>
            </a:r>
            <a:r>
              <a:rPr lang="de-DE" dirty="0"/>
              <a:t> mutual </a:t>
            </a:r>
            <a:r>
              <a:rPr lang="de-DE" dirty="0" err="1"/>
              <a:t>influence</a:t>
            </a:r>
            <a:r>
              <a:rPr lang="de-DE" dirty="0"/>
              <a:t> </a:t>
            </a:r>
            <a:r>
              <a:rPr lang="de-DE" dirty="0" err="1"/>
              <a:t>of</a:t>
            </a:r>
            <a:r>
              <a:rPr lang="de-DE" dirty="0"/>
              <a:t> </a:t>
            </a:r>
            <a:r>
              <a:rPr lang="de-DE" dirty="0" err="1"/>
              <a:t>our</a:t>
            </a:r>
            <a:r>
              <a:rPr lang="de-DE" dirty="0"/>
              <a:t> </a:t>
            </a:r>
            <a:r>
              <a:rPr lang="de-DE" dirty="0" err="1"/>
              <a:t>theories</a:t>
            </a:r>
            <a:r>
              <a:rPr lang="de-DE" dirty="0"/>
              <a:t> and </a:t>
            </a:r>
            <a:r>
              <a:rPr lang="de-DE" dirty="0" err="1"/>
              <a:t>statistical</a:t>
            </a:r>
            <a:r>
              <a:rPr lang="de-DE" dirty="0"/>
              <a:t> </a:t>
            </a:r>
            <a:r>
              <a:rPr lang="de-DE" dirty="0" err="1"/>
              <a:t>models</a:t>
            </a:r>
            <a:r>
              <a:rPr lang="de-DE" dirty="0"/>
              <a:t> </a:t>
            </a:r>
            <a:r>
              <a:rPr lang="de-DE" dirty="0" err="1"/>
              <a:t>of</a:t>
            </a:r>
            <a:r>
              <a:rPr lang="de-DE" dirty="0"/>
              <a:t> </a:t>
            </a:r>
            <a:r>
              <a:rPr lang="de-DE" dirty="0" err="1"/>
              <a:t>knowledge</a:t>
            </a:r>
            <a:r>
              <a:rPr lang="de-DE" dirty="0"/>
              <a:t>, </a:t>
            </a:r>
            <a:r>
              <a:rPr lang="de-DE" dirty="0" err="1"/>
              <a:t>one</a:t>
            </a:r>
            <a:r>
              <a:rPr lang="de-DE" dirty="0"/>
              <a:t> </a:t>
            </a:r>
            <a:r>
              <a:rPr lang="de-DE" dirty="0" err="1"/>
              <a:t>works</a:t>
            </a:r>
            <a:r>
              <a:rPr lang="de-DE" dirty="0"/>
              <a:t>, </a:t>
            </a:r>
            <a:r>
              <a:rPr lang="de-DE" dirty="0" err="1"/>
              <a:t>whereas</a:t>
            </a:r>
            <a:r>
              <a:rPr lang="de-DE" dirty="0"/>
              <a:t> </a:t>
            </a:r>
            <a:r>
              <a:rPr lang="de-DE" dirty="0" err="1"/>
              <a:t>the</a:t>
            </a:r>
            <a:r>
              <a:rPr lang="de-DE" dirty="0"/>
              <a:t> </a:t>
            </a:r>
            <a:r>
              <a:rPr lang="de-DE" dirty="0" err="1"/>
              <a:t>other</a:t>
            </a:r>
            <a:r>
              <a:rPr lang="de-DE" dirty="0"/>
              <a:t> </a:t>
            </a:r>
            <a:r>
              <a:rPr lang="de-DE" dirty="0" err="1"/>
              <a:t>one</a:t>
            </a:r>
            <a:r>
              <a:rPr lang="de-DE" dirty="0"/>
              <a:t> </a:t>
            </a:r>
            <a:r>
              <a:rPr lang="de-DE" dirty="0" err="1"/>
              <a:t>doesn`t</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improve</a:t>
            </a:r>
            <a:r>
              <a:rPr lang="de-DE" dirty="0"/>
              <a:t> </a:t>
            </a:r>
            <a:r>
              <a:rPr lang="de-DE" dirty="0" err="1"/>
              <a:t>the</a:t>
            </a:r>
            <a:r>
              <a:rPr lang="de-DE" dirty="0"/>
              <a:t> </a:t>
            </a:r>
            <a:r>
              <a:rPr lang="de-DE" dirty="0" err="1"/>
              <a:t>latter</a:t>
            </a:r>
            <a:r>
              <a:rPr lang="de-DE" dirty="0"/>
              <a:t> </a:t>
            </a:r>
            <a:r>
              <a:rPr lang="de-DE" dirty="0" err="1"/>
              <a:t>one</a:t>
            </a:r>
            <a:r>
              <a:rPr lang="de-DE" dirty="0"/>
              <a:t>.</a:t>
            </a:r>
          </a:p>
          <a:p>
            <a:r>
              <a:rPr lang="de-DE" dirty="0" err="1"/>
              <a:t>Finally</a:t>
            </a:r>
            <a:r>
              <a:rPr lang="de-DE" dirty="0"/>
              <a:t>, I will </a:t>
            </a:r>
            <a:r>
              <a:rPr lang="de-DE" dirty="0" err="1"/>
              <a:t>provide</a:t>
            </a:r>
            <a:r>
              <a:rPr lang="de-DE" dirty="0"/>
              <a:t> an </a:t>
            </a:r>
            <a:r>
              <a:rPr lang="de-DE" dirty="0" err="1"/>
              <a:t>educated</a:t>
            </a:r>
            <a:r>
              <a:rPr lang="de-DE" dirty="0"/>
              <a:t> </a:t>
            </a:r>
            <a:r>
              <a:rPr lang="de-DE" dirty="0" err="1"/>
              <a:t>guess</a:t>
            </a:r>
            <a:r>
              <a:rPr lang="de-DE" dirty="0"/>
              <a:t>, </a:t>
            </a:r>
            <a:r>
              <a:rPr lang="de-DE" dirty="0" err="1"/>
              <a:t>as</a:t>
            </a:r>
            <a:r>
              <a:rPr lang="de-DE" dirty="0"/>
              <a:t> </a:t>
            </a:r>
            <a:r>
              <a:rPr lang="de-DE" dirty="0" err="1"/>
              <a:t>to</a:t>
            </a:r>
            <a:r>
              <a:rPr lang="de-DE" dirty="0"/>
              <a:t> </a:t>
            </a:r>
            <a:r>
              <a:rPr lang="de-DE" dirty="0" err="1"/>
              <a:t>where</a:t>
            </a:r>
            <a:r>
              <a:rPr lang="de-DE" dirty="0"/>
              <a:t> </a:t>
            </a:r>
            <a:r>
              <a:rPr lang="de-DE" dirty="0" err="1"/>
              <a:t>our</a:t>
            </a:r>
            <a:r>
              <a:rPr lang="de-DE" dirty="0"/>
              <a:t> </a:t>
            </a:r>
            <a:r>
              <a:rPr lang="de-DE" dirty="0" err="1"/>
              <a:t>journey</a:t>
            </a:r>
            <a:r>
              <a:rPr lang="de-DE" dirty="0"/>
              <a:t> </a:t>
            </a:r>
            <a:r>
              <a:rPr lang="de-DE" dirty="0" err="1"/>
              <a:t>of</a:t>
            </a:r>
            <a:r>
              <a:rPr lang="de-DE" dirty="0"/>
              <a:t>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is</a:t>
            </a:r>
            <a:r>
              <a:rPr lang="de-DE" dirty="0"/>
              <a:t> </a:t>
            </a:r>
            <a:r>
              <a:rPr lang="de-DE" dirty="0" err="1"/>
              <a:t>going</a:t>
            </a:r>
            <a:r>
              <a:rPr lang="de-DE" dirty="0"/>
              <a:t> </a:t>
            </a:r>
            <a:r>
              <a:rPr lang="de-DE" dirty="0" err="1"/>
              <a:t>next</a:t>
            </a:r>
            <a:r>
              <a:rPr lang="de-DE" dirty="0"/>
              <a:t>.</a:t>
            </a:r>
          </a:p>
          <a:p>
            <a:endParaRPr lang="de-DE" dirty="0"/>
          </a:p>
          <a:p>
            <a:r>
              <a:rPr lang="de-DE" dirty="0" err="1"/>
              <a:t>Let`s</a:t>
            </a:r>
            <a:r>
              <a:rPr lang="de-DE" dirty="0"/>
              <a:t> </a:t>
            </a:r>
            <a:r>
              <a:rPr lang="de-DE" dirty="0" err="1"/>
              <a:t>start</a:t>
            </a:r>
            <a:r>
              <a:rPr lang="de-DE" dirty="0"/>
              <a:t> in </a:t>
            </a:r>
            <a:r>
              <a:rPr lang="de-DE" dirty="0" err="1"/>
              <a:t>the</a:t>
            </a:r>
            <a:r>
              <a:rPr lang="de-DE" dirty="0"/>
              <a:t> 70s!</a:t>
            </a:r>
          </a:p>
          <a:p>
            <a:endParaRPr lang="de-DE" dirty="0"/>
          </a:p>
          <a:p>
            <a:endParaRPr lang="de-DE" dirty="0"/>
          </a:p>
          <a:p>
            <a:r>
              <a:rPr lang="de-DE" dirty="0" err="1"/>
              <a:t>Three</a:t>
            </a:r>
            <a:r>
              <a:rPr lang="de-DE" dirty="0"/>
              <a:t> </a:t>
            </a:r>
            <a:r>
              <a:rPr lang="de-DE" dirty="0" err="1"/>
              <a:t>wishes</a:t>
            </a:r>
            <a:r>
              <a:rPr lang="de-DE" dirty="0"/>
              <a:t> </a:t>
            </a:r>
            <a:r>
              <a:rPr lang="de-DE" dirty="0" err="1"/>
              <a:t>to</a:t>
            </a:r>
            <a:r>
              <a:rPr lang="de-DE" dirty="0"/>
              <a:t> </a:t>
            </a:r>
            <a:r>
              <a:rPr lang="de-DE" dirty="0" err="1"/>
              <a:t>future</a:t>
            </a:r>
            <a:r>
              <a:rPr lang="de-DE" dirty="0"/>
              <a:t> </a:t>
            </a:r>
            <a:r>
              <a:rPr lang="de-DE" dirty="0" err="1"/>
              <a:t>research</a:t>
            </a:r>
            <a:r>
              <a:rPr lang="de-DE" dirty="0"/>
              <a:t> on </a:t>
            </a:r>
            <a:r>
              <a:rPr lang="de-DE" dirty="0" err="1"/>
              <a:t>learners</a:t>
            </a:r>
            <a:r>
              <a:rPr lang="de-DE" dirty="0"/>
              <a:t>` </a:t>
            </a:r>
            <a:r>
              <a:rPr lang="de-DE" dirty="0" err="1"/>
              <a:t>knowledge</a:t>
            </a:r>
            <a:r>
              <a:rPr lang="de-DE" dirty="0"/>
              <a:t>:</a:t>
            </a:r>
          </a:p>
          <a:p>
            <a:pPr marL="171450" indent="-171450">
              <a:buFontTx/>
              <a:buChar char="-"/>
            </a:pPr>
            <a:r>
              <a:rPr lang="de-DE" dirty="0"/>
              <a:t>Do not </a:t>
            </a:r>
            <a:r>
              <a:rPr lang="de-DE" dirty="0" err="1"/>
              <a:t>accept</a:t>
            </a:r>
            <a:r>
              <a:rPr lang="de-DE" dirty="0"/>
              <a:t> „</a:t>
            </a:r>
            <a:r>
              <a:rPr lang="de-DE" dirty="0" err="1"/>
              <a:t>prior</a:t>
            </a:r>
            <a:r>
              <a:rPr lang="de-DE" dirty="0"/>
              <a:t> </a:t>
            </a:r>
            <a:r>
              <a:rPr lang="de-DE" dirty="0" err="1"/>
              <a:t>knowledge</a:t>
            </a:r>
            <a:r>
              <a:rPr lang="de-DE" dirty="0"/>
              <a:t>“ </a:t>
            </a:r>
            <a:r>
              <a:rPr lang="de-DE" dirty="0" err="1"/>
              <a:t>as</a:t>
            </a:r>
            <a:r>
              <a:rPr lang="de-DE" dirty="0"/>
              <a:t> a powerful </a:t>
            </a:r>
            <a:r>
              <a:rPr lang="de-DE" dirty="0" err="1"/>
              <a:t>determinant</a:t>
            </a:r>
            <a:r>
              <a:rPr lang="de-DE" dirty="0"/>
              <a:t> </a:t>
            </a:r>
            <a:r>
              <a:rPr lang="de-DE" dirty="0" err="1"/>
              <a:t>of</a:t>
            </a:r>
            <a:r>
              <a:rPr lang="de-DE" dirty="0"/>
              <a:t> </a:t>
            </a:r>
            <a:r>
              <a:rPr lang="de-DE" dirty="0" err="1"/>
              <a:t>learning</a:t>
            </a:r>
            <a:r>
              <a:rPr lang="de-DE" dirty="0"/>
              <a:t> (-&gt; find </a:t>
            </a:r>
            <a:r>
              <a:rPr lang="de-DE" dirty="0" err="1"/>
              <a:t>better</a:t>
            </a:r>
            <a:r>
              <a:rPr lang="de-DE" dirty="0"/>
              <a:t> </a:t>
            </a:r>
            <a:r>
              <a:rPr lang="de-DE" dirty="0" err="1"/>
              <a:t>ways</a:t>
            </a:r>
            <a:r>
              <a:rPr lang="de-DE" dirty="0"/>
              <a:t> </a:t>
            </a:r>
            <a:r>
              <a:rPr lang="de-DE" dirty="0" err="1"/>
              <a:t>to</a:t>
            </a:r>
            <a:r>
              <a:rPr lang="de-DE" dirty="0"/>
              <a:t> </a:t>
            </a:r>
            <a:r>
              <a:rPr lang="de-DE" dirty="0" err="1"/>
              <a:t>test</a:t>
            </a:r>
            <a:r>
              <a:rPr lang="de-DE" dirty="0"/>
              <a:t> </a:t>
            </a:r>
            <a:r>
              <a:rPr lang="de-DE" dirty="0" err="1"/>
              <a:t>this</a:t>
            </a:r>
            <a:r>
              <a:rPr lang="de-DE" dirty="0"/>
              <a:t>)</a:t>
            </a:r>
          </a:p>
          <a:p>
            <a:pPr marL="171450" indent="-171450">
              <a:buFontTx/>
              <a:buChar char="-"/>
            </a:pPr>
            <a:r>
              <a:rPr lang="de-DE" dirty="0" err="1"/>
              <a:t>Develop</a:t>
            </a:r>
            <a:r>
              <a:rPr lang="de-DE" dirty="0"/>
              <a:t> </a:t>
            </a:r>
            <a:r>
              <a:rPr lang="de-DE" dirty="0" err="1"/>
              <a:t>interdisciplinary</a:t>
            </a:r>
            <a:r>
              <a:rPr lang="de-DE" dirty="0"/>
              <a:t> </a:t>
            </a:r>
            <a:r>
              <a:rPr lang="de-DE" dirty="0" err="1"/>
              <a:t>theories</a:t>
            </a:r>
            <a:r>
              <a:rPr lang="de-DE" dirty="0"/>
              <a:t> </a:t>
            </a:r>
            <a:r>
              <a:rPr lang="de-DE" dirty="0" err="1"/>
              <a:t>about</a:t>
            </a:r>
            <a:r>
              <a:rPr lang="de-DE" dirty="0"/>
              <a:t> </a:t>
            </a:r>
            <a:r>
              <a:rPr lang="de-DE" dirty="0" err="1"/>
              <a:t>interitem</a:t>
            </a:r>
            <a:r>
              <a:rPr lang="de-DE" dirty="0"/>
              <a:t> </a:t>
            </a:r>
            <a:r>
              <a:rPr lang="de-DE" dirty="0" err="1"/>
              <a:t>correlations</a:t>
            </a:r>
            <a:r>
              <a:rPr lang="de-DE" dirty="0"/>
              <a:t> :) („</a:t>
            </a:r>
            <a:r>
              <a:rPr lang="de-DE" dirty="0" err="1"/>
              <a:t>one</a:t>
            </a:r>
            <a:r>
              <a:rPr lang="de-DE" dirty="0"/>
              <a:t> </a:t>
            </a:r>
            <a:r>
              <a:rPr lang="de-DE" dirty="0" err="1"/>
              <a:t>level`s</a:t>
            </a:r>
            <a:r>
              <a:rPr lang="de-DE" dirty="0"/>
              <a:t> </a:t>
            </a:r>
            <a:r>
              <a:rPr lang="de-DE" dirty="0" err="1"/>
              <a:t>independence</a:t>
            </a:r>
            <a:r>
              <a:rPr lang="de-DE" dirty="0"/>
              <a:t> </a:t>
            </a:r>
            <a:r>
              <a:rPr lang="de-DE" dirty="0" err="1"/>
              <a:t>is</a:t>
            </a:r>
            <a:r>
              <a:rPr lang="de-DE" dirty="0"/>
              <a:t> </a:t>
            </a:r>
            <a:r>
              <a:rPr lang="de-DE" dirty="0" err="1"/>
              <a:t>the</a:t>
            </a:r>
            <a:r>
              <a:rPr lang="de-DE" dirty="0"/>
              <a:t> </a:t>
            </a:r>
            <a:r>
              <a:rPr lang="de-DE" dirty="0" err="1"/>
              <a:t>next</a:t>
            </a:r>
            <a:r>
              <a:rPr lang="de-DE" dirty="0"/>
              <a:t> </a:t>
            </a:r>
            <a:r>
              <a:rPr lang="de-DE" dirty="0" err="1"/>
              <a:t>level`s</a:t>
            </a:r>
            <a:r>
              <a:rPr lang="de-DE" dirty="0"/>
              <a:t> </a:t>
            </a:r>
            <a:r>
              <a:rPr lang="de-DE" dirty="0" err="1"/>
              <a:t>correlation</a:t>
            </a:r>
            <a:r>
              <a:rPr lang="de-DE" dirty="0"/>
              <a:t>“ :) )</a:t>
            </a:r>
          </a:p>
          <a:p>
            <a:r>
              <a:rPr lang="de-DE" dirty="0"/>
              <a:t>- Computational </a:t>
            </a:r>
            <a:r>
              <a:rPr lang="de-DE" dirty="0" err="1"/>
              <a:t>modeling</a:t>
            </a:r>
            <a:r>
              <a:rPr lang="de-DE" dirty="0"/>
              <a:t> (</a:t>
            </a:r>
            <a:r>
              <a:rPr lang="de-DE" dirty="0" err="1"/>
              <a:t>further</a:t>
            </a:r>
            <a:r>
              <a:rPr lang="de-DE" dirty="0"/>
              <a:t> </a:t>
            </a:r>
            <a:r>
              <a:rPr lang="de-DE" dirty="0" err="1"/>
              <a:t>merging</a:t>
            </a:r>
            <a:r>
              <a:rPr lang="de-DE" dirty="0"/>
              <a:t> </a:t>
            </a:r>
            <a:r>
              <a:rPr lang="de-DE" dirty="0" err="1"/>
              <a:t>process</a:t>
            </a:r>
            <a:r>
              <a:rPr lang="de-DE" dirty="0"/>
              <a:t> </a:t>
            </a:r>
            <a:r>
              <a:rPr lang="de-DE" dirty="0" err="1"/>
              <a:t>with</a:t>
            </a:r>
            <a:r>
              <a:rPr lang="de-DE" dirty="0"/>
              <a:t> </a:t>
            </a:r>
            <a:r>
              <a:rPr lang="de-DE" dirty="0" err="1"/>
              <a:t>cognitive</a:t>
            </a:r>
            <a:r>
              <a:rPr lang="de-DE" dirty="0"/>
              <a:t> </a:t>
            </a:r>
            <a:r>
              <a:rPr lang="de-DE" dirty="0" err="1"/>
              <a:t>pscyhology</a:t>
            </a:r>
            <a:r>
              <a:rPr lang="de-DE" dirty="0"/>
              <a:t>/</a:t>
            </a:r>
            <a:r>
              <a:rPr lang="de-DE" dirty="0" err="1"/>
              <a:t>science</a:t>
            </a:r>
            <a:r>
              <a:rPr lang="de-DE" dirty="0"/>
              <a:t>)</a:t>
            </a:r>
          </a:p>
          <a:p>
            <a:pPr marL="171450" indent="-171450">
              <a:buFontTx/>
              <a:buChar char="-"/>
            </a:pPr>
            <a:r>
              <a:rPr lang="de-DE" dirty="0"/>
              <a:t>Multilevel </a:t>
            </a:r>
            <a:r>
              <a:rPr lang="de-DE" dirty="0" err="1"/>
              <a:t>modeling</a:t>
            </a:r>
            <a:r>
              <a:rPr lang="de-DE" dirty="0"/>
              <a:t>: Combine marginal and individual item </a:t>
            </a:r>
            <a:r>
              <a:rPr lang="de-DE" dirty="0" err="1"/>
              <a:t>estimates</a:t>
            </a:r>
            <a:r>
              <a:rPr lang="de-DE" dirty="0"/>
              <a:t> :)</a:t>
            </a:r>
          </a:p>
          <a:p>
            <a:pPr marL="171450" indent="-171450">
              <a:buFontTx/>
              <a:buChar char="-"/>
            </a:pPr>
            <a:r>
              <a:rPr lang="de-DE" dirty="0"/>
              <a:t> - </a:t>
            </a:r>
            <a:r>
              <a:rPr lang="de-DE" dirty="0" err="1"/>
              <a:t>Integrate</a:t>
            </a:r>
            <a:r>
              <a:rPr lang="de-DE" dirty="0"/>
              <a:t> </a:t>
            </a:r>
            <a:r>
              <a:rPr lang="de-DE" dirty="0" err="1"/>
              <a:t>ccogntivie</a:t>
            </a:r>
            <a:r>
              <a:rPr lang="de-DE" dirty="0"/>
              <a:t> </a:t>
            </a:r>
            <a:r>
              <a:rPr lang="de-DE" dirty="0" err="1"/>
              <a:t>processes</a:t>
            </a:r>
            <a:r>
              <a:rPr lang="de-DE" dirty="0"/>
              <a:t>, </a:t>
            </a:r>
            <a:r>
              <a:rPr lang="de-DE" dirty="0" err="1"/>
              <a:t>short</a:t>
            </a:r>
            <a:r>
              <a:rPr lang="de-DE" dirty="0"/>
              <a:t>-time </a:t>
            </a:r>
            <a:r>
              <a:rPr lang="de-DE" dirty="0" err="1"/>
              <a:t>dynamics</a:t>
            </a:r>
            <a:r>
              <a:rPr lang="de-DE" dirty="0"/>
              <a:t>, and </a:t>
            </a:r>
            <a:r>
              <a:rPr lang="de-DE" dirty="0" err="1"/>
              <a:t>long</a:t>
            </a:r>
            <a:r>
              <a:rPr lang="de-DE" dirty="0"/>
              <a:t>-term </a:t>
            </a:r>
            <a:r>
              <a:rPr lang="de-DE" dirty="0" err="1"/>
              <a:t>development</a:t>
            </a:r>
            <a:endParaRPr lang="de-DE" dirty="0"/>
          </a:p>
          <a:p>
            <a:pPr marL="171450" indent="-171450">
              <a:buFontTx/>
              <a:buChar char="-"/>
            </a:pPr>
            <a:endParaRPr lang="de-DE" dirty="0"/>
          </a:p>
          <a:p>
            <a:endParaRPr lang="de-DE" dirty="0"/>
          </a:p>
          <a:p>
            <a:r>
              <a:rPr lang="de-DE" dirty="0"/>
              <a:t>Contemporary </a:t>
            </a:r>
            <a:r>
              <a:rPr lang="de-DE" dirty="0" err="1"/>
              <a:t>educational</a:t>
            </a:r>
            <a:r>
              <a:rPr lang="de-DE" dirty="0"/>
              <a:t> </a:t>
            </a:r>
            <a:r>
              <a:rPr lang="de-DE" dirty="0" err="1"/>
              <a:t>research</a:t>
            </a:r>
            <a:r>
              <a:rPr lang="de-DE" dirty="0"/>
              <a:t> </a:t>
            </a:r>
            <a:r>
              <a:rPr lang="de-DE" dirty="0" err="1"/>
              <a:t>cares</a:t>
            </a:r>
            <a:r>
              <a:rPr lang="de-DE" dirty="0"/>
              <a:t> a </a:t>
            </a:r>
            <a:r>
              <a:rPr lang="de-DE" dirty="0" err="1"/>
              <a:t>lot</a:t>
            </a:r>
            <a:r>
              <a:rPr lang="de-DE" dirty="0"/>
              <a:t> </a:t>
            </a:r>
            <a:r>
              <a:rPr lang="de-DE" dirty="0" err="1"/>
              <a:t>about</a:t>
            </a:r>
            <a:r>
              <a:rPr lang="de-DE" dirty="0"/>
              <a:t> </a:t>
            </a:r>
            <a:r>
              <a:rPr lang="de-DE" dirty="0" err="1"/>
              <a:t>learners</a:t>
            </a:r>
            <a:r>
              <a:rPr lang="de-DE" dirty="0"/>
              <a:t>` </a:t>
            </a:r>
            <a:r>
              <a:rPr lang="de-DE" dirty="0" err="1"/>
              <a:t>competencies</a:t>
            </a:r>
            <a:r>
              <a:rPr lang="de-DE" dirty="0"/>
              <a:t>, </a:t>
            </a:r>
            <a:r>
              <a:rPr lang="de-DE" dirty="0" err="1"/>
              <a:t>emotions</a:t>
            </a:r>
            <a:r>
              <a:rPr lang="de-DE" dirty="0"/>
              <a:t>, </a:t>
            </a:r>
            <a:r>
              <a:rPr lang="de-DE" dirty="0" err="1"/>
              <a:t>motivation</a:t>
            </a:r>
            <a:r>
              <a:rPr lang="de-DE" dirty="0"/>
              <a:t>, </a:t>
            </a:r>
            <a:r>
              <a:rPr lang="de-DE" dirty="0" err="1"/>
              <a:t>aspirations</a:t>
            </a:r>
            <a:r>
              <a:rPr lang="de-DE" dirty="0"/>
              <a:t>, environmental </a:t>
            </a:r>
            <a:r>
              <a:rPr lang="de-DE" dirty="0" err="1"/>
              <a:t>behavior</a:t>
            </a:r>
            <a:r>
              <a:rPr lang="de-DE" dirty="0"/>
              <a:t>, </a:t>
            </a:r>
            <a:r>
              <a:rPr lang="de-DE" dirty="0" err="1"/>
              <a:t>self</a:t>
            </a:r>
            <a:r>
              <a:rPr lang="de-DE" dirty="0"/>
              <a:t>-regulation, meta-</a:t>
            </a:r>
            <a:r>
              <a:rPr lang="de-DE" dirty="0" err="1"/>
              <a:t>cognition</a:t>
            </a:r>
            <a:r>
              <a:rPr lang="de-DE" dirty="0"/>
              <a:t>, and </a:t>
            </a:r>
            <a:r>
              <a:rPr lang="de-DE" dirty="0" err="1"/>
              <a:t>health</a:t>
            </a:r>
            <a:r>
              <a:rPr lang="de-DE" dirty="0"/>
              <a:t>.</a:t>
            </a:r>
          </a:p>
          <a:p>
            <a:r>
              <a:rPr lang="de-DE" dirty="0"/>
              <a:t>I </a:t>
            </a:r>
            <a:r>
              <a:rPr lang="de-DE" dirty="0" err="1"/>
              <a:t>don`t</a:t>
            </a:r>
            <a:r>
              <a:rPr lang="de-DE" dirty="0"/>
              <a:t>. I care </a:t>
            </a:r>
            <a:r>
              <a:rPr lang="de-DE" dirty="0" err="1"/>
              <a:t>about</a:t>
            </a:r>
            <a:r>
              <a:rPr lang="de-DE" dirty="0"/>
              <a:t> </a:t>
            </a:r>
            <a:r>
              <a:rPr lang="de-DE" dirty="0" err="1"/>
              <a:t>their</a:t>
            </a:r>
            <a:r>
              <a:rPr lang="de-DE" dirty="0"/>
              <a:t> </a:t>
            </a:r>
            <a:r>
              <a:rPr lang="de-DE" dirty="0" err="1"/>
              <a:t>knowledge</a:t>
            </a:r>
            <a:r>
              <a:rPr lang="de-DE" dirty="0"/>
              <a:t>. I </a:t>
            </a:r>
            <a:r>
              <a:rPr lang="de-DE" dirty="0" err="1"/>
              <a:t>consider</a:t>
            </a:r>
            <a:r>
              <a:rPr lang="de-DE" dirty="0"/>
              <a:t> </a:t>
            </a:r>
            <a:r>
              <a:rPr lang="de-DE" dirty="0" err="1"/>
              <a:t>knowledge</a:t>
            </a:r>
            <a:r>
              <a:rPr lang="de-DE" dirty="0"/>
              <a:t> </a:t>
            </a:r>
            <a:r>
              <a:rPr lang="de-DE" dirty="0" err="1"/>
              <a:t>to</a:t>
            </a:r>
            <a:r>
              <a:rPr lang="de-DE" dirty="0"/>
              <a:t> </a:t>
            </a:r>
            <a:r>
              <a:rPr lang="de-DE" dirty="0" err="1"/>
              <a:t>be</a:t>
            </a:r>
            <a:r>
              <a:rPr lang="de-DE" dirty="0"/>
              <a:t> a </a:t>
            </a:r>
            <a:r>
              <a:rPr lang="de-DE" dirty="0" err="1"/>
              <a:t>learner`s</a:t>
            </a:r>
            <a:r>
              <a:rPr lang="de-DE" dirty="0"/>
              <a:t> root </a:t>
            </a:r>
            <a:r>
              <a:rPr lang="de-DE" dirty="0" err="1"/>
              <a:t>cause</a:t>
            </a:r>
            <a:r>
              <a:rPr lang="de-DE" dirty="0"/>
              <a:t> </a:t>
            </a:r>
            <a:r>
              <a:rPr lang="de-DE" dirty="0" err="1"/>
              <a:t>for</a:t>
            </a:r>
            <a:r>
              <a:rPr lang="de-DE" dirty="0"/>
              <a:t> all </a:t>
            </a:r>
            <a:r>
              <a:rPr lang="de-DE" dirty="0" err="1"/>
              <a:t>of</a:t>
            </a:r>
            <a:r>
              <a:rPr lang="de-DE" dirty="0"/>
              <a:t> </a:t>
            </a:r>
            <a:r>
              <a:rPr lang="de-DE" dirty="0" err="1"/>
              <a:t>these</a:t>
            </a:r>
            <a:r>
              <a:rPr lang="de-DE" dirty="0"/>
              <a:t>; a </a:t>
            </a:r>
            <a:r>
              <a:rPr lang="de-DE" dirty="0" err="1"/>
              <a:t>necessary</a:t>
            </a:r>
            <a:r>
              <a:rPr lang="de-DE" dirty="0"/>
              <a:t> </a:t>
            </a:r>
            <a:r>
              <a:rPr lang="de-DE" dirty="0" err="1"/>
              <a:t>yet</a:t>
            </a:r>
            <a:r>
              <a:rPr lang="de-DE" dirty="0"/>
              <a:t> </a:t>
            </a:r>
            <a:r>
              <a:rPr lang="de-DE" dirty="0" err="1"/>
              <a:t>insufficient</a:t>
            </a:r>
            <a:r>
              <a:rPr lang="de-DE" dirty="0"/>
              <a:t> </a:t>
            </a:r>
            <a:r>
              <a:rPr lang="de-DE" dirty="0" err="1"/>
              <a:t>condition</a:t>
            </a:r>
            <a:r>
              <a:rPr lang="de-DE" dirty="0"/>
              <a:t> </a:t>
            </a:r>
            <a:r>
              <a:rPr lang="de-DE" dirty="0" err="1"/>
              <a:t>to</a:t>
            </a:r>
            <a:r>
              <a:rPr lang="de-DE" dirty="0"/>
              <a:t> </a:t>
            </a:r>
            <a:r>
              <a:rPr lang="de-DE" dirty="0" err="1"/>
              <a:t>be</a:t>
            </a:r>
            <a:r>
              <a:rPr lang="de-DE" dirty="0"/>
              <a:t> a </a:t>
            </a:r>
            <a:r>
              <a:rPr lang="de-DE" dirty="0" err="1"/>
              <a:t>competent</a:t>
            </a:r>
            <a:r>
              <a:rPr lang="de-DE" dirty="0"/>
              <a:t>, </a:t>
            </a:r>
            <a:r>
              <a:rPr lang="de-DE" dirty="0" err="1"/>
              <a:t>motivated</a:t>
            </a:r>
            <a:r>
              <a:rPr lang="de-DE" dirty="0"/>
              <a:t>, </a:t>
            </a:r>
            <a:r>
              <a:rPr lang="de-DE" dirty="0" err="1"/>
              <a:t>aspiring</a:t>
            </a:r>
            <a:r>
              <a:rPr lang="de-DE" dirty="0"/>
              <a:t>, </a:t>
            </a:r>
            <a:r>
              <a:rPr lang="de-DE" dirty="0" err="1"/>
              <a:t>self-regulated</a:t>
            </a:r>
            <a:r>
              <a:rPr lang="de-DE" dirty="0"/>
              <a:t>, and </a:t>
            </a:r>
            <a:r>
              <a:rPr lang="de-DE" dirty="0" err="1"/>
              <a:t>healthy</a:t>
            </a:r>
            <a:r>
              <a:rPr lang="de-DE" dirty="0"/>
              <a:t> </a:t>
            </a:r>
            <a:r>
              <a:rPr lang="de-DE" dirty="0" err="1"/>
              <a:t>learner</a:t>
            </a:r>
            <a:r>
              <a:rPr lang="de-DE" dirty="0"/>
              <a:t>.</a:t>
            </a:r>
          </a:p>
          <a:p>
            <a:endParaRPr lang="de-DE" dirty="0"/>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learners`knowledge</a:t>
            </a:r>
            <a:r>
              <a:rPr lang="de-DE" dirty="0"/>
              <a:t>:</a:t>
            </a:r>
          </a:p>
          <a:p>
            <a:endParaRPr lang="de-DE" dirty="0"/>
          </a:p>
          <a:p>
            <a:r>
              <a:rPr lang="de-DE" dirty="0"/>
              <a:t>Modeling Knowledge: Yesterday, Today, Tomorrow</a:t>
            </a:r>
          </a:p>
          <a:p>
            <a:endParaRPr lang="de-DE" dirty="0"/>
          </a:p>
          <a:p>
            <a:r>
              <a:rPr lang="de-DE" dirty="0"/>
              <a:t>Knowledge </a:t>
            </a:r>
            <a:r>
              <a:rPr lang="de-DE" dirty="0" err="1"/>
              <a:t>is</a:t>
            </a:r>
            <a:r>
              <a:rPr lang="de-DE" dirty="0"/>
              <a:t> a </a:t>
            </a:r>
            <a:r>
              <a:rPr lang="de-DE" dirty="0" err="1"/>
              <a:t>central</a:t>
            </a:r>
            <a:r>
              <a:rPr lang="de-DE" dirty="0"/>
              <a:t> </a:t>
            </a:r>
            <a:r>
              <a:rPr lang="de-DE" dirty="0" err="1"/>
              <a:t>predictor</a:t>
            </a:r>
            <a:r>
              <a:rPr lang="de-DE" dirty="0"/>
              <a:t> and </a:t>
            </a:r>
            <a:r>
              <a:rPr lang="de-DE" dirty="0" err="1"/>
              <a:t>outcome</a:t>
            </a:r>
            <a:r>
              <a:rPr lang="de-DE" dirty="0"/>
              <a:t> </a:t>
            </a:r>
            <a:r>
              <a:rPr lang="de-DE" dirty="0" err="1"/>
              <a:t>across</a:t>
            </a:r>
            <a:r>
              <a:rPr lang="de-DE" dirty="0"/>
              <a:t> a </a:t>
            </a:r>
            <a:r>
              <a:rPr lang="de-DE" dirty="0" err="1"/>
              <a:t>variety</a:t>
            </a:r>
            <a:r>
              <a:rPr lang="de-DE" dirty="0"/>
              <a:t> </a:t>
            </a:r>
            <a:r>
              <a:rPr lang="de-DE" dirty="0" err="1"/>
              <a:t>of</a:t>
            </a:r>
            <a:r>
              <a:rPr lang="de-DE" dirty="0"/>
              <a:t> </a:t>
            </a:r>
            <a:r>
              <a:rPr lang="de-DE" dirty="0" err="1"/>
              <a:t>educational</a:t>
            </a:r>
            <a:r>
              <a:rPr lang="de-DE" dirty="0"/>
              <a:t> </a:t>
            </a:r>
            <a:r>
              <a:rPr lang="de-DE" dirty="0" err="1"/>
              <a:t>contexts</a:t>
            </a:r>
            <a:r>
              <a:rPr lang="de-DE" dirty="0"/>
              <a:t>.</a:t>
            </a:r>
          </a:p>
          <a:p>
            <a:r>
              <a:rPr lang="de-DE" dirty="0"/>
              <a:t>I </a:t>
            </a:r>
            <a:r>
              <a:rPr lang="de-DE" dirty="0" err="1"/>
              <a:t>discuss</a:t>
            </a:r>
            <a:r>
              <a:rPr lang="de-DE" dirty="0"/>
              <a:t> </a:t>
            </a:r>
            <a:r>
              <a:rPr lang="de-DE" dirty="0" err="1"/>
              <a:t>how</a:t>
            </a:r>
            <a:r>
              <a:rPr lang="de-DE" dirty="0"/>
              <a:t> </a:t>
            </a:r>
            <a:r>
              <a:rPr lang="de-DE" dirty="0" err="1"/>
              <a:t>knowledge</a:t>
            </a:r>
            <a:r>
              <a:rPr lang="de-DE" dirty="0"/>
              <a:t> </a:t>
            </a:r>
            <a:r>
              <a:rPr lang="de-DE" dirty="0" err="1"/>
              <a:t>has</a:t>
            </a:r>
            <a:r>
              <a:rPr lang="de-DE" dirty="0"/>
              <a:t> </a:t>
            </a:r>
            <a:r>
              <a:rPr lang="de-DE" dirty="0" err="1"/>
              <a:t>been</a:t>
            </a:r>
            <a:r>
              <a:rPr lang="de-DE" dirty="0"/>
              <a:t> </a:t>
            </a:r>
            <a:r>
              <a:rPr lang="de-DE" dirty="0" err="1"/>
              <a:t>represented</a:t>
            </a:r>
            <a:r>
              <a:rPr lang="de-DE" dirty="0"/>
              <a:t> and </a:t>
            </a:r>
            <a:r>
              <a:rPr lang="de-DE" dirty="0" err="1"/>
              <a:t>examined</a:t>
            </a:r>
            <a:r>
              <a:rPr lang="de-DE" dirty="0"/>
              <a:t> in </a:t>
            </a:r>
            <a:r>
              <a:rPr lang="de-DE" dirty="0" err="1"/>
              <a:t>statistical</a:t>
            </a:r>
            <a:r>
              <a:rPr lang="de-DE" dirty="0"/>
              <a:t> </a:t>
            </a:r>
            <a:r>
              <a:rPr lang="de-DE" dirty="0" err="1"/>
              <a:t>models</a:t>
            </a:r>
            <a:r>
              <a:rPr lang="de-DE" dirty="0"/>
              <a:t> </a:t>
            </a:r>
            <a:r>
              <a:rPr lang="de-DE" dirty="0" err="1"/>
              <a:t>throughout</a:t>
            </a:r>
            <a:r>
              <a:rPr lang="de-DE" dirty="0"/>
              <a:t> </a:t>
            </a:r>
            <a:r>
              <a:rPr lang="de-DE" dirty="0" err="1"/>
              <a:t>the</a:t>
            </a:r>
            <a:r>
              <a:rPr lang="de-DE" dirty="0"/>
              <a:t> last </a:t>
            </a:r>
            <a:r>
              <a:rPr lang="de-DE" dirty="0" err="1"/>
              <a:t>decades</a:t>
            </a:r>
            <a:r>
              <a:rPr lang="de-DE" dirty="0"/>
              <a:t>, </a:t>
            </a:r>
            <a:r>
              <a:rPr lang="de-DE" dirty="0" err="1"/>
              <a:t>connecting</a:t>
            </a:r>
            <a:r>
              <a:rPr lang="de-DE" dirty="0"/>
              <a:t> </a:t>
            </a:r>
            <a:r>
              <a:rPr lang="de-DE" dirty="0" err="1"/>
              <a:t>developments</a:t>
            </a:r>
            <a:r>
              <a:rPr lang="de-DE" dirty="0"/>
              <a:t> in </a:t>
            </a:r>
            <a:r>
              <a:rPr lang="de-DE" dirty="0" err="1"/>
              <a:t>statistical</a:t>
            </a:r>
            <a:r>
              <a:rPr lang="de-DE" dirty="0"/>
              <a:t> </a:t>
            </a:r>
            <a:r>
              <a:rPr lang="de-DE" dirty="0" err="1"/>
              <a:t>practices</a:t>
            </a:r>
            <a:r>
              <a:rPr lang="de-DE" dirty="0"/>
              <a:t> </a:t>
            </a:r>
            <a:r>
              <a:rPr lang="de-DE" dirty="0" err="1"/>
              <a:t>to</a:t>
            </a:r>
            <a:r>
              <a:rPr lang="de-DE" dirty="0"/>
              <a:t> </a:t>
            </a:r>
            <a:r>
              <a:rPr lang="de-DE" dirty="0" err="1"/>
              <a:t>theoretical</a:t>
            </a:r>
            <a:r>
              <a:rPr lang="de-DE" dirty="0"/>
              <a:t> </a:t>
            </a:r>
            <a:r>
              <a:rPr lang="de-DE" dirty="0" err="1"/>
              <a:t>developments</a:t>
            </a:r>
            <a:r>
              <a:rPr lang="de-DE" dirty="0"/>
              <a:t> in </a:t>
            </a:r>
            <a:r>
              <a:rPr lang="de-DE" dirty="0" err="1"/>
              <a:t>the</a:t>
            </a:r>
            <a:r>
              <a:rPr lang="de-DE" dirty="0"/>
              <a:t> </a:t>
            </a:r>
            <a:r>
              <a:rPr lang="de-DE" dirty="0" err="1"/>
              <a:t>fields</a:t>
            </a:r>
            <a:r>
              <a:rPr lang="de-DE" dirty="0"/>
              <a:t> </a:t>
            </a:r>
            <a:r>
              <a:rPr lang="de-DE" dirty="0" err="1"/>
              <a:t>of</a:t>
            </a:r>
            <a:r>
              <a:rPr lang="de-DE" dirty="0"/>
              <a:t> </a:t>
            </a:r>
            <a:r>
              <a:rPr lang="de-DE" dirty="0" err="1"/>
              <a:t>inquiry-based</a:t>
            </a:r>
            <a:r>
              <a:rPr lang="de-DE" dirty="0"/>
              <a:t> </a:t>
            </a:r>
            <a:r>
              <a:rPr lang="de-DE" dirty="0" err="1"/>
              <a:t>learning</a:t>
            </a:r>
            <a:r>
              <a:rPr lang="de-DE" dirty="0"/>
              <a:t> and </a:t>
            </a:r>
            <a:r>
              <a:rPr lang="de-DE" dirty="0" err="1"/>
              <a:t>conceptual</a:t>
            </a:r>
            <a:r>
              <a:rPr lang="de-DE" dirty="0"/>
              <a:t> </a:t>
            </a:r>
            <a:r>
              <a:rPr lang="de-DE" dirty="0" err="1"/>
              <a:t>change</a:t>
            </a:r>
            <a:r>
              <a:rPr lang="de-DE" dirty="0"/>
              <a:t>.</a:t>
            </a:r>
          </a:p>
          <a:p>
            <a:r>
              <a:rPr lang="de-DE" dirty="0"/>
              <a:t>I </a:t>
            </a:r>
            <a:r>
              <a:rPr lang="de-DE" dirty="0" err="1"/>
              <a:t>argue</a:t>
            </a:r>
            <a:r>
              <a:rPr lang="de-DE" dirty="0"/>
              <a:t> </a:t>
            </a:r>
            <a:r>
              <a:rPr lang="de-DE" dirty="0" err="1"/>
              <a:t>that</a:t>
            </a:r>
            <a:r>
              <a:rPr lang="de-DE" dirty="0"/>
              <a:t> </a:t>
            </a:r>
            <a:r>
              <a:rPr lang="de-DE" dirty="0" err="1"/>
              <a:t>statistical</a:t>
            </a:r>
            <a:r>
              <a:rPr lang="de-DE" dirty="0"/>
              <a:t> </a:t>
            </a:r>
            <a:r>
              <a:rPr lang="de-DE" dirty="0" err="1"/>
              <a:t>modeling</a:t>
            </a:r>
            <a:r>
              <a:rPr lang="de-DE" dirty="0"/>
              <a:t> </a:t>
            </a:r>
            <a:r>
              <a:rPr lang="de-DE" dirty="0" err="1"/>
              <a:t>has</a:t>
            </a:r>
            <a:r>
              <a:rPr lang="de-DE" dirty="0"/>
              <a:t> </a:t>
            </a:r>
            <a:r>
              <a:rPr lang="de-DE" dirty="0" err="1"/>
              <a:t>served</a:t>
            </a:r>
            <a:r>
              <a:rPr lang="de-DE" dirty="0"/>
              <a:t> and will </a:t>
            </a:r>
            <a:r>
              <a:rPr lang="de-DE" dirty="0" err="1"/>
              <a:t>continue</a:t>
            </a:r>
            <a:r>
              <a:rPr lang="de-DE" dirty="0"/>
              <a:t> </a:t>
            </a:r>
            <a:r>
              <a:rPr lang="de-DE" dirty="0" err="1"/>
              <a:t>to</a:t>
            </a:r>
            <a:r>
              <a:rPr lang="de-DE" dirty="0"/>
              <a:t> </a:t>
            </a:r>
            <a:r>
              <a:rPr lang="de-DE" dirty="0" err="1"/>
              <a:t>serve</a:t>
            </a:r>
            <a:r>
              <a:rPr lang="de-DE" dirty="0"/>
              <a:t> </a:t>
            </a:r>
            <a:r>
              <a:rPr lang="de-DE" dirty="0" err="1"/>
              <a:t>as</a:t>
            </a:r>
            <a:r>
              <a:rPr lang="de-DE" dirty="0"/>
              <a:t> </a:t>
            </a:r>
            <a:r>
              <a:rPr lang="de-DE" dirty="0" err="1"/>
              <a:t>inspiration</a:t>
            </a:r>
            <a:r>
              <a:rPr lang="de-DE" dirty="0"/>
              <a:t> </a:t>
            </a:r>
            <a:r>
              <a:rPr lang="de-DE" dirty="0" err="1"/>
              <a:t>to</a:t>
            </a:r>
            <a:r>
              <a:rPr lang="de-DE" dirty="0"/>
              <a:t> </a:t>
            </a:r>
            <a:r>
              <a:rPr lang="de-DE" dirty="0" err="1"/>
              <a:t>educational</a:t>
            </a:r>
            <a:r>
              <a:rPr lang="de-DE" dirty="0"/>
              <a:t> </a:t>
            </a:r>
            <a:r>
              <a:rPr lang="de-DE" dirty="0" err="1"/>
              <a:t>theory</a:t>
            </a:r>
            <a:r>
              <a:rPr lang="de-DE" dirty="0"/>
              <a:t> in </a:t>
            </a:r>
            <a:r>
              <a:rPr lang="de-DE" dirty="0" err="1"/>
              <a:t>these</a:t>
            </a:r>
            <a:r>
              <a:rPr lang="de-DE" dirty="0"/>
              <a:t> </a:t>
            </a:r>
            <a:r>
              <a:rPr lang="de-DE" dirty="0" err="1"/>
              <a:t>areas</a:t>
            </a:r>
            <a:r>
              <a:rPr lang="de-DE" dirty="0"/>
              <a:t>, just </a:t>
            </a:r>
            <a:r>
              <a:rPr lang="de-DE" dirty="0" err="1"/>
              <a:t>as</a:t>
            </a:r>
            <a:r>
              <a:rPr lang="de-DE" dirty="0"/>
              <a:t> </a:t>
            </a:r>
            <a:r>
              <a:rPr lang="de-DE" dirty="0" err="1"/>
              <a:t>educational</a:t>
            </a:r>
            <a:r>
              <a:rPr lang="de-DE" dirty="0"/>
              <a:t> </a:t>
            </a:r>
            <a:r>
              <a:rPr lang="de-DE" dirty="0" err="1"/>
              <a:t>theory</a:t>
            </a:r>
            <a:r>
              <a:rPr lang="de-DE" dirty="0"/>
              <a:t> </a:t>
            </a:r>
            <a:r>
              <a:rPr lang="de-DE" dirty="0" err="1"/>
              <a:t>serves</a:t>
            </a:r>
            <a:r>
              <a:rPr lang="de-DE" dirty="0"/>
              <a:t> </a:t>
            </a:r>
            <a:r>
              <a:rPr lang="de-DE" dirty="0" err="1"/>
              <a:t>as</a:t>
            </a:r>
            <a:r>
              <a:rPr lang="de-DE" dirty="0"/>
              <a:t> </a:t>
            </a:r>
            <a:r>
              <a:rPr lang="de-DE" dirty="0" err="1"/>
              <a:t>inspiration</a:t>
            </a:r>
            <a:r>
              <a:rPr lang="de-DE" dirty="0"/>
              <a:t> </a:t>
            </a:r>
            <a:r>
              <a:rPr lang="de-DE" dirty="0" err="1"/>
              <a:t>for</a:t>
            </a:r>
            <a:r>
              <a:rPr lang="de-DE" dirty="0"/>
              <a:t> </a:t>
            </a:r>
            <a:r>
              <a:rPr lang="de-DE" dirty="0" err="1"/>
              <a:t>new</a:t>
            </a:r>
            <a:r>
              <a:rPr lang="de-DE" dirty="0"/>
              <a:t> </a:t>
            </a:r>
            <a:r>
              <a:rPr lang="de-DE" dirty="0" err="1"/>
              <a:t>modeling</a:t>
            </a:r>
            <a:r>
              <a:rPr lang="de-DE" dirty="0"/>
              <a:t> </a:t>
            </a:r>
            <a:r>
              <a:rPr lang="de-DE" dirty="0" err="1"/>
              <a:t>approaches</a:t>
            </a:r>
            <a:r>
              <a:rPr lang="de-DE" dirty="0"/>
              <a:t> </a:t>
            </a:r>
            <a:r>
              <a:rPr lang="de-DE" dirty="0" err="1"/>
              <a:t>that</a:t>
            </a:r>
            <a:r>
              <a:rPr lang="de-DE" dirty="0"/>
              <a:t> </a:t>
            </a:r>
            <a:r>
              <a:rPr lang="de-DE" dirty="0" err="1"/>
              <a:t>better</a:t>
            </a:r>
            <a:r>
              <a:rPr lang="de-DE" dirty="0"/>
              <a:t> </a:t>
            </a:r>
            <a:r>
              <a:rPr lang="de-DE" dirty="0" err="1"/>
              <a:t>represent</a:t>
            </a:r>
            <a:r>
              <a:rPr lang="de-DE" dirty="0"/>
              <a:t> </a:t>
            </a:r>
            <a:r>
              <a:rPr lang="de-DE" dirty="0" err="1"/>
              <a:t>our</a:t>
            </a:r>
            <a:r>
              <a:rPr lang="de-DE" dirty="0"/>
              <a:t> </a:t>
            </a:r>
            <a:r>
              <a:rPr lang="de-DE" dirty="0" err="1"/>
              <a:t>theoretical</a:t>
            </a:r>
            <a:r>
              <a:rPr lang="de-DE" dirty="0"/>
              <a:t> </a:t>
            </a:r>
            <a:r>
              <a:rPr lang="de-DE" dirty="0" err="1"/>
              <a:t>aims</a:t>
            </a:r>
            <a:r>
              <a:rPr lang="de-DE" dirty="0"/>
              <a:t> and </a:t>
            </a:r>
            <a:r>
              <a:rPr lang="de-DE" dirty="0" err="1"/>
              <a:t>assumptions</a:t>
            </a:r>
            <a:r>
              <a:rPr lang="de-DE" dirty="0"/>
              <a:t>.</a:t>
            </a:r>
          </a:p>
          <a:p>
            <a:r>
              <a:rPr lang="de-DE" dirty="0"/>
              <a:t>Providing an </a:t>
            </a:r>
            <a:r>
              <a:rPr lang="de-DE" dirty="0" err="1"/>
              <a:t>overview</a:t>
            </a:r>
            <a:r>
              <a:rPr lang="de-DE" dirty="0"/>
              <a:t> </a:t>
            </a:r>
            <a:r>
              <a:rPr lang="de-DE" dirty="0" err="1"/>
              <a:t>of</a:t>
            </a:r>
            <a:r>
              <a:rPr lang="de-DE" dirty="0"/>
              <a:t> </a:t>
            </a:r>
            <a:r>
              <a:rPr lang="de-DE" dirty="0" err="1"/>
              <a:t>current</a:t>
            </a:r>
            <a:r>
              <a:rPr lang="de-DE" dirty="0"/>
              <a:t> </a:t>
            </a:r>
            <a:r>
              <a:rPr lang="de-DE" dirty="0" err="1"/>
              <a:t>modeling</a:t>
            </a:r>
            <a:r>
              <a:rPr lang="de-DE" dirty="0"/>
              <a:t> </a:t>
            </a:r>
            <a:r>
              <a:rPr lang="de-DE" dirty="0" err="1"/>
              <a:t>methodologies</a:t>
            </a:r>
            <a:r>
              <a:rPr lang="de-DE" dirty="0"/>
              <a:t>, such </a:t>
            </a:r>
            <a:r>
              <a:rPr lang="de-DE" dirty="0" err="1"/>
              <a:t>as</a:t>
            </a:r>
            <a:r>
              <a:rPr lang="de-DE" dirty="0"/>
              <a:t> </a:t>
            </a:r>
            <a:r>
              <a:rPr lang="de-DE" dirty="0" err="1"/>
              <a:t>factor</a:t>
            </a:r>
            <a:r>
              <a:rPr lang="de-DE" dirty="0"/>
              <a:t> </a:t>
            </a:r>
            <a:r>
              <a:rPr lang="de-DE" dirty="0" err="1"/>
              <a:t>analysis</a:t>
            </a:r>
            <a:r>
              <a:rPr lang="de-DE" dirty="0"/>
              <a:t>, </a:t>
            </a:r>
            <a:r>
              <a:rPr lang="de-DE" dirty="0" err="1"/>
              <a:t>multilevel</a:t>
            </a:r>
            <a:r>
              <a:rPr lang="de-DE" dirty="0"/>
              <a:t>-, </a:t>
            </a:r>
            <a:r>
              <a:rPr lang="de-DE" dirty="0" err="1"/>
              <a:t>mixture</a:t>
            </a:r>
            <a:r>
              <a:rPr lang="de-DE" dirty="0"/>
              <a:t>-, network-, and </a:t>
            </a:r>
            <a:r>
              <a:rPr lang="de-DE" dirty="0" err="1"/>
              <a:t>cognitive</a:t>
            </a:r>
            <a:r>
              <a:rPr lang="de-DE" dirty="0"/>
              <a:t> </a:t>
            </a:r>
            <a:r>
              <a:rPr lang="de-DE" dirty="0" err="1"/>
              <a:t>modeling</a:t>
            </a:r>
            <a:r>
              <a:rPr lang="de-DE" dirty="0"/>
              <a:t> and </a:t>
            </a:r>
            <a:r>
              <a:rPr lang="de-DE" dirty="0" err="1"/>
              <a:t>the</a:t>
            </a:r>
            <a:r>
              <a:rPr lang="de-DE" dirty="0"/>
              <a:t> </a:t>
            </a:r>
            <a:r>
              <a:rPr lang="de-DE" dirty="0" err="1"/>
              <a:t>role</a:t>
            </a:r>
            <a:r>
              <a:rPr lang="de-DE" dirty="0"/>
              <a:t> </a:t>
            </a:r>
            <a:r>
              <a:rPr lang="de-DE" dirty="0" err="1"/>
              <a:t>these</a:t>
            </a:r>
            <a:r>
              <a:rPr lang="de-DE" dirty="0"/>
              <a:t> </a:t>
            </a:r>
            <a:r>
              <a:rPr lang="de-DE" dirty="0" err="1"/>
              <a:t>play</a:t>
            </a:r>
            <a:r>
              <a:rPr lang="de-DE" dirty="0"/>
              <a:t> in </a:t>
            </a:r>
            <a:r>
              <a:rPr lang="de-DE" dirty="0" err="1"/>
              <a:t>current</a:t>
            </a:r>
            <a:r>
              <a:rPr lang="de-DE" dirty="0"/>
              <a:t> </a:t>
            </a:r>
            <a:r>
              <a:rPr lang="de-DE" dirty="0" err="1"/>
              <a:t>developments</a:t>
            </a:r>
            <a:r>
              <a:rPr lang="de-DE" dirty="0"/>
              <a:t>, I </a:t>
            </a:r>
            <a:r>
              <a:rPr lang="de-DE" dirty="0" err="1"/>
              <a:t>try</a:t>
            </a:r>
            <a:r>
              <a:rPr lang="de-DE" dirty="0"/>
              <a:t> </a:t>
            </a:r>
            <a:r>
              <a:rPr lang="de-DE" dirty="0" err="1"/>
              <a:t>engaging</a:t>
            </a:r>
            <a:r>
              <a:rPr lang="de-DE" dirty="0"/>
              <a:t> in </a:t>
            </a:r>
            <a:r>
              <a:rPr lang="de-DE" dirty="0" err="1"/>
              <a:t>informed</a:t>
            </a:r>
            <a:r>
              <a:rPr lang="de-DE" dirty="0"/>
              <a:t> </a:t>
            </a:r>
            <a:r>
              <a:rPr lang="de-DE" dirty="0" err="1"/>
              <a:t>clayrvoyance</a:t>
            </a:r>
            <a:r>
              <a:rPr lang="de-DE" dirty="0"/>
              <a:t> </a:t>
            </a:r>
            <a:r>
              <a:rPr lang="de-DE" dirty="0" err="1"/>
              <a:t>to</a:t>
            </a:r>
            <a:r>
              <a:rPr lang="de-DE" dirty="0"/>
              <a:t> </a:t>
            </a:r>
            <a:r>
              <a:rPr lang="de-DE" dirty="0" err="1"/>
              <a:t>show</a:t>
            </a:r>
            <a:r>
              <a:rPr lang="de-DE" dirty="0"/>
              <a:t> </a:t>
            </a:r>
            <a:r>
              <a:rPr lang="de-DE" dirty="0" err="1"/>
              <a:t>up</a:t>
            </a:r>
            <a:r>
              <a:rPr lang="de-DE" dirty="0"/>
              <a:t> </a:t>
            </a:r>
            <a:r>
              <a:rPr lang="de-DE" dirty="0" err="1"/>
              <a:t>future</a:t>
            </a:r>
            <a:r>
              <a:rPr lang="de-DE" dirty="0"/>
              <a:t> </a:t>
            </a:r>
            <a:r>
              <a:rPr lang="de-DE" dirty="0" err="1"/>
              <a:t>developments</a:t>
            </a:r>
            <a:r>
              <a:rPr lang="de-DE" dirty="0"/>
              <a:t> </a:t>
            </a:r>
            <a:r>
              <a:rPr lang="de-DE" dirty="0" err="1"/>
              <a:t>that</a:t>
            </a:r>
            <a:r>
              <a:rPr lang="de-DE" dirty="0"/>
              <a:t> </a:t>
            </a:r>
            <a:r>
              <a:rPr lang="de-DE" dirty="0" err="1"/>
              <a:t>may</a:t>
            </a:r>
            <a:r>
              <a:rPr lang="de-DE" dirty="0"/>
              <a:t> </a:t>
            </a:r>
            <a:r>
              <a:rPr lang="de-DE" dirty="0" err="1"/>
              <a:t>help</a:t>
            </a:r>
            <a:r>
              <a:rPr lang="de-DE" dirty="0"/>
              <a:t> </a:t>
            </a:r>
            <a:r>
              <a:rPr lang="de-DE" dirty="0" err="1"/>
              <a:t>us</a:t>
            </a:r>
            <a:r>
              <a:rPr lang="de-DE" dirty="0"/>
              <a:t> </a:t>
            </a:r>
            <a:r>
              <a:rPr lang="de-DE" dirty="0" err="1"/>
              <a:t>better</a:t>
            </a:r>
            <a:r>
              <a:rPr lang="de-DE" dirty="0"/>
              <a:t> </a:t>
            </a:r>
            <a:r>
              <a:rPr lang="de-DE" dirty="0" err="1"/>
              <a:t>represent</a:t>
            </a:r>
            <a:r>
              <a:rPr lang="de-DE" dirty="0"/>
              <a:t> </a:t>
            </a:r>
            <a:r>
              <a:rPr lang="de-DE" dirty="0" err="1"/>
              <a:t>the</a:t>
            </a:r>
            <a:r>
              <a:rPr lang="de-DE" dirty="0"/>
              <a:t> </a:t>
            </a:r>
            <a:r>
              <a:rPr lang="de-DE" dirty="0" err="1"/>
              <a:t>questions</a:t>
            </a:r>
            <a:r>
              <a:rPr lang="de-DE" dirty="0"/>
              <a:t> </a:t>
            </a:r>
            <a:r>
              <a:rPr lang="de-DE" dirty="0" err="1"/>
              <a:t>that</a:t>
            </a:r>
            <a:r>
              <a:rPr lang="de-DE" dirty="0"/>
              <a:t> </a:t>
            </a:r>
            <a:r>
              <a:rPr lang="de-DE" dirty="0" err="1"/>
              <a:t>we</a:t>
            </a:r>
            <a:r>
              <a:rPr lang="de-DE" dirty="0"/>
              <a:t> care </a:t>
            </a:r>
            <a:r>
              <a:rPr lang="de-DE" dirty="0" err="1"/>
              <a:t>about</a:t>
            </a:r>
            <a:r>
              <a:rPr lang="de-DE" dirty="0"/>
              <a:t> in </a:t>
            </a:r>
            <a:r>
              <a:rPr lang="de-DE" dirty="0" err="1"/>
              <a:t>statistical</a:t>
            </a:r>
            <a:r>
              <a:rPr lang="de-DE" dirty="0"/>
              <a:t> </a:t>
            </a:r>
            <a:r>
              <a:rPr lang="de-DE" dirty="0" err="1"/>
              <a:t>models</a:t>
            </a:r>
            <a:r>
              <a:rPr lang="de-DE" dirty="0"/>
              <a:t> </a:t>
            </a:r>
            <a:r>
              <a:rPr lang="de-DE" dirty="0" err="1"/>
              <a:t>of</a:t>
            </a:r>
            <a:r>
              <a:rPr lang="de-DE" dirty="0"/>
              <a:t> </a:t>
            </a:r>
            <a:r>
              <a:rPr lang="de-DE" dirty="0" err="1"/>
              <a:t>our</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r>
              <a:rPr lang="de-DE" dirty="0"/>
              <a:t>I also </a:t>
            </a:r>
            <a:r>
              <a:rPr lang="de-DE" dirty="0" err="1"/>
              <a:t>argue</a:t>
            </a:r>
            <a:r>
              <a:rPr lang="de-DE" dirty="0"/>
              <a:t> </a:t>
            </a:r>
            <a:r>
              <a:rPr lang="de-DE" dirty="0" err="1"/>
              <a:t>that</a:t>
            </a:r>
            <a:r>
              <a:rPr lang="de-DE" dirty="0"/>
              <a:t> in </a:t>
            </a:r>
            <a:r>
              <a:rPr lang="de-DE" dirty="0" err="1"/>
              <a:t>translating</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knowledge</a:t>
            </a:r>
            <a:r>
              <a:rPr lang="de-DE" dirty="0"/>
              <a:t> </a:t>
            </a:r>
            <a:r>
              <a:rPr lang="de-DE" dirty="0" err="1"/>
              <a:t>into</a:t>
            </a:r>
            <a:r>
              <a:rPr lang="de-DE" dirty="0"/>
              <a:t> </a:t>
            </a:r>
            <a:r>
              <a:rPr lang="de-DE" dirty="0" err="1"/>
              <a:t>statistical</a:t>
            </a:r>
            <a:r>
              <a:rPr lang="de-DE" dirty="0"/>
              <a:t> </a:t>
            </a:r>
            <a:r>
              <a:rPr lang="de-DE" dirty="0" err="1"/>
              <a:t>models</a:t>
            </a:r>
            <a:r>
              <a:rPr lang="de-DE" dirty="0"/>
              <a:t>, </a:t>
            </a:r>
            <a:r>
              <a:rPr lang="de-DE" dirty="0" err="1"/>
              <a:t>our</a:t>
            </a:r>
            <a:r>
              <a:rPr lang="de-DE" dirty="0"/>
              <a:t> </a:t>
            </a:r>
            <a:r>
              <a:rPr lang="de-DE" dirty="0" err="1"/>
              <a:t>research</a:t>
            </a:r>
            <a:r>
              <a:rPr lang="de-DE" dirty="0"/>
              <a:t> </a:t>
            </a:r>
            <a:r>
              <a:rPr lang="de-DE" dirty="0" err="1"/>
              <a:t>aim</a:t>
            </a:r>
            <a:r>
              <a:rPr lang="de-DE" dirty="0"/>
              <a:t> </a:t>
            </a:r>
            <a:r>
              <a:rPr lang="de-DE" dirty="0" err="1"/>
              <a:t>is</a:t>
            </a:r>
            <a:r>
              <a:rPr lang="de-DE" dirty="0"/>
              <a:t> </a:t>
            </a:r>
            <a:r>
              <a:rPr lang="de-DE" dirty="0" err="1"/>
              <a:t>more</a:t>
            </a:r>
            <a:r>
              <a:rPr lang="de-DE" dirty="0"/>
              <a:t> </a:t>
            </a:r>
            <a:r>
              <a:rPr lang="de-DE" dirty="0" err="1"/>
              <a:t>important</a:t>
            </a:r>
            <a:r>
              <a:rPr lang="de-DE" dirty="0"/>
              <a:t> </a:t>
            </a:r>
            <a:r>
              <a:rPr lang="de-DE" dirty="0" err="1"/>
              <a:t>than</a:t>
            </a:r>
            <a:r>
              <a:rPr lang="de-DE" dirty="0"/>
              <a:t> rigid </a:t>
            </a:r>
            <a:r>
              <a:rPr lang="de-DE" dirty="0" err="1"/>
              <a:t>statistical</a:t>
            </a:r>
            <a:r>
              <a:rPr lang="de-DE" dirty="0"/>
              <a:t> </a:t>
            </a:r>
            <a:r>
              <a:rPr lang="de-DE" dirty="0" err="1"/>
              <a:t>rules</a:t>
            </a:r>
            <a:r>
              <a:rPr lang="de-DE" dirty="0"/>
              <a:t>. </a:t>
            </a:r>
            <a:r>
              <a:rPr lang="de-DE" dirty="0" err="1"/>
              <a:t>Based</a:t>
            </a:r>
            <a:r>
              <a:rPr lang="de-DE" dirty="0"/>
              <a:t> in multiple </a:t>
            </a:r>
            <a:r>
              <a:rPr lang="de-DE" dirty="0" err="1"/>
              <a:t>examples</a:t>
            </a:r>
            <a:r>
              <a:rPr lang="de-DE" dirty="0"/>
              <a:t>, I </a:t>
            </a:r>
            <a:r>
              <a:rPr lang="de-DE" dirty="0" err="1"/>
              <a:t>argue</a:t>
            </a:r>
            <a:r>
              <a:rPr lang="de-DE" dirty="0"/>
              <a:t> </a:t>
            </a:r>
            <a:r>
              <a:rPr lang="de-DE" dirty="0" err="1"/>
              <a:t>ways</a:t>
            </a:r>
            <a:r>
              <a:rPr lang="de-DE" dirty="0"/>
              <a:t> in </a:t>
            </a:r>
            <a:r>
              <a:rPr lang="de-DE" dirty="0" err="1"/>
              <a:t>which</a:t>
            </a:r>
            <a:r>
              <a:rPr lang="de-DE" dirty="0"/>
              <a:t> </a:t>
            </a:r>
            <a:r>
              <a:rPr lang="de-DE" dirty="0" err="1"/>
              <a:t>we</a:t>
            </a:r>
            <a:r>
              <a:rPr lang="de-DE" dirty="0"/>
              <a:t> </a:t>
            </a:r>
            <a:r>
              <a:rPr lang="de-DE" dirty="0" err="1"/>
              <a:t>can</a:t>
            </a:r>
            <a:r>
              <a:rPr lang="de-DE" dirty="0"/>
              <a:t> </a:t>
            </a:r>
            <a:r>
              <a:rPr lang="de-DE" dirty="0" err="1"/>
              <a:t>convince</a:t>
            </a:r>
            <a:r>
              <a:rPr lang="de-DE" dirty="0"/>
              <a:t> </a:t>
            </a:r>
            <a:r>
              <a:rPr lang="de-DE" dirty="0" err="1"/>
              <a:t>reviewers</a:t>
            </a:r>
            <a:r>
              <a:rPr lang="de-DE" dirty="0"/>
              <a:t> and </a:t>
            </a:r>
            <a:r>
              <a:rPr lang="de-DE" dirty="0" err="1"/>
              <a:t>colleagues</a:t>
            </a:r>
            <a:r>
              <a:rPr lang="de-DE" dirty="0"/>
              <a:t> </a:t>
            </a:r>
            <a:r>
              <a:rPr lang="de-DE" dirty="0" err="1"/>
              <a:t>that</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our</a:t>
            </a:r>
            <a:r>
              <a:rPr lang="de-DE" dirty="0"/>
              <a:t> </a:t>
            </a:r>
            <a:r>
              <a:rPr lang="de-DE" dirty="0" err="1"/>
              <a:t>theories</a:t>
            </a:r>
            <a:r>
              <a:rPr lang="de-DE" dirty="0"/>
              <a:t> </a:t>
            </a:r>
            <a:r>
              <a:rPr lang="de-DE" dirty="0" err="1"/>
              <a:t>or</a:t>
            </a:r>
            <a:r>
              <a:rPr lang="de-DE" dirty="0"/>
              <a:t> </a:t>
            </a:r>
            <a:r>
              <a:rPr lang="de-DE" dirty="0" err="1"/>
              <a:t>aims</a:t>
            </a:r>
            <a:r>
              <a:rPr lang="de-DE" dirty="0"/>
              <a:t> </a:t>
            </a:r>
            <a:r>
              <a:rPr lang="de-DE" dirty="0" err="1"/>
              <a:t>is</a:t>
            </a:r>
            <a:r>
              <a:rPr lang="de-DE" dirty="0"/>
              <a:t> </a:t>
            </a:r>
            <a:r>
              <a:rPr lang="de-DE" dirty="0" err="1"/>
              <a:t>generally</a:t>
            </a:r>
            <a:r>
              <a:rPr lang="de-DE" dirty="0"/>
              <a:t> </a:t>
            </a:r>
            <a:r>
              <a:rPr lang="de-DE" dirty="0" err="1"/>
              <a:t>more</a:t>
            </a:r>
            <a:r>
              <a:rPr lang="de-DE" dirty="0"/>
              <a:t> informative </a:t>
            </a:r>
            <a:r>
              <a:rPr lang="de-DE" dirty="0" err="1"/>
              <a:t>than</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data</a:t>
            </a:r>
            <a:r>
              <a:rPr lang="de-DE" dirty="0"/>
              <a:t>, but </a:t>
            </a:r>
            <a:r>
              <a:rPr lang="de-DE" dirty="0" err="1"/>
              <a:t>there</a:t>
            </a:r>
            <a:r>
              <a:rPr lang="de-DE" dirty="0"/>
              <a:t> </a:t>
            </a:r>
            <a:r>
              <a:rPr lang="de-DE" dirty="0" err="1"/>
              <a:t>may</a:t>
            </a:r>
            <a:r>
              <a:rPr lang="de-DE" dirty="0"/>
              <a:t> </a:t>
            </a:r>
            <a:r>
              <a:rPr lang="de-DE" dirty="0" err="1"/>
              <a:t>be</a:t>
            </a:r>
            <a:r>
              <a:rPr lang="de-DE" dirty="0"/>
              <a:t> </a:t>
            </a:r>
            <a:r>
              <a:rPr lang="de-DE" dirty="0" err="1"/>
              <a:t>boundaries</a:t>
            </a:r>
            <a:r>
              <a:rPr lang="de-DE" dirty="0"/>
              <a:t> </a:t>
            </a:r>
            <a:r>
              <a:rPr lang="de-DE" dirty="0" err="1"/>
              <a:t>to</a:t>
            </a:r>
            <a:r>
              <a:rPr lang="de-DE" dirty="0"/>
              <a:t> </a:t>
            </a:r>
            <a:r>
              <a:rPr lang="de-DE" dirty="0" err="1"/>
              <a:t>this</a:t>
            </a:r>
            <a:r>
              <a:rPr lang="de-DE" dirty="0"/>
              <a:t> </a:t>
            </a:r>
            <a:r>
              <a:rPr lang="de-DE" dirty="0" err="1"/>
              <a:t>perspective</a:t>
            </a:r>
            <a:r>
              <a:rPr lang="de-DE" dirty="0"/>
              <a:t>.</a:t>
            </a:r>
          </a:p>
          <a:p>
            <a:endParaRPr lang="de-DE" dirty="0"/>
          </a:p>
          <a:p>
            <a:endParaRPr lang="de-DE" dirty="0"/>
          </a:p>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argue that statistical modeling has served and will continue to serve as inspiration to educational theory in these areas, just as educational theory serves as inspiration for new modeling approaches.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Providing an overview of current modeling approaches, such as factor analysis, multilevel-, mixture-, network-, and cognitive modeling and the role these play in current developments, I try engaging in informed </a:t>
            </a:r>
            <a:r>
              <a:rPr lang="en-US" sz="1200" kern="1200" dirty="0" err="1">
                <a:solidFill>
                  <a:schemeClr val="tx1"/>
                </a:solidFill>
                <a:effectLst/>
                <a:latin typeface="+mn-lt"/>
                <a:ea typeface="+mn-ea"/>
                <a:cs typeface="+mn-cs"/>
              </a:rPr>
              <a:t>clayrvoyance</a:t>
            </a:r>
            <a:r>
              <a:rPr lang="en-US" sz="1200" kern="1200" dirty="0">
                <a:solidFill>
                  <a:schemeClr val="tx1"/>
                </a:solidFill>
                <a:effectLst/>
                <a:latin typeface="+mn-lt"/>
                <a:ea typeface="+mn-ea"/>
                <a:cs typeface="+mn-cs"/>
              </a:rPr>
              <a:t> to show up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84343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 </a:t>
            </a:r>
            <a:r>
              <a:rPr lang="de-DE" dirty="0" err="1"/>
              <a:t>Equal</a:t>
            </a:r>
            <a:r>
              <a:rPr lang="de-DE" dirty="0"/>
              <a:t> </a:t>
            </a:r>
            <a:r>
              <a:rPr lang="de-DE" dirty="0" err="1"/>
              <a:t>problems</a:t>
            </a:r>
            <a:r>
              <a:rPr lang="de-DE" dirty="0"/>
              <a:t> (same </a:t>
            </a:r>
            <a:r>
              <a:rPr lang="de-DE" dirty="0" err="1"/>
              <a:t>values</a:t>
            </a:r>
            <a:r>
              <a:rPr lang="de-DE" dirty="0"/>
              <a:t> </a:t>
            </a:r>
            <a:r>
              <a:rPr lang="de-DE" dirty="0" err="1"/>
              <a:t>for</a:t>
            </a:r>
            <a:r>
              <a:rPr lang="de-DE" dirty="0"/>
              <a:t> </a:t>
            </a:r>
            <a:r>
              <a:rPr lang="de-DE" dirty="0" err="1"/>
              <a:t>both</a:t>
            </a:r>
            <a:r>
              <a:rPr lang="de-DE" dirty="0"/>
              <a:t> dominant (</a:t>
            </a:r>
            <a:r>
              <a:rPr lang="de-DE" dirty="0" err="1"/>
              <a:t>weight</a:t>
            </a:r>
            <a:r>
              <a:rPr lang="de-DE" dirty="0"/>
              <a:t>) and </a:t>
            </a:r>
            <a:r>
              <a:rPr lang="de-DE" dirty="0" err="1"/>
              <a:t>subordinate</a:t>
            </a:r>
            <a:r>
              <a:rPr lang="de-DE" dirty="0"/>
              <a:t> (</a:t>
            </a:r>
            <a:r>
              <a:rPr lang="de-DE" dirty="0" err="1"/>
              <a:t>distance</a:t>
            </a:r>
            <a:r>
              <a:rPr lang="de-DE" dirty="0"/>
              <a:t>) </a:t>
            </a:r>
            <a:r>
              <a:rPr lang="de-DE" dirty="0" err="1"/>
              <a:t>dimension</a:t>
            </a:r>
            <a:endParaRPr lang="de-DE" dirty="0"/>
          </a:p>
          <a:p>
            <a:r>
              <a:rPr lang="de-DE" dirty="0"/>
              <a:t>D </a:t>
            </a:r>
            <a:r>
              <a:rPr lang="de-DE" dirty="0" err="1"/>
              <a:t>Weight</a:t>
            </a:r>
            <a:r>
              <a:rPr lang="de-DE" dirty="0"/>
              <a:t> </a:t>
            </a:r>
            <a:r>
              <a:rPr lang="de-DE" dirty="0" err="1"/>
              <a:t>difference</a:t>
            </a:r>
            <a:r>
              <a:rPr lang="de-DE" dirty="0"/>
              <a:t>, same </a:t>
            </a:r>
            <a:r>
              <a:rPr lang="de-DE" dirty="0" err="1"/>
              <a:t>distance</a:t>
            </a:r>
            <a:endParaRPr lang="de-DE" dirty="0"/>
          </a:p>
          <a:p>
            <a:r>
              <a:rPr lang="de-DE" dirty="0"/>
              <a:t>S </a:t>
            </a:r>
            <a:r>
              <a:rPr lang="de-DE" dirty="0" err="1"/>
              <a:t>Distance</a:t>
            </a:r>
            <a:r>
              <a:rPr lang="de-DE" dirty="0"/>
              <a:t> </a:t>
            </a:r>
            <a:r>
              <a:rPr lang="de-DE" dirty="0" err="1"/>
              <a:t>difference</a:t>
            </a:r>
            <a:r>
              <a:rPr lang="de-DE" dirty="0"/>
              <a:t>, same </a:t>
            </a:r>
            <a:r>
              <a:rPr lang="de-DE" dirty="0" err="1"/>
              <a:t>weight</a:t>
            </a:r>
            <a:endParaRPr lang="de-DE" dirty="0"/>
          </a:p>
          <a:p>
            <a:r>
              <a:rPr lang="de-DE" dirty="0"/>
              <a:t>CD: </a:t>
            </a:r>
            <a:r>
              <a:rPr lang="de-DE" dirty="0" err="1"/>
              <a:t>Coflict</a:t>
            </a:r>
            <a:r>
              <a:rPr lang="de-DE" dirty="0"/>
              <a:t>-dominant: </a:t>
            </a:r>
            <a:r>
              <a:rPr lang="de-DE" dirty="0" err="1"/>
              <a:t>Weight</a:t>
            </a:r>
            <a:r>
              <a:rPr lang="de-DE" dirty="0"/>
              <a:t> and </a:t>
            </a:r>
            <a:r>
              <a:rPr lang="de-DE" dirty="0" err="1"/>
              <a:t>distance</a:t>
            </a:r>
            <a:r>
              <a:rPr lang="de-DE" dirty="0"/>
              <a:t> </a:t>
            </a:r>
            <a:r>
              <a:rPr lang="de-DE" dirty="0" err="1"/>
              <a:t>disagree</a:t>
            </a:r>
            <a:r>
              <a:rPr lang="de-DE" dirty="0"/>
              <a:t>, </a:t>
            </a:r>
            <a:r>
              <a:rPr lang="de-DE" dirty="0" err="1"/>
              <a:t>weight</a:t>
            </a:r>
            <a:r>
              <a:rPr lang="de-DE" dirty="0"/>
              <a:t> </a:t>
            </a:r>
            <a:r>
              <a:rPr lang="de-DE" dirty="0" err="1"/>
              <a:t>wins</a:t>
            </a:r>
            <a:endParaRPr lang="de-DE" dirty="0"/>
          </a:p>
          <a:p>
            <a:r>
              <a:rPr lang="de-DE" dirty="0"/>
              <a:t>CS: </a:t>
            </a:r>
            <a:r>
              <a:rPr lang="de-DE" dirty="0" err="1"/>
              <a:t>Conflict-subordinate</a:t>
            </a:r>
            <a:r>
              <a:rPr lang="de-DE" dirty="0"/>
              <a:t>: </a:t>
            </a:r>
            <a:r>
              <a:rPr lang="de-DE" dirty="0" err="1"/>
              <a:t>Disagreement</a:t>
            </a:r>
            <a:r>
              <a:rPr lang="de-DE" dirty="0"/>
              <a:t>, </a:t>
            </a:r>
            <a:r>
              <a:rPr lang="de-DE" dirty="0" err="1"/>
              <a:t>distance</a:t>
            </a:r>
            <a:r>
              <a:rPr lang="de-DE" dirty="0"/>
              <a:t> </a:t>
            </a:r>
            <a:r>
              <a:rPr lang="de-DE" dirty="0" err="1"/>
              <a:t>wins</a:t>
            </a:r>
            <a:endParaRPr lang="de-DE" dirty="0"/>
          </a:p>
          <a:p>
            <a:r>
              <a:rPr lang="de-DE" dirty="0"/>
              <a:t>CE: </a:t>
            </a:r>
            <a:r>
              <a:rPr lang="de-DE" dirty="0" err="1"/>
              <a:t>Conflict</a:t>
            </a:r>
            <a:r>
              <a:rPr lang="de-DE" dirty="0"/>
              <a:t> </a:t>
            </a:r>
            <a:r>
              <a:rPr lang="de-DE" dirty="0" err="1"/>
              <a:t>equal</a:t>
            </a:r>
            <a:r>
              <a:rPr lang="de-DE" dirty="0"/>
              <a:t>: </a:t>
            </a:r>
            <a:r>
              <a:rPr lang="de-DE" dirty="0" err="1"/>
              <a:t>Weight</a:t>
            </a:r>
            <a:r>
              <a:rPr lang="de-DE" dirty="0"/>
              <a:t> and </a:t>
            </a:r>
            <a:r>
              <a:rPr lang="de-DE" dirty="0" err="1"/>
              <a:t>distance</a:t>
            </a:r>
            <a:r>
              <a:rPr lang="de-DE" dirty="0"/>
              <a:t> </a:t>
            </a:r>
            <a:r>
              <a:rPr lang="de-DE" dirty="0" err="1"/>
              <a:t>disagree</a:t>
            </a:r>
            <a:r>
              <a:rPr lang="de-DE" dirty="0"/>
              <a: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3851DE-F466-402D-BCCE-A21736686A0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66012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ist </a:t>
            </a:r>
            <a:r>
              <a:rPr lang="de-DE" dirty="0" err="1"/>
              <a:t>more</a:t>
            </a:r>
            <a:r>
              <a:rPr lang="de-DE" dirty="0"/>
              <a:t> </a:t>
            </a:r>
            <a:r>
              <a:rPr lang="de-DE" dirty="0" err="1"/>
              <a:t>than</a:t>
            </a:r>
            <a:r>
              <a:rPr lang="de-DE" dirty="0"/>
              <a:t> 15,00 genes </a:t>
            </a:r>
            <a:r>
              <a:rPr lang="de-DE" dirty="0" err="1"/>
              <a:t>distributed</a:t>
            </a:r>
            <a:r>
              <a:rPr lang="de-DE" dirty="0"/>
              <a:t> </a:t>
            </a:r>
            <a:r>
              <a:rPr lang="de-DE" dirty="0" err="1"/>
              <a:t>between</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r>
              <a:rPr lang="de-DE" dirty="0" err="1"/>
              <a:t>We</a:t>
            </a:r>
            <a:r>
              <a:rPr lang="de-DE" dirty="0"/>
              <a:t> </a:t>
            </a:r>
            <a:r>
              <a:rPr lang="de-DE" dirty="0" err="1"/>
              <a:t>start</a:t>
            </a:r>
            <a:r>
              <a:rPr lang="de-DE" dirty="0"/>
              <a:t> </a:t>
            </a:r>
            <a:r>
              <a:rPr lang="de-DE" dirty="0" err="1"/>
              <a:t>with</a:t>
            </a:r>
            <a:r>
              <a:rPr lang="de-DE" dirty="0"/>
              <a:t> </a:t>
            </a:r>
            <a:r>
              <a:rPr lang="de-DE" dirty="0" err="1"/>
              <a:t>the</a:t>
            </a:r>
            <a:r>
              <a:rPr lang="de-DE" dirty="0"/>
              <a:t> </a:t>
            </a:r>
            <a:r>
              <a:rPr lang="de-DE" dirty="0" err="1"/>
              <a:t>control</a:t>
            </a:r>
            <a:r>
              <a:rPr lang="de-DE" dirty="0"/>
              <a:t>-</a:t>
            </a:r>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60</a:t>
            </a:fld>
            <a:endParaRPr lang="de-DE"/>
          </a:p>
        </p:txBody>
      </p:sp>
    </p:spTree>
    <p:extLst>
      <p:ext uri="{BB962C8B-B14F-4D97-AF65-F5344CB8AC3E}">
        <p14:creationId xmlns:p14="http://schemas.microsoft.com/office/powerpoint/2010/main" val="24915282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70s, </a:t>
            </a:r>
            <a:r>
              <a:rPr lang="de-DE" dirty="0" err="1"/>
              <a:t>predominant</a:t>
            </a:r>
            <a:r>
              <a:rPr lang="de-DE" dirty="0"/>
              <a:t> </a:t>
            </a:r>
            <a:r>
              <a:rPr lang="de-DE" dirty="0" err="1"/>
              <a:t>theories</a:t>
            </a:r>
            <a:r>
              <a:rPr lang="de-DE" dirty="0"/>
              <a:t> </a:t>
            </a:r>
            <a:r>
              <a:rPr lang="de-DE" dirty="0" err="1"/>
              <a:t>of</a:t>
            </a:r>
            <a:r>
              <a:rPr lang="de-DE" dirty="0"/>
              <a:t> </a:t>
            </a:r>
            <a:r>
              <a:rPr lang="de-DE" dirty="0" err="1"/>
              <a:t>leaners</a:t>
            </a:r>
            <a:r>
              <a:rPr lang="de-DE" dirty="0"/>
              <a:t>` </a:t>
            </a:r>
            <a:r>
              <a:rPr lang="de-DE" dirty="0" err="1"/>
              <a:t>knowledge</a:t>
            </a:r>
            <a:r>
              <a:rPr lang="de-DE" dirty="0"/>
              <a:t> </a:t>
            </a:r>
            <a:r>
              <a:rPr lang="de-DE" dirty="0" err="1"/>
              <a:t>were</a:t>
            </a:r>
            <a:r>
              <a:rPr lang="de-DE" dirty="0"/>
              <a:t> still </a:t>
            </a:r>
            <a:r>
              <a:rPr lang="de-DE" dirty="0" err="1"/>
              <a:t>rooted</a:t>
            </a:r>
            <a:r>
              <a:rPr lang="de-DE" dirty="0"/>
              <a:t> in </a:t>
            </a:r>
            <a:r>
              <a:rPr lang="de-DE" dirty="0" err="1"/>
              <a:t>Piaget`s</a:t>
            </a:r>
            <a:r>
              <a:rPr lang="de-DE" dirty="0"/>
              <a:t> </a:t>
            </a:r>
            <a:r>
              <a:rPr lang="de-DE" dirty="0" err="1"/>
              <a:t>model</a:t>
            </a:r>
            <a:r>
              <a:rPr lang="de-DE" dirty="0"/>
              <a:t> </a:t>
            </a:r>
            <a:r>
              <a:rPr lang="de-DE" dirty="0" err="1"/>
              <a:t>of</a:t>
            </a:r>
            <a:r>
              <a:rPr lang="de-DE" dirty="0"/>
              <a:t> </a:t>
            </a:r>
            <a:r>
              <a:rPr lang="de-DE" dirty="0" err="1"/>
              <a:t>step-wise</a:t>
            </a:r>
            <a:r>
              <a:rPr lang="de-DE" dirty="0"/>
              <a:t> </a:t>
            </a:r>
            <a:r>
              <a:rPr lang="de-DE" dirty="0" err="1"/>
              <a:t>development</a:t>
            </a:r>
            <a:r>
              <a:rPr lang="de-DE" dirty="0"/>
              <a:t> and, </a:t>
            </a:r>
            <a:r>
              <a:rPr lang="de-DE" dirty="0" err="1"/>
              <a:t>similarly</a:t>
            </a:r>
            <a:r>
              <a:rPr lang="de-DE" dirty="0"/>
              <a:t> in </a:t>
            </a:r>
          </a:p>
          <a:p>
            <a:endParaRPr lang="de-DE" dirty="0"/>
          </a:p>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conceptual</a:t>
            </a:r>
            <a:r>
              <a:rPr lang="de-DE" dirty="0"/>
              <a:t> </a:t>
            </a:r>
            <a:r>
              <a:rPr lang="de-DE" dirty="0" err="1"/>
              <a:t>understanding</a:t>
            </a:r>
            <a:r>
              <a:rPr lang="de-DE" dirty="0"/>
              <a:t> </a:t>
            </a:r>
            <a:r>
              <a:rPr lang="de-DE" dirty="0" err="1"/>
              <a:t>of</a:t>
            </a:r>
            <a:r>
              <a:rPr lang="de-DE" dirty="0"/>
              <a:t> </a:t>
            </a:r>
            <a:r>
              <a:rPr lang="de-DE" dirty="0" err="1"/>
              <a:t>science</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228600" indent="-228600">
              <a:buAutoNum type="arabicParenR" startAt="3"/>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Inhelder</a:t>
            </a:r>
            <a:r>
              <a:rPr lang="de-DE" sz="1200" b="0" i="0" kern="1200" dirty="0">
                <a:solidFill>
                  <a:schemeClr val="tx1"/>
                </a:solidFill>
                <a:effectLst/>
                <a:latin typeface="+mn-lt"/>
                <a:ea typeface="+mn-ea"/>
                <a:cs typeface="+mn-cs"/>
              </a:rPr>
              <a:t>, B., </a:t>
            </a:r>
            <a:r>
              <a:rPr lang="de-DE" sz="1200" b="0" i="1" kern="1200" dirty="0">
                <a:solidFill>
                  <a:schemeClr val="tx1"/>
                </a:solidFill>
                <a:effectLst/>
                <a:latin typeface="+mn-lt"/>
                <a:ea typeface="+mn-ea"/>
                <a:cs typeface="+mn-cs"/>
              </a:rPr>
              <a:t>The Growth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Logical </a:t>
            </a:r>
            <a:r>
              <a:rPr lang="de-DE" sz="1200" b="0" i="1" kern="1200" dirty="0" err="1">
                <a:solidFill>
                  <a:schemeClr val="tx1"/>
                </a:solidFill>
                <a:effectLst/>
                <a:latin typeface="+mn-lt"/>
                <a:ea typeface="+mn-ea"/>
                <a:cs typeface="+mn-cs"/>
              </a:rPr>
              <a:t>Thinking</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from</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Childhood</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to</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Adolescence</a:t>
            </a:r>
            <a:r>
              <a:rPr lang="de-DE" sz="1200" b="0" i="0" kern="1200" dirty="0">
                <a:solidFill>
                  <a:schemeClr val="tx1"/>
                </a:solidFill>
                <a:effectLst/>
                <a:latin typeface="+mn-lt"/>
                <a:ea typeface="+mn-ea"/>
                <a:cs typeface="+mn-cs"/>
              </a:rPr>
              <a:t> (New York: Basic Books, 1958) [</a:t>
            </a:r>
            <a:r>
              <a:rPr lang="de-DE" sz="1200" b="0" i="1" kern="1200" dirty="0">
                <a:solidFill>
                  <a:schemeClr val="tx1"/>
                </a:solidFill>
                <a:effectLst/>
                <a:latin typeface="+mn-lt"/>
                <a:ea typeface="+mn-ea"/>
                <a:cs typeface="+mn-cs"/>
              </a:rPr>
              <a:t>De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l'enfant</a:t>
            </a:r>
            <a:r>
              <a:rPr lang="de-DE" sz="1200" b="0" i="1" kern="1200" dirty="0">
                <a:solidFill>
                  <a:schemeClr val="tx1"/>
                </a:solidFill>
                <a:effectLst/>
                <a:latin typeface="+mn-lt"/>
                <a:ea typeface="+mn-ea"/>
                <a:cs typeface="+mn-cs"/>
              </a:rPr>
              <a:t> à la </a:t>
            </a:r>
            <a:r>
              <a:rPr lang="de-DE" sz="1200" b="0" i="1" kern="1200" dirty="0" err="1">
                <a:solidFill>
                  <a:schemeClr val="tx1"/>
                </a:solidFill>
                <a:effectLst/>
                <a:latin typeface="+mn-lt"/>
                <a:ea typeface="+mn-ea"/>
                <a:cs typeface="+mn-cs"/>
              </a:rPr>
              <a:t>logique</a:t>
            </a:r>
            <a:r>
              <a:rPr lang="de-DE" sz="1200" b="0" i="1" kern="1200" dirty="0">
                <a:solidFill>
                  <a:schemeClr val="tx1"/>
                </a:solidFill>
                <a:effectLst/>
                <a:latin typeface="+mn-lt"/>
                <a:ea typeface="+mn-ea"/>
                <a:cs typeface="+mn-cs"/>
              </a:rPr>
              <a:t> de </a:t>
            </a:r>
            <a:r>
              <a:rPr lang="de-DE" sz="1200" b="0" i="1" kern="1200" dirty="0" err="1">
                <a:solidFill>
                  <a:schemeClr val="tx1"/>
                </a:solidFill>
                <a:effectLst/>
                <a:latin typeface="+mn-lt"/>
                <a:ea typeface="+mn-ea"/>
                <a:cs typeface="+mn-cs"/>
              </a:rPr>
              <a:t>l'adolescent</a:t>
            </a:r>
            <a:r>
              <a:rPr lang="de-DE" sz="1200" b="0" i="0" kern="1200" dirty="0">
                <a:solidFill>
                  <a:schemeClr val="tx1"/>
                </a:solidFill>
                <a:effectLst/>
                <a:latin typeface="+mn-lt"/>
                <a:ea typeface="+mn-ea"/>
                <a:cs typeface="+mn-cs"/>
              </a:rPr>
              <a:t> (1955)].</a:t>
            </a:r>
          </a:p>
          <a:p>
            <a:pPr marL="228600" indent="-228600">
              <a:buAutoNum type="arabicParenR" startAt="3"/>
            </a:pPr>
            <a:endParaRPr lang="de-DE" dirty="0"/>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a:t>
            </a:r>
            <a:r>
              <a:rPr lang="de-DE" dirty="0" err="1"/>
              <a:t>with</a:t>
            </a:r>
            <a:r>
              <a:rPr lang="de-DE" dirty="0"/>
              <a:t> </a:t>
            </a:r>
            <a:r>
              <a:rPr lang="de-DE" dirty="0" err="1"/>
              <a:t>its</a:t>
            </a:r>
            <a:r>
              <a:rPr lang="de-DE" dirty="0"/>
              <a:t> </a:t>
            </a:r>
            <a:r>
              <a:rPr lang="de-DE" dirty="0" err="1"/>
              <a:t>more</a:t>
            </a:r>
            <a:r>
              <a:rPr lang="de-DE" dirty="0"/>
              <a:t> </a:t>
            </a:r>
            <a:r>
              <a:rPr lang="de-DE" dirty="0" err="1"/>
              <a:t>than</a:t>
            </a:r>
            <a:r>
              <a:rPr lang="de-DE" dirty="0"/>
              <a:t> 15,00 genes </a:t>
            </a:r>
            <a:r>
              <a:rPr lang="de-DE" dirty="0" err="1"/>
              <a:t>distributed</a:t>
            </a:r>
            <a:r>
              <a:rPr lang="de-DE" dirty="0"/>
              <a:t> </a:t>
            </a:r>
            <a:r>
              <a:rPr lang="de-DE" dirty="0" err="1"/>
              <a:t>across</a:t>
            </a:r>
            <a:r>
              <a:rPr lang="de-DE" dirty="0"/>
              <a:t> </a:t>
            </a:r>
            <a:r>
              <a:rPr lang="de-DE" dirty="0" err="1"/>
              <a:t>only</a:t>
            </a:r>
            <a:r>
              <a:rPr lang="de-DE" dirty="0"/>
              <a:t> </a:t>
            </a:r>
            <a:r>
              <a:rPr lang="de-DE" dirty="0" err="1"/>
              <a:t>four</a:t>
            </a:r>
            <a:r>
              <a:rPr lang="de-DE" dirty="0"/>
              <a:t> </a:t>
            </a:r>
            <a:r>
              <a:rPr lang="de-DE" dirty="0" err="1"/>
              <a:t>chrososomes</a:t>
            </a:r>
            <a:r>
              <a:rPr lang="de-DE" dirty="0"/>
              <a:t>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modify</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a:t>
            </a:r>
          </a:p>
          <a:p>
            <a:pPr marL="0" indent="0">
              <a:buNone/>
            </a:pPr>
            <a:r>
              <a:rPr lang="de-DE" dirty="0" err="1"/>
              <a:t>How</a:t>
            </a:r>
            <a:r>
              <a:rPr lang="de-DE" dirty="0"/>
              <a:t> </a:t>
            </a:r>
            <a:r>
              <a:rPr lang="de-DE" dirty="0" err="1"/>
              <a:t>did</a:t>
            </a:r>
            <a:r>
              <a:rPr lang="de-DE" dirty="0"/>
              <a:t> </a:t>
            </a:r>
            <a:r>
              <a:rPr lang="de-DE" dirty="0" err="1"/>
              <a:t>they</a:t>
            </a:r>
            <a:r>
              <a:rPr lang="de-DE" dirty="0"/>
              <a:t> </a:t>
            </a:r>
            <a:r>
              <a:rPr lang="de-DE" dirty="0" err="1"/>
              <a:t>try</a:t>
            </a:r>
            <a:r>
              <a:rPr lang="de-DE" dirty="0"/>
              <a:t> </a:t>
            </a:r>
            <a:r>
              <a:rPr lang="de-DE" dirty="0" err="1"/>
              <a:t>to</a:t>
            </a:r>
            <a:r>
              <a:rPr lang="de-DE" dirty="0"/>
              <a:t> </a:t>
            </a:r>
            <a:r>
              <a:rPr lang="de-DE" dirty="0" err="1"/>
              <a:t>measure</a:t>
            </a:r>
            <a:r>
              <a:rPr lang="de-DE" dirty="0"/>
              <a:t> and </a:t>
            </a:r>
            <a:r>
              <a:rPr lang="de-DE" dirty="0" err="1"/>
              <a:t>model</a:t>
            </a:r>
            <a:r>
              <a:rPr lang="de-DE" dirty="0"/>
              <a:t> </a:t>
            </a:r>
            <a:r>
              <a:rPr lang="de-DE" dirty="0" err="1"/>
              <a:t>the</a:t>
            </a:r>
            <a:r>
              <a:rPr lang="de-DE" dirty="0"/>
              <a:t> </a:t>
            </a:r>
            <a:r>
              <a:rPr lang="de-DE" dirty="0" err="1"/>
              <a:t>outcomes</a:t>
            </a:r>
            <a:r>
              <a:rPr lang="de-DE" dirty="0"/>
              <a:t> </a:t>
            </a:r>
            <a:r>
              <a:rPr lang="de-DE" dirty="0" err="1"/>
              <a:t>of</a:t>
            </a:r>
            <a:r>
              <a:rPr lang="de-DE" dirty="0"/>
              <a:t> </a:t>
            </a:r>
            <a:r>
              <a:rPr lang="de-DE" dirty="0" err="1"/>
              <a:t>these</a:t>
            </a:r>
            <a:r>
              <a:rPr lang="de-DE" dirty="0"/>
              <a:t> </a:t>
            </a:r>
            <a:r>
              <a:rPr lang="de-DE" dirty="0" err="1"/>
              <a:t>interventions</a:t>
            </a:r>
            <a:r>
              <a:rPr lang="de-DE" dirty="0"/>
              <a:t>, </a:t>
            </a:r>
            <a:r>
              <a:rPr lang="de-DE" dirty="0" err="1"/>
              <a:t>that</a:t>
            </a:r>
            <a:r>
              <a:rPr lang="de-DE" dirty="0"/>
              <a:t> </a:t>
            </a:r>
            <a:r>
              <a:rPr lang="de-DE" dirty="0" err="1"/>
              <a:t>is</a:t>
            </a:r>
            <a:r>
              <a:rPr lang="de-DE" dirty="0"/>
              <a:t>, </a:t>
            </a:r>
            <a:r>
              <a:rPr lang="de-DE" dirty="0" err="1"/>
              <a:t>learners</a:t>
            </a:r>
            <a:r>
              <a:rPr lang="de-DE" dirty="0"/>
              <a:t>` </a:t>
            </a:r>
            <a:r>
              <a:rPr lang="de-DE" dirty="0" err="1"/>
              <a:t>knoweldge</a:t>
            </a:r>
            <a:r>
              <a:rPr lang="de-DE" dirty="0"/>
              <a:t> </a:t>
            </a:r>
            <a:r>
              <a:rPr lang="de-DE" dirty="0" err="1"/>
              <a:t>of</a:t>
            </a:r>
            <a:r>
              <a:rPr lang="de-DE" dirty="0"/>
              <a:t> </a:t>
            </a:r>
            <a:r>
              <a:rPr lang="de-DE" dirty="0" err="1"/>
              <a:t>science</a:t>
            </a:r>
            <a:r>
              <a:rPr lang="de-DE" dirty="0"/>
              <a:t> </a:t>
            </a:r>
            <a:r>
              <a:rPr lang="de-DE" dirty="0" err="1"/>
              <a:t>contents</a:t>
            </a:r>
            <a:r>
              <a:rPr lang="de-DE" dirty="0"/>
              <a:t>, </a:t>
            </a:r>
            <a:r>
              <a:rPr lang="de-DE" dirty="0" err="1"/>
              <a:t>process</a:t>
            </a:r>
            <a:r>
              <a:rPr lang="de-DE" dirty="0"/>
              <a:t> </a:t>
            </a:r>
            <a:r>
              <a:rPr lang="de-DE" dirty="0" err="1"/>
              <a:t>skills</a:t>
            </a:r>
            <a:r>
              <a:rPr lang="de-DE" dirty="0"/>
              <a:t>, and </a:t>
            </a:r>
            <a:r>
              <a:rPr lang="de-DE" dirty="0" err="1"/>
              <a:t>the</a:t>
            </a:r>
            <a:r>
              <a:rPr lang="de-DE" dirty="0"/>
              <a:t> </a:t>
            </a:r>
            <a:r>
              <a:rPr lang="de-DE" dirty="0" err="1"/>
              <a:t>nature</a:t>
            </a:r>
            <a:r>
              <a:rPr lang="de-DE" dirty="0"/>
              <a:t> </a:t>
            </a:r>
            <a:r>
              <a:rPr lang="de-DE" dirty="0" err="1"/>
              <a:t>of</a:t>
            </a:r>
            <a:r>
              <a:rPr lang="de-DE" dirty="0"/>
              <a:t> </a:t>
            </a:r>
            <a:r>
              <a:rPr lang="de-DE" dirty="0" err="1"/>
              <a:t>science</a:t>
            </a:r>
            <a:r>
              <a:rPr lang="de-DE" dirty="0"/>
              <a:t>?</a:t>
            </a:r>
          </a:p>
          <a:p>
            <a:pPr marL="0" indent="0">
              <a:buNone/>
            </a:pPr>
            <a:endParaRPr lang="de-DE" dirty="0"/>
          </a:p>
          <a:p>
            <a:pPr marL="0" indent="0">
              <a:buNone/>
            </a:pPr>
            <a:endParaRPr lang="de-DE" dirty="0"/>
          </a:p>
          <a:p>
            <a:pPr marL="0" indent="0">
              <a:buNone/>
            </a:pPr>
            <a:endParaRPr lang="de-DE" dirty="0"/>
          </a:p>
          <a:p>
            <a:pPr marL="0" indent="0">
              <a:buNone/>
            </a:pP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61</a:t>
            </a:fld>
            <a:endParaRPr lang="de-DE"/>
          </a:p>
        </p:txBody>
      </p:sp>
    </p:spTree>
    <p:extLst>
      <p:ext uri="{BB962C8B-B14F-4D97-AF65-F5344CB8AC3E}">
        <p14:creationId xmlns:p14="http://schemas.microsoft.com/office/powerpoint/2010/main" val="26452681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62</a:t>
            </a:fld>
            <a:endParaRPr lang="de-DE"/>
          </a:p>
        </p:txBody>
      </p:sp>
    </p:spTree>
    <p:extLst>
      <p:ext uri="{BB962C8B-B14F-4D97-AF65-F5344CB8AC3E}">
        <p14:creationId xmlns:p14="http://schemas.microsoft.com/office/powerpoint/2010/main" val="9305697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63</a:t>
            </a:fld>
            <a:endParaRPr lang="de-DE"/>
          </a:p>
        </p:txBody>
      </p:sp>
    </p:spTree>
    <p:extLst>
      <p:ext uri="{BB962C8B-B14F-4D97-AF65-F5344CB8AC3E}">
        <p14:creationId xmlns:p14="http://schemas.microsoft.com/office/powerpoint/2010/main" val="36714066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64</a:t>
            </a:fld>
            <a:endParaRPr lang="de-DE"/>
          </a:p>
        </p:txBody>
      </p:sp>
    </p:spTree>
    <p:extLst>
      <p:ext uri="{BB962C8B-B14F-4D97-AF65-F5344CB8AC3E}">
        <p14:creationId xmlns:p14="http://schemas.microsoft.com/office/powerpoint/2010/main" val="1945242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65</a:t>
            </a:fld>
            <a:endParaRPr lang="de-DE"/>
          </a:p>
        </p:txBody>
      </p:sp>
    </p:spTree>
    <p:extLst>
      <p:ext uri="{BB962C8B-B14F-4D97-AF65-F5344CB8AC3E}">
        <p14:creationId xmlns:p14="http://schemas.microsoft.com/office/powerpoint/2010/main" val="5203804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Western World </a:t>
            </a:r>
            <a:r>
              <a:rPr lang="de-DE" dirty="0" err="1"/>
              <a:t>is</a:t>
            </a:r>
            <a:r>
              <a:rPr lang="de-DE" dirty="0"/>
              <a:t> still </a:t>
            </a:r>
            <a:r>
              <a:rPr lang="de-DE" dirty="0" err="1"/>
              <a:t>recovering</a:t>
            </a:r>
            <a:r>
              <a:rPr lang="de-DE" dirty="0"/>
              <a:t> </a:t>
            </a:r>
            <a:r>
              <a:rPr lang="de-DE" dirty="0" err="1"/>
              <a:t>from</a:t>
            </a:r>
            <a:r>
              <a:rPr lang="de-DE" dirty="0"/>
              <a:t> </a:t>
            </a:r>
            <a:r>
              <a:rPr lang="de-DE" dirty="0" err="1"/>
              <a:t>the</a:t>
            </a:r>
            <a:r>
              <a:rPr lang="de-DE" dirty="0"/>
              <a:t> Sputnik </a:t>
            </a:r>
            <a:r>
              <a:rPr lang="de-DE" dirty="0" err="1"/>
              <a:t>shock</a:t>
            </a:r>
            <a:r>
              <a:rPr lang="de-DE" dirty="0"/>
              <a:t>, </a:t>
            </a:r>
            <a:r>
              <a:rPr lang="de-DE" dirty="0" err="1"/>
              <a:t>enjoying</a:t>
            </a:r>
            <a:r>
              <a:rPr lang="de-DE" dirty="0"/>
              <a:t> </a:t>
            </a:r>
            <a:r>
              <a:rPr lang="de-DE" dirty="0" err="1"/>
              <a:t>newfound</a:t>
            </a:r>
            <a:r>
              <a:rPr lang="de-DE" dirty="0"/>
              <a:t> </a:t>
            </a:r>
            <a:r>
              <a:rPr lang="de-DE" dirty="0" err="1"/>
              <a:t>psychedelic</a:t>
            </a:r>
            <a:r>
              <a:rPr lang="de-DE" dirty="0"/>
              <a:t> rock and </a:t>
            </a:r>
            <a:r>
              <a:rPr lang="de-DE" dirty="0" err="1"/>
              <a:t>economic</a:t>
            </a:r>
            <a:r>
              <a:rPr lang="de-DE" dirty="0"/>
              <a:t> </a:t>
            </a:r>
            <a:r>
              <a:rPr lang="de-DE" dirty="0" err="1"/>
              <a:t>prosperity</a:t>
            </a:r>
            <a:r>
              <a:rPr lang="de-DE" dirty="0"/>
              <a:t>, and </a:t>
            </a:r>
            <a:r>
              <a:rPr lang="de-DE" dirty="0" err="1"/>
              <a:t>investing</a:t>
            </a:r>
            <a:r>
              <a:rPr lang="de-DE" dirty="0"/>
              <a:t> a </a:t>
            </a:r>
            <a:r>
              <a:rPr lang="de-DE" dirty="0" err="1"/>
              <a:t>lot</a:t>
            </a:r>
            <a:r>
              <a:rPr lang="de-DE" dirty="0"/>
              <a:t> </a:t>
            </a:r>
            <a:r>
              <a:rPr lang="de-DE" dirty="0" err="1"/>
              <a:t>into</a:t>
            </a:r>
            <a:r>
              <a:rPr lang="de-DE" dirty="0"/>
              <a:t> Science Education Research </a:t>
            </a:r>
            <a:r>
              <a:rPr lang="de-DE" dirty="0" err="1"/>
              <a:t>to</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with</a:t>
            </a:r>
            <a:r>
              <a:rPr lang="de-DE" dirty="0"/>
              <a:t> </a:t>
            </a:r>
            <a:r>
              <a:rPr lang="de-DE" dirty="0" err="1"/>
              <a:t>the</a:t>
            </a:r>
            <a:r>
              <a:rPr lang="de-DE" dirty="0"/>
              <a:t> </a:t>
            </a:r>
            <a:r>
              <a:rPr lang="de-DE" dirty="0" err="1"/>
              <a:t>educational</a:t>
            </a:r>
            <a:r>
              <a:rPr lang="de-DE" dirty="0"/>
              <a:t> </a:t>
            </a:r>
            <a:r>
              <a:rPr lang="de-DE" dirty="0" err="1"/>
              <a:t>offspring</a:t>
            </a:r>
            <a:r>
              <a:rPr lang="de-DE" dirty="0"/>
              <a:t> </a:t>
            </a:r>
            <a:r>
              <a:rPr lang="de-DE" dirty="0" err="1"/>
              <a:t>of</a:t>
            </a:r>
            <a:r>
              <a:rPr lang="de-DE" dirty="0"/>
              <a:t> </a:t>
            </a:r>
            <a:r>
              <a:rPr lang="de-DE" dirty="0" err="1"/>
              <a:t>the</a:t>
            </a:r>
            <a:r>
              <a:rPr lang="de-DE" dirty="0"/>
              <a:t> </a:t>
            </a:r>
            <a:r>
              <a:rPr lang="de-DE" dirty="0" err="1"/>
              <a:t>Soviet</a:t>
            </a:r>
            <a:r>
              <a:rPr lang="de-DE" dirty="0"/>
              <a:t> Union. Science </a:t>
            </a:r>
            <a:r>
              <a:rPr lang="de-DE" dirty="0" err="1"/>
              <a:t>education</a:t>
            </a:r>
            <a:r>
              <a:rPr lang="de-DE" dirty="0"/>
              <a:t> </a:t>
            </a:r>
            <a:r>
              <a:rPr lang="de-DE" dirty="0" err="1"/>
              <a:t>research</a:t>
            </a:r>
            <a:r>
              <a:rPr lang="de-DE" dirty="0"/>
              <a:t> </a:t>
            </a:r>
            <a:r>
              <a:rPr lang="de-DE" dirty="0" err="1"/>
              <a:t>is</a:t>
            </a:r>
            <a:r>
              <a:rPr lang="de-DE" dirty="0"/>
              <a:t> in </a:t>
            </a:r>
            <a:r>
              <a:rPr lang="de-DE" dirty="0" err="1"/>
              <a:t>bloom</a:t>
            </a:r>
            <a:r>
              <a:rPr lang="de-DE" dirty="0"/>
              <a:t>.</a:t>
            </a:r>
          </a:p>
          <a:p>
            <a:r>
              <a:rPr lang="de-DE" dirty="0" err="1"/>
              <a:t>Everyone</a:t>
            </a:r>
            <a:r>
              <a:rPr lang="de-DE" dirty="0"/>
              <a:t> </a:t>
            </a:r>
            <a:r>
              <a:rPr lang="de-DE" dirty="0" err="1"/>
              <a:t>seems</a:t>
            </a:r>
            <a:r>
              <a:rPr lang="de-DE" dirty="0"/>
              <a:t> in </a:t>
            </a:r>
            <a:r>
              <a:rPr lang="de-DE" dirty="0" err="1"/>
              <a:t>agreement</a:t>
            </a:r>
            <a:r>
              <a:rPr lang="de-DE" dirty="0"/>
              <a:t> </a:t>
            </a:r>
            <a:r>
              <a:rPr lang="de-DE" dirty="0" err="1"/>
              <a:t>that</a:t>
            </a:r>
            <a:r>
              <a:rPr lang="de-DE" dirty="0"/>
              <a:t> </a:t>
            </a:r>
            <a:r>
              <a:rPr lang="de-DE" dirty="0" err="1"/>
              <a:t>we</a:t>
            </a:r>
            <a:r>
              <a:rPr lang="de-DE" dirty="0"/>
              <a:t> </a:t>
            </a:r>
            <a:r>
              <a:rPr lang="de-DE" dirty="0" err="1"/>
              <a:t>have</a:t>
            </a:r>
            <a:r>
              <a:rPr lang="de-DE" dirty="0"/>
              <a:t> </a:t>
            </a:r>
            <a:r>
              <a:rPr lang="de-DE" dirty="0" err="1"/>
              <a:t>to</a:t>
            </a:r>
            <a:r>
              <a:rPr lang="de-DE" dirty="0"/>
              <a:t> </a:t>
            </a:r>
            <a:r>
              <a:rPr lang="de-DE" dirty="0" err="1"/>
              <a:t>move</a:t>
            </a:r>
            <a:r>
              <a:rPr lang="de-DE" dirty="0"/>
              <a:t> </a:t>
            </a:r>
            <a:r>
              <a:rPr lang="de-DE" dirty="0" err="1"/>
              <a:t>from</a:t>
            </a:r>
            <a:r>
              <a:rPr lang="de-DE" dirty="0"/>
              <a:t> rote </a:t>
            </a:r>
            <a:r>
              <a:rPr lang="de-DE" dirty="0" err="1"/>
              <a:t>learning</a:t>
            </a:r>
            <a:r>
              <a:rPr lang="de-DE" dirty="0"/>
              <a:t> </a:t>
            </a:r>
            <a:r>
              <a:rPr lang="de-DE" dirty="0" err="1"/>
              <a:t>of</a:t>
            </a:r>
            <a:r>
              <a:rPr lang="de-DE" dirty="0"/>
              <a:t> </a:t>
            </a:r>
            <a:r>
              <a:rPr lang="de-DE" dirty="0" err="1"/>
              <a:t>facts</a:t>
            </a:r>
            <a:r>
              <a:rPr lang="de-DE" dirty="0"/>
              <a:t> and </a:t>
            </a:r>
            <a:r>
              <a:rPr lang="de-DE" dirty="0" err="1"/>
              <a:t>procedures</a:t>
            </a:r>
            <a:r>
              <a:rPr lang="de-DE" dirty="0"/>
              <a:t> </a:t>
            </a:r>
            <a:r>
              <a:rPr lang="de-DE" dirty="0" err="1"/>
              <a:t>towards</a:t>
            </a:r>
            <a:r>
              <a:rPr lang="de-DE" dirty="0"/>
              <a:t> </a:t>
            </a:r>
            <a:r>
              <a:rPr lang="de-DE" dirty="0" err="1"/>
              <a:t>teaching</a:t>
            </a:r>
            <a:r>
              <a:rPr lang="de-DE" dirty="0"/>
              <a:t> </a:t>
            </a:r>
            <a:r>
              <a:rPr lang="de-DE" dirty="0" err="1"/>
              <a:t>conceptual</a:t>
            </a:r>
            <a:r>
              <a:rPr lang="de-DE" dirty="0"/>
              <a:t> </a:t>
            </a:r>
            <a:r>
              <a:rPr lang="de-DE" dirty="0" err="1"/>
              <a:t>understanding</a:t>
            </a:r>
            <a:r>
              <a:rPr lang="de-DE" dirty="0"/>
              <a:t>, </a:t>
            </a:r>
            <a:r>
              <a:rPr lang="de-DE" dirty="0" err="1"/>
              <a:t>that</a:t>
            </a:r>
            <a:r>
              <a:rPr lang="de-DE" dirty="0"/>
              <a:t> </a:t>
            </a:r>
            <a:r>
              <a:rPr lang="de-DE" dirty="0" err="1"/>
              <a:t>this</a:t>
            </a:r>
            <a:r>
              <a:rPr lang="de-DE" dirty="0"/>
              <a:t> </a:t>
            </a:r>
            <a:r>
              <a:rPr lang="de-DE" dirty="0" err="1"/>
              <a:t>is</a:t>
            </a:r>
            <a:r>
              <a:rPr lang="de-DE" dirty="0"/>
              <a:t> </a:t>
            </a:r>
            <a:r>
              <a:rPr lang="de-DE" dirty="0" err="1"/>
              <a:t>best</a:t>
            </a:r>
            <a:r>
              <a:rPr lang="de-DE" dirty="0"/>
              <a:t> </a:t>
            </a:r>
            <a:r>
              <a:rPr lang="de-DE" dirty="0" err="1"/>
              <a:t>achieved</a:t>
            </a:r>
            <a:r>
              <a:rPr lang="de-DE" dirty="0"/>
              <a:t> via </a:t>
            </a:r>
            <a:r>
              <a:rPr lang="de-DE" dirty="0" err="1"/>
              <a:t>engaging</a:t>
            </a:r>
            <a:r>
              <a:rPr lang="de-DE" dirty="0"/>
              <a:t> </a:t>
            </a:r>
            <a:r>
              <a:rPr lang="de-DE" dirty="0" err="1"/>
              <a:t>learners</a:t>
            </a:r>
            <a:r>
              <a:rPr lang="de-DE" dirty="0"/>
              <a:t> in </a:t>
            </a:r>
            <a:r>
              <a:rPr lang="de-DE" dirty="0" err="1"/>
              <a:t>authentic</a:t>
            </a:r>
            <a:r>
              <a:rPr lang="de-DE" dirty="0"/>
              <a:t> </a:t>
            </a:r>
            <a:r>
              <a:rPr lang="de-DE" dirty="0" err="1"/>
              <a:t>inquiry</a:t>
            </a:r>
            <a:r>
              <a:rPr lang="de-DE" dirty="0"/>
              <a:t>, and, in </a:t>
            </a:r>
            <a:r>
              <a:rPr lang="de-DE" dirty="0" err="1"/>
              <a:t>the</a:t>
            </a:r>
            <a:r>
              <a:rPr lang="de-DE" dirty="0"/>
              <a:t> </a:t>
            </a:r>
            <a:r>
              <a:rPr lang="de-DE" dirty="0" err="1"/>
              <a:t>wake</a:t>
            </a:r>
            <a:r>
              <a:rPr lang="de-DE" dirty="0"/>
              <a:t> </a:t>
            </a:r>
            <a:r>
              <a:rPr lang="de-DE" dirty="0" err="1"/>
              <a:t>of</a:t>
            </a:r>
            <a:r>
              <a:rPr lang="de-DE" dirty="0"/>
              <a:t> Thomas </a:t>
            </a:r>
            <a:r>
              <a:rPr lang="de-DE" dirty="0" err="1"/>
              <a:t>Kuhn`s</a:t>
            </a:r>
            <a:r>
              <a:rPr lang="de-DE" dirty="0"/>
              <a:t> </a:t>
            </a:r>
            <a:r>
              <a:rPr lang="de-DE" dirty="0" err="1"/>
              <a:t>new</a:t>
            </a:r>
            <a:r>
              <a:rPr lang="de-DE" dirty="0"/>
              <a:t> </a:t>
            </a:r>
            <a:r>
              <a:rPr lang="de-DE" dirty="0" err="1"/>
              <a:t>philosophy</a:t>
            </a:r>
            <a:r>
              <a:rPr lang="de-DE" dirty="0"/>
              <a:t> </a:t>
            </a:r>
            <a:r>
              <a:rPr lang="de-DE" dirty="0" err="1"/>
              <a:t>of</a:t>
            </a:r>
            <a:r>
              <a:rPr lang="de-DE" dirty="0"/>
              <a:t> Science, </a:t>
            </a:r>
            <a:r>
              <a:rPr lang="de-DE" dirty="0" err="1"/>
              <a:t>conceptual</a:t>
            </a:r>
            <a:r>
              <a:rPr lang="de-DE" dirty="0"/>
              <a:t> </a:t>
            </a:r>
            <a:r>
              <a:rPr lang="de-DE" dirty="0" err="1"/>
              <a:t>change</a:t>
            </a:r>
            <a:r>
              <a:rPr lang="de-DE" dirty="0"/>
              <a:t> </a:t>
            </a:r>
            <a:r>
              <a:rPr lang="de-DE" dirty="0" err="1"/>
              <a:t>research</a:t>
            </a:r>
            <a:r>
              <a:rPr lang="de-DE" dirty="0"/>
              <a:t> </a:t>
            </a:r>
            <a:r>
              <a:rPr lang="de-DE" dirty="0" err="1"/>
              <a:t>is</a:t>
            </a:r>
            <a:r>
              <a:rPr lang="de-DE" dirty="0"/>
              <a:t> in </a:t>
            </a:r>
            <a:r>
              <a:rPr lang="de-DE" dirty="0" err="1"/>
              <a:t>its</a:t>
            </a:r>
            <a:r>
              <a:rPr lang="de-DE" dirty="0"/>
              <a:t> </a:t>
            </a:r>
            <a:r>
              <a:rPr lang="de-DE" dirty="0" err="1"/>
              <a:t>formation</a:t>
            </a:r>
            <a:r>
              <a:rPr lang="de-DE" dirty="0"/>
              <a:t>.</a:t>
            </a:r>
          </a:p>
          <a:p>
            <a:endParaRPr lang="de-DE" dirty="0"/>
          </a:p>
          <a:p>
            <a:r>
              <a:rPr lang="de-DE" dirty="0" err="1"/>
              <a:t>Three</a:t>
            </a:r>
            <a:r>
              <a:rPr lang="de-DE" dirty="0"/>
              <a:t> </a:t>
            </a:r>
            <a:r>
              <a:rPr lang="de-DE" dirty="0" err="1"/>
              <a:t>kinds</a:t>
            </a:r>
            <a:r>
              <a:rPr lang="de-DE" dirty="0"/>
              <a:t> </a:t>
            </a:r>
            <a:r>
              <a:rPr lang="de-DE" dirty="0" err="1"/>
              <a:t>of</a:t>
            </a:r>
            <a:r>
              <a:rPr lang="de-DE" dirty="0"/>
              <a:t> </a:t>
            </a:r>
            <a:r>
              <a:rPr lang="de-DE" dirty="0" err="1"/>
              <a:t>knowledge</a:t>
            </a:r>
            <a:r>
              <a:rPr lang="de-DE" dirty="0"/>
              <a:t> </a:t>
            </a:r>
            <a:r>
              <a:rPr lang="de-DE" dirty="0" err="1"/>
              <a:t>that</a:t>
            </a:r>
            <a:r>
              <a:rPr lang="de-DE" dirty="0"/>
              <a:t> </a:t>
            </a:r>
            <a:r>
              <a:rPr lang="de-DE" dirty="0" err="1"/>
              <a:t>educational</a:t>
            </a:r>
            <a:r>
              <a:rPr lang="de-DE" dirty="0"/>
              <a:t> </a:t>
            </a:r>
            <a:r>
              <a:rPr lang="de-DE" dirty="0" err="1"/>
              <a:t>research</a:t>
            </a:r>
            <a:r>
              <a:rPr lang="de-DE" dirty="0"/>
              <a:t> </a:t>
            </a:r>
            <a:r>
              <a:rPr lang="de-DE" dirty="0" err="1"/>
              <a:t>is</a:t>
            </a:r>
            <a:r>
              <a:rPr lang="de-DE" dirty="0"/>
              <a:t> </a:t>
            </a:r>
            <a:r>
              <a:rPr lang="de-DE" dirty="0" err="1"/>
              <a:t>especially</a:t>
            </a:r>
            <a:r>
              <a:rPr lang="de-DE" dirty="0"/>
              <a:t> </a:t>
            </a:r>
            <a:r>
              <a:rPr lang="de-DE" dirty="0" err="1"/>
              <a:t>interested</a:t>
            </a:r>
            <a:r>
              <a:rPr lang="de-DE" dirty="0"/>
              <a:t> in manifest: …</a:t>
            </a:r>
          </a:p>
          <a:p>
            <a:pPr marL="228600" indent="-228600">
              <a:buAutoNum type="arabicParenR"/>
            </a:pPr>
            <a:r>
              <a:rPr lang="de-DE" dirty="0"/>
              <a:t>Content </a:t>
            </a:r>
            <a:r>
              <a:rPr lang="de-DE" dirty="0" err="1"/>
              <a:t>knowledge</a:t>
            </a:r>
            <a:r>
              <a:rPr lang="de-DE" dirty="0"/>
              <a:t> </a:t>
            </a:r>
            <a:r>
              <a:rPr lang="de-DE" dirty="0" err="1"/>
              <a:t>about</a:t>
            </a:r>
            <a:r>
              <a:rPr lang="de-DE" dirty="0"/>
              <a:t> Scientific </a:t>
            </a:r>
            <a:r>
              <a:rPr lang="de-DE" dirty="0" err="1"/>
              <a:t>concepts</a:t>
            </a:r>
            <a:r>
              <a:rPr lang="de-DE" dirty="0"/>
              <a:t>,</a:t>
            </a:r>
          </a:p>
          <a:p>
            <a:pPr marL="228600" indent="-228600">
              <a:buAutoNum type="arabicParenR"/>
            </a:pPr>
            <a:r>
              <a:rPr lang="de-DE" dirty="0" err="1"/>
              <a:t>Process</a:t>
            </a:r>
            <a:r>
              <a:rPr lang="de-DE" dirty="0"/>
              <a:t> </a:t>
            </a:r>
            <a:r>
              <a:rPr lang="de-DE" dirty="0" err="1"/>
              <a:t>knowledge</a:t>
            </a:r>
            <a:r>
              <a:rPr lang="de-DE" dirty="0"/>
              <a:t> </a:t>
            </a:r>
            <a:r>
              <a:rPr lang="de-DE" dirty="0" err="1"/>
              <a:t>about</a:t>
            </a:r>
            <a:r>
              <a:rPr lang="de-DE" dirty="0"/>
              <a:t> </a:t>
            </a:r>
            <a:r>
              <a:rPr lang="de-DE" dirty="0" err="1"/>
              <a:t>scientific</a:t>
            </a:r>
            <a:r>
              <a:rPr lang="de-DE" dirty="0"/>
              <a:t> </a:t>
            </a:r>
            <a:r>
              <a:rPr lang="de-DE" dirty="0" err="1"/>
              <a:t>inquiry</a:t>
            </a:r>
            <a:r>
              <a:rPr lang="de-DE" dirty="0"/>
              <a:t>,</a:t>
            </a:r>
          </a:p>
          <a:p>
            <a:pPr marL="0" indent="0">
              <a:buNone/>
            </a:pPr>
            <a:r>
              <a:rPr lang="de-DE" dirty="0"/>
              <a:t>and</a:t>
            </a:r>
          </a:p>
          <a:p>
            <a:pPr marL="228600" indent="-228600">
              <a:buAutoNum type="arabicParenR" startAt="3"/>
            </a:pPr>
            <a:r>
              <a:rPr lang="de-DE" dirty="0" err="1"/>
              <a:t>Epistemological</a:t>
            </a:r>
            <a:r>
              <a:rPr lang="de-DE" dirty="0"/>
              <a:t> </a:t>
            </a:r>
            <a:r>
              <a:rPr lang="de-DE" dirty="0" err="1"/>
              <a:t>knowledge</a:t>
            </a:r>
            <a:r>
              <a:rPr lang="de-DE" dirty="0"/>
              <a:t> </a:t>
            </a:r>
            <a:r>
              <a:rPr lang="de-DE" dirty="0" err="1"/>
              <a:t>about</a:t>
            </a:r>
            <a:r>
              <a:rPr lang="de-DE" dirty="0"/>
              <a:t> </a:t>
            </a:r>
            <a:r>
              <a:rPr lang="de-DE" dirty="0" err="1"/>
              <a:t>the</a:t>
            </a:r>
            <a:r>
              <a:rPr lang="de-DE" dirty="0"/>
              <a:t> </a:t>
            </a:r>
            <a:r>
              <a:rPr lang="de-DE" dirty="0" err="1"/>
              <a:t>nature</a:t>
            </a:r>
            <a:r>
              <a:rPr lang="de-DE" dirty="0"/>
              <a:t> </a:t>
            </a:r>
            <a:r>
              <a:rPr lang="de-DE" dirty="0" err="1"/>
              <a:t>of</a:t>
            </a:r>
            <a:r>
              <a:rPr lang="de-DE" dirty="0"/>
              <a:t> Science</a:t>
            </a:r>
          </a:p>
          <a:p>
            <a:pPr marL="0" indent="0">
              <a:buNone/>
            </a:pPr>
            <a:endParaRPr lang="de-DE" dirty="0"/>
          </a:p>
          <a:p>
            <a:pPr marL="0" indent="0">
              <a:buNone/>
            </a:pPr>
            <a:r>
              <a:rPr lang="de-DE" dirty="0"/>
              <a:t>In </a:t>
            </a:r>
            <a:r>
              <a:rPr lang="de-DE" dirty="0" err="1"/>
              <a:t>Genetics</a:t>
            </a:r>
            <a:r>
              <a:rPr lang="de-DE" dirty="0"/>
              <a:t>, back </a:t>
            </a:r>
            <a:r>
              <a:rPr lang="de-DE" dirty="0" err="1"/>
              <a:t>then</a:t>
            </a:r>
            <a:r>
              <a:rPr lang="de-DE" dirty="0"/>
              <a:t> </a:t>
            </a:r>
            <a:r>
              <a:rPr lang="de-DE" dirty="0" err="1"/>
              <a:t>research</a:t>
            </a:r>
            <a:r>
              <a:rPr lang="de-DE" dirty="0"/>
              <a:t> on </a:t>
            </a:r>
            <a:r>
              <a:rPr lang="de-DE" dirty="0" err="1"/>
              <a:t>the</a:t>
            </a:r>
            <a:r>
              <a:rPr lang="de-DE" dirty="0"/>
              <a:t> Drosophila – </a:t>
            </a:r>
            <a:r>
              <a:rPr lang="de-DE" dirty="0" err="1"/>
              <a:t>the</a:t>
            </a:r>
            <a:r>
              <a:rPr lang="de-DE" dirty="0"/>
              <a:t> Fruit Fly – </a:t>
            </a:r>
            <a:r>
              <a:rPr lang="de-DE" dirty="0" err="1"/>
              <a:t>allowed</a:t>
            </a:r>
            <a:r>
              <a:rPr lang="de-DE" dirty="0"/>
              <a:t> </a:t>
            </a:r>
            <a:r>
              <a:rPr lang="de-DE" dirty="0" err="1"/>
              <a:t>developmental</a:t>
            </a:r>
            <a:r>
              <a:rPr lang="de-DE" dirty="0"/>
              <a:t> </a:t>
            </a:r>
            <a:r>
              <a:rPr lang="de-DE" dirty="0" err="1"/>
              <a:t>genetics</a:t>
            </a:r>
            <a:r>
              <a:rPr lang="de-DE" dirty="0"/>
              <a:t> </a:t>
            </a:r>
            <a:r>
              <a:rPr lang="de-DE" dirty="0" err="1"/>
              <a:t>to</a:t>
            </a:r>
            <a:r>
              <a:rPr lang="de-DE" dirty="0"/>
              <a:t> </a:t>
            </a:r>
            <a:r>
              <a:rPr lang="de-DE" dirty="0" err="1"/>
              <a:t>bloom</a:t>
            </a:r>
            <a:r>
              <a:rPr lang="de-DE" dirty="0"/>
              <a:t>; </a:t>
            </a:r>
            <a:r>
              <a:rPr lang="de-DE" dirty="0" err="1"/>
              <a:t>geneticists</a:t>
            </a:r>
            <a:r>
              <a:rPr lang="de-DE" dirty="0"/>
              <a:t> </a:t>
            </a:r>
            <a:r>
              <a:rPr lang="de-DE" dirty="0" err="1"/>
              <a:t>could</a:t>
            </a:r>
            <a:r>
              <a:rPr lang="de-DE" dirty="0"/>
              <a:t> just </a:t>
            </a:r>
            <a:r>
              <a:rPr lang="de-DE" dirty="0" err="1"/>
              <a:t>change</a:t>
            </a:r>
            <a:r>
              <a:rPr lang="de-DE" dirty="0"/>
              <a:t> a </a:t>
            </a:r>
            <a:r>
              <a:rPr lang="de-DE" dirty="0" err="1"/>
              <a:t>gene</a:t>
            </a:r>
            <a:r>
              <a:rPr lang="de-DE" dirty="0"/>
              <a:t> and </a:t>
            </a:r>
            <a:r>
              <a:rPr lang="de-DE" dirty="0" err="1"/>
              <a:t>see</a:t>
            </a:r>
            <a:r>
              <a:rPr lang="de-DE" dirty="0"/>
              <a:t> </a:t>
            </a:r>
            <a:r>
              <a:rPr lang="de-DE" dirty="0" err="1"/>
              <a:t>what</a:t>
            </a:r>
            <a:r>
              <a:rPr lang="de-DE" dirty="0"/>
              <a:t> </a:t>
            </a:r>
            <a:r>
              <a:rPr lang="de-DE" dirty="0" err="1"/>
              <a:t>it</a:t>
            </a:r>
            <a:r>
              <a:rPr lang="de-DE" dirty="0"/>
              <a:t> </a:t>
            </a:r>
            <a:r>
              <a:rPr lang="de-DE" dirty="0" err="1"/>
              <a:t>does</a:t>
            </a:r>
            <a:r>
              <a:rPr lang="de-DE" dirty="0"/>
              <a:t> </a:t>
            </a:r>
            <a:r>
              <a:rPr lang="de-DE" dirty="0" err="1"/>
              <a:t>to</a:t>
            </a:r>
            <a:r>
              <a:rPr lang="de-DE" dirty="0"/>
              <a:t> </a:t>
            </a:r>
            <a:r>
              <a:rPr lang="de-DE" dirty="0" err="1"/>
              <a:t>the</a:t>
            </a:r>
            <a:r>
              <a:rPr lang="de-DE" dirty="0"/>
              <a:t> </a:t>
            </a:r>
            <a:r>
              <a:rPr lang="de-DE" dirty="0" err="1"/>
              <a:t>fly`s</a:t>
            </a:r>
            <a:r>
              <a:rPr lang="de-DE" dirty="0"/>
              <a:t> </a:t>
            </a:r>
            <a:r>
              <a:rPr lang="de-DE" dirty="0" err="1"/>
              <a:t>development</a:t>
            </a:r>
            <a:r>
              <a:rPr lang="de-DE" dirty="0"/>
              <a:t>.</a:t>
            </a:r>
          </a:p>
          <a:p>
            <a:pPr marL="0" indent="0">
              <a:buNone/>
            </a:pPr>
            <a:r>
              <a:rPr lang="de-DE" dirty="0"/>
              <a:t>In Science Education, </a:t>
            </a:r>
            <a:r>
              <a:rPr lang="de-DE" dirty="0" err="1"/>
              <a:t>we</a:t>
            </a:r>
            <a:r>
              <a:rPr lang="de-DE" dirty="0"/>
              <a:t> </a:t>
            </a:r>
            <a:r>
              <a:rPr lang="de-DE" dirty="0" err="1"/>
              <a:t>have</a:t>
            </a:r>
            <a:r>
              <a:rPr lang="de-DE" dirty="0"/>
              <a:t> </a:t>
            </a:r>
            <a:r>
              <a:rPr lang="de-DE" dirty="0" err="1"/>
              <a:t>similar</a:t>
            </a:r>
            <a:r>
              <a:rPr lang="de-DE" dirty="0"/>
              <a:t> </a:t>
            </a:r>
            <a:r>
              <a:rPr lang="de-DE" dirty="0" err="1"/>
              <a:t>things</a:t>
            </a:r>
            <a:r>
              <a:rPr lang="de-DE" dirty="0"/>
              <a:t>:</a:t>
            </a:r>
          </a:p>
          <a:p>
            <a:pPr marL="0" indent="0">
              <a:buNone/>
            </a:pPr>
            <a:r>
              <a:rPr lang="de-DE" dirty="0"/>
              <a:t>The </a:t>
            </a:r>
            <a:r>
              <a:rPr lang="de-DE" dirty="0" err="1"/>
              <a:t>drosophila</a:t>
            </a:r>
            <a:r>
              <a:rPr lang="de-DE" dirty="0"/>
              <a:t> </a:t>
            </a:r>
            <a:r>
              <a:rPr lang="de-DE" dirty="0" err="1"/>
              <a:t>of</a:t>
            </a:r>
            <a:r>
              <a:rPr lang="de-DE" dirty="0"/>
              <a:t> </a:t>
            </a:r>
            <a:r>
              <a:rPr lang="de-DE" dirty="0" err="1"/>
              <a:t>content</a:t>
            </a:r>
            <a:r>
              <a:rPr lang="de-DE" dirty="0"/>
              <a:t> </a:t>
            </a:r>
            <a:r>
              <a:rPr lang="de-DE" dirty="0" err="1"/>
              <a:t>knowledge</a:t>
            </a:r>
            <a:r>
              <a:rPr lang="de-DE" dirty="0"/>
              <a:t> </a:t>
            </a:r>
            <a:r>
              <a:rPr lang="de-DE" dirty="0" err="1"/>
              <a:t>may</a:t>
            </a:r>
            <a:r>
              <a:rPr lang="de-DE" dirty="0"/>
              <a:t> </a:t>
            </a:r>
            <a:r>
              <a:rPr lang="de-DE" dirty="0" err="1"/>
              <a:t>be</a:t>
            </a:r>
            <a:r>
              <a:rPr lang="de-DE" dirty="0"/>
              <a:t> </a:t>
            </a:r>
            <a:r>
              <a:rPr lang="de-DE" i="1" dirty="0" err="1"/>
              <a:t>floating</a:t>
            </a:r>
            <a:r>
              <a:rPr lang="de-DE" i="1" dirty="0"/>
              <a:t> and </a:t>
            </a:r>
            <a:r>
              <a:rPr lang="de-DE" i="1" dirty="0" err="1"/>
              <a:t>sinking</a:t>
            </a:r>
            <a:r>
              <a:rPr lang="de-DE" i="1" dirty="0"/>
              <a:t> </a:t>
            </a:r>
            <a:r>
              <a:rPr lang="de-DE" dirty="0" err="1"/>
              <a:t>phenomena</a:t>
            </a:r>
            <a:r>
              <a:rPr lang="de-DE" dirty="0"/>
              <a:t> such </a:t>
            </a:r>
            <a:r>
              <a:rPr lang="de-DE" dirty="0" err="1"/>
              <a:t>as</a:t>
            </a:r>
            <a:r>
              <a:rPr lang="de-DE" dirty="0"/>
              <a:t> </a:t>
            </a:r>
            <a:r>
              <a:rPr lang="de-DE" dirty="0" err="1"/>
              <a:t>buoyancy</a:t>
            </a:r>
            <a:r>
              <a:rPr lang="de-DE" dirty="0"/>
              <a:t> and </a:t>
            </a:r>
            <a:r>
              <a:rPr lang="de-DE" dirty="0" err="1"/>
              <a:t>density</a:t>
            </a:r>
            <a:r>
              <a:rPr lang="de-DE" dirty="0"/>
              <a:t>, </a:t>
            </a:r>
            <a:r>
              <a:rPr lang="de-DE" dirty="0" err="1"/>
              <a:t>which</a:t>
            </a:r>
            <a:r>
              <a:rPr lang="de-DE" dirty="0"/>
              <a:t>, </a:t>
            </a:r>
            <a:r>
              <a:rPr lang="de-DE" dirty="0" err="1"/>
              <a:t>inspired</a:t>
            </a:r>
            <a:r>
              <a:rPr lang="de-DE" dirty="0"/>
              <a:t> </a:t>
            </a:r>
            <a:r>
              <a:rPr lang="de-DE" dirty="0" err="1"/>
              <a:t>by</a:t>
            </a:r>
            <a:r>
              <a:rPr lang="de-DE" dirty="0"/>
              <a:t> Jean Piaget and Bärbel </a:t>
            </a:r>
            <a:r>
              <a:rPr lang="de-DE" dirty="0" err="1"/>
              <a:t>Inhelder`s</a:t>
            </a:r>
            <a:r>
              <a:rPr lang="de-DE" dirty="0"/>
              <a:t> </a:t>
            </a:r>
            <a:r>
              <a:rPr lang="de-DE" dirty="0" err="1"/>
              <a:t>work</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been</a:t>
            </a:r>
            <a:r>
              <a:rPr lang="de-DE" dirty="0"/>
              <a:t> </a:t>
            </a:r>
            <a:r>
              <a:rPr lang="de-DE" dirty="0" err="1"/>
              <a:t>tried</a:t>
            </a:r>
            <a:r>
              <a:rPr lang="de-DE" dirty="0"/>
              <a:t> </a:t>
            </a:r>
            <a:r>
              <a:rPr lang="de-DE" dirty="0" err="1"/>
              <a:t>to</a:t>
            </a:r>
            <a:r>
              <a:rPr lang="de-DE" dirty="0"/>
              <a:t> </a:t>
            </a:r>
            <a:r>
              <a:rPr lang="de-DE" dirty="0" err="1"/>
              <a:t>train</a:t>
            </a:r>
            <a:r>
              <a:rPr lang="de-DE" dirty="0"/>
              <a:t> in </a:t>
            </a:r>
            <a:r>
              <a:rPr lang="de-DE" dirty="0" err="1"/>
              <a:t>intervention</a:t>
            </a:r>
            <a:r>
              <a:rPr lang="de-DE" dirty="0"/>
              <a:t> </a:t>
            </a:r>
            <a:r>
              <a:rPr lang="de-DE" dirty="0" err="1"/>
              <a:t>studies</a:t>
            </a:r>
            <a:r>
              <a:rPr lang="de-DE" dirty="0"/>
              <a:t> </a:t>
            </a:r>
            <a:r>
              <a:rPr lang="de-DE" dirty="0" err="1"/>
              <a:t>likely</a:t>
            </a:r>
            <a:r>
              <a:rPr lang="de-DE" dirty="0"/>
              <a:t> </a:t>
            </a:r>
            <a:r>
              <a:rPr lang="de-DE" dirty="0" err="1"/>
              <a:t>thousands</a:t>
            </a:r>
            <a:r>
              <a:rPr lang="de-DE" dirty="0"/>
              <a:t> </a:t>
            </a:r>
            <a:r>
              <a:rPr lang="de-DE" dirty="0" err="1"/>
              <a:t>of</a:t>
            </a:r>
            <a:r>
              <a:rPr lang="de-DE" dirty="0"/>
              <a:t> </a:t>
            </a:r>
            <a:r>
              <a:rPr lang="de-DE" dirty="0" err="1"/>
              <a:t>times</a:t>
            </a:r>
            <a:r>
              <a:rPr lang="de-DE" dirty="0"/>
              <a:t>.</a:t>
            </a:r>
          </a:p>
          <a:p>
            <a:pPr marL="0" indent="0">
              <a:buNone/>
            </a:pPr>
            <a:r>
              <a:rPr lang="de-DE" dirty="0" err="1"/>
              <a:t>Similarly</a:t>
            </a:r>
            <a:r>
              <a:rPr lang="de-DE" dirty="0"/>
              <a:t>, </a:t>
            </a:r>
            <a:r>
              <a:rPr lang="de-DE" dirty="0" err="1"/>
              <a:t>the</a:t>
            </a:r>
            <a:r>
              <a:rPr lang="de-DE" dirty="0"/>
              <a:t> </a:t>
            </a:r>
            <a:r>
              <a:rPr lang="de-DE" dirty="0" err="1"/>
              <a:t>control</a:t>
            </a:r>
            <a:r>
              <a:rPr lang="de-DE" dirty="0"/>
              <a:t>-</a:t>
            </a:r>
            <a:r>
              <a:rPr lang="de-DE" dirty="0" err="1"/>
              <a:t>of</a:t>
            </a:r>
            <a:r>
              <a:rPr lang="de-DE" dirty="0"/>
              <a:t>-variables </a:t>
            </a:r>
            <a:r>
              <a:rPr lang="de-DE" dirty="0" err="1"/>
              <a:t>strategy</a:t>
            </a:r>
            <a:r>
              <a:rPr lang="de-DE" dirty="0"/>
              <a:t>, </a:t>
            </a:r>
            <a:r>
              <a:rPr lang="de-DE" dirty="0" err="1"/>
              <a:t>denoting</a:t>
            </a:r>
            <a:r>
              <a:rPr lang="de-DE" dirty="0"/>
              <a:t> </a:t>
            </a:r>
            <a:r>
              <a:rPr lang="de-DE" dirty="0" err="1"/>
              <a:t>the</a:t>
            </a:r>
            <a:r>
              <a:rPr lang="de-DE" dirty="0"/>
              <a:t> </a:t>
            </a:r>
            <a:r>
              <a:rPr lang="de-DE" dirty="0" err="1"/>
              <a:t>understanding</a:t>
            </a:r>
            <a:r>
              <a:rPr lang="de-DE" dirty="0"/>
              <a:t> </a:t>
            </a:r>
            <a:r>
              <a:rPr lang="de-DE" dirty="0" err="1"/>
              <a:t>that</a:t>
            </a:r>
            <a:r>
              <a:rPr lang="de-DE" dirty="0"/>
              <a:t> </a:t>
            </a:r>
            <a:r>
              <a:rPr lang="de-DE" dirty="0" err="1"/>
              <a:t>to</a:t>
            </a:r>
            <a:r>
              <a:rPr lang="de-DE" dirty="0"/>
              <a:t> find </a:t>
            </a:r>
            <a:r>
              <a:rPr lang="de-DE" dirty="0" err="1"/>
              <a:t>something</a:t>
            </a:r>
            <a:r>
              <a:rPr lang="de-DE" dirty="0"/>
              <a:t> out, </a:t>
            </a:r>
            <a:r>
              <a:rPr lang="de-DE" dirty="0" err="1"/>
              <a:t>it</a:t>
            </a:r>
            <a:r>
              <a:rPr lang="de-DE" dirty="0"/>
              <a:t> </a:t>
            </a:r>
            <a:r>
              <a:rPr lang="de-DE" dirty="0" err="1"/>
              <a:t>often</a:t>
            </a:r>
            <a:r>
              <a:rPr lang="de-DE" dirty="0"/>
              <a:t> </a:t>
            </a:r>
            <a:r>
              <a:rPr lang="de-DE" dirty="0" err="1"/>
              <a:t>works</a:t>
            </a:r>
            <a:r>
              <a:rPr lang="de-DE" dirty="0"/>
              <a:t> </a:t>
            </a:r>
            <a:r>
              <a:rPr lang="de-DE" dirty="0" err="1"/>
              <a:t>best</a:t>
            </a:r>
            <a:r>
              <a:rPr lang="de-DE" dirty="0"/>
              <a:t> </a:t>
            </a:r>
            <a:r>
              <a:rPr lang="de-DE" dirty="0" err="1"/>
              <a:t>to</a:t>
            </a:r>
            <a:r>
              <a:rPr lang="de-DE" dirty="0"/>
              <a:t> </a:t>
            </a:r>
            <a:r>
              <a:rPr lang="de-DE" dirty="0" err="1"/>
              <a:t>change</a:t>
            </a:r>
            <a:r>
              <a:rPr lang="de-DE" dirty="0"/>
              <a:t> </a:t>
            </a:r>
            <a:r>
              <a:rPr lang="de-DE" dirty="0" err="1"/>
              <a:t>one</a:t>
            </a:r>
            <a:r>
              <a:rPr lang="de-DE" dirty="0"/>
              <a:t> </a:t>
            </a:r>
            <a:r>
              <a:rPr lang="de-DE" dirty="0" err="1"/>
              <a:t>thing</a:t>
            </a:r>
            <a:r>
              <a:rPr lang="de-DE" dirty="0"/>
              <a:t> at a time, </a:t>
            </a:r>
            <a:r>
              <a:rPr lang="de-DE" dirty="0" err="1"/>
              <a:t>likely</a:t>
            </a:r>
            <a:r>
              <a:rPr lang="de-DE" dirty="0"/>
              <a:t> </a:t>
            </a:r>
            <a:r>
              <a:rPr lang="de-DE" dirty="0" err="1"/>
              <a:t>is</a:t>
            </a:r>
            <a:r>
              <a:rPr lang="de-DE" dirty="0"/>
              <a:t> </a:t>
            </a:r>
            <a:r>
              <a:rPr lang="de-DE" dirty="0" err="1"/>
              <a:t>the</a:t>
            </a:r>
            <a:r>
              <a:rPr lang="de-DE" dirty="0"/>
              <a:t> </a:t>
            </a:r>
            <a:r>
              <a:rPr lang="de-DE" dirty="0" err="1"/>
              <a:t>most</a:t>
            </a:r>
            <a:r>
              <a:rPr lang="de-DE" dirty="0"/>
              <a:t> </a:t>
            </a:r>
            <a:r>
              <a:rPr lang="de-DE" dirty="0" err="1"/>
              <a:t>trained</a:t>
            </a:r>
            <a:r>
              <a:rPr lang="de-DE" dirty="0"/>
              <a:t> </a:t>
            </a:r>
            <a:r>
              <a:rPr lang="de-DE" dirty="0" err="1"/>
              <a:t>process</a:t>
            </a:r>
            <a:r>
              <a:rPr lang="de-DE" dirty="0"/>
              <a:t> </a:t>
            </a:r>
            <a:r>
              <a:rPr lang="de-DE" dirty="0" err="1"/>
              <a:t>skill</a:t>
            </a:r>
            <a:r>
              <a:rPr lang="de-DE" dirty="0"/>
              <a:t>. David </a:t>
            </a:r>
            <a:r>
              <a:rPr lang="de-DE" dirty="0" err="1"/>
              <a:t>Klahr</a:t>
            </a:r>
            <a:r>
              <a:rPr lang="de-DE" dirty="0"/>
              <a:t> </a:t>
            </a:r>
            <a:r>
              <a:rPr lang="de-DE" dirty="0" err="1"/>
              <a:t>famously</a:t>
            </a:r>
            <a:r>
              <a:rPr lang="de-DE" dirty="0"/>
              <a:t>, </a:t>
            </a:r>
            <a:r>
              <a:rPr lang="de-DE" dirty="0" err="1"/>
              <a:t>similar</a:t>
            </a:r>
            <a:r>
              <a:rPr lang="de-DE" dirty="0"/>
              <a:t> </a:t>
            </a:r>
            <a:r>
              <a:rPr lang="de-DE" dirty="0" err="1"/>
              <a:t>to</a:t>
            </a:r>
            <a:r>
              <a:rPr lang="de-DE" dirty="0"/>
              <a:t> </a:t>
            </a:r>
            <a:r>
              <a:rPr lang="de-DE" dirty="0" err="1"/>
              <a:t>Geneticists</a:t>
            </a:r>
            <a:r>
              <a:rPr lang="de-DE" dirty="0"/>
              <a:t> </a:t>
            </a:r>
            <a:r>
              <a:rPr lang="de-DE" dirty="0" err="1"/>
              <a:t>changing</a:t>
            </a:r>
            <a:r>
              <a:rPr lang="de-DE" dirty="0"/>
              <a:t> a </a:t>
            </a:r>
            <a:r>
              <a:rPr lang="de-DE" dirty="0" err="1"/>
              <a:t>gene</a:t>
            </a:r>
            <a:r>
              <a:rPr lang="de-DE" dirty="0"/>
              <a:t> at a time, </a:t>
            </a:r>
            <a:r>
              <a:rPr lang="de-DE" dirty="0" err="1"/>
              <a:t>basically</a:t>
            </a:r>
            <a:r>
              <a:rPr lang="de-DE" dirty="0"/>
              <a:t> </a:t>
            </a:r>
            <a:r>
              <a:rPr lang="de-DE" dirty="0" err="1"/>
              <a:t>varied</a:t>
            </a:r>
            <a:r>
              <a:rPr lang="de-DE" dirty="0"/>
              <a:t> a </a:t>
            </a:r>
            <a:r>
              <a:rPr lang="de-DE" dirty="0" err="1"/>
              <a:t>thing</a:t>
            </a:r>
            <a:r>
              <a:rPr lang="de-DE" dirty="0"/>
              <a:t> at a time </a:t>
            </a:r>
            <a:r>
              <a:rPr lang="de-DE" dirty="0" err="1"/>
              <a:t>trying</a:t>
            </a:r>
            <a:r>
              <a:rPr lang="de-DE" dirty="0"/>
              <a:t> </a:t>
            </a:r>
            <a:r>
              <a:rPr lang="de-DE" dirty="0" err="1"/>
              <a:t>how</a:t>
            </a:r>
            <a:r>
              <a:rPr lang="de-DE" dirty="0"/>
              <a:t> </a:t>
            </a:r>
            <a:r>
              <a:rPr lang="de-DE" dirty="0" err="1"/>
              <a:t>to</a:t>
            </a:r>
            <a:r>
              <a:rPr lang="de-DE" dirty="0"/>
              <a:t> </a:t>
            </a:r>
            <a:r>
              <a:rPr lang="de-DE" dirty="0" err="1"/>
              <a:t>best</a:t>
            </a:r>
            <a:r>
              <a:rPr lang="de-DE" dirty="0"/>
              <a:t> </a:t>
            </a:r>
            <a:r>
              <a:rPr lang="de-DE" dirty="0" err="1"/>
              <a:t>teach</a:t>
            </a:r>
            <a:r>
              <a:rPr lang="de-DE" dirty="0"/>
              <a:t> </a:t>
            </a:r>
            <a:r>
              <a:rPr lang="de-DE" dirty="0" err="1"/>
              <a:t>the</a:t>
            </a:r>
            <a:r>
              <a:rPr lang="de-DE" dirty="0"/>
              <a:t> CVS </a:t>
            </a:r>
            <a:r>
              <a:rPr lang="de-DE" dirty="0" err="1"/>
              <a:t>for</a:t>
            </a:r>
            <a:r>
              <a:rPr lang="de-DE" dirty="0"/>
              <a:t> </a:t>
            </a:r>
            <a:r>
              <a:rPr lang="de-DE" dirty="0" err="1"/>
              <a:t>the</a:t>
            </a:r>
            <a:r>
              <a:rPr lang="de-DE" dirty="0"/>
              <a:t> last </a:t>
            </a:r>
            <a:r>
              <a:rPr lang="de-DE" dirty="0" err="1"/>
              <a:t>five</a:t>
            </a:r>
            <a:r>
              <a:rPr lang="de-DE" dirty="0"/>
              <a:t> </a:t>
            </a:r>
            <a:r>
              <a:rPr lang="de-DE" dirty="0" err="1"/>
              <a:t>decades</a:t>
            </a:r>
            <a:r>
              <a:rPr lang="de-DE" dirty="0"/>
              <a:t>. </a:t>
            </a:r>
          </a:p>
          <a:p>
            <a:pPr marL="0" indent="0">
              <a:buNone/>
            </a:pPr>
            <a:r>
              <a:rPr lang="de-DE" dirty="0" err="1"/>
              <a:t>Regarding</a:t>
            </a:r>
            <a:r>
              <a:rPr lang="de-DE" dirty="0"/>
              <a:t> Nature </a:t>
            </a:r>
            <a:r>
              <a:rPr lang="de-DE" dirty="0" err="1"/>
              <a:t>of</a:t>
            </a:r>
            <a:r>
              <a:rPr lang="de-DE" dirty="0"/>
              <a:t> Science, </a:t>
            </a:r>
            <a:r>
              <a:rPr lang="de-DE" dirty="0" err="1"/>
              <a:t>epistemic</a:t>
            </a:r>
            <a:r>
              <a:rPr lang="de-DE" dirty="0"/>
              <a:t> beliefs, </a:t>
            </a:r>
            <a:r>
              <a:rPr lang="de-DE" dirty="0" err="1"/>
              <a:t>for</a:t>
            </a:r>
            <a:r>
              <a:rPr lang="de-DE" dirty="0"/>
              <a:t> example </a:t>
            </a:r>
            <a:r>
              <a:rPr lang="de-DE" dirty="0" err="1"/>
              <a:t>about</a:t>
            </a:r>
            <a:r>
              <a:rPr lang="de-DE" dirty="0"/>
              <a:t> </a:t>
            </a:r>
            <a:r>
              <a:rPr lang="de-DE" dirty="0" err="1"/>
              <a:t>knowledge</a:t>
            </a:r>
            <a:r>
              <a:rPr lang="de-DE" dirty="0"/>
              <a:t> </a:t>
            </a:r>
            <a:r>
              <a:rPr lang="de-DE" dirty="0" err="1"/>
              <a:t>being</a:t>
            </a:r>
            <a:r>
              <a:rPr lang="de-DE" dirty="0"/>
              <a:t> </a:t>
            </a:r>
            <a:r>
              <a:rPr lang="de-DE" dirty="0" err="1"/>
              <a:t>something</a:t>
            </a:r>
            <a:r>
              <a:rPr lang="de-DE" dirty="0"/>
              <a:t> </a:t>
            </a:r>
            <a:r>
              <a:rPr lang="de-DE" dirty="0" err="1"/>
              <a:t>that</a:t>
            </a:r>
            <a:r>
              <a:rPr lang="de-DE" dirty="0"/>
              <a:t> </a:t>
            </a:r>
            <a:r>
              <a:rPr lang="de-DE" dirty="0" err="1"/>
              <a:t>is</a:t>
            </a:r>
            <a:r>
              <a:rPr lang="de-DE" dirty="0"/>
              <a:t> </a:t>
            </a:r>
            <a:r>
              <a:rPr lang="de-DE" dirty="0" err="1"/>
              <a:t>fixed</a:t>
            </a:r>
            <a:r>
              <a:rPr lang="de-DE" dirty="0"/>
              <a:t> </a:t>
            </a:r>
            <a:r>
              <a:rPr lang="de-DE" dirty="0" err="1"/>
              <a:t>or</a:t>
            </a:r>
            <a:r>
              <a:rPr lang="de-DE" dirty="0"/>
              <a:t> </a:t>
            </a:r>
            <a:r>
              <a:rPr lang="de-DE" dirty="0" err="1"/>
              <a:t>something</a:t>
            </a:r>
            <a:r>
              <a:rPr lang="de-DE" dirty="0"/>
              <a:t> </a:t>
            </a:r>
            <a:r>
              <a:rPr lang="de-DE" dirty="0" err="1"/>
              <a:t>that</a:t>
            </a:r>
            <a:r>
              <a:rPr lang="de-DE" dirty="0"/>
              <a:t> </a:t>
            </a:r>
            <a:r>
              <a:rPr lang="de-DE" dirty="0" err="1"/>
              <a:t>can</a:t>
            </a:r>
            <a:r>
              <a:rPr lang="de-DE" dirty="0"/>
              <a:t> </a:t>
            </a:r>
            <a:r>
              <a:rPr lang="de-DE" dirty="0" err="1"/>
              <a:t>change</a:t>
            </a:r>
            <a:r>
              <a:rPr lang="de-DE" dirty="0"/>
              <a:t> and </a:t>
            </a:r>
            <a:r>
              <a:rPr lang="de-DE" dirty="0" err="1"/>
              <a:t>develop</a:t>
            </a:r>
            <a:r>
              <a:rPr lang="de-DE" dirty="0"/>
              <a:t>, </a:t>
            </a:r>
            <a:r>
              <a:rPr lang="de-DE" dirty="0" err="1"/>
              <a:t>are</a:t>
            </a:r>
            <a:r>
              <a:rPr lang="de-DE" dirty="0"/>
              <a:t> </a:t>
            </a:r>
            <a:r>
              <a:rPr lang="de-DE" dirty="0" err="1"/>
              <a:t>likely</a:t>
            </a:r>
            <a:r>
              <a:rPr lang="de-DE" dirty="0"/>
              <a:t> </a:t>
            </a:r>
            <a:r>
              <a:rPr lang="de-DE" dirty="0" err="1"/>
              <a:t>its</a:t>
            </a:r>
            <a:r>
              <a:rPr lang="de-DE" dirty="0"/>
              <a:t> </a:t>
            </a:r>
            <a:r>
              <a:rPr lang="de-DE" dirty="0" err="1"/>
              <a:t>most</a:t>
            </a:r>
            <a:r>
              <a:rPr lang="de-DE" dirty="0"/>
              <a:t> </a:t>
            </a:r>
            <a:r>
              <a:rPr lang="de-DE" dirty="0" err="1"/>
              <a:t>central</a:t>
            </a:r>
            <a:r>
              <a:rPr lang="de-DE" dirty="0"/>
              <a:t> </a:t>
            </a:r>
            <a:r>
              <a:rPr lang="de-DE" dirty="0" err="1"/>
              <a:t>facet</a:t>
            </a:r>
            <a:r>
              <a:rPr lang="de-DE" dirty="0"/>
              <a:t> in </a:t>
            </a:r>
            <a:r>
              <a:rPr lang="de-DE" dirty="0" err="1"/>
              <a:t>educational</a:t>
            </a:r>
            <a:r>
              <a:rPr lang="de-DE" dirty="0"/>
              <a:t> </a:t>
            </a:r>
            <a:r>
              <a:rPr lang="de-DE" dirty="0" err="1"/>
              <a:t>research</a:t>
            </a:r>
            <a:r>
              <a:rPr lang="de-DE" dirty="0"/>
              <a:t>, </a:t>
            </a:r>
            <a:r>
              <a:rPr lang="de-DE" dirty="0" err="1"/>
              <a:t>although</a:t>
            </a:r>
            <a:r>
              <a:rPr lang="de-DE" dirty="0"/>
              <a:t> </a:t>
            </a:r>
            <a:r>
              <a:rPr lang="de-DE" dirty="0" err="1"/>
              <a:t>they</a:t>
            </a:r>
            <a:r>
              <a:rPr lang="de-DE" dirty="0"/>
              <a:t> </a:t>
            </a:r>
            <a:r>
              <a:rPr lang="de-DE" dirty="0" err="1"/>
              <a:t>are</a:t>
            </a:r>
            <a:r>
              <a:rPr lang="de-DE" dirty="0"/>
              <a:t> </a:t>
            </a:r>
            <a:r>
              <a:rPr lang="de-DE" dirty="0" err="1"/>
              <a:t>famously</a:t>
            </a:r>
            <a:r>
              <a:rPr lang="de-DE" dirty="0"/>
              <a:t> </a:t>
            </a:r>
            <a:r>
              <a:rPr lang="de-DE" dirty="0" err="1"/>
              <a:t>difficult</a:t>
            </a:r>
            <a:r>
              <a:rPr lang="de-DE" dirty="0"/>
              <a:t> </a:t>
            </a:r>
            <a:r>
              <a:rPr lang="de-DE" dirty="0" err="1"/>
              <a:t>to</a:t>
            </a:r>
            <a:r>
              <a:rPr lang="de-DE" dirty="0"/>
              <a:t> </a:t>
            </a:r>
            <a:r>
              <a:rPr lang="de-DE" dirty="0" err="1"/>
              <a:t>measure</a:t>
            </a:r>
            <a:r>
              <a:rPr lang="de-DE" dirty="0"/>
              <a:t> and </a:t>
            </a:r>
            <a:r>
              <a:rPr lang="de-DE" dirty="0" err="1"/>
              <a:t>even</a:t>
            </a:r>
            <a:r>
              <a:rPr lang="de-DE" dirty="0"/>
              <a:t> </a:t>
            </a:r>
            <a:r>
              <a:rPr lang="de-DE" dirty="0" err="1"/>
              <a:t>more</a:t>
            </a:r>
            <a:r>
              <a:rPr lang="de-DE" dirty="0"/>
              <a:t> so </a:t>
            </a:r>
            <a:r>
              <a:rPr lang="de-DE" dirty="0" err="1"/>
              <a:t>to</a:t>
            </a:r>
            <a:r>
              <a:rPr lang="de-DE" dirty="0"/>
              <a:t> </a:t>
            </a:r>
            <a:r>
              <a:rPr lang="de-DE" dirty="0" err="1"/>
              <a:t>intervene</a:t>
            </a:r>
            <a:r>
              <a:rPr lang="de-DE" dirty="0"/>
              <a:t> on.</a:t>
            </a:r>
          </a:p>
          <a:p>
            <a:pPr marL="0" indent="0">
              <a:buNone/>
            </a:pPr>
            <a:endParaRPr lang="de-DE" dirty="0"/>
          </a:p>
          <a:p>
            <a:pPr marL="0" indent="0">
              <a:buNone/>
            </a:pPr>
            <a:r>
              <a:rPr lang="de-DE" dirty="0" err="1"/>
              <a:t>Let`s</a:t>
            </a:r>
            <a:r>
              <a:rPr lang="de-DE" dirty="0"/>
              <a:t> jump in </a:t>
            </a:r>
            <a:r>
              <a:rPr lang="de-DE" dirty="0" err="1"/>
              <a:t>now</a:t>
            </a:r>
            <a:r>
              <a:rPr lang="de-DE" dirty="0"/>
              <a:t>:</a:t>
            </a:r>
          </a:p>
          <a:p>
            <a:pPr marL="0" indent="0">
              <a:buNone/>
            </a:pPr>
            <a:r>
              <a:rPr lang="de-DE" dirty="0" err="1"/>
              <a:t>For</a:t>
            </a:r>
            <a:r>
              <a:rPr lang="de-DE" dirty="0"/>
              <a:t> </a:t>
            </a:r>
            <a:r>
              <a:rPr lang="de-DE" dirty="0" err="1"/>
              <a:t>the</a:t>
            </a:r>
            <a:r>
              <a:rPr lang="de-DE" dirty="0"/>
              <a:t> last </a:t>
            </a:r>
            <a:r>
              <a:rPr lang="de-DE" dirty="0" err="1"/>
              <a:t>fifty</a:t>
            </a:r>
            <a:r>
              <a:rPr lang="de-DE" dirty="0"/>
              <a:t> </a:t>
            </a:r>
            <a:r>
              <a:rPr lang="de-DE" dirty="0" err="1"/>
              <a:t>years</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examine</a:t>
            </a:r>
            <a:r>
              <a:rPr lang="de-DE" dirty="0"/>
              <a:t> </a:t>
            </a:r>
            <a:r>
              <a:rPr lang="de-DE" dirty="0" err="1"/>
              <a:t>how</a:t>
            </a:r>
            <a:r>
              <a:rPr lang="de-DE" dirty="0"/>
              <a:t> </a:t>
            </a:r>
            <a:r>
              <a:rPr lang="de-DE" dirty="0" err="1"/>
              <a:t>these</a:t>
            </a:r>
            <a:r>
              <a:rPr lang="de-DE" dirty="0"/>
              <a:t> </a:t>
            </a:r>
            <a:r>
              <a:rPr lang="de-DE" dirty="0" err="1"/>
              <a:t>aspects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and </a:t>
            </a:r>
            <a:r>
              <a:rPr lang="de-DE" dirty="0" err="1"/>
              <a:t>how</a:t>
            </a:r>
            <a:r>
              <a:rPr lang="de-DE" dirty="0"/>
              <a:t> </a:t>
            </a:r>
            <a:r>
              <a:rPr lang="de-DE" dirty="0" err="1"/>
              <a:t>we</a:t>
            </a:r>
            <a:r>
              <a:rPr lang="de-DE" dirty="0"/>
              <a:t> </a:t>
            </a:r>
            <a:r>
              <a:rPr lang="de-DE" dirty="0" err="1"/>
              <a:t>can</a:t>
            </a:r>
            <a:r>
              <a:rPr lang="de-DE" dirty="0"/>
              <a:t> </a:t>
            </a:r>
            <a:r>
              <a:rPr lang="de-DE" dirty="0" err="1"/>
              <a:t>affect</a:t>
            </a:r>
            <a:r>
              <a:rPr lang="de-DE" dirty="0"/>
              <a:t> </a:t>
            </a:r>
            <a:r>
              <a:rPr lang="de-DE" dirty="0" err="1"/>
              <a:t>their</a:t>
            </a:r>
            <a:r>
              <a:rPr lang="de-DE" dirty="0"/>
              <a:t> </a:t>
            </a:r>
            <a:r>
              <a:rPr lang="de-DE" dirty="0" err="1"/>
              <a:t>development</a:t>
            </a:r>
            <a:r>
              <a:rPr lang="de-DE" dirty="0"/>
              <a:t> </a:t>
            </a:r>
            <a:r>
              <a:rPr lang="de-DE" dirty="0" err="1"/>
              <a:t>through</a:t>
            </a:r>
            <a:r>
              <a:rPr lang="de-DE" dirty="0"/>
              <a:t> </a:t>
            </a:r>
            <a:r>
              <a:rPr lang="de-DE" dirty="0" err="1"/>
              <a:t>educational</a:t>
            </a:r>
            <a:r>
              <a:rPr lang="de-DE" dirty="0"/>
              <a:t> </a:t>
            </a:r>
            <a:r>
              <a:rPr lang="de-DE" dirty="0" err="1"/>
              <a:t>interventions</a:t>
            </a:r>
            <a:r>
              <a:rPr lang="de-DE" dirty="0"/>
              <a:t>. </a:t>
            </a:r>
            <a:r>
              <a:rPr lang="de-DE" dirty="0" err="1"/>
              <a:t>There</a:t>
            </a:r>
            <a:r>
              <a:rPr lang="de-DE" dirty="0"/>
              <a:t> </a:t>
            </a:r>
            <a:r>
              <a:rPr lang="de-DE" dirty="0" err="1"/>
              <a:t>are</a:t>
            </a:r>
            <a:r>
              <a:rPr lang="de-DE" dirty="0"/>
              <a:t> </a:t>
            </a:r>
            <a:r>
              <a:rPr lang="de-DE" dirty="0" err="1"/>
              <a:t>two</a:t>
            </a:r>
            <a:r>
              <a:rPr lang="de-DE" dirty="0"/>
              <a:t> </a:t>
            </a:r>
            <a:r>
              <a:rPr lang="de-DE" dirty="0" err="1"/>
              <a:t>preconditions</a:t>
            </a:r>
            <a:r>
              <a:rPr lang="de-DE" dirty="0"/>
              <a:t> </a:t>
            </a:r>
            <a:r>
              <a:rPr lang="de-DE" dirty="0" err="1"/>
              <a:t>for</a:t>
            </a:r>
            <a:r>
              <a:rPr lang="de-DE" dirty="0"/>
              <a:t> </a:t>
            </a:r>
            <a:r>
              <a:rPr lang="de-DE" dirty="0" err="1"/>
              <a:t>gauging</a:t>
            </a:r>
            <a:r>
              <a:rPr lang="de-DE" dirty="0"/>
              <a:t> </a:t>
            </a:r>
            <a:r>
              <a:rPr lang="de-DE" dirty="0" err="1"/>
              <a:t>the</a:t>
            </a:r>
            <a:r>
              <a:rPr lang="de-DE" dirty="0"/>
              <a:t> </a:t>
            </a:r>
            <a:r>
              <a:rPr lang="de-DE" dirty="0" err="1"/>
              <a:t>impact</a:t>
            </a:r>
            <a:r>
              <a:rPr lang="de-DE" dirty="0"/>
              <a:t> </a:t>
            </a:r>
            <a:r>
              <a:rPr lang="de-DE" dirty="0" err="1"/>
              <a:t>of</a:t>
            </a:r>
            <a:r>
              <a:rPr lang="de-DE" dirty="0"/>
              <a:t> </a:t>
            </a:r>
            <a:r>
              <a:rPr lang="de-DE" dirty="0" err="1"/>
              <a:t>development</a:t>
            </a:r>
            <a:r>
              <a:rPr lang="de-DE" dirty="0"/>
              <a:t> and </a:t>
            </a:r>
            <a:r>
              <a:rPr lang="de-DE" dirty="0" err="1"/>
              <a:t>targeted</a:t>
            </a:r>
            <a:r>
              <a:rPr lang="de-DE" dirty="0"/>
              <a:t> </a:t>
            </a:r>
            <a:r>
              <a:rPr lang="de-DE" dirty="0" err="1"/>
              <a:t>interventions</a:t>
            </a:r>
            <a:r>
              <a:rPr lang="de-DE" dirty="0"/>
              <a:t> on </a:t>
            </a:r>
            <a:r>
              <a:rPr lang="de-DE" dirty="0" err="1"/>
              <a:t>learners</a:t>
            </a:r>
            <a:r>
              <a:rPr lang="de-DE" dirty="0"/>
              <a:t>` </a:t>
            </a:r>
            <a:r>
              <a:rPr lang="de-DE" dirty="0" err="1"/>
              <a:t>knowledge</a:t>
            </a:r>
            <a:r>
              <a:rPr lang="de-DE" dirty="0"/>
              <a:t>:</a:t>
            </a:r>
          </a:p>
          <a:p>
            <a:pPr marL="0" indent="0">
              <a:buNone/>
            </a:pPr>
            <a:r>
              <a:rPr lang="de-DE" dirty="0" err="1"/>
              <a:t>We</a:t>
            </a:r>
            <a:r>
              <a:rPr lang="de-DE" dirty="0"/>
              <a:t> </a:t>
            </a:r>
            <a:r>
              <a:rPr lang="de-DE" dirty="0" err="1"/>
              <a:t>have</a:t>
            </a:r>
            <a:r>
              <a:rPr lang="de-DE" dirty="0"/>
              <a:t> </a:t>
            </a:r>
            <a:r>
              <a:rPr lang="de-DE" dirty="0" err="1"/>
              <a:t>to</a:t>
            </a:r>
            <a:r>
              <a:rPr lang="de-DE" dirty="0"/>
              <a:t> </a:t>
            </a:r>
            <a:r>
              <a:rPr lang="de-DE" dirty="0" err="1"/>
              <a:t>measure</a:t>
            </a:r>
            <a:r>
              <a:rPr lang="de-DE" dirty="0"/>
              <a:t> </a:t>
            </a:r>
            <a:r>
              <a:rPr lang="de-DE" dirty="0" err="1"/>
              <a:t>it</a:t>
            </a:r>
            <a:r>
              <a:rPr lang="de-DE" dirty="0"/>
              <a:t>, and </a:t>
            </a:r>
            <a:r>
              <a:rPr lang="de-DE" dirty="0" err="1"/>
              <a:t>model</a:t>
            </a:r>
            <a:r>
              <a:rPr lang="de-DE" dirty="0"/>
              <a:t> </a:t>
            </a:r>
            <a:r>
              <a:rPr lang="de-DE" dirty="0" err="1"/>
              <a:t>it</a:t>
            </a:r>
            <a:r>
              <a:rPr lang="de-DE" dirty="0"/>
              <a:t>, </a:t>
            </a:r>
            <a:r>
              <a:rPr lang="de-DE" dirty="0" err="1"/>
              <a:t>with</a:t>
            </a:r>
            <a:r>
              <a:rPr lang="de-DE" dirty="0"/>
              <a:t> </a:t>
            </a:r>
            <a:r>
              <a:rPr lang="de-DE" dirty="0" err="1"/>
              <a:t>these</a:t>
            </a:r>
            <a:r>
              <a:rPr lang="de-DE" dirty="0"/>
              <a:t> </a:t>
            </a:r>
            <a:r>
              <a:rPr lang="de-DE" dirty="0" err="1"/>
              <a:t>two</a:t>
            </a:r>
            <a:r>
              <a:rPr lang="de-DE" dirty="0"/>
              <a:t> </a:t>
            </a:r>
            <a:r>
              <a:rPr lang="de-DE" dirty="0" err="1"/>
              <a:t>things</a:t>
            </a:r>
            <a:r>
              <a:rPr lang="de-DE" dirty="0"/>
              <a:t> </a:t>
            </a:r>
            <a:r>
              <a:rPr lang="de-DE" dirty="0" err="1"/>
              <a:t>often</a:t>
            </a:r>
            <a:r>
              <a:rPr lang="de-DE" dirty="0"/>
              <a:t> </a:t>
            </a:r>
            <a:r>
              <a:rPr lang="de-DE" dirty="0" err="1"/>
              <a:t>being</a:t>
            </a:r>
            <a:r>
              <a:rPr lang="de-DE" dirty="0"/>
              <a:t> </a:t>
            </a:r>
            <a:r>
              <a:rPr lang="de-DE" dirty="0" err="1"/>
              <a:t>intertwined</a:t>
            </a:r>
            <a:r>
              <a:rPr lang="de-DE" dirty="0"/>
              <a:t>.</a:t>
            </a:r>
          </a:p>
          <a:p>
            <a:pPr marL="0" indent="0">
              <a:buNone/>
            </a:pPr>
            <a:r>
              <a:rPr lang="de-DE" dirty="0" err="1"/>
              <a:t>Let`s</a:t>
            </a:r>
            <a:r>
              <a:rPr lang="de-DE" dirty="0"/>
              <a:t> </a:t>
            </a:r>
            <a:r>
              <a:rPr lang="de-DE" dirty="0" err="1"/>
              <a:t>see</a:t>
            </a:r>
            <a:r>
              <a:rPr lang="de-DE" dirty="0"/>
              <a:t> </a:t>
            </a:r>
            <a:r>
              <a:rPr lang="de-DE" dirty="0" err="1"/>
              <a:t>how</a:t>
            </a:r>
            <a:r>
              <a:rPr lang="de-DE" dirty="0"/>
              <a:t> </a:t>
            </a:r>
            <a:r>
              <a:rPr lang="de-DE" dirty="0" err="1"/>
              <a:t>educational</a:t>
            </a:r>
            <a:r>
              <a:rPr lang="de-DE" dirty="0"/>
              <a:t> </a:t>
            </a:r>
            <a:r>
              <a:rPr lang="de-DE" dirty="0" err="1"/>
              <a:t>researchers</a:t>
            </a:r>
            <a:r>
              <a:rPr lang="de-DE" dirty="0"/>
              <a:t> </a:t>
            </a:r>
            <a:r>
              <a:rPr lang="de-DE" dirty="0" err="1"/>
              <a:t>have</a:t>
            </a:r>
            <a:r>
              <a:rPr lang="de-DE" dirty="0"/>
              <a:t> </a:t>
            </a:r>
            <a:r>
              <a:rPr lang="de-DE" dirty="0" err="1"/>
              <a:t>tried</a:t>
            </a:r>
            <a:r>
              <a:rPr lang="de-DE" dirty="0"/>
              <a:t> </a:t>
            </a:r>
            <a:r>
              <a:rPr lang="de-DE" dirty="0" err="1"/>
              <a:t>to</a:t>
            </a:r>
            <a:r>
              <a:rPr lang="de-DE" dirty="0"/>
              <a:t> </a:t>
            </a:r>
            <a:r>
              <a:rPr lang="de-DE" dirty="0" err="1"/>
              <a:t>model</a:t>
            </a:r>
            <a:r>
              <a:rPr lang="de-DE" dirty="0"/>
              <a:t> </a:t>
            </a:r>
            <a:r>
              <a:rPr lang="de-DE" dirty="0" err="1"/>
              <a:t>learners</a:t>
            </a:r>
            <a:r>
              <a:rPr lang="de-DE" dirty="0"/>
              <a:t>` </a:t>
            </a:r>
            <a:r>
              <a:rPr lang="de-DE" dirty="0" err="1"/>
              <a:t>knowledge</a:t>
            </a:r>
            <a:r>
              <a:rPr lang="de-DE" dirty="0"/>
              <a:t> </a:t>
            </a:r>
            <a:r>
              <a:rPr lang="de-DE" dirty="0" err="1"/>
              <a:t>since</a:t>
            </a:r>
            <a:r>
              <a:rPr lang="de-DE" dirty="0"/>
              <a:t> </a:t>
            </a:r>
            <a:r>
              <a:rPr lang="de-DE" dirty="0" err="1"/>
              <a:t>the</a:t>
            </a:r>
            <a:r>
              <a:rPr lang="de-DE" dirty="0"/>
              <a:t> 1970s, </a:t>
            </a:r>
            <a:r>
              <a:rPr lang="de-DE" dirty="0" err="1"/>
              <a:t>how</a:t>
            </a:r>
            <a:r>
              <a:rPr lang="de-DE" dirty="0"/>
              <a:t> </a:t>
            </a:r>
            <a:r>
              <a:rPr lang="de-DE" dirty="0" err="1"/>
              <a:t>this</a:t>
            </a:r>
            <a:r>
              <a:rPr lang="de-DE" dirty="0"/>
              <a:t> </a:t>
            </a:r>
            <a:r>
              <a:rPr lang="de-DE" dirty="0" err="1"/>
              <a:t>has</a:t>
            </a:r>
            <a:r>
              <a:rPr lang="de-DE" dirty="0"/>
              <a:t> </a:t>
            </a:r>
            <a:r>
              <a:rPr lang="de-DE" dirty="0" err="1"/>
              <a:t>changed</a:t>
            </a:r>
            <a:r>
              <a:rPr lang="de-DE" dirty="0"/>
              <a:t> </a:t>
            </a:r>
            <a:r>
              <a:rPr lang="de-DE" dirty="0" err="1"/>
              <a:t>since</a:t>
            </a:r>
            <a:r>
              <a:rPr lang="de-DE" dirty="0"/>
              <a:t> </a:t>
            </a:r>
            <a:r>
              <a:rPr lang="de-DE" dirty="0" err="1"/>
              <a:t>then</a:t>
            </a:r>
            <a:r>
              <a:rPr lang="de-DE" dirty="0"/>
              <a:t>, and </a:t>
            </a:r>
            <a:r>
              <a:rPr lang="de-DE" dirty="0" err="1"/>
              <a:t>what</a:t>
            </a:r>
            <a:r>
              <a:rPr lang="de-DE" dirty="0"/>
              <a:t> </a:t>
            </a:r>
            <a:r>
              <a:rPr lang="de-DE" dirty="0" err="1"/>
              <a:t>we</a:t>
            </a:r>
            <a:r>
              <a:rPr lang="de-DE" dirty="0"/>
              <a:t> </a:t>
            </a:r>
            <a:r>
              <a:rPr lang="de-DE" dirty="0" err="1"/>
              <a:t>may</a:t>
            </a:r>
            <a:r>
              <a:rPr lang="de-DE" dirty="0"/>
              <a:t> </a:t>
            </a:r>
            <a:r>
              <a:rPr lang="de-DE" dirty="0" err="1"/>
              <a:t>learn</a:t>
            </a:r>
            <a:r>
              <a:rPr lang="de-DE" dirty="0"/>
              <a:t> </a:t>
            </a:r>
            <a:r>
              <a:rPr lang="de-DE" dirty="0" err="1"/>
              <a:t>for</a:t>
            </a:r>
            <a:r>
              <a:rPr lang="de-DE" dirty="0"/>
              <a:t> </a:t>
            </a:r>
            <a:r>
              <a:rPr lang="de-DE" dirty="0" err="1"/>
              <a:t>future</a:t>
            </a:r>
            <a:r>
              <a:rPr lang="de-DE" dirty="0"/>
              <a:t> </a:t>
            </a:r>
            <a:r>
              <a:rPr lang="de-DE" dirty="0" err="1"/>
              <a:t>research</a:t>
            </a:r>
            <a:r>
              <a:rPr lang="de-DE" dirty="0"/>
              <a:t> </a:t>
            </a:r>
            <a:r>
              <a:rPr lang="de-DE" dirty="0" err="1"/>
              <a:t>regarding</a:t>
            </a:r>
            <a:r>
              <a:rPr lang="de-DE" dirty="0"/>
              <a:t> </a:t>
            </a:r>
            <a:r>
              <a:rPr lang="de-DE" dirty="0" err="1"/>
              <a:t>how</a:t>
            </a:r>
            <a:r>
              <a:rPr lang="de-DE" dirty="0"/>
              <a:t> </a:t>
            </a:r>
            <a:r>
              <a:rPr lang="de-DE" dirty="0" err="1"/>
              <a:t>to</a:t>
            </a:r>
            <a:r>
              <a:rPr lang="de-DE" dirty="0"/>
              <a:t> </a:t>
            </a:r>
            <a:r>
              <a:rPr lang="de-DE" dirty="0" err="1"/>
              <a:t>better</a:t>
            </a:r>
            <a:r>
              <a:rPr lang="de-DE" dirty="0"/>
              <a:t> </a:t>
            </a:r>
            <a:r>
              <a:rPr lang="de-DE" dirty="0" err="1"/>
              <a:t>model</a:t>
            </a:r>
            <a:r>
              <a:rPr lang="de-DE" dirty="0"/>
              <a:t> </a:t>
            </a:r>
            <a:r>
              <a:rPr lang="de-DE" dirty="0" err="1"/>
              <a:t>learners</a:t>
            </a:r>
            <a:r>
              <a:rPr lang="de-DE" dirty="0"/>
              <a:t>` </a:t>
            </a:r>
            <a:r>
              <a:rPr lang="de-DE" dirty="0" err="1"/>
              <a:t>knowledge</a:t>
            </a:r>
            <a:r>
              <a:rPr lang="de-DE" dirty="0"/>
              <a:t>.</a:t>
            </a:r>
          </a:p>
          <a:p>
            <a:pPr marL="0" indent="0">
              <a:buNone/>
            </a:pPr>
            <a:endParaRPr lang="de-DE" dirty="0"/>
          </a:p>
          <a:p>
            <a:pPr marL="0" indent="0">
              <a:buNone/>
            </a:pPr>
            <a:endParaRPr lang="de-DE" dirty="0"/>
          </a:p>
          <a:p>
            <a:pPr marL="0" indent="0">
              <a:buNone/>
            </a:pPr>
            <a:endParaRPr lang="de-DE" dirty="0"/>
          </a:p>
          <a:p>
            <a:pPr marL="228600" indent="-228600">
              <a:buAutoNum type="arabicParenR"/>
            </a:pPr>
            <a:endParaRPr lang="de-DE" dirty="0"/>
          </a:p>
          <a:p>
            <a:endParaRPr lang="de-DE" dirty="0"/>
          </a:p>
          <a:p>
            <a:endParaRPr lang="de-DE" dirty="0"/>
          </a:p>
          <a:p>
            <a:endParaRPr lang="de-DE" dirty="0"/>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66</a:t>
            </a:fld>
            <a:endParaRPr lang="de-DE"/>
          </a:p>
        </p:txBody>
      </p:sp>
    </p:spTree>
    <p:extLst>
      <p:ext uri="{BB962C8B-B14F-4D97-AF65-F5344CB8AC3E}">
        <p14:creationId xmlns:p14="http://schemas.microsoft.com/office/powerpoint/2010/main" val="8043745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67</a:t>
            </a:fld>
            <a:endParaRPr lang="de-DE"/>
          </a:p>
        </p:txBody>
      </p:sp>
    </p:spTree>
    <p:extLst>
      <p:ext uri="{BB962C8B-B14F-4D97-AF65-F5344CB8AC3E}">
        <p14:creationId xmlns:p14="http://schemas.microsoft.com/office/powerpoint/2010/main" val="29677708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68</a:t>
            </a:fld>
            <a:endParaRPr lang="de-DE"/>
          </a:p>
        </p:txBody>
      </p:sp>
    </p:spTree>
    <p:extLst>
      <p:ext uri="{BB962C8B-B14F-4D97-AF65-F5344CB8AC3E}">
        <p14:creationId xmlns:p14="http://schemas.microsoft.com/office/powerpoint/2010/main" val="8446829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Papers </a:t>
            </a:r>
            <a:r>
              <a:rPr lang="de-DE" dirty="0" err="1"/>
              <a:t>to</a:t>
            </a:r>
            <a:r>
              <a:rPr lang="de-DE" dirty="0"/>
              <a:t> </a:t>
            </a:r>
            <a:r>
              <a:rPr lang="de-DE" dirty="0" err="1"/>
              <a:t>mention</a:t>
            </a:r>
            <a:r>
              <a:rPr lang="de-DE" dirty="0"/>
              <a:t>:</a:t>
            </a:r>
          </a:p>
          <a:p>
            <a:pPr marL="171450" indent="-171450">
              <a:buFontTx/>
              <a:buChar char="-"/>
            </a:pPr>
            <a:r>
              <a:rPr lang="de-DE" dirty="0"/>
              <a:t>Schneider &amp; Hardy (Vorläufer: Jansen &amp; van der Maas CLCA; 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Kleickmann</a:t>
            </a:r>
            <a:endParaRPr lang="de-DE" dirty="0"/>
          </a:p>
          <a:p>
            <a:pPr marL="171450" indent="-171450">
              <a:buFontTx/>
              <a:buChar char="-"/>
            </a:pPr>
            <a:r>
              <a:rPr lang="de-DE" dirty="0"/>
              <a:t>Brod (Vorläufer: </a:t>
            </a:r>
            <a:r>
              <a:rPr lang="de-DE" dirty="0" err="1"/>
              <a:t>Microgenetic</a:t>
            </a:r>
            <a:r>
              <a:rPr lang="de-DE" dirty="0"/>
              <a:t> </a:t>
            </a:r>
            <a:r>
              <a:rPr lang="de-DE" dirty="0" err="1"/>
              <a:t>analysis</a:t>
            </a:r>
            <a:r>
              <a:rPr lang="de-DE" dirty="0"/>
              <a:t> -&gt; </a:t>
            </a:r>
            <a:r>
              <a:rPr lang="de-DE" dirty="0" err="1"/>
              <a:t>Schauble</a:t>
            </a:r>
            <a:r>
              <a:rPr lang="de-DE" dirty="0"/>
              <a:t> 1996 oder 1990 mit CVS oder was das war; oder auch Chen &amp; </a:t>
            </a:r>
            <a:r>
              <a:rPr lang="de-DE" dirty="0" err="1"/>
              <a:t>Klahr</a:t>
            </a:r>
            <a:r>
              <a:rPr lang="de-DE" dirty="0"/>
              <a:t> 1999? All </a:t>
            </a:r>
            <a:r>
              <a:rPr lang="de-DE" dirty="0" err="1"/>
              <a:t>other</a:t>
            </a:r>
            <a:r>
              <a:rPr lang="de-DE" dirty="0"/>
              <a:t> Things </a:t>
            </a:r>
            <a:r>
              <a:rPr lang="de-DE" dirty="0" err="1"/>
              <a:t>bein</a:t>
            </a:r>
            <a:r>
              <a:rPr lang="de-DE" dirty="0"/>
              <a:t> </a:t>
            </a:r>
            <a:r>
              <a:rPr lang="de-DE" dirty="0" err="1"/>
              <a:t>equal</a:t>
            </a:r>
            <a:r>
              <a:rPr lang="de-DE" dirty="0"/>
              <a:t>))</a:t>
            </a:r>
          </a:p>
          <a:p>
            <a:pPr marL="171450" indent="-171450">
              <a:buFontTx/>
              <a:buChar char="-"/>
            </a:pPr>
            <a:r>
              <a:rPr lang="de-DE" dirty="0"/>
              <a:t>Math Network</a:t>
            </a:r>
          </a:p>
          <a:p>
            <a:pPr marL="171450" indent="-171450">
              <a:buFontTx/>
              <a:buChar char="-"/>
            </a:pPr>
            <a:r>
              <a:rPr lang="de-DE" dirty="0" err="1"/>
              <a:t>Shtulman</a:t>
            </a:r>
            <a:r>
              <a:rPr lang="de-DE" dirty="0"/>
              <a:t> </a:t>
            </a:r>
            <a:r>
              <a:rPr lang="de-DE" dirty="0" err="1"/>
              <a:t>DiffMod</a:t>
            </a:r>
            <a:r>
              <a:rPr lang="de-DE" dirty="0"/>
              <a:t> (PE: Individual </a:t>
            </a:r>
            <a:r>
              <a:rPr lang="de-DE" dirty="0" err="1"/>
              <a:t>differences</a:t>
            </a:r>
            <a:r>
              <a:rPr lang="de-DE" dirty="0"/>
              <a:t>-paper, </a:t>
            </a:r>
            <a:r>
              <a:rPr lang="de-DE" dirty="0" err="1"/>
              <a:t>DiffMod</a:t>
            </a:r>
            <a:r>
              <a:rPr lang="de-DE" dirty="0"/>
              <a:t>-Paper, </a:t>
            </a:r>
            <a:r>
              <a:rPr lang="de-DE" dirty="0" err="1"/>
              <a:t>inhibition</a:t>
            </a:r>
            <a:r>
              <a:rPr lang="de-DE" dirty="0"/>
              <a:t>-paper); </a:t>
            </a:r>
            <a:r>
              <a:rPr lang="de-DE" dirty="0" err="1"/>
              <a:t>next</a:t>
            </a:r>
            <a:r>
              <a:rPr lang="de-DE" dirty="0"/>
              <a:t> </a:t>
            </a:r>
            <a:r>
              <a:rPr lang="de-DE" dirty="0" err="1"/>
              <a:t>steps</a:t>
            </a:r>
            <a:r>
              <a:rPr lang="de-DE" dirty="0"/>
              <a:t>: </a:t>
            </a:r>
            <a:r>
              <a:rPr lang="de-DE" dirty="0" err="1"/>
              <a:t>Considering</a:t>
            </a:r>
            <a:r>
              <a:rPr lang="de-DE" dirty="0"/>
              <a:t> </a:t>
            </a:r>
            <a:r>
              <a:rPr lang="de-DE" dirty="0" err="1"/>
              <a:t>the</a:t>
            </a:r>
            <a:r>
              <a:rPr lang="de-DE" dirty="0"/>
              <a:t> </a:t>
            </a:r>
            <a:r>
              <a:rPr lang="de-DE" dirty="0" err="1"/>
              <a:t>reliability</a:t>
            </a:r>
            <a:r>
              <a:rPr lang="de-DE" dirty="0"/>
              <a:t> paradox.</a:t>
            </a:r>
          </a:p>
          <a:p>
            <a:pPr marL="171450" indent="-171450">
              <a:buFontTx/>
              <a:buChar char="-"/>
            </a:pPr>
            <a:r>
              <a:rPr lang="de-DE" dirty="0"/>
              <a:t>Multilevel vs. individual </a:t>
            </a:r>
            <a:r>
              <a:rPr lang="de-DE" dirty="0" err="1"/>
              <a:t>items</a:t>
            </a:r>
            <a:r>
              <a:rPr lang="de-DE" dirty="0"/>
              <a:t> (</a:t>
            </a:r>
            <a:r>
              <a:rPr lang="de-DE" dirty="0" err="1"/>
              <a:t>construct</a:t>
            </a:r>
            <a:r>
              <a:rPr lang="de-DE" dirty="0"/>
              <a:t> </a:t>
            </a:r>
            <a:r>
              <a:rPr lang="de-DE" dirty="0" err="1"/>
              <a:t>relevance</a:t>
            </a:r>
            <a:r>
              <a:rPr lang="de-DE" dirty="0"/>
              <a:t> vs. </a:t>
            </a:r>
            <a:r>
              <a:rPr lang="de-DE" dirty="0" err="1"/>
              <a:t>irrelevance</a:t>
            </a:r>
            <a:r>
              <a:rPr lang="de-DE" dirty="0"/>
              <a:t>)</a:t>
            </a:r>
          </a:p>
          <a:p>
            <a:pPr marL="0" indent="0">
              <a:buFontTx/>
              <a:buNone/>
            </a:pPr>
            <a:endParaRPr lang="de-DE" dirty="0"/>
          </a:p>
          <a:p>
            <a:pPr marL="0" indent="0">
              <a:buFontTx/>
              <a:buNone/>
            </a:pPr>
            <a:r>
              <a:rPr lang="de-DE" dirty="0" err="1"/>
              <a:t>Theoretical</a:t>
            </a:r>
            <a:r>
              <a:rPr lang="de-DE" dirty="0"/>
              <a:t> </a:t>
            </a:r>
            <a:r>
              <a:rPr lang="de-DE" dirty="0" err="1"/>
              <a:t>ideas</a:t>
            </a:r>
            <a:r>
              <a:rPr lang="de-DE" dirty="0"/>
              <a:t> </a:t>
            </a:r>
            <a:r>
              <a:rPr lang="de-DE" dirty="0" err="1"/>
              <a:t>to</a:t>
            </a:r>
            <a:r>
              <a:rPr lang="de-DE" dirty="0"/>
              <a:t> </a:t>
            </a:r>
            <a:r>
              <a:rPr lang="de-DE" dirty="0" err="1"/>
              <a:t>mention</a:t>
            </a:r>
            <a:r>
              <a:rPr lang="de-DE" dirty="0"/>
              <a:t>:</a:t>
            </a:r>
          </a:p>
          <a:p>
            <a:pPr marL="171450" indent="-171450">
              <a:buFontTx/>
              <a:buChar char="-"/>
            </a:pPr>
            <a:r>
              <a:rPr lang="de-DE" dirty="0" err="1"/>
              <a:t>Humans</a:t>
            </a:r>
            <a:r>
              <a:rPr lang="de-DE" dirty="0"/>
              <a:t> </a:t>
            </a:r>
            <a:r>
              <a:rPr lang="de-DE" dirty="0" err="1"/>
              <a:t>as</a:t>
            </a:r>
            <a:r>
              <a:rPr lang="de-DE" dirty="0"/>
              <a:t> intuitive </a:t>
            </a:r>
            <a:r>
              <a:rPr lang="de-DE" dirty="0" err="1"/>
              <a:t>scientists</a:t>
            </a:r>
            <a:r>
              <a:rPr lang="de-DE" dirty="0"/>
              <a:t> </a:t>
            </a:r>
            <a:r>
              <a:rPr lang="de-DE" dirty="0" err="1"/>
              <a:t>as</a:t>
            </a:r>
            <a:r>
              <a:rPr lang="de-DE" dirty="0"/>
              <a:t> a </a:t>
            </a:r>
            <a:r>
              <a:rPr lang="de-DE" dirty="0" err="1"/>
              <a:t>perspective</a:t>
            </a:r>
            <a:r>
              <a:rPr lang="de-DE" dirty="0"/>
              <a:t>/</a:t>
            </a:r>
            <a:r>
              <a:rPr lang="de-DE" dirty="0" err="1"/>
              <a:t>theory</a:t>
            </a:r>
            <a:r>
              <a:rPr lang="de-DE" dirty="0"/>
              <a:t>:</a:t>
            </a:r>
          </a:p>
          <a:p>
            <a:pPr marL="628650" lvl="1" indent="-171450">
              <a:buFontTx/>
              <a:buChar char="-"/>
            </a:pPr>
            <a:r>
              <a:rPr lang="de-DE" dirty="0" err="1"/>
              <a:t>Moderated</a:t>
            </a:r>
            <a:r>
              <a:rPr lang="de-DE" dirty="0"/>
              <a:t> </a:t>
            </a:r>
            <a:r>
              <a:rPr lang="de-DE" dirty="0" err="1"/>
              <a:t>factor</a:t>
            </a:r>
            <a:r>
              <a:rPr lang="de-DE" dirty="0"/>
              <a:t> </a:t>
            </a:r>
            <a:r>
              <a:rPr lang="de-DE" dirty="0" err="1"/>
              <a:t>analysis</a:t>
            </a:r>
            <a:r>
              <a:rPr lang="de-DE" dirty="0"/>
              <a:t>: Schwichow et al. (in press)</a:t>
            </a:r>
          </a:p>
          <a:p>
            <a:pPr marL="457200" lvl="1" indent="0">
              <a:buFontTx/>
              <a:buNone/>
            </a:pPr>
            <a:endParaRPr lang="de-DE" dirty="0"/>
          </a:p>
          <a:p>
            <a:pPr marL="457200" lvl="1" indent="0">
              <a:buFontTx/>
              <a:buNone/>
            </a:pPr>
            <a:r>
              <a:rPr lang="de-DE" dirty="0" err="1"/>
              <a:t>Theories</a:t>
            </a:r>
            <a:r>
              <a:rPr lang="de-DE" dirty="0"/>
              <a:t> </a:t>
            </a:r>
            <a:r>
              <a:rPr lang="de-DE" dirty="0" err="1"/>
              <a:t>typically</a:t>
            </a:r>
            <a:r>
              <a:rPr lang="de-DE" dirty="0"/>
              <a:t> </a:t>
            </a:r>
            <a:r>
              <a:rPr lang="de-DE" dirty="0" err="1"/>
              <a:t>start</a:t>
            </a:r>
            <a:r>
              <a:rPr lang="de-DE" dirty="0"/>
              <a:t> </a:t>
            </a:r>
            <a:r>
              <a:rPr lang="de-DE" dirty="0" err="1"/>
              <a:t>from</a:t>
            </a:r>
            <a:r>
              <a:rPr lang="de-DE" dirty="0"/>
              <a:t> </a:t>
            </a:r>
            <a:r>
              <a:rPr lang="de-DE" dirty="0" err="1"/>
              <a:t>one</a:t>
            </a:r>
            <a:r>
              <a:rPr lang="de-DE" dirty="0"/>
              <a:t> </a:t>
            </a:r>
            <a:r>
              <a:rPr lang="de-DE" dirty="0" err="1"/>
              <a:t>of</a:t>
            </a:r>
            <a:r>
              <a:rPr lang="de-DE" dirty="0"/>
              <a:t> </a:t>
            </a:r>
            <a:r>
              <a:rPr lang="de-DE" dirty="0" err="1"/>
              <a:t>the</a:t>
            </a:r>
            <a:r>
              <a:rPr lang="de-DE" dirty="0"/>
              <a:t> extremes:</a:t>
            </a:r>
          </a:p>
          <a:p>
            <a:pPr marL="457200" lvl="1" indent="0">
              <a:buFontTx/>
              <a:buNone/>
            </a:pPr>
            <a:r>
              <a:rPr lang="de-DE" dirty="0" err="1"/>
              <a:t>Simplicity</a:t>
            </a:r>
            <a:r>
              <a:rPr lang="de-DE" dirty="0"/>
              <a:t>, </a:t>
            </a:r>
            <a:r>
              <a:rPr lang="de-DE" dirty="0" err="1"/>
              <a:t>or</a:t>
            </a:r>
            <a:r>
              <a:rPr lang="de-DE" dirty="0"/>
              <a:t> </a:t>
            </a:r>
            <a:r>
              <a:rPr lang="de-DE" dirty="0" err="1"/>
              <a:t>complexity</a:t>
            </a:r>
            <a:r>
              <a:rPr lang="de-DE" dirty="0"/>
              <a:t>.</a:t>
            </a:r>
          </a:p>
          <a:p>
            <a:pPr marL="457200" lvl="1" indent="0">
              <a:buFontTx/>
              <a:buNone/>
            </a:pPr>
            <a:r>
              <a:rPr lang="de-DE" dirty="0"/>
              <a:t>I </a:t>
            </a:r>
            <a:r>
              <a:rPr lang="de-DE" dirty="0" err="1"/>
              <a:t>argue</a:t>
            </a:r>
            <a:r>
              <a:rPr lang="de-DE" dirty="0"/>
              <a:t> </a:t>
            </a:r>
            <a:r>
              <a:rPr lang="de-DE" dirty="0" err="1"/>
              <a:t>that</a:t>
            </a:r>
            <a:r>
              <a:rPr lang="de-DE" dirty="0"/>
              <a:t> </a:t>
            </a:r>
            <a:r>
              <a:rPr lang="de-DE" dirty="0" err="1"/>
              <a:t>both</a:t>
            </a:r>
            <a:r>
              <a:rPr lang="de-DE" dirty="0"/>
              <a:t> </a:t>
            </a:r>
            <a:r>
              <a:rPr lang="de-DE" dirty="0" err="1"/>
              <a:t>represent</a:t>
            </a:r>
            <a:r>
              <a:rPr lang="de-DE" dirty="0"/>
              <a:t> an initial </a:t>
            </a:r>
            <a:r>
              <a:rPr lang="de-DE" dirty="0" err="1"/>
              <a:t>state</a:t>
            </a:r>
            <a:r>
              <a:rPr lang="de-DE" dirty="0"/>
              <a:t> </a:t>
            </a:r>
            <a:r>
              <a:rPr lang="de-DE" dirty="0" err="1"/>
              <a:t>of</a:t>
            </a:r>
            <a:r>
              <a:rPr lang="de-DE" dirty="0"/>
              <a:t> </a:t>
            </a:r>
            <a:r>
              <a:rPr lang="de-DE" dirty="0" err="1"/>
              <a:t>ignorance</a:t>
            </a:r>
            <a:r>
              <a:rPr lang="de-DE" dirty="0"/>
              <a:t>. </a:t>
            </a:r>
            <a:r>
              <a:rPr lang="de-DE" dirty="0" err="1"/>
              <a:t>Of</a:t>
            </a:r>
            <a:r>
              <a:rPr lang="de-DE" dirty="0"/>
              <a:t> </a:t>
            </a:r>
            <a:r>
              <a:rPr lang="de-DE" dirty="0" err="1"/>
              <a:t>course</a:t>
            </a:r>
            <a:r>
              <a:rPr lang="de-DE" dirty="0"/>
              <a:t>, </a:t>
            </a:r>
            <a:r>
              <a:rPr lang="de-DE" dirty="0" err="1"/>
              <a:t>there</a:t>
            </a:r>
            <a:r>
              <a:rPr lang="de-DE" dirty="0"/>
              <a:t> </a:t>
            </a:r>
            <a:r>
              <a:rPr lang="de-DE" dirty="0" err="1"/>
              <a:t>are</a:t>
            </a:r>
            <a:r>
              <a:rPr lang="de-DE" dirty="0"/>
              <a:t> </a:t>
            </a:r>
            <a:r>
              <a:rPr lang="de-DE" dirty="0" err="1"/>
              <a:t>systematic</a:t>
            </a:r>
            <a:r>
              <a:rPr lang="de-DE" dirty="0"/>
              <a:t> </a:t>
            </a:r>
            <a:r>
              <a:rPr lang="de-DE" dirty="0" err="1"/>
              <a:t>pattern</a:t>
            </a:r>
            <a:r>
              <a:rPr lang="de-DE" dirty="0"/>
              <a:t> </a:t>
            </a:r>
            <a:r>
              <a:rPr lang="de-DE" dirty="0" err="1"/>
              <a:t>that</a:t>
            </a:r>
            <a:r>
              <a:rPr lang="de-DE" dirty="0"/>
              <a:t> moderate simple </a:t>
            </a:r>
            <a:r>
              <a:rPr lang="de-DE" dirty="0" err="1"/>
              <a:t>theories</a:t>
            </a:r>
            <a:r>
              <a:rPr lang="de-DE" dirty="0"/>
              <a:t> </a:t>
            </a:r>
            <a:r>
              <a:rPr lang="de-DE" dirty="0" err="1"/>
              <a:t>or</a:t>
            </a:r>
            <a:r>
              <a:rPr lang="de-DE" dirty="0"/>
              <a:t> </a:t>
            </a:r>
            <a:r>
              <a:rPr lang="de-DE" dirty="0" err="1"/>
              <a:t>make</a:t>
            </a:r>
            <a:r>
              <a:rPr lang="de-DE" dirty="0"/>
              <a:t> </a:t>
            </a:r>
            <a:r>
              <a:rPr lang="de-DE" dirty="0" err="1"/>
              <a:t>complex</a:t>
            </a:r>
            <a:r>
              <a:rPr lang="de-DE" dirty="0"/>
              <a:t> </a:t>
            </a:r>
            <a:r>
              <a:rPr lang="de-DE" dirty="0" err="1"/>
              <a:t>theories</a:t>
            </a:r>
            <a:r>
              <a:rPr lang="de-DE" dirty="0"/>
              <a:t> </a:t>
            </a:r>
            <a:r>
              <a:rPr lang="de-DE" dirty="0" err="1"/>
              <a:t>less</a:t>
            </a:r>
            <a:r>
              <a:rPr lang="de-DE" dirty="0"/>
              <a:t> </a:t>
            </a:r>
            <a:r>
              <a:rPr lang="de-DE" dirty="0" err="1"/>
              <a:t>complex</a:t>
            </a:r>
            <a:r>
              <a:rPr lang="de-DE" dirty="0"/>
              <a:t>.</a:t>
            </a:r>
          </a:p>
          <a:p>
            <a:pPr marL="457200" lvl="1" indent="0">
              <a:buFontTx/>
              <a:buNone/>
            </a:pPr>
            <a:r>
              <a:rPr lang="de-DE" dirty="0"/>
              <a:t>Theory </a:t>
            </a:r>
            <a:r>
              <a:rPr lang="de-DE" dirty="0" err="1"/>
              <a:t>development</a:t>
            </a:r>
            <a:r>
              <a:rPr lang="de-DE" dirty="0"/>
              <a:t> </a:t>
            </a:r>
            <a:r>
              <a:rPr lang="de-DE" dirty="0" err="1"/>
              <a:t>is</a:t>
            </a:r>
            <a:r>
              <a:rPr lang="de-DE" dirty="0"/>
              <a:t> </a:t>
            </a:r>
            <a:r>
              <a:rPr lang="de-DE" dirty="0" err="1"/>
              <a:t>often</a:t>
            </a:r>
            <a:r>
              <a:rPr lang="de-DE" dirty="0"/>
              <a:t> </a:t>
            </a:r>
            <a:r>
              <a:rPr lang="de-DE" dirty="0" err="1"/>
              <a:t>about</a:t>
            </a:r>
            <a:r>
              <a:rPr lang="de-DE" dirty="0"/>
              <a:t> </a:t>
            </a:r>
            <a:r>
              <a:rPr lang="de-DE" dirty="0" err="1"/>
              <a:t>finding</a:t>
            </a:r>
            <a:r>
              <a:rPr lang="de-DE" dirty="0"/>
              <a:t> </a:t>
            </a:r>
            <a:r>
              <a:rPr lang="de-DE" dirty="0" err="1"/>
              <a:t>these</a:t>
            </a:r>
            <a:r>
              <a:rPr lang="de-DE" dirty="0"/>
              <a:t> </a:t>
            </a:r>
            <a:r>
              <a:rPr lang="de-DE" dirty="0" err="1"/>
              <a:t>structures</a:t>
            </a:r>
            <a:r>
              <a:rPr lang="de-DE" dirty="0"/>
              <a:t>/</a:t>
            </a:r>
            <a:r>
              <a:rPr lang="de-DE" dirty="0" err="1"/>
              <a:t>invariances</a:t>
            </a:r>
            <a:r>
              <a:rPr lang="de-DE" dirty="0"/>
              <a:t>.</a:t>
            </a:r>
          </a:p>
          <a:p>
            <a:pPr marL="457200" lvl="1" indent="0">
              <a:buFontTx/>
              <a:buNone/>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69</a:t>
            </a:fld>
            <a:endParaRPr lang="de-DE"/>
          </a:p>
        </p:txBody>
      </p:sp>
    </p:spTree>
    <p:extLst>
      <p:ext uri="{BB962C8B-B14F-4D97-AF65-F5344CB8AC3E}">
        <p14:creationId xmlns:p14="http://schemas.microsoft.com/office/powerpoint/2010/main" val="9076133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Plus </a:t>
            </a:r>
            <a:r>
              <a:rPr lang="de-DE" dirty="0" err="1"/>
              <a:t>epistemic</a:t>
            </a:r>
            <a:r>
              <a:rPr lang="de-DE" dirty="0"/>
              <a:t> beliefs/</a:t>
            </a:r>
            <a:r>
              <a:rPr lang="de-DE" dirty="0" err="1"/>
              <a:t>natur</a:t>
            </a:r>
            <a:r>
              <a:rPr lang="de-DE" dirty="0"/>
              <a:t> </a:t>
            </a:r>
            <a:r>
              <a:rPr lang="de-DE" dirty="0" err="1"/>
              <a:t>of</a:t>
            </a:r>
            <a:r>
              <a:rPr lang="de-DE" dirty="0"/>
              <a:t> </a:t>
            </a:r>
            <a:r>
              <a:rPr lang="de-DE" dirty="0" err="1"/>
              <a:t>science</a:t>
            </a:r>
            <a:r>
              <a:rPr lang="de-DE" dirty="0"/>
              <a:t> :)</a:t>
            </a:r>
          </a:p>
          <a:p>
            <a:endParaRPr lang="de-DE" dirty="0"/>
          </a:p>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70</a:t>
            </a:fld>
            <a:endParaRPr lang="de-DE"/>
          </a:p>
        </p:txBody>
      </p:sp>
    </p:spTree>
    <p:extLst>
      <p:ext uri="{BB962C8B-B14F-4D97-AF65-F5344CB8AC3E}">
        <p14:creationId xmlns:p14="http://schemas.microsoft.com/office/powerpoint/2010/main" val="11618012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Plus </a:t>
            </a:r>
            <a:r>
              <a:rPr lang="de-DE" dirty="0" err="1"/>
              <a:t>epistemic</a:t>
            </a:r>
            <a:r>
              <a:rPr lang="de-DE" dirty="0"/>
              <a:t> beliefs/</a:t>
            </a:r>
            <a:r>
              <a:rPr lang="de-DE" dirty="0" err="1"/>
              <a:t>natur</a:t>
            </a:r>
            <a:r>
              <a:rPr lang="de-DE" dirty="0"/>
              <a:t> </a:t>
            </a:r>
            <a:r>
              <a:rPr lang="de-DE" dirty="0" err="1"/>
              <a:t>of</a:t>
            </a:r>
            <a:r>
              <a:rPr lang="de-DE" dirty="0"/>
              <a:t> </a:t>
            </a:r>
            <a:r>
              <a:rPr lang="de-DE" dirty="0" err="1"/>
              <a:t>science</a:t>
            </a:r>
            <a:r>
              <a:rPr lang="de-DE" dirty="0"/>
              <a:t> :)</a:t>
            </a:r>
          </a:p>
          <a:p>
            <a:endParaRPr lang="de-DE" dirty="0"/>
          </a:p>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71</a:t>
            </a:fld>
            <a:endParaRPr lang="de-DE"/>
          </a:p>
        </p:txBody>
      </p:sp>
    </p:spTree>
    <p:extLst>
      <p:ext uri="{BB962C8B-B14F-4D97-AF65-F5344CB8AC3E}">
        <p14:creationId xmlns:p14="http://schemas.microsoft.com/office/powerpoint/2010/main" val="36419417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1957, Sputnik-1 was </a:t>
            </a:r>
            <a:r>
              <a:rPr lang="de-DE" dirty="0" err="1"/>
              <a:t>shot</a:t>
            </a:r>
            <a:r>
              <a:rPr lang="de-DE" dirty="0"/>
              <a:t> </a:t>
            </a:r>
            <a:r>
              <a:rPr lang="de-DE" dirty="0" err="1"/>
              <a:t>into</a:t>
            </a:r>
            <a:r>
              <a:rPr lang="de-DE" dirty="0"/>
              <a:t> </a:t>
            </a:r>
            <a:r>
              <a:rPr lang="de-DE" dirty="0" err="1"/>
              <a:t>the</a:t>
            </a:r>
            <a:r>
              <a:rPr lang="de-DE" dirty="0"/>
              <a:t> </a:t>
            </a:r>
            <a:r>
              <a:rPr lang="de-DE" dirty="0" err="1"/>
              <a:t>earth`s</a:t>
            </a:r>
            <a:r>
              <a:rPr lang="de-DE" dirty="0"/>
              <a:t> </a:t>
            </a:r>
            <a:r>
              <a:rPr lang="de-DE" dirty="0" err="1"/>
              <a:t>orbit</a:t>
            </a:r>
            <a:r>
              <a:rPr lang="de-DE" dirty="0"/>
              <a:t>, </a:t>
            </a:r>
            <a:r>
              <a:rPr lang="de-DE" dirty="0" err="1"/>
              <a:t>initiating</a:t>
            </a:r>
            <a:r>
              <a:rPr lang="de-DE" dirty="0"/>
              <a:t> </a:t>
            </a:r>
            <a:r>
              <a:rPr lang="de-DE" dirty="0" err="1"/>
              <a:t>the</a:t>
            </a:r>
            <a:r>
              <a:rPr lang="de-DE" dirty="0"/>
              <a:t> </a:t>
            </a:r>
            <a:r>
              <a:rPr lang="de-DE" dirty="0" err="1"/>
              <a:t>space</a:t>
            </a:r>
            <a:r>
              <a:rPr lang="de-DE" dirty="0"/>
              <a:t> </a:t>
            </a:r>
            <a:r>
              <a:rPr lang="de-DE" dirty="0" err="1"/>
              <a:t>age</a:t>
            </a:r>
            <a:r>
              <a:rPr lang="de-DE" dirty="0"/>
              <a:t> and </a:t>
            </a:r>
            <a:r>
              <a:rPr lang="de-DE" dirty="0" err="1"/>
              <a:t>intensifying</a:t>
            </a:r>
            <a:r>
              <a:rPr lang="de-DE" dirty="0"/>
              <a:t> </a:t>
            </a:r>
            <a:r>
              <a:rPr lang="de-DE" dirty="0" err="1"/>
              <a:t>the</a:t>
            </a:r>
            <a:r>
              <a:rPr lang="de-DE" dirty="0"/>
              <a:t> </a:t>
            </a:r>
            <a:r>
              <a:rPr lang="de-DE" dirty="0" err="1"/>
              <a:t>cold</a:t>
            </a:r>
            <a:r>
              <a:rPr lang="de-DE" dirty="0"/>
              <a:t> war.</a:t>
            </a:r>
          </a:p>
          <a:p>
            <a:r>
              <a:rPr lang="de-DE" dirty="0"/>
              <a:t>The Americans </a:t>
            </a:r>
            <a:r>
              <a:rPr lang="de-DE" dirty="0" err="1"/>
              <a:t>were</a:t>
            </a:r>
            <a:r>
              <a:rPr lang="de-DE" dirty="0"/>
              <a:t> in </a:t>
            </a:r>
            <a:r>
              <a:rPr lang="de-DE" dirty="0" err="1"/>
              <a:t>fear</a:t>
            </a:r>
            <a:r>
              <a:rPr lang="de-DE" dirty="0"/>
              <a:t> </a:t>
            </a:r>
            <a:r>
              <a:rPr lang="de-DE" dirty="0" err="1"/>
              <a:t>of</a:t>
            </a:r>
            <a:r>
              <a:rPr lang="de-DE" dirty="0"/>
              <a:t> </a:t>
            </a:r>
            <a:r>
              <a:rPr lang="de-DE" dirty="0" err="1"/>
              <a:t>having</a:t>
            </a:r>
            <a:r>
              <a:rPr lang="de-DE" dirty="0"/>
              <a:t> fallen </a:t>
            </a:r>
            <a:r>
              <a:rPr lang="de-DE" dirty="0" err="1"/>
              <a:t>behind</a:t>
            </a:r>
            <a:r>
              <a:rPr lang="de-DE" dirty="0"/>
              <a:t> </a:t>
            </a:r>
            <a:r>
              <a:rPr lang="de-DE" dirty="0" err="1"/>
              <a:t>the</a:t>
            </a:r>
            <a:r>
              <a:rPr lang="de-DE" dirty="0"/>
              <a:t> </a:t>
            </a:r>
            <a:r>
              <a:rPr lang="de-DE" dirty="0" err="1"/>
              <a:t>Soviets</a:t>
            </a:r>
            <a:r>
              <a:rPr lang="de-DE" dirty="0"/>
              <a:t>. As </a:t>
            </a:r>
            <a:r>
              <a:rPr lang="de-DE" dirty="0" err="1"/>
              <a:t>one</a:t>
            </a:r>
            <a:r>
              <a:rPr lang="de-DE" dirty="0"/>
              <a:t> </a:t>
            </a:r>
            <a:r>
              <a:rPr lang="de-DE" dirty="0" err="1"/>
              <a:t>measure</a:t>
            </a:r>
            <a:r>
              <a:rPr lang="de-DE" dirty="0"/>
              <a:t> </a:t>
            </a:r>
            <a:r>
              <a:rPr lang="de-DE" dirty="0" err="1"/>
              <a:t>to</a:t>
            </a:r>
            <a:r>
              <a:rPr lang="de-DE" dirty="0"/>
              <a:t> </a:t>
            </a:r>
            <a:r>
              <a:rPr lang="de-DE" dirty="0" err="1"/>
              <a:t>keep</a:t>
            </a:r>
            <a:r>
              <a:rPr lang="de-DE" dirty="0"/>
              <a:t> </a:t>
            </a:r>
            <a:r>
              <a:rPr lang="de-DE" dirty="0" err="1"/>
              <a:t>up</a:t>
            </a:r>
            <a:r>
              <a:rPr lang="de-DE" dirty="0"/>
              <a:t>, </a:t>
            </a:r>
            <a:r>
              <a:rPr lang="de-DE" dirty="0" err="1"/>
              <a:t>they</a:t>
            </a:r>
            <a:r>
              <a:rPr lang="de-DE" dirty="0"/>
              <a:t> </a:t>
            </a:r>
            <a:r>
              <a:rPr lang="de-DE" dirty="0" err="1"/>
              <a:t>initiated</a:t>
            </a:r>
            <a:r>
              <a:rPr lang="de-DE" dirty="0"/>
              <a:t> </a:t>
            </a:r>
            <a:r>
              <a:rPr lang="de-DE" dirty="0" err="1"/>
              <a:t>science</a:t>
            </a:r>
            <a:r>
              <a:rPr lang="de-DE" dirty="0"/>
              <a:t> </a:t>
            </a:r>
            <a:r>
              <a:rPr lang="de-DE" dirty="0" err="1"/>
              <a:t>education</a:t>
            </a:r>
            <a:r>
              <a:rPr lang="de-DE" dirty="0"/>
              <a:t> </a:t>
            </a:r>
            <a:r>
              <a:rPr lang="de-DE" dirty="0" err="1"/>
              <a:t>reforms</a:t>
            </a:r>
            <a:r>
              <a:rPr lang="de-DE" dirty="0"/>
              <a:t>. </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chemeClr val="bg1"/>
                </a:solidFill>
              </a:rPr>
              <a:t>“In September 1959 there gathered at Woods Hole on Cape Cod some thirty-five scientists, scholars, and educators to discuss how education in science might be improved in our primary and secondary schools”.</a:t>
            </a:r>
            <a:endParaRPr lang="de-DE" sz="1200" i="1" dirty="0">
              <a:solidFill>
                <a:schemeClr val="bg1"/>
              </a:solidFill>
            </a:endParaRP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72</a:t>
            </a:fld>
            <a:endParaRPr lang="de-DE"/>
          </a:p>
        </p:txBody>
      </p:sp>
    </p:spTree>
    <p:extLst>
      <p:ext uri="{BB962C8B-B14F-4D97-AF65-F5344CB8AC3E}">
        <p14:creationId xmlns:p14="http://schemas.microsoft.com/office/powerpoint/2010/main" val="2768450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What is most important for teaching basic concepts is that the child be helped to pass progressively from concrete thinking to the utilization of more conceptually adequate modes of thought. But it is futile to </a:t>
            </a:r>
            <a:r>
              <a:rPr lang="en-US" dirty="0" err="1"/>
              <a:t>attem?t</a:t>
            </a:r>
            <a:r>
              <a:rPr lang="en-US" dirty="0"/>
              <a:t> this by </a:t>
            </a:r>
            <a:r>
              <a:rPr lang="en-US" dirty="0" err="1"/>
              <a:t>resentin</a:t>
            </a:r>
            <a:r>
              <a:rPr lang="en-US" dirty="0"/>
              <a:t> formal explanations based on a 10 IC </a:t>
            </a:r>
            <a:r>
              <a:rPr lang="en-US" dirty="0" err="1"/>
              <a:t>tfiat</a:t>
            </a:r>
            <a:r>
              <a:rPr lang="en-US" dirty="0"/>
              <a:t> IS !</a:t>
            </a:r>
            <a:r>
              <a:rPr lang="en-US" dirty="0" err="1"/>
              <a:t>Stant</a:t>
            </a:r>
            <a:r>
              <a:rPr lang="en-US" dirty="0"/>
              <a:t> from t e c s manner of t" n e in its </a:t>
            </a:r>
            <a:r>
              <a:rPr lang="en-US" dirty="0" err="1"/>
              <a:t>implicanons</a:t>
            </a:r>
            <a:r>
              <a:rPr lang="en-US" dirty="0"/>
              <a:t> for </a:t>
            </a:r>
            <a:r>
              <a:rPr lang="en-US" dirty="0" err="1"/>
              <a:t>hlffi</a:t>
            </a:r>
            <a:r>
              <a:rPr lang="en-US" dirty="0"/>
              <a:t>. Much teaching ~mathematics is 0 this sort. The child learns not to under ~</a:t>
            </a:r>
            <a:r>
              <a:rPr lang="en-US" dirty="0" err="1"/>
              <a:t>tand</a:t>
            </a:r>
            <a:r>
              <a:rPr lang="en-US" dirty="0"/>
              <a:t> mathematical order but rat </a:t>
            </a:r>
            <a:r>
              <a:rPr lang="en-US" dirty="0" err="1"/>
              <a:t>er</a:t>
            </a:r>
            <a:r>
              <a:rPr lang="en-US" dirty="0"/>
              <a:t> to apply certain devices or </a:t>
            </a:r>
            <a:r>
              <a:rPr lang="en-US" dirty="0" err="1"/>
              <a:t>reci</a:t>
            </a:r>
            <a:r>
              <a:rPr lang="en-US" dirty="0"/>
              <a:t> es without understanding their </a:t>
            </a:r>
            <a:r>
              <a:rPr lang="en-US" dirty="0" err="1"/>
              <a:t>signifi</a:t>
            </a:r>
            <a:r>
              <a:rPr lang="en-US" dirty="0"/>
              <a:t> </a:t>
            </a:r>
            <a:r>
              <a:rPr lang="en-US" dirty="0" err="1"/>
              <a:t>cance</a:t>
            </a:r>
            <a:r>
              <a:rPr lang="en-US" dirty="0"/>
              <a:t> and </a:t>
            </a:r>
            <a:r>
              <a:rPr lang="en-US" dirty="0" err="1"/>
              <a:t>connecte</a:t>
            </a:r>
            <a:r>
              <a:rPr lang="en-US" dirty="0"/>
              <a:t> ness. </a:t>
            </a:r>
            <a:r>
              <a:rPr lang="en-US" dirty="0" err="1"/>
              <a:t>ey</a:t>
            </a:r>
            <a:r>
              <a:rPr lang="en-US" dirty="0"/>
              <a:t> are 0 trans ate </a:t>
            </a:r>
            <a:r>
              <a:rPr lang="en-US" dirty="0" err="1"/>
              <a:t>mto</a:t>
            </a:r>
            <a:r>
              <a:rPr lang="en-US" dirty="0"/>
              <a:t> IUs way of thinking. Given this inappropriate start, he is easily led to believe that the important thing is for him to be "accurate"-though accuracy has less to do with mathematics than with computation. Perhaps the most striking example of this type of thing is to be found in the manner in which the high school student meets Euclidian geometry for the first time, as a set of axioms and theorems, without having had some experience with simple geometric </a:t>
            </a:r>
            <a:r>
              <a:rPr lang="en-US" dirty="0" err="1"/>
              <a:t>configuratiQllS</a:t>
            </a:r>
            <a:r>
              <a:rPr lang="en-US" dirty="0"/>
              <a:t>- and the intuitive means whereby one deals with them. If the child were earlier given the concepts and strategies in the form of intuitive geometry at a level that he could easily follow, he might be far better able to grasp deeply the meaning of the theorems and axioms to which he is exposed later. </a:t>
            </a:r>
          </a:p>
          <a:p>
            <a:endParaRPr lang="en-US" dirty="0"/>
          </a:p>
          <a:p>
            <a:r>
              <a:rPr lang="en-US" dirty="0"/>
              <a:t>The complementary </a:t>
            </a:r>
            <a:r>
              <a:rPr lang="en-US" dirty="0" err="1"/>
              <a:t>narure</a:t>
            </a:r>
            <a:r>
              <a:rPr lang="en-US" dirty="0"/>
              <a:t> of </a:t>
            </a:r>
            <a:r>
              <a:rPr lang="en-US" dirty="0" err="1"/>
              <a:t>inruitive</a:t>
            </a:r>
            <a:r>
              <a:rPr lang="en-US" dirty="0"/>
              <a:t> and analytic thinking should, we think, be recognized. </a:t>
            </a:r>
          </a:p>
          <a:p>
            <a:endParaRPr lang="en-US" dirty="0"/>
          </a:p>
          <a:p>
            <a:r>
              <a:rPr lang="en-US" dirty="0"/>
              <a:t>The Soviet Union's conquests in space, its capability of producing not only powerful weapons but also an . effective industrial society, have shaken American com </a:t>
            </a:r>
            <a:r>
              <a:rPr lang="en-US" dirty="0" err="1"/>
              <a:t>placency</a:t>
            </a:r>
            <a:r>
              <a:rPr lang="en-US" dirty="0"/>
              <a:t> to a degree that, looking back, would have seemed inconceivable a decade ago. </a:t>
            </a:r>
          </a:p>
          <a:p>
            <a:endParaRPr lang="en-US" dirty="0"/>
          </a:p>
          <a:p>
            <a:r>
              <a:rPr lang="en-US" dirty="0"/>
              <a:t>"middle language" -class room discussions and textbooks that talk about the con </a:t>
            </a:r>
            <a:r>
              <a:rPr lang="en-US" dirty="0" err="1"/>
              <a:t>clusions</a:t>
            </a:r>
            <a:r>
              <a:rPr lang="en-US" dirty="0"/>
              <a:t> in a field of intellectual inquiry rather than </a:t>
            </a:r>
            <a:r>
              <a:rPr lang="en-US" dirty="0" err="1"/>
              <a:t>cen</a:t>
            </a:r>
            <a:r>
              <a:rPr lang="en-US" dirty="0"/>
              <a:t> </a:t>
            </a:r>
            <a:r>
              <a:rPr lang="en-US" dirty="0" err="1"/>
              <a:t>tering</a:t>
            </a:r>
            <a:r>
              <a:rPr lang="en-US" dirty="0"/>
              <a:t> upon the inquiry itself. Approached in that way, high school physics often looks very little like physics, social studies are removed from the issues of life and society as usually discussed, and school mathematics too often has lost contact with what is at the heart of the subject, the idea of order. </a:t>
            </a:r>
          </a:p>
          <a:p>
            <a:endParaRPr lang="en-US" dirty="0"/>
          </a:p>
          <a:p>
            <a:r>
              <a:rPr lang="en-US" dirty="0"/>
              <a:t>The principle of invariance is no a priori datum of the mind, nor is it the product of purely empirical observation. The child discovers invariance in a manner comparable to scientific discoveries generally. Grasping the idea of invariance is beset with difficulties for the child, often unsuspected by teachers. </a:t>
            </a:r>
          </a:p>
          <a:p>
            <a:endParaRPr lang="en-US" dirty="0"/>
          </a:p>
          <a:p>
            <a:r>
              <a:rPr lang="en-US" dirty="0"/>
              <a:t>The students are encouraged in class discussion to </a:t>
            </a:r>
            <a:r>
              <a:rPr lang="en-US" dirty="0" err="1"/>
              <a:t>fignre</a:t>
            </a:r>
            <a:r>
              <a:rPr lang="en-US" dirty="0"/>
              <a:t> out why this is the case and why it </a:t>
            </a:r>
            <a:r>
              <a:rPr lang="en-US" dirty="0" err="1"/>
              <a:t>wonld</a:t>
            </a:r>
            <a:r>
              <a:rPr lang="en-US" dirty="0"/>
              <a:t> be less likely for civilizations to start in mountainous </a:t>
            </a:r>
            <a:r>
              <a:rPr lang="en-US" dirty="0" err="1"/>
              <a:t>coun</a:t>
            </a:r>
            <a:r>
              <a:rPr lang="en-US" dirty="0"/>
              <a:t> try. The effect of this approach, essentially the tech </a:t>
            </a:r>
            <a:r>
              <a:rPr lang="en-US" dirty="0" err="1"/>
              <a:t>nique</a:t>
            </a:r>
            <a:r>
              <a:rPr lang="en-US" dirty="0"/>
              <a:t> of discovery, is that the child generates </a:t>
            </a:r>
            <a:r>
              <a:rPr lang="en-US" dirty="0" err="1"/>
              <a:t>informa</a:t>
            </a:r>
            <a:r>
              <a:rPr lang="en-US" dirty="0"/>
              <a:t> </a:t>
            </a:r>
            <a:r>
              <a:rPr lang="en-US" dirty="0" err="1"/>
              <a:t>tion</a:t>
            </a:r>
            <a:r>
              <a:rPr lang="en-US" dirty="0"/>
              <a:t> on his own, which he can then check or evaluate against the sources, getting more new information in the process. This obviously is one kind of learning epi </a:t>
            </a:r>
            <a:r>
              <a:rPr lang="en-US" dirty="0" err="1"/>
              <a:t>sode</a:t>
            </a:r>
            <a:r>
              <a:rPr lang="en-US" dirty="0"/>
              <a:t>, and doubtless it has limited applicability. </a:t>
            </a:r>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73</a:t>
            </a:fld>
            <a:endParaRPr lang="de-DE"/>
          </a:p>
        </p:txBody>
      </p:sp>
    </p:spTree>
    <p:extLst>
      <p:ext uri="{BB962C8B-B14F-4D97-AF65-F5344CB8AC3E}">
        <p14:creationId xmlns:p14="http://schemas.microsoft.com/office/powerpoint/2010/main" val="25534439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74</a:t>
            </a:fld>
            <a:endParaRPr lang="de-DE"/>
          </a:p>
        </p:txBody>
      </p:sp>
    </p:spTree>
    <p:extLst>
      <p:ext uri="{BB962C8B-B14F-4D97-AF65-F5344CB8AC3E}">
        <p14:creationId xmlns:p14="http://schemas.microsoft.com/office/powerpoint/2010/main" val="41874980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75</a:t>
            </a:fld>
            <a:endParaRPr lang="de-DE"/>
          </a:p>
        </p:txBody>
      </p:sp>
    </p:spTree>
    <p:extLst>
      <p:ext uri="{BB962C8B-B14F-4D97-AF65-F5344CB8AC3E}">
        <p14:creationId xmlns:p14="http://schemas.microsoft.com/office/powerpoint/2010/main" val="74054020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such as factor-, mixture-, multilevel-, network- and cognitive modeling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 Let`s discuss.</a:t>
            </a:r>
            <a:endParaRPr lang="de-DE" sz="1200" kern="1200" dirty="0">
              <a:solidFill>
                <a:schemeClr val="tx1"/>
              </a:solidFill>
              <a:effectLst/>
              <a:latin typeface="+mn-lt"/>
              <a:ea typeface="+mn-ea"/>
              <a:cs typeface="+mn-cs"/>
            </a:endParaRPr>
          </a:p>
          <a:p>
            <a:r>
              <a:rPr lang="de-DE"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Reliability paradox</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76</a:t>
            </a:fld>
            <a:endParaRPr lang="de-DE"/>
          </a:p>
        </p:txBody>
      </p:sp>
    </p:spTree>
    <p:extLst>
      <p:ext uri="{BB962C8B-B14F-4D97-AF65-F5344CB8AC3E}">
        <p14:creationId xmlns:p14="http://schemas.microsoft.com/office/powerpoint/2010/main" val="20881760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constructs</a:t>
            </a:r>
            <a:r>
              <a:rPr lang="de-DE" dirty="0"/>
              <a:t> such </a:t>
            </a:r>
            <a:r>
              <a:rPr lang="de-DE" dirty="0" err="1"/>
              <a:t>as</a:t>
            </a:r>
            <a:r>
              <a:rPr lang="de-DE" dirty="0"/>
              <a:t> </a:t>
            </a:r>
            <a:r>
              <a:rPr lang="de-DE" dirty="0" err="1"/>
              <a:t>skills</a:t>
            </a:r>
            <a:r>
              <a:rPr lang="de-DE" dirty="0"/>
              <a:t> and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a:t>
            </a:r>
          </a:p>
          <a:p>
            <a:r>
              <a:rPr lang="de-DE" dirty="0" err="1"/>
              <a:t>Yet</a:t>
            </a:r>
            <a:r>
              <a:rPr lang="de-DE" dirty="0"/>
              <a:t>, </a:t>
            </a:r>
            <a:r>
              <a:rPr lang="de-DE" dirty="0" err="1"/>
              <a:t>what</a:t>
            </a:r>
            <a:r>
              <a:rPr lang="de-DE" dirty="0"/>
              <a:t> </a:t>
            </a:r>
            <a:r>
              <a:rPr lang="de-DE" dirty="0" err="1"/>
              <a:t>keeps</a:t>
            </a:r>
            <a:r>
              <a:rPr lang="de-DE" dirty="0"/>
              <a:t> </a:t>
            </a:r>
            <a:r>
              <a:rPr lang="de-DE" dirty="0" err="1"/>
              <a:t>it</a:t>
            </a:r>
            <a:r>
              <a:rPr lang="de-DE" dirty="0"/>
              <a:t> all </a:t>
            </a:r>
            <a:r>
              <a:rPr lang="de-DE" dirty="0" err="1"/>
              <a:t>together</a:t>
            </a:r>
            <a:r>
              <a:rPr lang="de-DE" dirty="0"/>
              <a:t> </a:t>
            </a:r>
            <a:r>
              <a:rPr lang="de-DE" dirty="0" err="1"/>
              <a:t>is</a:t>
            </a:r>
            <a:r>
              <a:rPr lang="de-DE" dirty="0"/>
              <a:t> Knowledge.</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77</a:t>
            </a:fld>
            <a:endParaRPr lang="de-DE"/>
          </a:p>
        </p:txBody>
      </p:sp>
    </p:spTree>
    <p:extLst>
      <p:ext uri="{BB962C8B-B14F-4D97-AF65-F5344CB8AC3E}">
        <p14:creationId xmlns:p14="http://schemas.microsoft.com/office/powerpoint/2010/main" val="11383535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learners`knowledge</a:t>
            </a:r>
            <a:r>
              <a:rPr lang="de-DE" dirty="0"/>
              <a:t>:</a:t>
            </a:r>
          </a:p>
          <a:p>
            <a:endParaRPr lang="de-DE" dirty="0"/>
          </a:p>
          <a:p>
            <a:r>
              <a:rPr lang="de-DE" dirty="0"/>
              <a:t>Modeling Knowledge: Yesterday, Today, Tomorrow</a:t>
            </a:r>
          </a:p>
          <a:p>
            <a:endParaRPr lang="de-DE" dirty="0"/>
          </a:p>
          <a:p>
            <a:r>
              <a:rPr lang="de-DE" dirty="0"/>
              <a:t>Knowledge </a:t>
            </a:r>
            <a:r>
              <a:rPr lang="de-DE" dirty="0" err="1"/>
              <a:t>is</a:t>
            </a:r>
            <a:r>
              <a:rPr lang="de-DE" dirty="0"/>
              <a:t> a </a:t>
            </a:r>
            <a:r>
              <a:rPr lang="de-DE" dirty="0" err="1"/>
              <a:t>central</a:t>
            </a:r>
            <a:r>
              <a:rPr lang="de-DE" dirty="0"/>
              <a:t> </a:t>
            </a:r>
            <a:r>
              <a:rPr lang="de-DE" dirty="0" err="1"/>
              <a:t>predictor</a:t>
            </a:r>
            <a:r>
              <a:rPr lang="de-DE" dirty="0"/>
              <a:t> and </a:t>
            </a:r>
            <a:r>
              <a:rPr lang="de-DE" dirty="0" err="1"/>
              <a:t>outcome</a:t>
            </a:r>
            <a:r>
              <a:rPr lang="de-DE" dirty="0"/>
              <a:t> </a:t>
            </a:r>
            <a:r>
              <a:rPr lang="de-DE" dirty="0" err="1"/>
              <a:t>across</a:t>
            </a:r>
            <a:r>
              <a:rPr lang="de-DE" dirty="0"/>
              <a:t> a </a:t>
            </a:r>
            <a:r>
              <a:rPr lang="de-DE" dirty="0" err="1"/>
              <a:t>variety</a:t>
            </a:r>
            <a:r>
              <a:rPr lang="de-DE" dirty="0"/>
              <a:t> </a:t>
            </a:r>
            <a:r>
              <a:rPr lang="de-DE" dirty="0" err="1"/>
              <a:t>of</a:t>
            </a:r>
            <a:r>
              <a:rPr lang="de-DE" dirty="0"/>
              <a:t> </a:t>
            </a:r>
            <a:r>
              <a:rPr lang="de-DE" dirty="0" err="1"/>
              <a:t>educational</a:t>
            </a:r>
            <a:r>
              <a:rPr lang="de-DE" dirty="0"/>
              <a:t> </a:t>
            </a:r>
            <a:r>
              <a:rPr lang="de-DE" dirty="0" err="1"/>
              <a:t>contexts</a:t>
            </a:r>
            <a:r>
              <a:rPr lang="de-DE" dirty="0"/>
              <a:t>.</a:t>
            </a:r>
          </a:p>
          <a:p>
            <a:r>
              <a:rPr lang="de-DE" dirty="0"/>
              <a:t>I </a:t>
            </a:r>
            <a:r>
              <a:rPr lang="de-DE" dirty="0" err="1"/>
              <a:t>discuss</a:t>
            </a:r>
            <a:r>
              <a:rPr lang="de-DE" dirty="0"/>
              <a:t> </a:t>
            </a:r>
            <a:r>
              <a:rPr lang="de-DE" dirty="0" err="1"/>
              <a:t>how</a:t>
            </a:r>
            <a:r>
              <a:rPr lang="de-DE" dirty="0"/>
              <a:t> </a:t>
            </a:r>
            <a:r>
              <a:rPr lang="de-DE" dirty="0" err="1"/>
              <a:t>knowledge</a:t>
            </a:r>
            <a:r>
              <a:rPr lang="de-DE" dirty="0"/>
              <a:t> </a:t>
            </a:r>
            <a:r>
              <a:rPr lang="de-DE" dirty="0" err="1"/>
              <a:t>has</a:t>
            </a:r>
            <a:r>
              <a:rPr lang="de-DE" dirty="0"/>
              <a:t> </a:t>
            </a:r>
            <a:r>
              <a:rPr lang="de-DE" dirty="0" err="1"/>
              <a:t>been</a:t>
            </a:r>
            <a:r>
              <a:rPr lang="de-DE" dirty="0"/>
              <a:t> </a:t>
            </a:r>
            <a:r>
              <a:rPr lang="de-DE" dirty="0" err="1"/>
              <a:t>represented</a:t>
            </a:r>
            <a:r>
              <a:rPr lang="de-DE" dirty="0"/>
              <a:t> and </a:t>
            </a:r>
            <a:r>
              <a:rPr lang="de-DE" dirty="0" err="1"/>
              <a:t>examined</a:t>
            </a:r>
            <a:r>
              <a:rPr lang="de-DE" dirty="0"/>
              <a:t> in </a:t>
            </a:r>
            <a:r>
              <a:rPr lang="de-DE" dirty="0" err="1"/>
              <a:t>statistical</a:t>
            </a:r>
            <a:r>
              <a:rPr lang="de-DE" dirty="0"/>
              <a:t> </a:t>
            </a:r>
            <a:r>
              <a:rPr lang="de-DE" dirty="0" err="1"/>
              <a:t>models</a:t>
            </a:r>
            <a:r>
              <a:rPr lang="de-DE" dirty="0"/>
              <a:t> </a:t>
            </a:r>
            <a:r>
              <a:rPr lang="de-DE" dirty="0" err="1"/>
              <a:t>throughout</a:t>
            </a:r>
            <a:r>
              <a:rPr lang="de-DE" dirty="0"/>
              <a:t> </a:t>
            </a:r>
            <a:r>
              <a:rPr lang="de-DE" dirty="0" err="1"/>
              <a:t>the</a:t>
            </a:r>
            <a:r>
              <a:rPr lang="de-DE" dirty="0"/>
              <a:t> last </a:t>
            </a:r>
            <a:r>
              <a:rPr lang="de-DE" dirty="0" err="1"/>
              <a:t>decades</a:t>
            </a:r>
            <a:r>
              <a:rPr lang="de-DE" dirty="0"/>
              <a:t>, </a:t>
            </a:r>
            <a:r>
              <a:rPr lang="de-DE" dirty="0" err="1"/>
              <a:t>connecting</a:t>
            </a:r>
            <a:r>
              <a:rPr lang="de-DE" dirty="0"/>
              <a:t> </a:t>
            </a:r>
            <a:r>
              <a:rPr lang="de-DE" dirty="0" err="1"/>
              <a:t>developments</a:t>
            </a:r>
            <a:r>
              <a:rPr lang="de-DE" dirty="0"/>
              <a:t> in </a:t>
            </a:r>
            <a:r>
              <a:rPr lang="de-DE" dirty="0" err="1"/>
              <a:t>statistical</a:t>
            </a:r>
            <a:r>
              <a:rPr lang="de-DE" dirty="0"/>
              <a:t> </a:t>
            </a:r>
            <a:r>
              <a:rPr lang="de-DE" dirty="0" err="1"/>
              <a:t>practices</a:t>
            </a:r>
            <a:r>
              <a:rPr lang="de-DE" dirty="0"/>
              <a:t> </a:t>
            </a:r>
            <a:r>
              <a:rPr lang="de-DE" dirty="0" err="1"/>
              <a:t>to</a:t>
            </a:r>
            <a:r>
              <a:rPr lang="de-DE" dirty="0"/>
              <a:t> </a:t>
            </a:r>
            <a:r>
              <a:rPr lang="de-DE" dirty="0" err="1"/>
              <a:t>theoretical</a:t>
            </a:r>
            <a:r>
              <a:rPr lang="de-DE" dirty="0"/>
              <a:t> </a:t>
            </a:r>
            <a:r>
              <a:rPr lang="de-DE" dirty="0" err="1"/>
              <a:t>developments</a:t>
            </a:r>
            <a:r>
              <a:rPr lang="de-DE" dirty="0"/>
              <a:t> in </a:t>
            </a:r>
            <a:r>
              <a:rPr lang="de-DE" dirty="0" err="1"/>
              <a:t>the</a:t>
            </a:r>
            <a:r>
              <a:rPr lang="de-DE" dirty="0"/>
              <a:t> </a:t>
            </a:r>
            <a:r>
              <a:rPr lang="de-DE" dirty="0" err="1"/>
              <a:t>fields</a:t>
            </a:r>
            <a:r>
              <a:rPr lang="de-DE" dirty="0"/>
              <a:t> </a:t>
            </a:r>
            <a:r>
              <a:rPr lang="de-DE" dirty="0" err="1"/>
              <a:t>of</a:t>
            </a:r>
            <a:r>
              <a:rPr lang="de-DE" dirty="0"/>
              <a:t> </a:t>
            </a:r>
            <a:r>
              <a:rPr lang="de-DE" dirty="0" err="1"/>
              <a:t>inquiry-based</a:t>
            </a:r>
            <a:r>
              <a:rPr lang="de-DE" dirty="0"/>
              <a:t> </a:t>
            </a:r>
            <a:r>
              <a:rPr lang="de-DE" dirty="0" err="1"/>
              <a:t>learning</a:t>
            </a:r>
            <a:r>
              <a:rPr lang="de-DE" dirty="0"/>
              <a:t> and </a:t>
            </a:r>
            <a:r>
              <a:rPr lang="de-DE" dirty="0" err="1"/>
              <a:t>conceptual</a:t>
            </a:r>
            <a:r>
              <a:rPr lang="de-DE" dirty="0"/>
              <a:t> </a:t>
            </a:r>
            <a:r>
              <a:rPr lang="de-DE" dirty="0" err="1"/>
              <a:t>change</a:t>
            </a:r>
            <a:r>
              <a:rPr lang="de-DE" dirty="0"/>
              <a:t>.</a:t>
            </a:r>
          </a:p>
          <a:p>
            <a:r>
              <a:rPr lang="de-DE" dirty="0"/>
              <a:t>I </a:t>
            </a:r>
            <a:r>
              <a:rPr lang="de-DE" dirty="0" err="1"/>
              <a:t>argue</a:t>
            </a:r>
            <a:r>
              <a:rPr lang="de-DE" dirty="0"/>
              <a:t> </a:t>
            </a:r>
            <a:r>
              <a:rPr lang="de-DE" dirty="0" err="1"/>
              <a:t>that</a:t>
            </a:r>
            <a:r>
              <a:rPr lang="de-DE" dirty="0"/>
              <a:t> </a:t>
            </a:r>
            <a:r>
              <a:rPr lang="de-DE" dirty="0" err="1"/>
              <a:t>statistical</a:t>
            </a:r>
            <a:r>
              <a:rPr lang="de-DE" dirty="0"/>
              <a:t> </a:t>
            </a:r>
            <a:r>
              <a:rPr lang="de-DE" dirty="0" err="1"/>
              <a:t>modeling</a:t>
            </a:r>
            <a:r>
              <a:rPr lang="de-DE" dirty="0"/>
              <a:t> </a:t>
            </a:r>
            <a:r>
              <a:rPr lang="de-DE" dirty="0" err="1"/>
              <a:t>has</a:t>
            </a:r>
            <a:r>
              <a:rPr lang="de-DE" dirty="0"/>
              <a:t> </a:t>
            </a:r>
            <a:r>
              <a:rPr lang="de-DE" dirty="0" err="1"/>
              <a:t>served</a:t>
            </a:r>
            <a:r>
              <a:rPr lang="de-DE" dirty="0"/>
              <a:t> and will </a:t>
            </a:r>
            <a:r>
              <a:rPr lang="de-DE" dirty="0" err="1"/>
              <a:t>continue</a:t>
            </a:r>
            <a:r>
              <a:rPr lang="de-DE" dirty="0"/>
              <a:t> </a:t>
            </a:r>
            <a:r>
              <a:rPr lang="de-DE" dirty="0" err="1"/>
              <a:t>to</a:t>
            </a:r>
            <a:r>
              <a:rPr lang="de-DE" dirty="0"/>
              <a:t> </a:t>
            </a:r>
            <a:r>
              <a:rPr lang="de-DE" dirty="0" err="1"/>
              <a:t>serve</a:t>
            </a:r>
            <a:r>
              <a:rPr lang="de-DE" dirty="0"/>
              <a:t> </a:t>
            </a:r>
            <a:r>
              <a:rPr lang="de-DE" dirty="0" err="1"/>
              <a:t>as</a:t>
            </a:r>
            <a:r>
              <a:rPr lang="de-DE" dirty="0"/>
              <a:t> </a:t>
            </a:r>
            <a:r>
              <a:rPr lang="de-DE" dirty="0" err="1"/>
              <a:t>inspiration</a:t>
            </a:r>
            <a:r>
              <a:rPr lang="de-DE" dirty="0"/>
              <a:t> </a:t>
            </a:r>
            <a:r>
              <a:rPr lang="de-DE" dirty="0" err="1"/>
              <a:t>to</a:t>
            </a:r>
            <a:r>
              <a:rPr lang="de-DE" dirty="0"/>
              <a:t> </a:t>
            </a:r>
            <a:r>
              <a:rPr lang="de-DE" dirty="0" err="1"/>
              <a:t>educational</a:t>
            </a:r>
            <a:r>
              <a:rPr lang="de-DE" dirty="0"/>
              <a:t> </a:t>
            </a:r>
            <a:r>
              <a:rPr lang="de-DE" dirty="0" err="1"/>
              <a:t>theory</a:t>
            </a:r>
            <a:r>
              <a:rPr lang="de-DE" dirty="0"/>
              <a:t> in </a:t>
            </a:r>
            <a:r>
              <a:rPr lang="de-DE" dirty="0" err="1"/>
              <a:t>these</a:t>
            </a:r>
            <a:r>
              <a:rPr lang="de-DE" dirty="0"/>
              <a:t> </a:t>
            </a:r>
            <a:r>
              <a:rPr lang="de-DE" dirty="0" err="1"/>
              <a:t>areas</a:t>
            </a:r>
            <a:r>
              <a:rPr lang="de-DE" dirty="0"/>
              <a:t>, just </a:t>
            </a:r>
            <a:r>
              <a:rPr lang="de-DE" dirty="0" err="1"/>
              <a:t>as</a:t>
            </a:r>
            <a:r>
              <a:rPr lang="de-DE" dirty="0"/>
              <a:t> </a:t>
            </a:r>
            <a:r>
              <a:rPr lang="de-DE" dirty="0" err="1"/>
              <a:t>educational</a:t>
            </a:r>
            <a:r>
              <a:rPr lang="de-DE" dirty="0"/>
              <a:t> </a:t>
            </a:r>
            <a:r>
              <a:rPr lang="de-DE" dirty="0" err="1"/>
              <a:t>theory</a:t>
            </a:r>
            <a:r>
              <a:rPr lang="de-DE" dirty="0"/>
              <a:t> </a:t>
            </a:r>
            <a:r>
              <a:rPr lang="de-DE" dirty="0" err="1"/>
              <a:t>serves</a:t>
            </a:r>
            <a:r>
              <a:rPr lang="de-DE" dirty="0"/>
              <a:t> </a:t>
            </a:r>
            <a:r>
              <a:rPr lang="de-DE" dirty="0" err="1"/>
              <a:t>as</a:t>
            </a:r>
            <a:r>
              <a:rPr lang="de-DE" dirty="0"/>
              <a:t> </a:t>
            </a:r>
            <a:r>
              <a:rPr lang="de-DE" dirty="0" err="1"/>
              <a:t>inspiration</a:t>
            </a:r>
            <a:r>
              <a:rPr lang="de-DE" dirty="0"/>
              <a:t> </a:t>
            </a:r>
            <a:r>
              <a:rPr lang="de-DE" dirty="0" err="1"/>
              <a:t>for</a:t>
            </a:r>
            <a:r>
              <a:rPr lang="de-DE" dirty="0"/>
              <a:t> </a:t>
            </a:r>
            <a:r>
              <a:rPr lang="de-DE" dirty="0" err="1"/>
              <a:t>new</a:t>
            </a:r>
            <a:r>
              <a:rPr lang="de-DE" dirty="0"/>
              <a:t> </a:t>
            </a:r>
            <a:r>
              <a:rPr lang="de-DE" dirty="0" err="1"/>
              <a:t>modeling</a:t>
            </a:r>
            <a:r>
              <a:rPr lang="de-DE" dirty="0"/>
              <a:t> </a:t>
            </a:r>
            <a:r>
              <a:rPr lang="de-DE" dirty="0" err="1"/>
              <a:t>approaches</a:t>
            </a:r>
            <a:r>
              <a:rPr lang="de-DE" dirty="0"/>
              <a:t> </a:t>
            </a:r>
            <a:r>
              <a:rPr lang="de-DE" dirty="0" err="1"/>
              <a:t>that</a:t>
            </a:r>
            <a:r>
              <a:rPr lang="de-DE" dirty="0"/>
              <a:t> </a:t>
            </a:r>
            <a:r>
              <a:rPr lang="de-DE" dirty="0" err="1"/>
              <a:t>better</a:t>
            </a:r>
            <a:r>
              <a:rPr lang="de-DE" dirty="0"/>
              <a:t> </a:t>
            </a:r>
            <a:r>
              <a:rPr lang="de-DE" dirty="0" err="1"/>
              <a:t>represent</a:t>
            </a:r>
            <a:r>
              <a:rPr lang="de-DE" dirty="0"/>
              <a:t> </a:t>
            </a:r>
            <a:r>
              <a:rPr lang="de-DE" dirty="0" err="1"/>
              <a:t>our</a:t>
            </a:r>
            <a:r>
              <a:rPr lang="de-DE" dirty="0"/>
              <a:t> </a:t>
            </a:r>
            <a:r>
              <a:rPr lang="de-DE" dirty="0" err="1"/>
              <a:t>theoretical</a:t>
            </a:r>
            <a:r>
              <a:rPr lang="de-DE" dirty="0"/>
              <a:t> </a:t>
            </a:r>
            <a:r>
              <a:rPr lang="de-DE" dirty="0" err="1"/>
              <a:t>aims</a:t>
            </a:r>
            <a:r>
              <a:rPr lang="de-DE" dirty="0"/>
              <a:t> and </a:t>
            </a:r>
            <a:r>
              <a:rPr lang="de-DE" dirty="0" err="1"/>
              <a:t>assumptions</a:t>
            </a:r>
            <a:r>
              <a:rPr lang="de-DE" dirty="0"/>
              <a:t>.</a:t>
            </a:r>
          </a:p>
          <a:p>
            <a:r>
              <a:rPr lang="de-DE" dirty="0"/>
              <a:t>Providing an </a:t>
            </a:r>
            <a:r>
              <a:rPr lang="de-DE" dirty="0" err="1"/>
              <a:t>overview</a:t>
            </a:r>
            <a:r>
              <a:rPr lang="de-DE" dirty="0"/>
              <a:t> </a:t>
            </a:r>
            <a:r>
              <a:rPr lang="de-DE" dirty="0" err="1"/>
              <a:t>of</a:t>
            </a:r>
            <a:r>
              <a:rPr lang="de-DE" dirty="0"/>
              <a:t> </a:t>
            </a:r>
            <a:r>
              <a:rPr lang="de-DE" dirty="0" err="1"/>
              <a:t>current</a:t>
            </a:r>
            <a:r>
              <a:rPr lang="de-DE" dirty="0"/>
              <a:t> </a:t>
            </a:r>
            <a:r>
              <a:rPr lang="de-DE" dirty="0" err="1"/>
              <a:t>modeling</a:t>
            </a:r>
            <a:r>
              <a:rPr lang="de-DE" dirty="0"/>
              <a:t> </a:t>
            </a:r>
            <a:r>
              <a:rPr lang="de-DE" dirty="0" err="1"/>
              <a:t>methodologies</a:t>
            </a:r>
            <a:r>
              <a:rPr lang="de-DE" dirty="0"/>
              <a:t>, such </a:t>
            </a:r>
            <a:r>
              <a:rPr lang="de-DE" dirty="0" err="1"/>
              <a:t>as</a:t>
            </a:r>
            <a:r>
              <a:rPr lang="de-DE" dirty="0"/>
              <a:t> </a:t>
            </a:r>
            <a:r>
              <a:rPr lang="de-DE" dirty="0" err="1"/>
              <a:t>factor</a:t>
            </a:r>
            <a:r>
              <a:rPr lang="de-DE" dirty="0"/>
              <a:t> </a:t>
            </a:r>
            <a:r>
              <a:rPr lang="de-DE" dirty="0" err="1"/>
              <a:t>analysis</a:t>
            </a:r>
            <a:r>
              <a:rPr lang="de-DE" dirty="0"/>
              <a:t>, </a:t>
            </a:r>
            <a:r>
              <a:rPr lang="de-DE" dirty="0" err="1"/>
              <a:t>multilevel</a:t>
            </a:r>
            <a:r>
              <a:rPr lang="de-DE" dirty="0"/>
              <a:t>-, </a:t>
            </a:r>
            <a:r>
              <a:rPr lang="de-DE" dirty="0" err="1"/>
              <a:t>mixture</a:t>
            </a:r>
            <a:r>
              <a:rPr lang="de-DE" dirty="0"/>
              <a:t>-, network-, and </a:t>
            </a:r>
            <a:r>
              <a:rPr lang="de-DE" dirty="0" err="1"/>
              <a:t>cognitive</a:t>
            </a:r>
            <a:r>
              <a:rPr lang="de-DE" dirty="0"/>
              <a:t> </a:t>
            </a:r>
            <a:r>
              <a:rPr lang="de-DE" dirty="0" err="1"/>
              <a:t>modeling</a:t>
            </a:r>
            <a:r>
              <a:rPr lang="de-DE" dirty="0"/>
              <a:t> and </a:t>
            </a:r>
            <a:r>
              <a:rPr lang="de-DE" dirty="0" err="1"/>
              <a:t>the</a:t>
            </a:r>
            <a:r>
              <a:rPr lang="de-DE" dirty="0"/>
              <a:t> </a:t>
            </a:r>
            <a:r>
              <a:rPr lang="de-DE" dirty="0" err="1"/>
              <a:t>role</a:t>
            </a:r>
            <a:r>
              <a:rPr lang="de-DE" dirty="0"/>
              <a:t> </a:t>
            </a:r>
            <a:r>
              <a:rPr lang="de-DE" dirty="0" err="1"/>
              <a:t>these</a:t>
            </a:r>
            <a:r>
              <a:rPr lang="de-DE" dirty="0"/>
              <a:t> </a:t>
            </a:r>
            <a:r>
              <a:rPr lang="de-DE" dirty="0" err="1"/>
              <a:t>play</a:t>
            </a:r>
            <a:r>
              <a:rPr lang="de-DE" dirty="0"/>
              <a:t> in </a:t>
            </a:r>
            <a:r>
              <a:rPr lang="de-DE" dirty="0" err="1"/>
              <a:t>current</a:t>
            </a:r>
            <a:r>
              <a:rPr lang="de-DE" dirty="0"/>
              <a:t> </a:t>
            </a:r>
            <a:r>
              <a:rPr lang="de-DE" dirty="0" err="1"/>
              <a:t>developments</a:t>
            </a:r>
            <a:r>
              <a:rPr lang="de-DE" dirty="0"/>
              <a:t>, I </a:t>
            </a:r>
            <a:r>
              <a:rPr lang="de-DE" dirty="0" err="1"/>
              <a:t>try</a:t>
            </a:r>
            <a:r>
              <a:rPr lang="de-DE" dirty="0"/>
              <a:t> </a:t>
            </a:r>
            <a:r>
              <a:rPr lang="de-DE" dirty="0" err="1"/>
              <a:t>engaging</a:t>
            </a:r>
            <a:r>
              <a:rPr lang="de-DE" dirty="0"/>
              <a:t> in </a:t>
            </a:r>
            <a:r>
              <a:rPr lang="de-DE" dirty="0" err="1"/>
              <a:t>informed</a:t>
            </a:r>
            <a:r>
              <a:rPr lang="de-DE" dirty="0"/>
              <a:t> </a:t>
            </a:r>
            <a:r>
              <a:rPr lang="de-DE" dirty="0" err="1"/>
              <a:t>clayrvoyance</a:t>
            </a:r>
            <a:r>
              <a:rPr lang="de-DE" dirty="0"/>
              <a:t> </a:t>
            </a:r>
            <a:r>
              <a:rPr lang="de-DE" dirty="0" err="1"/>
              <a:t>to</a:t>
            </a:r>
            <a:r>
              <a:rPr lang="de-DE" dirty="0"/>
              <a:t> </a:t>
            </a:r>
            <a:r>
              <a:rPr lang="de-DE" dirty="0" err="1"/>
              <a:t>show</a:t>
            </a:r>
            <a:r>
              <a:rPr lang="de-DE" dirty="0"/>
              <a:t> </a:t>
            </a:r>
            <a:r>
              <a:rPr lang="de-DE" dirty="0" err="1"/>
              <a:t>up</a:t>
            </a:r>
            <a:r>
              <a:rPr lang="de-DE" dirty="0"/>
              <a:t> </a:t>
            </a:r>
            <a:r>
              <a:rPr lang="de-DE" dirty="0" err="1"/>
              <a:t>future</a:t>
            </a:r>
            <a:r>
              <a:rPr lang="de-DE" dirty="0"/>
              <a:t> </a:t>
            </a:r>
            <a:r>
              <a:rPr lang="de-DE" dirty="0" err="1"/>
              <a:t>developments</a:t>
            </a:r>
            <a:r>
              <a:rPr lang="de-DE" dirty="0"/>
              <a:t> </a:t>
            </a:r>
            <a:r>
              <a:rPr lang="de-DE" dirty="0" err="1"/>
              <a:t>that</a:t>
            </a:r>
            <a:r>
              <a:rPr lang="de-DE" dirty="0"/>
              <a:t> </a:t>
            </a:r>
            <a:r>
              <a:rPr lang="de-DE" dirty="0" err="1"/>
              <a:t>may</a:t>
            </a:r>
            <a:r>
              <a:rPr lang="de-DE" dirty="0"/>
              <a:t> </a:t>
            </a:r>
            <a:r>
              <a:rPr lang="de-DE" dirty="0" err="1"/>
              <a:t>help</a:t>
            </a:r>
            <a:r>
              <a:rPr lang="de-DE" dirty="0"/>
              <a:t> </a:t>
            </a:r>
            <a:r>
              <a:rPr lang="de-DE" dirty="0" err="1"/>
              <a:t>us</a:t>
            </a:r>
            <a:r>
              <a:rPr lang="de-DE" dirty="0"/>
              <a:t> </a:t>
            </a:r>
            <a:r>
              <a:rPr lang="de-DE" dirty="0" err="1"/>
              <a:t>better</a:t>
            </a:r>
            <a:r>
              <a:rPr lang="de-DE" dirty="0"/>
              <a:t> </a:t>
            </a:r>
            <a:r>
              <a:rPr lang="de-DE" dirty="0" err="1"/>
              <a:t>represent</a:t>
            </a:r>
            <a:r>
              <a:rPr lang="de-DE" dirty="0"/>
              <a:t> </a:t>
            </a:r>
            <a:r>
              <a:rPr lang="de-DE" dirty="0" err="1"/>
              <a:t>the</a:t>
            </a:r>
            <a:r>
              <a:rPr lang="de-DE" dirty="0"/>
              <a:t> </a:t>
            </a:r>
            <a:r>
              <a:rPr lang="de-DE" dirty="0" err="1"/>
              <a:t>questions</a:t>
            </a:r>
            <a:r>
              <a:rPr lang="de-DE" dirty="0"/>
              <a:t> </a:t>
            </a:r>
            <a:r>
              <a:rPr lang="de-DE" dirty="0" err="1"/>
              <a:t>that</a:t>
            </a:r>
            <a:r>
              <a:rPr lang="de-DE" dirty="0"/>
              <a:t> </a:t>
            </a:r>
            <a:r>
              <a:rPr lang="de-DE" dirty="0" err="1"/>
              <a:t>we</a:t>
            </a:r>
            <a:r>
              <a:rPr lang="de-DE" dirty="0"/>
              <a:t> care </a:t>
            </a:r>
            <a:r>
              <a:rPr lang="de-DE" dirty="0" err="1"/>
              <a:t>about</a:t>
            </a:r>
            <a:r>
              <a:rPr lang="de-DE" dirty="0"/>
              <a:t> in </a:t>
            </a:r>
            <a:r>
              <a:rPr lang="de-DE" dirty="0" err="1"/>
              <a:t>statistical</a:t>
            </a:r>
            <a:r>
              <a:rPr lang="de-DE" dirty="0"/>
              <a:t> </a:t>
            </a:r>
            <a:r>
              <a:rPr lang="de-DE" dirty="0" err="1"/>
              <a:t>models</a:t>
            </a:r>
            <a:r>
              <a:rPr lang="de-DE" dirty="0"/>
              <a:t> </a:t>
            </a:r>
            <a:r>
              <a:rPr lang="de-DE" dirty="0" err="1"/>
              <a:t>of</a:t>
            </a:r>
            <a:r>
              <a:rPr lang="de-DE" dirty="0"/>
              <a:t> </a:t>
            </a:r>
            <a:r>
              <a:rPr lang="de-DE" dirty="0" err="1"/>
              <a:t>our</a:t>
            </a:r>
            <a:r>
              <a:rPr lang="de-DE" dirty="0"/>
              <a:t> </a:t>
            </a:r>
            <a:r>
              <a:rPr lang="de-DE" dirty="0" err="1"/>
              <a:t>learners</a:t>
            </a:r>
            <a:r>
              <a:rPr lang="de-DE" dirty="0"/>
              <a:t>` </a:t>
            </a:r>
            <a:r>
              <a:rPr lang="de-DE" dirty="0" err="1"/>
              <a:t>knowledge</a:t>
            </a:r>
            <a:r>
              <a:rPr lang="de-DE" dirty="0"/>
              <a:t> and </a:t>
            </a:r>
            <a:r>
              <a:rPr lang="de-DE" dirty="0" err="1"/>
              <a:t>its</a:t>
            </a:r>
            <a:r>
              <a:rPr lang="de-DE" dirty="0"/>
              <a:t> </a:t>
            </a:r>
            <a:r>
              <a:rPr lang="de-DE" dirty="0" err="1"/>
              <a:t>development</a:t>
            </a:r>
            <a:r>
              <a:rPr lang="de-DE" dirty="0"/>
              <a:t>.</a:t>
            </a:r>
          </a:p>
          <a:p>
            <a:r>
              <a:rPr lang="de-DE" dirty="0"/>
              <a:t>I also </a:t>
            </a:r>
            <a:r>
              <a:rPr lang="de-DE" dirty="0" err="1"/>
              <a:t>argue</a:t>
            </a:r>
            <a:r>
              <a:rPr lang="de-DE" dirty="0"/>
              <a:t> </a:t>
            </a:r>
            <a:r>
              <a:rPr lang="de-DE" dirty="0" err="1"/>
              <a:t>that</a:t>
            </a:r>
            <a:r>
              <a:rPr lang="de-DE" dirty="0"/>
              <a:t> in </a:t>
            </a:r>
            <a:r>
              <a:rPr lang="de-DE" dirty="0" err="1"/>
              <a:t>translating</a:t>
            </a:r>
            <a:r>
              <a:rPr lang="de-DE" dirty="0"/>
              <a:t> </a:t>
            </a:r>
            <a:r>
              <a:rPr lang="de-DE" dirty="0" err="1"/>
              <a:t>our</a:t>
            </a:r>
            <a:r>
              <a:rPr lang="de-DE" dirty="0"/>
              <a:t> </a:t>
            </a:r>
            <a:r>
              <a:rPr lang="de-DE" dirty="0" err="1"/>
              <a:t>theories</a:t>
            </a:r>
            <a:r>
              <a:rPr lang="de-DE" dirty="0"/>
              <a:t> </a:t>
            </a:r>
            <a:r>
              <a:rPr lang="de-DE" dirty="0" err="1"/>
              <a:t>of</a:t>
            </a:r>
            <a:r>
              <a:rPr lang="de-DE" dirty="0"/>
              <a:t> </a:t>
            </a:r>
            <a:r>
              <a:rPr lang="de-DE" dirty="0" err="1"/>
              <a:t>knowledge</a:t>
            </a:r>
            <a:r>
              <a:rPr lang="de-DE" dirty="0"/>
              <a:t> </a:t>
            </a:r>
            <a:r>
              <a:rPr lang="de-DE" dirty="0" err="1"/>
              <a:t>into</a:t>
            </a:r>
            <a:r>
              <a:rPr lang="de-DE" dirty="0"/>
              <a:t> </a:t>
            </a:r>
            <a:r>
              <a:rPr lang="de-DE" dirty="0" err="1"/>
              <a:t>statistical</a:t>
            </a:r>
            <a:r>
              <a:rPr lang="de-DE" dirty="0"/>
              <a:t> </a:t>
            </a:r>
            <a:r>
              <a:rPr lang="de-DE" dirty="0" err="1"/>
              <a:t>models</a:t>
            </a:r>
            <a:r>
              <a:rPr lang="de-DE" dirty="0"/>
              <a:t>, </a:t>
            </a:r>
            <a:r>
              <a:rPr lang="de-DE" dirty="0" err="1"/>
              <a:t>our</a:t>
            </a:r>
            <a:r>
              <a:rPr lang="de-DE" dirty="0"/>
              <a:t> </a:t>
            </a:r>
            <a:r>
              <a:rPr lang="de-DE" dirty="0" err="1"/>
              <a:t>research</a:t>
            </a:r>
            <a:r>
              <a:rPr lang="de-DE" dirty="0"/>
              <a:t> </a:t>
            </a:r>
            <a:r>
              <a:rPr lang="de-DE" dirty="0" err="1"/>
              <a:t>aim</a:t>
            </a:r>
            <a:r>
              <a:rPr lang="de-DE" dirty="0"/>
              <a:t> </a:t>
            </a:r>
            <a:r>
              <a:rPr lang="de-DE" dirty="0" err="1"/>
              <a:t>is</a:t>
            </a:r>
            <a:r>
              <a:rPr lang="de-DE" dirty="0"/>
              <a:t> </a:t>
            </a:r>
            <a:r>
              <a:rPr lang="de-DE" dirty="0" err="1"/>
              <a:t>more</a:t>
            </a:r>
            <a:r>
              <a:rPr lang="de-DE" dirty="0"/>
              <a:t> </a:t>
            </a:r>
            <a:r>
              <a:rPr lang="de-DE" dirty="0" err="1"/>
              <a:t>important</a:t>
            </a:r>
            <a:r>
              <a:rPr lang="de-DE" dirty="0"/>
              <a:t> </a:t>
            </a:r>
            <a:r>
              <a:rPr lang="de-DE" dirty="0" err="1"/>
              <a:t>than</a:t>
            </a:r>
            <a:r>
              <a:rPr lang="de-DE" dirty="0"/>
              <a:t> rigid </a:t>
            </a:r>
            <a:r>
              <a:rPr lang="de-DE" dirty="0" err="1"/>
              <a:t>statistical</a:t>
            </a:r>
            <a:r>
              <a:rPr lang="de-DE" dirty="0"/>
              <a:t> </a:t>
            </a:r>
            <a:r>
              <a:rPr lang="de-DE" dirty="0" err="1"/>
              <a:t>rules</a:t>
            </a:r>
            <a:r>
              <a:rPr lang="de-DE" dirty="0"/>
              <a:t>. </a:t>
            </a:r>
            <a:r>
              <a:rPr lang="de-DE" dirty="0" err="1"/>
              <a:t>Based</a:t>
            </a:r>
            <a:r>
              <a:rPr lang="de-DE" dirty="0"/>
              <a:t> in multiple </a:t>
            </a:r>
            <a:r>
              <a:rPr lang="de-DE" dirty="0" err="1"/>
              <a:t>examples</a:t>
            </a:r>
            <a:r>
              <a:rPr lang="de-DE" dirty="0"/>
              <a:t>, I </a:t>
            </a:r>
            <a:r>
              <a:rPr lang="de-DE" dirty="0" err="1"/>
              <a:t>argue</a:t>
            </a:r>
            <a:r>
              <a:rPr lang="de-DE" dirty="0"/>
              <a:t> </a:t>
            </a:r>
            <a:r>
              <a:rPr lang="de-DE" dirty="0" err="1"/>
              <a:t>ways</a:t>
            </a:r>
            <a:r>
              <a:rPr lang="de-DE" dirty="0"/>
              <a:t> in </a:t>
            </a:r>
            <a:r>
              <a:rPr lang="de-DE" dirty="0" err="1"/>
              <a:t>which</a:t>
            </a:r>
            <a:r>
              <a:rPr lang="de-DE" dirty="0"/>
              <a:t> </a:t>
            </a:r>
            <a:r>
              <a:rPr lang="de-DE" dirty="0" err="1"/>
              <a:t>we</a:t>
            </a:r>
            <a:r>
              <a:rPr lang="de-DE" dirty="0"/>
              <a:t> </a:t>
            </a:r>
            <a:r>
              <a:rPr lang="de-DE" dirty="0" err="1"/>
              <a:t>can</a:t>
            </a:r>
            <a:r>
              <a:rPr lang="de-DE" dirty="0"/>
              <a:t> </a:t>
            </a:r>
            <a:r>
              <a:rPr lang="de-DE" dirty="0" err="1"/>
              <a:t>convince</a:t>
            </a:r>
            <a:r>
              <a:rPr lang="de-DE" dirty="0"/>
              <a:t> </a:t>
            </a:r>
            <a:r>
              <a:rPr lang="de-DE" dirty="0" err="1"/>
              <a:t>reviewers</a:t>
            </a:r>
            <a:r>
              <a:rPr lang="de-DE" dirty="0"/>
              <a:t> and </a:t>
            </a:r>
            <a:r>
              <a:rPr lang="de-DE" dirty="0" err="1"/>
              <a:t>colleagues</a:t>
            </a:r>
            <a:r>
              <a:rPr lang="de-DE" dirty="0"/>
              <a:t> </a:t>
            </a:r>
            <a:r>
              <a:rPr lang="de-DE" dirty="0" err="1"/>
              <a:t>that</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our</a:t>
            </a:r>
            <a:r>
              <a:rPr lang="de-DE" dirty="0"/>
              <a:t> </a:t>
            </a:r>
            <a:r>
              <a:rPr lang="de-DE" dirty="0" err="1"/>
              <a:t>theories</a:t>
            </a:r>
            <a:r>
              <a:rPr lang="de-DE" dirty="0"/>
              <a:t> </a:t>
            </a:r>
            <a:r>
              <a:rPr lang="de-DE" dirty="0" err="1"/>
              <a:t>or</a:t>
            </a:r>
            <a:r>
              <a:rPr lang="de-DE" dirty="0"/>
              <a:t> </a:t>
            </a:r>
            <a:r>
              <a:rPr lang="de-DE" dirty="0" err="1"/>
              <a:t>aims</a:t>
            </a:r>
            <a:r>
              <a:rPr lang="de-DE" dirty="0"/>
              <a:t> </a:t>
            </a:r>
            <a:r>
              <a:rPr lang="de-DE" dirty="0" err="1"/>
              <a:t>is</a:t>
            </a:r>
            <a:r>
              <a:rPr lang="de-DE" dirty="0"/>
              <a:t> </a:t>
            </a:r>
            <a:r>
              <a:rPr lang="de-DE" dirty="0" err="1"/>
              <a:t>generally</a:t>
            </a:r>
            <a:r>
              <a:rPr lang="de-DE" dirty="0"/>
              <a:t> </a:t>
            </a:r>
            <a:r>
              <a:rPr lang="de-DE" dirty="0" err="1"/>
              <a:t>more</a:t>
            </a:r>
            <a:r>
              <a:rPr lang="de-DE" dirty="0"/>
              <a:t> informative </a:t>
            </a:r>
            <a:r>
              <a:rPr lang="de-DE" dirty="0" err="1"/>
              <a:t>than</a:t>
            </a:r>
            <a:r>
              <a:rPr lang="de-DE" dirty="0"/>
              <a:t> </a:t>
            </a:r>
            <a:r>
              <a:rPr lang="de-DE" dirty="0" err="1"/>
              <a:t>being</a:t>
            </a:r>
            <a:r>
              <a:rPr lang="de-DE" dirty="0"/>
              <a:t> </a:t>
            </a:r>
            <a:r>
              <a:rPr lang="de-DE" dirty="0" err="1"/>
              <a:t>guided</a:t>
            </a:r>
            <a:r>
              <a:rPr lang="de-DE" dirty="0"/>
              <a:t> </a:t>
            </a:r>
            <a:r>
              <a:rPr lang="de-DE" dirty="0" err="1"/>
              <a:t>by</a:t>
            </a:r>
            <a:r>
              <a:rPr lang="de-DE" dirty="0"/>
              <a:t> </a:t>
            </a:r>
            <a:r>
              <a:rPr lang="de-DE" dirty="0" err="1"/>
              <a:t>data</a:t>
            </a:r>
            <a:r>
              <a:rPr lang="de-DE" dirty="0"/>
              <a:t>, but </a:t>
            </a:r>
            <a:r>
              <a:rPr lang="de-DE" dirty="0" err="1"/>
              <a:t>there</a:t>
            </a:r>
            <a:r>
              <a:rPr lang="de-DE" dirty="0"/>
              <a:t> </a:t>
            </a:r>
            <a:r>
              <a:rPr lang="de-DE" dirty="0" err="1"/>
              <a:t>may</a:t>
            </a:r>
            <a:r>
              <a:rPr lang="de-DE" dirty="0"/>
              <a:t> </a:t>
            </a:r>
            <a:r>
              <a:rPr lang="de-DE" dirty="0" err="1"/>
              <a:t>be</a:t>
            </a:r>
            <a:r>
              <a:rPr lang="de-DE" dirty="0"/>
              <a:t> </a:t>
            </a:r>
            <a:r>
              <a:rPr lang="de-DE" dirty="0" err="1"/>
              <a:t>boundaries</a:t>
            </a:r>
            <a:r>
              <a:rPr lang="de-DE" dirty="0"/>
              <a:t> </a:t>
            </a:r>
            <a:r>
              <a:rPr lang="de-DE" dirty="0" err="1"/>
              <a:t>to</a:t>
            </a:r>
            <a:r>
              <a:rPr lang="de-DE" dirty="0"/>
              <a:t> </a:t>
            </a:r>
            <a:r>
              <a:rPr lang="de-DE" dirty="0" err="1"/>
              <a:t>this</a:t>
            </a:r>
            <a:r>
              <a:rPr lang="de-DE" dirty="0"/>
              <a:t> </a:t>
            </a:r>
            <a:r>
              <a:rPr lang="de-DE" dirty="0" err="1"/>
              <a:t>perspective</a:t>
            </a:r>
            <a:r>
              <a:rPr lang="de-DE" dirty="0"/>
              <a:t>.</a:t>
            </a:r>
          </a:p>
          <a:p>
            <a:endParaRPr lang="de-DE" dirty="0"/>
          </a:p>
          <a:p>
            <a:endParaRPr lang="de-DE" dirty="0"/>
          </a:p>
          <a:p>
            <a:r>
              <a:rPr lang="en-US" sz="1200" kern="1200" dirty="0">
                <a:solidFill>
                  <a:schemeClr val="tx1"/>
                </a:solidFill>
                <a:effectLst/>
                <a:latin typeface="+mn-lt"/>
                <a:ea typeface="+mn-ea"/>
                <a:cs typeface="+mn-cs"/>
              </a:rPr>
              <a:t>Learners` knowledge is a central predictor and outcome across a variety of educational contexts.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discuss how knowledge has been represented and examined in statistical models throughout the last decades, connecting statistical developments to theoretical shifts in the fields of inquiry-based learning and conceptual change. Engaging in informed clairvoyance, I discuss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argue that statistical modeling has served and will continue to serve as inspiration to educational theory in these areas, just as educational theory serves as inspiration for new modeling approaches.</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Providing an overview of current modeling approaches, such as factor analysis, multilevel-, mixture-, network-, and cognitive modeling and the role these play in current developments, I try engaging in informed </a:t>
            </a:r>
            <a:r>
              <a:rPr lang="en-US" sz="1200" kern="1200" dirty="0" err="1">
                <a:solidFill>
                  <a:schemeClr val="tx1"/>
                </a:solidFill>
                <a:effectLst/>
                <a:latin typeface="+mn-lt"/>
                <a:ea typeface="+mn-ea"/>
                <a:cs typeface="+mn-cs"/>
              </a:rPr>
              <a:t>clayrvoyance</a:t>
            </a:r>
            <a:r>
              <a:rPr lang="en-US" sz="1200" kern="1200" dirty="0">
                <a:solidFill>
                  <a:schemeClr val="tx1"/>
                </a:solidFill>
                <a:effectLst/>
                <a:latin typeface="+mn-lt"/>
                <a:ea typeface="+mn-ea"/>
                <a:cs typeface="+mn-cs"/>
              </a:rPr>
              <a:t> to show up future developments that may help us further refine our models for the questions that we care about. One principle I bring forward is that in setting up statistical models of knowledge, our theories and aims are generally more important than the details of empirical data, although there may be boundaries to this perspective – but where are these exactly?</a:t>
            </a:r>
            <a:endParaRPr lang="de-D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de-DE" sz="12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78</a:t>
            </a:fld>
            <a:endParaRPr lang="de-DE"/>
          </a:p>
        </p:txBody>
      </p:sp>
    </p:spTree>
    <p:extLst>
      <p:ext uri="{BB962C8B-B14F-4D97-AF65-F5344CB8AC3E}">
        <p14:creationId xmlns:p14="http://schemas.microsoft.com/office/powerpoint/2010/main" val="22519854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How</a:t>
            </a:r>
            <a:r>
              <a:rPr lang="de-DE" dirty="0"/>
              <a:t> </a:t>
            </a:r>
            <a:r>
              <a:rPr lang="de-DE" dirty="0" err="1"/>
              <a:t>does</a:t>
            </a:r>
            <a:r>
              <a:rPr lang="de-DE" dirty="0"/>
              <a:t> </a:t>
            </a:r>
            <a:r>
              <a:rPr lang="de-DE" dirty="0" err="1"/>
              <a:t>it</a:t>
            </a:r>
            <a:r>
              <a:rPr lang="de-DE" dirty="0"/>
              <a:t> </a:t>
            </a:r>
            <a:r>
              <a:rPr lang="de-DE" dirty="0" err="1"/>
              <a:t>develop</a:t>
            </a:r>
            <a:r>
              <a:rPr lang="de-DE" dirty="0"/>
              <a:t>, </a:t>
            </a:r>
            <a:r>
              <a:rPr lang="de-DE" dirty="0" err="1"/>
              <a:t>how</a:t>
            </a:r>
            <a:r>
              <a:rPr lang="de-DE" dirty="0"/>
              <a:t> do </a:t>
            </a:r>
            <a:r>
              <a:rPr lang="de-DE" dirty="0" err="1"/>
              <a:t>educational</a:t>
            </a:r>
            <a:r>
              <a:rPr lang="de-DE" dirty="0"/>
              <a:t> </a:t>
            </a:r>
            <a:r>
              <a:rPr lang="de-DE" dirty="0" err="1"/>
              <a:t>interventions</a:t>
            </a:r>
            <a:r>
              <a:rPr lang="de-DE" dirty="0"/>
              <a:t> </a:t>
            </a:r>
            <a:r>
              <a:rPr lang="de-DE" dirty="0" err="1"/>
              <a:t>affect</a:t>
            </a:r>
            <a:r>
              <a:rPr lang="de-DE" dirty="0"/>
              <a:t> </a:t>
            </a:r>
            <a:r>
              <a:rPr lang="de-DE" dirty="0" err="1"/>
              <a:t>it</a:t>
            </a:r>
            <a:r>
              <a:rPr lang="de-DE" dirty="0"/>
              <a:t> and </a:t>
            </a:r>
            <a:r>
              <a:rPr lang="de-DE" dirty="0" err="1"/>
              <a:t>how</a:t>
            </a:r>
            <a:r>
              <a:rPr lang="de-DE" dirty="0"/>
              <a:t> </a:t>
            </a:r>
            <a:r>
              <a:rPr lang="de-DE" dirty="0" err="1"/>
              <a:t>does</a:t>
            </a:r>
            <a:r>
              <a:rPr lang="de-DE" dirty="0"/>
              <a:t> </a:t>
            </a:r>
            <a:r>
              <a:rPr lang="de-DE" dirty="0" err="1"/>
              <a:t>it</a:t>
            </a:r>
            <a:r>
              <a:rPr lang="de-DE" dirty="0"/>
              <a:t> </a:t>
            </a:r>
            <a:r>
              <a:rPr lang="de-DE" dirty="0" err="1"/>
              <a:t>change</a:t>
            </a:r>
            <a:r>
              <a:rPr lang="de-DE" dirty="0"/>
              <a:t> </a:t>
            </a:r>
            <a:r>
              <a:rPr lang="de-DE" dirty="0" err="1"/>
              <a:t>the</a:t>
            </a:r>
            <a:r>
              <a:rPr lang="de-DE" dirty="0"/>
              <a:t> </a:t>
            </a:r>
            <a:r>
              <a:rPr lang="de-DE" dirty="0" err="1"/>
              <a:t>effects</a:t>
            </a:r>
            <a:r>
              <a:rPr lang="de-DE" dirty="0"/>
              <a:t> </a:t>
            </a:r>
            <a:r>
              <a:rPr lang="de-DE" dirty="0" err="1"/>
              <a:t>that</a:t>
            </a:r>
            <a:r>
              <a:rPr lang="de-DE" dirty="0"/>
              <a:t> </a:t>
            </a:r>
            <a:r>
              <a:rPr lang="de-DE" dirty="0" err="1"/>
              <a:t>interventions</a:t>
            </a:r>
            <a:r>
              <a:rPr lang="de-DE" dirty="0"/>
              <a:t> such </a:t>
            </a:r>
            <a:r>
              <a:rPr lang="de-DE" dirty="0" err="1"/>
              <a:t>as</a:t>
            </a:r>
            <a:r>
              <a:rPr lang="de-DE" dirty="0"/>
              <a:t> </a:t>
            </a:r>
            <a:r>
              <a:rPr lang="de-DE" dirty="0" err="1"/>
              <a:t>schooling</a:t>
            </a:r>
            <a:r>
              <a:rPr lang="de-DE" dirty="0"/>
              <a:t> </a:t>
            </a:r>
            <a:r>
              <a:rPr lang="de-DE" dirty="0" err="1"/>
              <a:t>have</a:t>
            </a:r>
            <a:r>
              <a:rPr lang="de-DE" dirty="0"/>
              <a:t> on </a:t>
            </a:r>
            <a:r>
              <a:rPr lang="de-DE" dirty="0" err="1"/>
              <a:t>learners</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79</a:t>
            </a:fld>
            <a:endParaRPr lang="de-DE"/>
          </a:p>
        </p:txBody>
      </p:sp>
    </p:spTree>
    <p:extLst>
      <p:ext uri="{BB962C8B-B14F-4D97-AF65-F5344CB8AC3E}">
        <p14:creationId xmlns:p14="http://schemas.microsoft.com/office/powerpoint/2010/main" val="12706720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We</a:t>
            </a:r>
            <a:r>
              <a:rPr lang="de-DE" dirty="0"/>
              <a:t> </a:t>
            </a:r>
            <a:r>
              <a:rPr lang="de-DE" dirty="0" err="1"/>
              <a:t>have</a:t>
            </a:r>
            <a:r>
              <a:rPr lang="de-DE" dirty="0"/>
              <a:t> </a:t>
            </a:r>
            <a:r>
              <a:rPr lang="de-DE" dirty="0" err="1"/>
              <a:t>fuzzy</a:t>
            </a:r>
            <a:r>
              <a:rPr lang="de-DE" dirty="0"/>
              <a:t> </a:t>
            </a:r>
            <a:r>
              <a:rPr lang="de-DE" dirty="0" err="1"/>
              <a:t>conceptions</a:t>
            </a:r>
            <a:r>
              <a:rPr lang="de-DE" dirty="0"/>
              <a:t> such </a:t>
            </a:r>
            <a:r>
              <a:rPr lang="de-DE" dirty="0" err="1"/>
              <a:t>as</a:t>
            </a:r>
            <a:r>
              <a:rPr lang="de-DE" dirty="0"/>
              <a:t> </a:t>
            </a:r>
            <a:r>
              <a:rPr lang="de-DE" dirty="0" err="1"/>
              <a:t>procedural</a:t>
            </a:r>
            <a:r>
              <a:rPr lang="de-DE" dirty="0"/>
              <a:t>, </a:t>
            </a:r>
            <a:r>
              <a:rPr lang="de-DE" dirty="0" err="1"/>
              <a:t>conceptual</a:t>
            </a:r>
            <a:r>
              <a:rPr lang="de-DE" dirty="0"/>
              <a:t>, </a:t>
            </a:r>
            <a:r>
              <a:rPr lang="de-DE" dirty="0" err="1"/>
              <a:t>declarative</a:t>
            </a:r>
            <a:r>
              <a:rPr lang="de-DE" dirty="0"/>
              <a:t>, </a:t>
            </a:r>
            <a:r>
              <a:rPr lang="de-DE" dirty="0" err="1"/>
              <a:t>et.c</a:t>
            </a:r>
            <a:r>
              <a:rPr lang="de-DE" dirty="0"/>
              <a:t> </a:t>
            </a:r>
            <a:r>
              <a:rPr lang="de-DE" dirty="0" err="1"/>
              <a:t>knowledge</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And </a:t>
            </a:r>
            <a:r>
              <a:rPr lang="de-DE" dirty="0" err="1"/>
              <a:t>we</a:t>
            </a:r>
            <a:r>
              <a:rPr lang="de-DE" dirty="0"/>
              <a:t> </a:t>
            </a:r>
            <a:r>
              <a:rPr lang="de-DE" dirty="0" err="1"/>
              <a:t>have</a:t>
            </a:r>
            <a:r>
              <a:rPr lang="de-DE" dirty="0"/>
              <a:t> </a:t>
            </a:r>
            <a:r>
              <a:rPr lang="de-DE" dirty="0" err="1"/>
              <a:t>the</a:t>
            </a:r>
            <a:r>
              <a:rPr lang="de-DE" dirty="0"/>
              <a:t> </a:t>
            </a:r>
            <a:r>
              <a:rPr lang="de-DE" dirty="0" err="1"/>
              <a:t>general</a:t>
            </a:r>
            <a:r>
              <a:rPr lang="de-DE" dirty="0"/>
              <a:t> </a:t>
            </a:r>
            <a:r>
              <a:rPr lang="de-DE" dirty="0" err="1"/>
              <a:t>conception</a:t>
            </a:r>
            <a:r>
              <a:rPr lang="de-DE" dirty="0"/>
              <a:t> </a:t>
            </a:r>
            <a:r>
              <a:rPr lang="de-DE" dirty="0" err="1"/>
              <a:t>that</a:t>
            </a:r>
            <a:r>
              <a:rPr lang="de-DE" dirty="0"/>
              <a:t> </a:t>
            </a:r>
            <a:r>
              <a:rPr lang="de-DE" dirty="0" err="1"/>
              <a:t>knoweldge</a:t>
            </a:r>
            <a:r>
              <a:rPr lang="de-DE" dirty="0"/>
              <a:t> </a:t>
            </a:r>
            <a:r>
              <a:rPr lang="de-DE" dirty="0" err="1"/>
              <a:t>consists</a:t>
            </a:r>
            <a:r>
              <a:rPr lang="de-DE" dirty="0"/>
              <a:t> </a:t>
            </a:r>
            <a:r>
              <a:rPr lang="de-DE" dirty="0" err="1"/>
              <a:t>of</a:t>
            </a:r>
            <a:r>
              <a:rPr lang="de-DE" dirty="0"/>
              <a:t> </a:t>
            </a:r>
            <a:r>
              <a:rPr lang="de-DE" dirty="0" err="1"/>
              <a:t>nodes</a:t>
            </a:r>
            <a:r>
              <a:rPr lang="de-DE" dirty="0"/>
              <a:t> and </a:t>
            </a:r>
            <a:r>
              <a:rPr lang="de-DE" dirty="0" err="1"/>
              <a:t>edges</a:t>
            </a:r>
            <a:r>
              <a:rPr lang="de-DE" dirty="0"/>
              <a:t> – </a:t>
            </a:r>
            <a:r>
              <a:rPr lang="de-DE" dirty="0" err="1"/>
              <a:t>something</a:t>
            </a:r>
            <a:r>
              <a:rPr lang="de-DE" dirty="0"/>
              <a:t> </a:t>
            </a:r>
            <a:r>
              <a:rPr lang="de-DE" dirty="0" err="1"/>
              <a:t>we</a:t>
            </a:r>
            <a:r>
              <a:rPr lang="de-DE" dirty="0"/>
              <a:t> </a:t>
            </a:r>
            <a:r>
              <a:rPr lang="de-DE" dirty="0" err="1"/>
              <a:t>know</a:t>
            </a:r>
            <a:r>
              <a:rPr lang="de-DE" dirty="0"/>
              <a:t> and </a:t>
            </a:r>
            <a:r>
              <a:rPr lang="de-DE" dirty="0" err="1"/>
              <a:t>the</a:t>
            </a:r>
            <a:r>
              <a:rPr lang="de-DE" dirty="0"/>
              <a:t> </a:t>
            </a:r>
            <a:r>
              <a:rPr lang="de-DE" dirty="0" err="1"/>
              <a:t>relations</a:t>
            </a:r>
            <a:r>
              <a:rPr lang="de-DE" dirty="0"/>
              <a:t> </a:t>
            </a:r>
            <a:r>
              <a:rPr lang="de-DE" dirty="0" err="1"/>
              <a:t>between</a:t>
            </a:r>
            <a:r>
              <a:rPr lang="de-DE" dirty="0"/>
              <a:t> </a:t>
            </a:r>
            <a:r>
              <a:rPr lang="de-DE" dirty="0" err="1"/>
              <a:t>knowledge</a:t>
            </a:r>
            <a:r>
              <a:rPr lang="de-DE" dirty="0"/>
              <a:t> </a:t>
            </a:r>
            <a:r>
              <a:rPr lang="de-DE" dirty="0" err="1"/>
              <a:t>pieces</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My</a:t>
            </a:r>
            <a:r>
              <a:rPr lang="de-DE" dirty="0"/>
              <a:t> </a:t>
            </a:r>
            <a:r>
              <a:rPr lang="de-DE" dirty="0" err="1"/>
              <a:t>point</a:t>
            </a:r>
            <a:r>
              <a:rPr lang="de-DE" dirty="0"/>
              <a:t>: </a:t>
            </a:r>
            <a:r>
              <a:rPr lang="de-DE" dirty="0" err="1"/>
              <a:t>There</a:t>
            </a:r>
            <a:r>
              <a:rPr lang="de-DE" dirty="0"/>
              <a:t> </a:t>
            </a:r>
            <a:r>
              <a:rPr lang="de-DE" dirty="0" err="1"/>
              <a:t>is</a:t>
            </a:r>
            <a:r>
              <a:rPr lang="de-DE" dirty="0"/>
              <a:t> </a:t>
            </a:r>
            <a:r>
              <a:rPr lang="de-DE" dirty="0" err="1"/>
              <a:t>something</a:t>
            </a:r>
            <a:r>
              <a:rPr lang="de-DE" dirty="0"/>
              <a:t> </a:t>
            </a:r>
            <a:r>
              <a:rPr lang="de-DE" dirty="0" err="1"/>
              <a:t>missing</a:t>
            </a:r>
            <a:r>
              <a:rPr lang="de-DE" dirty="0"/>
              <a:t> in </a:t>
            </a:r>
            <a:r>
              <a:rPr lang="de-DE" dirty="0" err="1"/>
              <a:t>between</a:t>
            </a:r>
            <a:r>
              <a:rPr lang="de-DE" dirty="0"/>
              <a:t> – </a:t>
            </a:r>
            <a:r>
              <a:rPr lang="de-DE" dirty="0" err="1"/>
              <a:t>Paast</a:t>
            </a:r>
            <a:r>
              <a:rPr lang="de-DE" dirty="0"/>
              <a:t> </a:t>
            </a:r>
            <a:r>
              <a:rPr lang="de-DE" dirty="0" err="1"/>
              <a:t>had</a:t>
            </a:r>
            <a:r>
              <a:rPr lang="de-DE" dirty="0"/>
              <a:t> </a:t>
            </a:r>
            <a:r>
              <a:rPr lang="de-DE" dirty="0" err="1"/>
              <a:t>this</a:t>
            </a:r>
            <a:r>
              <a:rPr lang="de-DE" dirty="0"/>
              <a:t> </a:t>
            </a:r>
            <a:r>
              <a:rPr lang="de-DE" dirty="0" err="1"/>
              <a:t>very</a:t>
            </a:r>
            <a:r>
              <a:rPr lang="de-DE" dirty="0"/>
              <a:t> </a:t>
            </a:r>
            <a:r>
              <a:rPr lang="de-DE" dirty="0" err="1"/>
              <a:t>general</a:t>
            </a:r>
            <a:r>
              <a:rPr lang="de-DE" dirty="0"/>
              <a:t> </a:t>
            </a:r>
            <a:r>
              <a:rPr lang="de-DE" dirty="0" err="1"/>
              <a:t>distinction</a:t>
            </a:r>
            <a:r>
              <a:rPr lang="de-DE" dirty="0"/>
              <a:t> </a:t>
            </a:r>
            <a:r>
              <a:rPr lang="de-DE" dirty="0" err="1"/>
              <a:t>between</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 but </a:t>
            </a:r>
            <a:r>
              <a:rPr lang="de-DE" dirty="0" err="1"/>
              <a:t>the</a:t>
            </a:r>
            <a:r>
              <a:rPr lang="de-DE" dirty="0"/>
              <a:t> </a:t>
            </a:r>
            <a:r>
              <a:rPr lang="de-DE" dirty="0" err="1"/>
              <a:t>nodes</a:t>
            </a:r>
            <a:r>
              <a:rPr lang="de-DE" dirty="0"/>
              <a:t>-and-</a:t>
            </a:r>
            <a:r>
              <a:rPr lang="de-DE" dirty="0" err="1"/>
              <a:t>edges</a:t>
            </a:r>
            <a:r>
              <a:rPr lang="de-DE" dirty="0"/>
              <a:t> </a:t>
            </a:r>
            <a:r>
              <a:rPr lang="de-DE" dirty="0" err="1"/>
              <a:t>view</a:t>
            </a:r>
            <a:r>
              <a:rPr lang="de-DE" dirty="0"/>
              <a:t> </a:t>
            </a:r>
            <a:r>
              <a:rPr lang="de-DE" dirty="0" err="1"/>
              <a:t>is</a:t>
            </a:r>
            <a:r>
              <a:rPr lang="de-DE" dirty="0"/>
              <a:t> an </a:t>
            </a:r>
            <a:r>
              <a:rPr lang="de-DE" dirty="0" err="1"/>
              <a:t>untestable</a:t>
            </a:r>
            <a:r>
              <a:rPr lang="de-DE" dirty="0"/>
              <a:t> meta-</a:t>
            </a:r>
            <a:r>
              <a:rPr lang="de-DE" dirty="0" err="1"/>
              <a:t>theory</a:t>
            </a:r>
            <a:r>
              <a:rPr lang="de-DE" dirty="0"/>
              <a:t>, </a:t>
            </a:r>
            <a:r>
              <a:rPr lang="de-DE" dirty="0" err="1"/>
              <a:t>the</a:t>
            </a:r>
            <a:r>
              <a:rPr lang="de-DE" dirty="0"/>
              <a:t> </a:t>
            </a:r>
            <a:r>
              <a:rPr lang="de-DE" dirty="0" err="1"/>
              <a:t>other</a:t>
            </a:r>
            <a:r>
              <a:rPr lang="de-DE" dirty="0"/>
              <a:t> </a:t>
            </a:r>
            <a:r>
              <a:rPr lang="de-DE" dirty="0" err="1"/>
              <a:t>types</a:t>
            </a:r>
            <a:r>
              <a:rPr lang="de-DE" dirty="0"/>
              <a:t> </a:t>
            </a:r>
            <a:r>
              <a:rPr lang="de-DE" dirty="0" err="1"/>
              <a:t>are</a:t>
            </a:r>
            <a:r>
              <a:rPr lang="de-DE" dirty="0"/>
              <a:t> </a:t>
            </a:r>
            <a:r>
              <a:rPr lang="de-DE" dirty="0" err="1"/>
              <a:t>too</a:t>
            </a:r>
            <a:r>
              <a:rPr lang="de-DE" dirty="0"/>
              <a:t> </a:t>
            </a:r>
            <a:r>
              <a:rPr lang="de-DE" dirty="0" err="1"/>
              <a:t>untestable</a:t>
            </a:r>
            <a:r>
              <a:rPr lang="de-DE" dirty="0"/>
              <a:t>, </a:t>
            </a:r>
            <a:r>
              <a:rPr lang="de-DE" dirty="0" err="1"/>
              <a:t>because</a:t>
            </a:r>
            <a:r>
              <a:rPr lang="de-DE" dirty="0"/>
              <a:t> </a:t>
            </a:r>
            <a:r>
              <a:rPr lang="de-DE" dirty="0" err="1"/>
              <a:t>they</a:t>
            </a:r>
            <a:r>
              <a:rPr lang="de-DE" dirty="0"/>
              <a:t> </a:t>
            </a:r>
            <a:r>
              <a:rPr lang="de-DE" dirty="0" err="1"/>
              <a:t>are</a:t>
            </a:r>
            <a:r>
              <a:rPr lang="de-DE" dirty="0"/>
              <a:t> </a:t>
            </a:r>
            <a:r>
              <a:rPr lang="de-DE" dirty="0" err="1"/>
              <a:t>conceptions</a:t>
            </a:r>
            <a:r>
              <a:rPr lang="de-DE" dirty="0"/>
              <a:t>, not </a:t>
            </a:r>
            <a:r>
              <a:rPr lang="de-DE" dirty="0" err="1"/>
              <a:t>assumptions</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err="1"/>
              <a:t>We</a:t>
            </a:r>
            <a:r>
              <a:rPr lang="de-DE" dirty="0"/>
              <a:t> </a:t>
            </a:r>
            <a:r>
              <a:rPr lang="de-DE" dirty="0" err="1"/>
              <a:t>need</a:t>
            </a:r>
            <a:r>
              <a:rPr lang="de-DE" dirty="0"/>
              <a:t> a „</a:t>
            </a:r>
            <a:r>
              <a:rPr lang="de-DE" dirty="0" err="1"/>
              <a:t>system</a:t>
            </a:r>
            <a:r>
              <a:rPr lang="de-DE" dirty="0"/>
              <a:t>“ in </a:t>
            </a:r>
            <a:r>
              <a:rPr lang="de-DE" dirty="0" err="1"/>
              <a:t>between</a:t>
            </a:r>
            <a:r>
              <a:rPr lang="de-DE" dirty="0"/>
              <a:t> </a:t>
            </a:r>
            <a:r>
              <a:rPr lang="de-DE" dirty="0" err="1"/>
              <a:t>that</a:t>
            </a:r>
            <a:r>
              <a:rPr lang="de-DE" dirty="0"/>
              <a:t> </a:t>
            </a:r>
            <a:r>
              <a:rPr lang="de-DE" dirty="0" err="1"/>
              <a:t>underlies</a:t>
            </a:r>
            <a:r>
              <a:rPr lang="de-DE" dirty="0"/>
              <a:t> all </a:t>
            </a:r>
            <a:r>
              <a:rPr lang="de-DE" dirty="0" err="1"/>
              <a:t>the</a:t>
            </a:r>
            <a:r>
              <a:rPr lang="de-DE" dirty="0"/>
              <a:t> different </a:t>
            </a:r>
            <a:r>
              <a:rPr lang="de-DE" dirty="0" err="1"/>
              <a:t>kinds</a:t>
            </a:r>
            <a:r>
              <a:rPr lang="de-DE" dirty="0"/>
              <a:t> and </a:t>
            </a:r>
            <a:r>
              <a:rPr lang="de-DE" dirty="0" err="1"/>
              <a:t>qualities</a:t>
            </a:r>
            <a:r>
              <a:rPr lang="de-DE" dirty="0"/>
              <a:t> </a:t>
            </a:r>
            <a:r>
              <a:rPr lang="de-DE" dirty="0" err="1"/>
              <a:t>of</a:t>
            </a:r>
            <a:r>
              <a:rPr lang="de-DE" dirty="0"/>
              <a:t> </a:t>
            </a:r>
            <a:r>
              <a:rPr lang="de-DE" dirty="0" err="1"/>
              <a:t>knowledge</a:t>
            </a:r>
            <a:r>
              <a:rPr lang="de-DE" dirty="0"/>
              <a:t> and </a:t>
            </a:r>
            <a:r>
              <a:rPr lang="de-DE" dirty="0" err="1"/>
              <a:t>allows</a:t>
            </a:r>
            <a:r>
              <a:rPr lang="de-DE" dirty="0"/>
              <a:t> </a:t>
            </a:r>
            <a:r>
              <a:rPr lang="de-DE" dirty="0" err="1"/>
              <a:t>testable</a:t>
            </a:r>
            <a:r>
              <a:rPr lang="de-DE" dirty="0"/>
              <a:t> </a:t>
            </a:r>
            <a:r>
              <a:rPr lang="de-DE" dirty="0" err="1"/>
              <a:t>predictions</a:t>
            </a:r>
            <a:r>
              <a:rPr lang="de-DE" dirty="0"/>
              <a:t> – a </a:t>
            </a:r>
            <a:r>
              <a:rPr lang="de-DE" dirty="0" err="1"/>
              <a:t>theory</a:t>
            </a:r>
            <a:r>
              <a:rPr lang="de-DE" dirty="0"/>
              <a:t> </a:t>
            </a:r>
            <a:r>
              <a:rPr lang="de-DE" dirty="0" err="1"/>
              <a:t>of</a:t>
            </a:r>
            <a:r>
              <a:rPr lang="de-DE" dirty="0"/>
              <a:t> </a:t>
            </a:r>
            <a:r>
              <a:rPr lang="de-DE" dirty="0" err="1"/>
              <a:t>knowledge</a:t>
            </a:r>
            <a:r>
              <a:rPr lang="de-DE"/>
              <a:t>?</a:t>
            </a:r>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80</a:t>
            </a:fld>
            <a:endParaRPr lang="de-DE"/>
          </a:p>
        </p:txBody>
      </p:sp>
    </p:spTree>
    <p:extLst>
      <p:ext uri="{BB962C8B-B14F-4D97-AF65-F5344CB8AC3E}">
        <p14:creationId xmlns:p14="http://schemas.microsoft.com/office/powerpoint/2010/main" val="42935778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To</a:t>
            </a:r>
            <a:r>
              <a:rPr lang="de-DE" dirty="0"/>
              <a:t> </a:t>
            </a:r>
            <a:r>
              <a:rPr lang="de-DE" dirty="0" err="1"/>
              <a:t>answer</a:t>
            </a:r>
            <a:r>
              <a:rPr lang="de-DE" dirty="0"/>
              <a:t> </a:t>
            </a:r>
            <a:r>
              <a:rPr lang="de-DE" dirty="0" err="1"/>
              <a:t>these</a:t>
            </a:r>
            <a:r>
              <a:rPr lang="de-DE" dirty="0"/>
              <a:t> </a:t>
            </a:r>
            <a:r>
              <a:rPr lang="de-DE" dirty="0" err="1"/>
              <a:t>questions</a:t>
            </a:r>
            <a:r>
              <a:rPr lang="de-DE" dirty="0"/>
              <a:t>, </a:t>
            </a:r>
            <a:r>
              <a:rPr lang="de-DE" dirty="0" err="1"/>
              <a:t>we</a:t>
            </a:r>
            <a:r>
              <a:rPr lang="de-DE" dirty="0"/>
              <a:t> </a:t>
            </a:r>
            <a:r>
              <a:rPr lang="de-DE" dirty="0" err="1"/>
              <a:t>often</a:t>
            </a:r>
            <a:r>
              <a:rPr lang="de-DE" dirty="0"/>
              <a:t> </a:t>
            </a:r>
            <a:r>
              <a:rPr lang="de-DE" dirty="0" err="1"/>
              <a:t>use</a:t>
            </a:r>
            <a:r>
              <a:rPr lang="de-DE" dirty="0"/>
              <a:t> </a:t>
            </a:r>
            <a:r>
              <a:rPr lang="de-DE" dirty="0" err="1"/>
              <a:t>statistical</a:t>
            </a:r>
            <a:r>
              <a:rPr lang="de-DE" dirty="0"/>
              <a:t> </a:t>
            </a:r>
            <a:r>
              <a:rPr lang="de-DE" dirty="0" err="1"/>
              <a:t>models</a:t>
            </a:r>
            <a:r>
              <a:rPr lang="de-DE" dirty="0"/>
              <a:t> </a:t>
            </a:r>
            <a:r>
              <a:rPr lang="de-DE" dirty="0" err="1"/>
              <a:t>that</a:t>
            </a:r>
            <a:r>
              <a:rPr lang="de-DE" dirty="0"/>
              <a:t> </a:t>
            </a:r>
            <a:r>
              <a:rPr lang="de-DE" dirty="0" err="1"/>
              <a:t>help</a:t>
            </a:r>
            <a:r>
              <a:rPr lang="de-DE" dirty="0"/>
              <a:t> </a:t>
            </a:r>
            <a:r>
              <a:rPr lang="de-DE" dirty="0" err="1"/>
              <a:t>us</a:t>
            </a:r>
            <a:r>
              <a:rPr lang="de-DE" dirty="0"/>
              <a:t> </a:t>
            </a:r>
            <a:r>
              <a:rPr lang="de-DE" dirty="0" err="1"/>
              <a:t>represent</a:t>
            </a:r>
            <a:r>
              <a:rPr lang="de-DE" dirty="0"/>
              <a:t> </a:t>
            </a:r>
            <a:r>
              <a:rPr lang="de-DE" dirty="0" err="1"/>
              <a:t>data</a:t>
            </a:r>
            <a:r>
              <a:rPr lang="de-DE" dirty="0"/>
              <a:t> </a:t>
            </a:r>
            <a:r>
              <a:rPr lang="de-DE" dirty="0" err="1"/>
              <a:t>about</a:t>
            </a:r>
            <a:r>
              <a:rPr lang="de-DE" dirty="0"/>
              <a:t> </a:t>
            </a:r>
            <a:r>
              <a:rPr lang="de-DE" dirty="0" err="1"/>
              <a:t>learners</a:t>
            </a:r>
            <a:r>
              <a:rPr lang="de-DE" dirty="0"/>
              <a:t>` </a:t>
            </a:r>
            <a:r>
              <a:rPr lang="de-DE" dirty="0" err="1"/>
              <a:t>knowledge</a:t>
            </a:r>
            <a:r>
              <a:rPr lang="de-DE" dirty="0"/>
              <a:t>.</a:t>
            </a:r>
          </a:p>
          <a:p>
            <a:r>
              <a:rPr lang="de-DE" dirty="0" err="1"/>
              <a:t>We</a:t>
            </a:r>
            <a:r>
              <a:rPr lang="de-DE" dirty="0"/>
              <a:t> </a:t>
            </a:r>
            <a:r>
              <a:rPr lang="de-DE" dirty="0" err="1"/>
              <a:t>have</a:t>
            </a:r>
            <a:r>
              <a:rPr lang="de-DE" dirty="0"/>
              <a:t> a </a:t>
            </a:r>
            <a:r>
              <a:rPr lang="de-DE" dirty="0" err="1"/>
              <a:t>theory</a:t>
            </a:r>
            <a:r>
              <a:rPr lang="de-DE" dirty="0"/>
              <a:t>, </a:t>
            </a:r>
            <a:r>
              <a:rPr lang="de-DE" dirty="0" err="1"/>
              <a:t>or</a:t>
            </a:r>
            <a:r>
              <a:rPr lang="de-DE" dirty="0"/>
              <a:t> </a:t>
            </a:r>
            <a:r>
              <a:rPr lang="de-DE" dirty="0" err="1"/>
              <a:t>theoretical</a:t>
            </a:r>
            <a:r>
              <a:rPr lang="de-DE" dirty="0"/>
              <a:t> </a:t>
            </a:r>
            <a:r>
              <a:rPr lang="de-DE" dirty="0" err="1"/>
              <a:t>model</a:t>
            </a:r>
            <a:r>
              <a:rPr lang="de-DE" dirty="0"/>
              <a:t>, </a:t>
            </a:r>
            <a:r>
              <a:rPr lang="de-DE" dirty="0" err="1"/>
              <a:t>of</a:t>
            </a:r>
            <a:r>
              <a:rPr lang="de-DE" dirty="0"/>
              <a:t> </a:t>
            </a:r>
            <a:r>
              <a:rPr lang="de-DE" dirty="0" err="1"/>
              <a:t>knowledge</a:t>
            </a:r>
            <a:r>
              <a:rPr lang="de-DE" dirty="0"/>
              <a:t>.</a:t>
            </a:r>
          </a:p>
          <a:p>
            <a:r>
              <a:rPr lang="de-DE" dirty="0"/>
              <a:t>Here, I </a:t>
            </a:r>
            <a:r>
              <a:rPr lang="de-DE" dirty="0" err="1"/>
              <a:t>distinguish</a:t>
            </a:r>
            <a:r>
              <a:rPr lang="de-DE" dirty="0"/>
              <a:t> </a:t>
            </a:r>
            <a:r>
              <a:rPr lang="de-DE" dirty="0" err="1"/>
              <a:t>between</a:t>
            </a:r>
            <a:r>
              <a:rPr lang="de-DE" dirty="0"/>
              <a:t> </a:t>
            </a:r>
            <a:r>
              <a:rPr lang="de-DE" dirty="0" err="1"/>
              <a:t>knowledge</a:t>
            </a:r>
            <a:r>
              <a:rPr lang="de-DE" dirty="0"/>
              <a:t> meta-</a:t>
            </a:r>
            <a:r>
              <a:rPr lang="de-DE" dirty="0" err="1"/>
              <a:t>theory</a:t>
            </a:r>
            <a:r>
              <a:rPr lang="de-DE" dirty="0"/>
              <a:t> and </a:t>
            </a:r>
            <a:r>
              <a:rPr lang="de-DE" dirty="0" err="1"/>
              <a:t>knowledge</a:t>
            </a:r>
            <a:r>
              <a:rPr lang="de-DE" dirty="0"/>
              <a:t> </a:t>
            </a:r>
            <a:r>
              <a:rPr lang="de-DE" dirty="0" err="1"/>
              <a:t>theory</a:t>
            </a:r>
            <a:r>
              <a:rPr lang="de-DE" dirty="0"/>
              <a:t>:</a:t>
            </a:r>
          </a:p>
          <a:p>
            <a:r>
              <a:rPr lang="de-DE" dirty="0"/>
              <a:t>General </a:t>
            </a:r>
            <a:r>
              <a:rPr lang="de-DE" dirty="0" err="1"/>
              <a:t>characteristics</a:t>
            </a:r>
            <a:r>
              <a:rPr lang="de-DE" dirty="0"/>
              <a:t> </a:t>
            </a:r>
            <a:r>
              <a:rPr lang="de-DE" dirty="0" err="1"/>
              <a:t>of</a:t>
            </a:r>
            <a:r>
              <a:rPr lang="de-DE" dirty="0"/>
              <a:t> </a:t>
            </a:r>
            <a:r>
              <a:rPr lang="de-DE" dirty="0" err="1"/>
              <a:t>anything</a:t>
            </a:r>
            <a:r>
              <a:rPr lang="de-DE" dirty="0"/>
              <a:t> </a:t>
            </a:r>
            <a:r>
              <a:rPr lang="de-DE" dirty="0" err="1"/>
              <a:t>that</a:t>
            </a:r>
            <a:r>
              <a:rPr lang="de-DE" dirty="0"/>
              <a:t> falls </a:t>
            </a:r>
            <a:r>
              <a:rPr lang="de-DE" dirty="0" err="1"/>
              <a:t>within</a:t>
            </a:r>
            <a:r>
              <a:rPr lang="de-DE" dirty="0"/>
              <a:t> </a:t>
            </a:r>
            <a:r>
              <a:rPr lang="de-DE" dirty="0" err="1"/>
              <a:t>our</a:t>
            </a:r>
            <a:r>
              <a:rPr lang="de-DE" dirty="0"/>
              <a:t> </a:t>
            </a:r>
            <a:r>
              <a:rPr lang="de-DE" dirty="0" err="1"/>
              <a:t>definition</a:t>
            </a:r>
            <a:r>
              <a:rPr lang="de-DE" dirty="0"/>
              <a:t> </a:t>
            </a:r>
            <a:r>
              <a:rPr lang="de-DE" dirty="0" err="1"/>
              <a:t>of</a:t>
            </a:r>
            <a:r>
              <a:rPr lang="de-DE" dirty="0"/>
              <a:t> </a:t>
            </a:r>
            <a:r>
              <a:rPr lang="de-DE" dirty="0" err="1"/>
              <a:t>knowledge</a:t>
            </a:r>
            <a:r>
              <a:rPr lang="de-DE" dirty="0"/>
              <a:t> </a:t>
            </a:r>
            <a:r>
              <a:rPr lang="de-DE" dirty="0" err="1"/>
              <a:t>is</a:t>
            </a:r>
            <a:r>
              <a:rPr lang="de-DE" dirty="0"/>
              <a:t> </a:t>
            </a:r>
            <a:r>
              <a:rPr lang="de-DE" dirty="0" err="1"/>
              <a:t>our</a:t>
            </a:r>
            <a:r>
              <a:rPr lang="de-DE" dirty="0"/>
              <a:t> </a:t>
            </a:r>
            <a:r>
              <a:rPr lang="de-DE" dirty="0" err="1"/>
              <a:t>knowledge</a:t>
            </a:r>
            <a:r>
              <a:rPr lang="de-DE" dirty="0"/>
              <a:t> meta-</a:t>
            </a:r>
            <a:r>
              <a:rPr lang="de-DE" dirty="0" err="1"/>
              <a:t>theory</a:t>
            </a:r>
            <a:r>
              <a:rPr lang="de-DE" dirty="0"/>
              <a:t>.</a:t>
            </a:r>
          </a:p>
          <a:p>
            <a:r>
              <a:rPr lang="de-DE" dirty="0" err="1"/>
              <a:t>Our</a:t>
            </a:r>
            <a:r>
              <a:rPr lang="de-DE" dirty="0"/>
              <a:t> </a:t>
            </a:r>
            <a:r>
              <a:rPr lang="de-DE" dirty="0" err="1"/>
              <a:t>knowledge</a:t>
            </a:r>
            <a:r>
              <a:rPr lang="de-DE" dirty="0"/>
              <a:t> </a:t>
            </a:r>
            <a:r>
              <a:rPr lang="de-DE" dirty="0" err="1"/>
              <a:t>theory</a:t>
            </a:r>
            <a:r>
              <a:rPr lang="de-DE" dirty="0"/>
              <a:t>:</a:t>
            </a:r>
          </a:p>
          <a:p>
            <a:r>
              <a:rPr lang="de-DE" dirty="0" err="1"/>
              <a:t>Specific</a:t>
            </a:r>
            <a:r>
              <a:rPr lang="de-DE" dirty="0"/>
              <a:t> </a:t>
            </a:r>
            <a:r>
              <a:rPr lang="de-DE" dirty="0" err="1"/>
              <a:t>assumptions</a:t>
            </a:r>
            <a:r>
              <a:rPr lang="de-DE" dirty="0"/>
              <a:t> </a:t>
            </a:r>
            <a:r>
              <a:rPr lang="de-DE" dirty="0" err="1"/>
              <a:t>regarding</a:t>
            </a:r>
            <a:r>
              <a:rPr lang="de-DE" dirty="0"/>
              <a:t> </a:t>
            </a:r>
            <a:r>
              <a:rPr lang="de-DE" dirty="0" err="1"/>
              <a:t>knowledge</a:t>
            </a:r>
            <a:r>
              <a:rPr lang="de-DE" dirty="0"/>
              <a:t> and </a:t>
            </a:r>
            <a:r>
              <a:rPr lang="de-DE" dirty="0" err="1"/>
              <a:t>its</a:t>
            </a:r>
            <a:r>
              <a:rPr lang="de-DE" dirty="0"/>
              <a:t> </a:t>
            </a:r>
            <a:r>
              <a:rPr lang="de-DE" dirty="0" err="1"/>
              <a:t>characteristics</a:t>
            </a:r>
            <a:r>
              <a:rPr lang="de-DE" dirty="0"/>
              <a:t> </a:t>
            </a:r>
            <a:r>
              <a:rPr lang="de-DE" dirty="0" err="1"/>
              <a:t>within</a:t>
            </a:r>
            <a:r>
              <a:rPr lang="de-DE" dirty="0"/>
              <a:t> </a:t>
            </a:r>
            <a:r>
              <a:rPr lang="de-DE" dirty="0" err="1"/>
              <a:t>our</a:t>
            </a:r>
            <a:r>
              <a:rPr lang="de-DE" dirty="0"/>
              <a:t> </a:t>
            </a:r>
            <a:r>
              <a:rPr lang="de-DE" dirty="0" err="1"/>
              <a:t>research</a:t>
            </a:r>
            <a:r>
              <a:rPr lang="de-DE" dirty="0"/>
              <a:t> </a:t>
            </a:r>
            <a:r>
              <a:rPr lang="de-DE" dirty="0" err="1"/>
              <a:t>domain</a:t>
            </a:r>
            <a:r>
              <a:rPr lang="de-DE" dirty="0"/>
              <a:t>.</a:t>
            </a:r>
          </a:p>
          <a:p>
            <a:r>
              <a:rPr lang="de-DE" dirty="0" err="1"/>
              <a:t>Pe</a:t>
            </a:r>
            <a:r>
              <a:rPr lang="de-DE" dirty="0"/>
              <a:t>: Domain meta-</a:t>
            </a:r>
            <a:r>
              <a:rPr lang="de-DE" dirty="0" err="1"/>
              <a:t>theory</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81</a:t>
            </a:fld>
            <a:endParaRPr lang="de-DE"/>
          </a:p>
        </p:txBody>
      </p:sp>
    </p:spTree>
    <p:extLst>
      <p:ext uri="{BB962C8B-B14F-4D97-AF65-F5344CB8AC3E}">
        <p14:creationId xmlns:p14="http://schemas.microsoft.com/office/powerpoint/2010/main" val="22421299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82</a:t>
            </a:fld>
            <a:endParaRPr lang="de-DE"/>
          </a:p>
        </p:txBody>
      </p:sp>
    </p:spTree>
    <p:extLst>
      <p:ext uri="{BB962C8B-B14F-4D97-AF65-F5344CB8AC3E}">
        <p14:creationId xmlns:p14="http://schemas.microsoft.com/office/powerpoint/2010/main" val="32147588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83</a:t>
            </a:fld>
            <a:endParaRPr lang="de-DE"/>
          </a:p>
        </p:txBody>
      </p:sp>
    </p:spTree>
    <p:extLst>
      <p:ext uri="{BB962C8B-B14F-4D97-AF65-F5344CB8AC3E}">
        <p14:creationId xmlns:p14="http://schemas.microsoft.com/office/powerpoint/2010/main" val="30304391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and </a:t>
            </a:r>
            <a:r>
              <a:rPr lang="de-DE" dirty="0" err="1"/>
              <a:t>welcome</a:t>
            </a:r>
            <a:r>
              <a:rPr lang="de-DE" dirty="0"/>
              <a:t>!</a:t>
            </a:r>
          </a:p>
        </p:txBody>
      </p:sp>
      <p:sp>
        <p:nvSpPr>
          <p:cNvPr id="4" name="Foliennummernplatzhalter 3"/>
          <p:cNvSpPr>
            <a:spLocks noGrp="1"/>
          </p:cNvSpPr>
          <p:nvPr>
            <p:ph type="sldNum" sz="quarter" idx="5"/>
          </p:nvPr>
        </p:nvSpPr>
        <p:spPr/>
        <p:txBody>
          <a:bodyPr/>
          <a:lstStyle/>
          <a:p>
            <a:fld id="{5F3851DE-F466-402D-BCCE-A21736686A05}" type="slidenum">
              <a:rPr lang="de-DE" smtClean="0"/>
              <a:t>84</a:t>
            </a:fld>
            <a:endParaRPr lang="de-DE"/>
          </a:p>
        </p:txBody>
      </p:sp>
    </p:spTree>
    <p:extLst>
      <p:ext uri="{BB962C8B-B14F-4D97-AF65-F5344CB8AC3E}">
        <p14:creationId xmlns:p14="http://schemas.microsoft.com/office/powerpoint/2010/main" val="8679834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85</a:t>
            </a:fld>
            <a:endParaRPr lang="de-DE"/>
          </a:p>
        </p:txBody>
      </p:sp>
    </p:spTree>
    <p:extLst>
      <p:ext uri="{BB962C8B-B14F-4D97-AF65-F5344CB8AC3E}">
        <p14:creationId xmlns:p14="http://schemas.microsoft.com/office/powerpoint/2010/main" val="28996566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86</a:t>
            </a:fld>
            <a:endParaRPr lang="de-DE"/>
          </a:p>
        </p:txBody>
      </p:sp>
    </p:spTree>
    <p:extLst>
      <p:ext uri="{BB962C8B-B14F-4D97-AF65-F5344CB8AC3E}">
        <p14:creationId xmlns:p14="http://schemas.microsoft.com/office/powerpoint/2010/main" val="36839046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Introduction</a:t>
            </a:r>
            <a:r>
              <a:rPr lang="de-DE" dirty="0"/>
              <a:t>:</a:t>
            </a:r>
          </a:p>
          <a:p>
            <a:r>
              <a:rPr lang="de-DE" dirty="0" err="1"/>
              <a:t>Knoweldge</a:t>
            </a:r>
            <a:r>
              <a:rPr lang="de-DE" dirty="0"/>
              <a:t> </a:t>
            </a:r>
            <a:r>
              <a:rPr lang="de-DE" dirty="0" err="1"/>
              <a:t>as</a:t>
            </a:r>
            <a:r>
              <a:rPr lang="de-DE" dirty="0"/>
              <a:t> still </a:t>
            </a:r>
            <a:r>
              <a:rPr lang="de-DE" dirty="0" err="1"/>
              <a:t>the</a:t>
            </a:r>
            <a:r>
              <a:rPr lang="de-DE" dirty="0"/>
              <a:t> </a:t>
            </a:r>
            <a:r>
              <a:rPr lang="de-DE" dirty="0" err="1"/>
              <a:t>major</a:t>
            </a:r>
            <a:r>
              <a:rPr lang="de-DE" dirty="0"/>
              <a:t> </a:t>
            </a:r>
            <a:r>
              <a:rPr lang="de-DE" dirty="0" err="1"/>
              <a:t>outcome</a:t>
            </a:r>
            <a:r>
              <a:rPr lang="de-DE" dirty="0"/>
              <a:t> </a:t>
            </a:r>
            <a:r>
              <a:rPr lang="de-DE" dirty="0" err="1"/>
              <a:t>among</a:t>
            </a:r>
            <a:r>
              <a:rPr lang="de-DE" dirty="0"/>
              <a:t> </a:t>
            </a:r>
            <a:r>
              <a:rPr lang="de-DE" dirty="0" err="1"/>
              <a:t>competencies</a:t>
            </a:r>
            <a:r>
              <a:rPr lang="de-DE" dirty="0"/>
              <a:t>, </a:t>
            </a:r>
            <a:r>
              <a:rPr lang="de-DE" dirty="0" err="1"/>
              <a:t>skills</a:t>
            </a:r>
            <a:r>
              <a:rPr lang="de-DE" dirty="0"/>
              <a:t>, etc.</a:t>
            </a:r>
          </a:p>
          <a:p>
            <a:r>
              <a:rPr lang="de-DE" dirty="0" err="1"/>
              <a:t>What</a:t>
            </a:r>
            <a:r>
              <a:rPr lang="de-DE" dirty="0"/>
              <a:t> </a:t>
            </a:r>
            <a:r>
              <a:rPr lang="de-DE" dirty="0" err="1"/>
              <a:t>is</a:t>
            </a:r>
            <a:r>
              <a:rPr lang="de-DE" dirty="0"/>
              <a:t> </a:t>
            </a:r>
            <a:r>
              <a:rPr lang="de-DE" dirty="0" err="1"/>
              <a:t>knowledge</a:t>
            </a:r>
            <a:r>
              <a:rPr lang="de-DE" dirty="0"/>
              <a:t>?</a:t>
            </a:r>
          </a:p>
          <a:p>
            <a:r>
              <a:rPr lang="de-DE" dirty="0"/>
              <a:t>Kinds </a:t>
            </a:r>
            <a:r>
              <a:rPr lang="de-DE" dirty="0" err="1"/>
              <a:t>of</a:t>
            </a:r>
            <a:r>
              <a:rPr lang="de-DE" dirty="0"/>
              <a:t> </a:t>
            </a:r>
            <a:r>
              <a:rPr lang="de-DE" dirty="0" err="1"/>
              <a:t>knowledge</a:t>
            </a:r>
            <a:r>
              <a:rPr lang="de-DE" dirty="0"/>
              <a:t>.</a:t>
            </a:r>
          </a:p>
          <a:p>
            <a:r>
              <a:rPr lang="de-DE" dirty="0" err="1"/>
              <a:t>Characteristics</a:t>
            </a:r>
            <a:r>
              <a:rPr lang="de-DE" dirty="0"/>
              <a:t> </a:t>
            </a:r>
            <a:r>
              <a:rPr lang="de-DE" dirty="0" err="1"/>
              <a:t>of</a:t>
            </a:r>
            <a:r>
              <a:rPr lang="de-DE" dirty="0"/>
              <a:t> </a:t>
            </a:r>
            <a:r>
              <a:rPr lang="de-DE" dirty="0" err="1"/>
              <a:t>knowledge</a:t>
            </a:r>
            <a:r>
              <a:rPr lang="de-DE" dirty="0"/>
              <a:t>.</a:t>
            </a:r>
          </a:p>
          <a:p>
            <a:r>
              <a:rPr lang="de-DE" dirty="0"/>
              <a:t>So, </a:t>
            </a:r>
            <a:r>
              <a:rPr lang="de-DE" dirty="0" err="1"/>
              <a:t>how</a:t>
            </a:r>
            <a:r>
              <a:rPr lang="de-DE" dirty="0"/>
              <a:t> do </a:t>
            </a:r>
            <a:r>
              <a:rPr lang="de-DE" dirty="0" err="1"/>
              <a:t>we</a:t>
            </a:r>
            <a:r>
              <a:rPr lang="de-DE" dirty="0"/>
              <a:t> </a:t>
            </a:r>
            <a:r>
              <a:rPr lang="de-DE" dirty="0" err="1"/>
              <a:t>model</a:t>
            </a:r>
            <a:r>
              <a:rPr lang="de-DE" dirty="0"/>
              <a:t> </a:t>
            </a:r>
            <a:r>
              <a:rPr lang="de-DE" dirty="0" err="1"/>
              <a:t>it</a:t>
            </a:r>
            <a:r>
              <a:rPr lang="de-DE" dirty="0"/>
              <a:t>?</a:t>
            </a:r>
          </a:p>
          <a:p>
            <a:r>
              <a:rPr lang="de-DE" dirty="0" err="1"/>
              <a:t>Earlier</a:t>
            </a:r>
            <a:r>
              <a:rPr lang="de-DE" dirty="0"/>
              <a:t> </a:t>
            </a:r>
            <a:r>
              <a:rPr lang="de-DE" dirty="0" err="1"/>
              <a:t>investigations</a:t>
            </a:r>
            <a:r>
              <a:rPr lang="de-DE" dirty="0"/>
              <a:t>: More qualitative</a:t>
            </a:r>
          </a:p>
          <a:p>
            <a:r>
              <a:rPr lang="de-DE" dirty="0" err="1"/>
              <a:t>Then</a:t>
            </a:r>
            <a:r>
              <a:rPr lang="de-DE" dirty="0"/>
              <a:t>: Experiments -&gt; Quantitative</a:t>
            </a:r>
          </a:p>
          <a:p>
            <a:r>
              <a:rPr lang="de-DE" dirty="0" err="1"/>
              <a:t>Sum</a:t>
            </a:r>
            <a:r>
              <a:rPr lang="de-DE" dirty="0"/>
              <a:t> </a:t>
            </a:r>
            <a:r>
              <a:rPr lang="de-DE" dirty="0" err="1"/>
              <a:t>scores</a:t>
            </a:r>
            <a:r>
              <a:rPr lang="de-DE" dirty="0"/>
              <a:t> -&gt; </a:t>
            </a:r>
            <a:r>
              <a:rPr lang="de-DE" dirty="0" err="1"/>
              <a:t>Changes</a:t>
            </a:r>
            <a:r>
              <a:rPr lang="de-DE" dirty="0"/>
              <a:t>.</a:t>
            </a:r>
          </a:p>
          <a:p>
            <a:endParaRPr lang="de-DE" dirty="0"/>
          </a:p>
          <a:p>
            <a:r>
              <a:rPr lang="de-DE" dirty="0"/>
              <a:t>Yesterday:</a:t>
            </a:r>
          </a:p>
          <a:p>
            <a:r>
              <a:rPr lang="de-DE" dirty="0" err="1"/>
              <a:t>We</a:t>
            </a:r>
            <a:r>
              <a:rPr lang="de-DE" dirty="0"/>
              <a:t> </a:t>
            </a:r>
            <a:r>
              <a:rPr lang="de-DE" dirty="0" err="1"/>
              <a:t>modelled</a:t>
            </a:r>
            <a:r>
              <a:rPr lang="de-DE" dirty="0"/>
              <a:t> </a:t>
            </a:r>
            <a:r>
              <a:rPr lang="de-DE" dirty="0" err="1"/>
              <a:t>sum</a:t>
            </a:r>
            <a:r>
              <a:rPr lang="de-DE" dirty="0"/>
              <a:t> </a:t>
            </a:r>
            <a:r>
              <a:rPr lang="de-DE" dirty="0" err="1"/>
              <a:t>scores</a:t>
            </a:r>
            <a:r>
              <a:rPr lang="de-DE" dirty="0"/>
              <a:t>.</a:t>
            </a:r>
          </a:p>
          <a:p>
            <a:r>
              <a:rPr lang="de-DE" dirty="0"/>
              <a:t>(</a:t>
            </a:r>
            <a:r>
              <a:rPr lang="de-DE" dirty="0" err="1"/>
              <a:t>or</a:t>
            </a:r>
            <a:r>
              <a:rPr lang="de-DE" dirty="0"/>
              <a:t> </a:t>
            </a:r>
            <a:r>
              <a:rPr lang="de-DE" dirty="0" err="1"/>
              <a:t>scores</a:t>
            </a:r>
            <a:r>
              <a:rPr lang="de-DE" dirty="0"/>
              <a:t> on individual </a:t>
            </a:r>
            <a:r>
              <a:rPr lang="de-DE" dirty="0" err="1"/>
              <a:t>items</a:t>
            </a:r>
            <a:r>
              <a:rPr lang="de-DE" dirty="0"/>
              <a:t>?)</a:t>
            </a:r>
          </a:p>
          <a:p>
            <a:endParaRPr lang="de-DE" dirty="0"/>
          </a:p>
          <a:p>
            <a:r>
              <a:rPr lang="de-DE" dirty="0"/>
              <a:t>Today:</a:t>
            </a:r>
          </a:p>
          <a:p>
            <a:r>
              <a:rPr lang="de-DE" dirty="0" err="1"/>
              <a:t>We</a:t>
            </a:r>
            <a:r>
              <a:rPr lang="de-DE" dirty="0"/>
              <a:t> do </a:t>
            </a:r>
            <a:r>
              <a:rPr lang="de-DE" dirty="0" err="1"/>
              <a:t>multilevel</a:t>
            </a:r>
            <a:r>
              <a:rPr lang="de-DE" dirty="0"/>
              <a:t> </a:t>
            </a:r>
            <a:r>
              <a:rPr lang="de-DE" dirty="0" err="1"/>
              <a:t>modeling</a:t>
            </a:r>
            <a:r>
              <a:rPr lang="de-DE" dirty="0"/>
              <a:t>:</a:t>
            </a:r>
          </a:p>
          <a:p>
            <a:r>
              <a:rPr lang="de-DE" dirty="0"/>
              <a:t>Individual </a:t>
            </a:r>
            <a:r>
              <a:rPr lang="de-DE" dirty="0" err="1"/>
              <a:t>items</a:t>
            </a:r>
            <a:r>
              <a:rPr lang="de-DE" dirty="0"/>
              <a:t>, individual </a:t>
            </a:r>
            <a:r>
              <a:rPr lang="de-DE" dirty="0" err="1"/>
              <a:t>learners</a:t>
            </a:r>
            <a:r>
              <a:rPr lang="de-DE" dirty="0"/>
              <a:t>, </a:t>
            </a:r>
            <a:r>
              <a:rPr lang="de-DE" dirty="0" err="1"/>
              <a:t>averages</a:t>
            </a:r>
            <a:r>
              <a:rPr lang="de-DE" dirty="0"/>
              <a:t> </a:t>
            </a:r>
            <a:r>
              <a:rPr lang="de-DE" dirty="0" err="1"/>
              <a:t>across</a:t>
            </a:r>
            <a:r>
              <a:rPr lang="de-DE" dirty="0"/>
              <a:t> </a:t>
            </a:r>
            <a:r>
              <a:rPr lang="de-DE" dirty="0" err="1"/>
              <a:t>items</a:t>
            </a:r>
            <a:r>
              <a:rPr lang="de-DE" dirty="0"/>
              <a:t> and </a:t>
            </a:r>
            <a:r>
              <a:rPr lang="de-DE" dirty="0" err="1"/>
              <a:t>across</a:t>
            </a:r>
            <a:r>
              <a:rPr lang="de-DE" dirty="0"/>
              <a:t> </a:t>
            </a:r>
            <a:r>
              <a:rPr lang="de-DE" dirty="0" err="1"/>
              <a:t>learners</a:t>
            </a:r>
            <a:r>
              <a:rPr lang="de-DE" dirty="0"/>
              <a:t>.</a:t>
            </a:r>
          </a:p>
          <a:p>
            <a:r>
              <a:rPr lang="de-DE" dirty="0" err="1"/>
              <a:t>We</a:t>
            </a:r>
            <a:r>
              <a:rPr lang="de-DE" dirty="0"/>
              <a:t> </a:t>
            </a:r>
            <a:r>
              <a:rPr lang="de-DE" dirty="0" err="1"/>
              <a:t>acknowledge</a:t>
            </a:r>
            <a:r>
              <a:rPr lang="de-DE" dirty="0"/>
              <a:t> </a:t>
            </a:r>
            <a:r>
              <a:rPr lang="de-DE" dirty="0" err="1"/>
              <a:t>heterogeneity</a:t>
            </a:r>
            <a:r>
              <a:rPr lang="de-DE" dirty="0"/>
              <a:t> -&gt; in </a:t>
            </a:r>
            <a:r>
              <a:rPr lang="de-DE" dirty="0" err="1"/>
              <a:t>knowledge</a:t>
            </a:r>
            <a:r>
              <a:rPr lang="de-DE" dirty="0"/>
              <a:t> </a:t>
            </a:r>
            <a:r>
              <a:rPr lang="de-DE" dirty="0" err="1"/>
              <a:t>quality</a:t>
            </a:r>
            <a:r>
              <a:rPr lang="de-DE" dirty="0"/>
              <a:t>, </a:t>
            </a:r>
            <a:r>
              <a:rPr lang="de-DE" dirty="0" err="1"/>
              <a:t>quantity</a:t>
            </a:r>
            <a:r>
              <a:rPr lang="de-DE" dirty="0"/>
              <a:t>, and </a:t>
            </a:r>
            <a:r>
              <a:rPr lang="de-DE" dirty="0" err="1"/>
              <a:t>development</a:t>
            </a:r>
            <a:r>
              <a:rPr lang="de-DE" dirty="0"/>
              <a:t>.</a:t>
            </a:r>
          </a:p>
          <a:p>
            <a:endParaRPr lang="de-DE" dirty="0"/>
          </a:p>
          <a:p>
            <a:r>
              <a:rPr lang="de-DE" dirty="0" err="1"/>
              <a:t>We</a:t>
            </a:r>
            <a:r>
              <a:rPr lang="de-DE" dirty="0"/>
              <a:t> </a:t>
            </a:r>
            <a:r>
              <a:rPr lang="de-DE" dirty="0" err="1"/>
              <a:t>acknowledge</a:t>
            </a:r>
            <a:r>
              <a:rPr lang="de-DE" dirty="0"/>
              <a:t> not </a:t>
            </a:r>
            <a:r>
              <a:rPr lang="de-DE" dirty="0" err="1"/>
              <a:t>only</a:t>
            </a:r>
            <a:r>
              <a:rPr lang="de-DE" dirty="0"/>
              <a:t> </a:t>
            </a:r>
            <a:r>
              <a:rPr lang="de-DE" dirty="0" err="1"/>
              <a:t>learners</a:t>
            </a:r>
            <a:r>
              <a:rPr lang="de-DE" dirty="0"/>
              <a:t>, but also </a:t>
            </a:r>
            <a:r>
              <a:rPr lang="de-DE" dirty="0" err="1"/>
              <a:t>the</a:t>
            </a:r>
            <a:r>
              <a:rPr lang="de-DE" dirty="0"/>
              <a:t> </a:t>
            </a:r>
            <a:r>
              <a:rPr lang="de-DE" dirty="0" err="1"/>
              <a:t>knowledge</a:t>
            </a:r>
            <a:r>
              <a:rPr lang="de-DE" dirty="0"/>
              <a:t>, </a:t>
            </a:r>
            <a:r>
              <a:rPr lang="de-DE" dirty="0" err="1"/>
              <a:t>as</a:t>
            </a:r>
            <a:r>
              <a:rPr lang="de-DE" dirty="0"/>
              <a:t> </a:t>
            </a:r>
            <a:r>
              <a:rPr lang="de-DE" dirty="0" err="1"/>
              <a:t>heterogeneous</a:t>
            </a:r>
            <a:r>
              <a:rPr lang="de-DE" dirty="0"/>
              <a:t> (Alpha, formative, single-item </a:t>
            </a:r>
            <a:r>
              <a:rPr lang="de-DE" dirty="0" err="1"/>
              <a:t>random</a:t>
            </a:r>
            <a:r>
              <a:rPr lang="de-DE" dirty="0"/>
              <a:t> </a:t>
            </a:r>
            <a:r>
              <a:rPr lang="de-DE" dirty="0" err="1"/>
              <a:t>effects</a:t>
            </a:r>
            <a:r>
              <a:rPr lang="de-DE" dirty="0"/>
              <a:t>,…)</a:t>
            </a:r>
          </a:p>
          <a:p>
            <a:endParaRPr lang="de-DE" dirty="0"/>
          </a:p>
          <a:p>
            <a:r>
              <a:rPr lang="de-DE" dirty="0"/>
              <a:t>Tomorrow:</a:t>
            </a:r>
          </a:p>
          <a:p>
            <a:r>
              <a:rPr lang="de-DE" dirty="0"/>
              <a:t>Dynamic </a:t>
            </a:r>
            <a:r>
              <a:rPr lang="de-DE" dirty="0" err="1"/>
              <a:t>system</a:t>
            </a:r>
            <a:r>
              <a:rPr lang="de-DE" dirty="0"/>
              <a:t> </a:t>
            </a:r>
            <a:r>
              <a:rPr lang="de-DE" dirty="0" err="1"/>
              <a:t>modeling</a:t>
            </a:r>
            <a:r>
              <a:rPr lang="de-DE" dirty="0"/>
              <a:t>:</a:t>
            </a:r>
          </a:p>
          <a:p>
            <a:r>
              <a:rPr lang="de-DE" dirty="0" err="1"/>
              <a:t>From</a:t>
            </a:r>
            <a:r>
              <a:rPr lang="de-DE" dirty="0"/>
              <a:t> </a:t>
            </a:r>
            <a:r>
              <a:rPr lang="de-DE" dirty="0" err="1"/>
              <a:t>the</a:t>
            </a:r>
            <a:r>
              <a:rPr lang="de-DE" dirty="0"/>
              <a:t> </a:t>
            </a:r>
            <a:r>
              <a:rPr lang="de-DE" dirty="0" err="1"/>
              <a:t>response</a:t>
            </a:r>
            <a:r>
              <a:rPr lang="de-DE" dirty="0"/>
              <a:t> </a:t>
            </a:r>
            <a:r>
              <a:rPr lang="de-DE" dirty="0" err="1"/>
              <a:t>process</a:t>
            </a:r>
            <a:r>
              <a:rPr lang="de-DE" dirty="0"/>
              <a:t> -&gt; e.g., </a:t>
            </a:r>
            <a:r>
              <a:rPr lang="de-DE" dirty="0" err="1"/>
              <a:t>diffusion</a:t>
            </a:r>
            <a:r>
              <a:rPr lang="de-DE" dirty="0"/>
              <a:t>.</a:t>
            </a:r>
          </a:p>
          <a:p>
            <a:endParaRPr lang="de-DE" dirty="0"/>
          </a:p>
        </p:txBody>
      </p:sp>
      <p:sp>
        <p:nvSpPr>
          <p:cNvPr id="4" name="Foliennummernplatzhalter 3"/>
          <p:cNvSpPr>
            <a:spLocks noGrp="1"/>
          </p:cNvSpPr>
          <p:nvPr>
            <p:ph type="sldNum" sz="quarter" idx="5"/>
          </p:nvPr>
        </p:nvSpPr>
        <p:spPr/>
        <p:txBody>
          <a:bodyPr/>
          <a:lstStyle/>
          <a:p>
            <a:fld id="{5F3851DE-F466-402D-BCCE-A21736686A05}" type="slidenum">
              <a:rPr lang="de-DE" smtClean="0"/>
              <a:t>87</a:t>
            </a:fld>
            <a:endParaRPr lang="de-DE"/>
          </a:p>
        </p:txBody>
      </p:sp>
    </p:spTree>
    <p:extLst>
      <p:ext uri="{BB962C8B-B14F-4D97-AF65-F5344CB8AC3E}">
        <p14:creationId xmlns:p14="http://schemas.microsoft.com/office/powerpoint/2010/main" val="40435240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a:t>and the storry</a:t>
            </a:r>
            <a:r>
              <a:rPr lang="de-CH" baseline="0"/>
              <a:t> goes on...</a:t>
            </a:r>
          </a:p>
          <a:p>
            <a:r>
              <a:rPr lang="de-CH" baseline="0"/>
              <a:t>and then we develop a test to measure knowledge.</a:t>
            </a:r>
          </a:p>
          <a:p>
            <a:r>
              <a:rPr lang="de-CH" baseline="0"/>
              <a:t>define what we want to measure.</a:t>
            </a:r>
          </a:p>
          <a:p>
            <a:r>
              <a:rPr lang="de-CH" baseline="0"/>
              <a:t>example:</a:t>
            </a:r>
          </a:p>
          <a:p>
            <a:endParaRPr lang="de-CH" baseline="0"/>
          </a:p>
          <a:p>
            <a:r>
              <a:rPr lang="de-CH" baseline="0"/>
              <a:t>Force? F&amp;S?</a:t>
            </a:r>
          </a:p>
          <a:p>
            <a:r>
              <a:rPr lang="de-CH" baseline="0"/>
              <a:t>different aspects</a:t>
            </a:r>
          </a:p>
          <a:p>
            <a:r>
              <a:rPr lang="de-CH" baseline="0"/>
              <a:t>USE THE EXAMPLE OF AISH??</a:t>
            </a:r>
          </a:p>
          <a:p>
            <a:r>
              <a:rPr lang="de-CH" baseline="0"/>
              <a:t>We have physical laws undertanding and we have superficial contexts.</a:t>
            </a:r>
          </a:p>
          <a:p>
            <a:endParaRPr lang="de-CH" baseline="0"/>
          </a:p>
          <a:p>
            <a:r>
              <a:rPr lang="de-CH" baseline="0"/>
              <a:t>In the 90s:</a:t>
            </a:r>
          </a:p>
          <a:p>
            <a:r>
              <a:rPr lang="de-CH" baseline="0"/>
              <a:t>Develop many items. Use factor analyis. Remove very low/high difficulties and loadings.</a:t>
            </a:r>
          </a:p>
          <a:p>
            <a:r>
              <a:rPr lang="de-CH" baseline="0"/>
              <a:t>Today:</a:t>
            </a:r>
          </a:p>
          <a:p>
            <a:r>
              <a:rPr lang="de-CH" baseline="0"/>
              <a:t>Compare different factor models.</a:t>
            </a:r>
          </a:p>
          <a:p>
            <a:pPr marL="171450" indent="-171450">
              <a:buFontTx/>
              <a:buChar char="-"/>
            </a:pPr>
            <a:r>
              <a:rPr lang="de-CH" baseline="0"/>
              <a:t>use factor scores?</a:t>
            </a:r>
          </a:p>
          <a:p>
            <a:pPr marL="171450" indent="-171450">
              <a:buFontTx/>
              <a:buChar char="-"/>
            </a:pPr>
            <a:endParaRPr lang="en-US"/>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77EB1A-A0E5-4806-A2CD-F27F1D702B3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25270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the</a:t>
            </a:r>
            <a:r>
              <a:rPr lang="de-DE" dirty="0"/>
              <a:t> </a:t>
            </a:r>
            <a:r>
              <a:rPr lang="de-DE" dirty="0" err="1"/>
              <a:t>introduction</a:t>
            </a:r>
            <a:r>
              <a:rPr lang="de-DE" dirty="0"/>
              <a:t>, </a:t>
            </a:r>
            <a:r>
              <a:rPr lang="de-DE" dirty="0" err="1"/>
              <a:t>welcome</a:t>
            </a:r>
            <a:r>
              <a:rPr lang="de-DE" dirty="0"/>
              <a:t>!</a:t>
            </a:r>
          </a:p>
          <a:p>
            <a:endParaRPr lang="de-DE" dirty="0"/>
          </a:p>
          <a:p>
            <a:r>
              <a:rPr lang="de-DE" dirty="0"/>
              <a:t>Educational </a:t>
            </a:r>
            <a:r>
              <a:rPr lang="de-DE" dirty="0" err="1"/>
              <a:t>researchers</a:t>
            </a:r>
            <a:r>
              <a:rPr lang="de-DE" dirty="0"/>
              <a:t> </a:t>
            </a:r>
            <a:r>
              <a:rPr lang="de-DE" dirty="0" err="1"/>
              <a:t>are</a:t>
            </a:r>
            <a:r>
              <a:rPr lang="de-DE" dirty="0"/>
              <a:t> </a:t>
            </a:r>
            <a:r>
              <a:rPr lang="de-DE" dirty="0" err="1"/>
              <a:t>often</a:t>
            </a:r>
            <a:r>
              <a:rPr lang="de-DE" dirty="0"/>
              <a:t> </a:t>
            </a:r>
            <a:r>
              <a:rPr lang="de-DE" dirty="0" err="1"/>
              <a:t>interested</a:t>
            </a:r>
            <a:r>
              <a:rPr lang="de-DE" dirty="0"/>
              <a:t> in </a:t>
            </a:r>
            <a:r>
              <a:rPr lang="de-DE" dirty="0" err="1"/>
              <a:t>examining</a:t>
            </a:r>
            <a:r>
              <a:rPr lang="de-DE" dirty="0"/>
              <a:t> </a:t>
            </a:r>
            <a:r>
              <a:rPr lang="de-DE" dirty="0" err="1"/>
              <a:t>learners</a:t>
            </a:r>
            <a:r>
              <a:rPr lang="de-DE" dirty="0"/>
              <a:t>` </a:t>
            </a:r>
            <a:r>
              <a:rPr lang="de-DE" dirty="0" err="1"/>
              <a:t>knoweldge</a:t>
            </a:r>
            <a:r>
              <a:rPr lang="de-DE" dirty="0"/>
              <a:t> </a:t>
            </a:r>
            <a:r>
              <a:rPr lang="de-DE" dirty="0" err="1"/>
              <a:t>as</a:t>
            </a:r>
            <a:r>
              <a:rPr lang="de-DE" dirty="0"/>
              <a:t> a </a:t>
            </a:r>
            <a:r>
              <a:rPr lang="de-DE" dirty="0" err="1"/>
              <a:t>predictor</a:t>
            </a:r>
            <a:r>
              <a:rPr lang="de-DE" dirty="0"/>
              <a:t> and </a:t>
            </a:r>
            <a:r>
              <a:rPr lang="de-DE" dirty="0" err="1"/>
              <a:t>outcome</a:t>
            </a:r>
            <a:r>
              <a:rPr lang="de-DE" dirty="0"/>
              <a:t> </a:t>
            </a:r>
            <a:r>
              <a:rPr lang="de-DE" dirty="0" err="1"/>
              <a:t>of</a:t>
            </a:r>
            <a:r>
              <a:rPr lang="de-DE" dirty="0"/>
              <a:t> </a:t>
            </a:r>
            <a:r>
              <a:rPr lang="de-DE" dirty="0" err="1"/>
              <a:t>learning</a:t>
            </a:r>
            <a:r>
              <a:rPr lang="de-DE" dirty="0"/>
              <a:t> </a:t>
            </a:r>
            <a:r>
              <a:rPr lang="de-DE" dirty="0" err="1"/>
              <a:t>processes</a:t>
            </a:r>
            <a:r>
              <a:rPr lang="de-DE" dirty="0"/>
              <a:t>.</a:t>
            </a:r>
          </a:p>
          <a:p>
            <a:endParaRPr lang="de-DE" dirty="0"/>
          </a:p>
          <a:p>
            <a:r>
              <a:rPr lang="de-DE" dirty="0"/>
              <a:t>I </a:t>
            </a:r>
            <a:r>
              <a:rPr lang="de-DE" dirty="0" err="1"/>
              <a:t>take</a:t>
            </a:r>
            <a:r>
              <a:rPr lang="de-DE" dirty="0"/>
              <a:t> </a:t>
            </a:r>
            <a:r>
              <a:rPr lang="de-DE" dirty="0" err="1"/>
              <a:t>you</a:t>
            </a:r>
            <a:r>
              <a:rPr lang="de-DE" dirty="0"/>
              <a:t> on a </a:t>
            </a:r>
            <a:r>
              <a:rPr lang="de-DE" dirty="0" err="1"/>
              <a:t>historical</a:t>
            </a:r>
            <a:r>
              <a:rPr lang="de-DE" dirty="0"/>
              <a:t> </a:t>
            </a:r>
            <a:r>
              <a:rPr lang="de-DE" dirty="0" err="1"/>
              <a:t>trip</a:t>
            </a:r>
            <a:r>
              <a:rPr lang="de-DE" dirty="0"/>
              <a:t> </a:t>
            </a:r>
            <a:r>
              <a:rPr lang="de-DE" dirty="0" err="1"/>
              <a:t>through</a:t>
            </a:r>
            <a:r>
              <a:rPr lang="de-DE" dirty="0"/>
              <a:t> </a:t>
            </a:r>
            <a:r>
              <a:rPr lang="de-DE" dirty="0" err="1"/>
              <a:t>the</a:t>
            </a:r>
            <a:r>
              <a:rPr lang="de-DE" dirty="0"/>
              <a:t> </a:t>
            </a:r>
            <a:r>
              <a:rPr lang="de-DE" dirty="0" err="1"/>
              <a:t>universe</a:t>
            </a:r>
            <a:r>
              <a:rPr lang="de-DE" dirty="0"/>
              <a:t> </a:t>
            </a:r>
            <a:r>
              <a:rPr lang="de-DE" dirty="0" err="1"/>
              <a:t>of</a:t>
            </a:r>
            <a:r>
              <a:rPr lang="de-DE" dirty="0"/>
              <a:t> </a:t>
            </a:r>
            <a:r>
              <a:rPr lang="de-DE" dirty="0" err="1"/>
              <a:t>conceptual</a:t>
            </a:r>
            <a:r>
              <a:rPr lang="de-DE" dirty="0"/>
              <a:t> </a:t>
            </a:r>
            <a:r>
              <a:rPr lang="de-DE" dirty="0" err="1"/>
              <a:t>change</a:t>
            </a:r>
            <a:r>
              <a:rPr lang="de-DE" dirty="0"/>
              <a:t>- and </a:t>
            </a:r>
            <a:r>
              <a:rPr lang="de-DE" dirty="0" err="1"/>
              <a:t>inquiry-based</a:t>
            </a:r>
            <a:r>
              <a:rPr lang="de-DE" dirty="0"/>
              <a:t> </a:t>
            </a:r>
            <a:r>
              <a:rPr lang="de-DE" dirty="0" err="1"/>
              <a:t>learning</a:t>
            </a:r>
            <a:r>
              <a:rPr lang="de-DE" dirty="0"/>
              <a:t> </a:t>
            </a:r>
            <a:r>
              <a:rPr lang="de-DE" dirty="0" err="1"/>
              <a:t>research</a:t>
            </a:r>
            <a:r>
              <a:rPr lang="de-DE" dirty="0"/>
              <a:t> </a:t>
            </a:r>
            <a:r>
              <a:rPr lang="de-DE" dirty="0" err="1"/>
              <a:t>to</a:t>
            </a:r>
            <a:r>
              <a:rPr lang="de-DE" dirty="0"/>
              <a:t> </a:t>
            </a:r>
            <a:r>
              <a:rPr lang="de-DE" dirty="0" err="1"/>
              <a:t>see</a:t>
            </a:r>
            <a:r>
              <a:rPr lang="de-DE" dirty="0"/>
              <a:t> </a:t>
            </a:r>
            <a:r>
              <a:rPr lang="de-DE" dirty="0" err="1"/>
              <a:t>you</a:t>
            </a:r>
            <a:r>
              <a:rPr lang="de-DE" dirty="0"/>
              <a:t> </a:t>
            </a:r>
            <a:r>
              <a:rPr lang="de-DE" dirty="0" err="1"/>
              <a:t>theoretical</a:t>
            </a:r>
            <a:r>
              <a:rPr lang="de-DE" dirty="0"/>
              <a:t> </a:t>
            </a:r>
            <a:r>
              <a:rPr lang="de-DE" dirty="0" err="1"/>
              <a:t>developments</a:t>
            </a:r>
            <a:r>
              <a:rPr lang="de-DE" dirty="0"/>
              <a:t> and </a:t>
            </a:r>
            <a:r>
              <a:rPr lang="de-DE" dirty="0" err="1"/>
              <a:t>statistical</a:t>
            </a:r>
            <a:r>
              <a:rPr lang="de-DE" dirty="0"/>
              <a:t> </a:t>
            </a:r>
            <a:r>
              <a:rPr lang="de-DE" dirty="0" err="1"/>
              <a:t>approaches</a:t>
            </a:r>
            <a:r>
              <a:rPr lang="de-DE" dirty="0"/>
              <a:t> </a:t>
            </a:r>
            <a:r>
              <a:rPr lang="de-DE" dirty="0" err="1"/>
              <a:t>to</a:t>
            </a:r>
            <a:r>
              <a:rPr lang="de-DE" dirty="0"/>
              <a:t> </a:t>
            </a:r>
            <a:r>
              <a:rPr lang="de-DE" dirty="0" err="1"/>
              <a:t>modeling</a:t>
            </a:r>
            <a:r>
              <a:rPr lang="de-DE" dirty="0"/>
              <a:t> </a:t>
            </a:r>
            <a:r>
              <a:rPr lang="de-DE" dirty="0" err="1"/>
              <a:t>knowledge</a:t>
            </a:r>
            <a:r>
              <a:rPr lang="de-DE" dirty="0"/>
              <a:t> </a:t>
            </a:r>
            <a:r>
              <a:rPr lang="de-DE" dirty="0" err="1"/>
              <a:t>have</a:t>
            </a:r>
            <a:r>
              <a:rPr lang="de-DE" dirty="0"/>
              <a:t> </a:t>
            </a:r>
            <a:r>
              <a:rPr lang="de-DE" dirty="0" err="1"/>
              <a:t>influenced</a:t>
            </a:r>
            <a:r>
              <a:rPr lang="de-DE" dirty="0"/>
              <a:t> </a:t>
            </a:r>
            <a:r>
              <a:rPr lang="de-DE" dirty="0" err="1"/>
              <a:t>each</a:t>
            </a:r>
            <a:r>
              <a:rPr lang="de-DE" dirty="0"/>
              <a:t> </a:t>
            </a:r>
            <a:r>
              <a:rPr lang="de-DE" dirty="0" err="1"/>
              <a:t>other</a:t>
            </a:r>
            <a:r>
              <a:rPr lang="de-DE" dirty="0"/>
              <a:t> </a:t>
            </a:r>
            <a:r>
              <a:rPr lang="de-DE" dirty="0" err="1"/>
              <a:t>over</a:t>
            </a:r>
            <a:r>
              <a:rPr lang="de-DE" dirty="0"/>
              <a:t> </a:t>
            </a:r>
            <a:r>
              <a:rPr lang="de-DE" dirty="0" err="1"/>
              <a:t>the</a:t>
            </a:r>
            <a:r>
              <a:rPr lang="de-DE" dirty="0"/>
              <a:t> last </a:t>
            </a:r>
            <a:r>
              <a:rPr lang="de-DE" dirty="0" err="1"/>
              <a:t>decades</a:t>
            </a:r>
            <a:r>
              <a:rPr lang="de-DE" dirty="0"/>
              <a:t>.</a:t>
            </a:r>
          </a:p>
          <a:p>
            <a:r>
              <a:rPr lang="de-DE" dirty="0"/>
              <a:t>The </a:t>
            </a:r>
            <a:r>
              <a:rPr lang="de-DE" dirty="0" err="1"/>
              <a:t>aim</a:t>
            </a:r>
            <a:r>
              <a:rPr lang="de-DE" dirty="0"/>
              <a:t> </a:t>
            </a:r>
            <a:r>
              <a:rPr lang="de-DE" dirty="0" err="1"/>
              <a:t>is</a:t>
            </a:r>
            <a:r>
              <a:rPr lang="de-DE" dirty="0"/>
              <a:t> </a:t>
            </a:r>
            <a:r>
              <a:rPr lang="de-DE" dirty="0" err="1"/>
              <a:t>to</a:t>
            </a:r>
            <a:r>
              <a:rPr lang="de-DE" dirty="0"/>
              <a:t> </a:t>
            </a:r>
            <a:r>
              <a:rPr lang="de-DE" dirty="0" err="1"/>
              <a:t>enlighten</a:t>
            </a:r>
            <a:r>
              <a:rPr lang="de-DE" dirty="0"/>
              <a:t>:</a:t>
            </a:r>
          </a:p>
          <a:p>
            <a:pPr marL="228600" indent="-228600">
              <a:buAutoNum type="arabicParenBoth"/>
            </a:pPr>
            <a:r>
              <a:rPr lang="de-DE" dirty="0" err="1"/>
              <a:t>What</a:t>
            </a:r>
            <a:r>
              <a:rPr lang="de-DE" dirty="0"/>
              <a:t> </a:t>
            </a:r>
            <a:r>
              <a:rPr lang="de-DE" dirty="0" err="1"/>
              <a:t>has</a:t>
            </a:r>
            <a:r>
              <a:rPr lang="de-DE" dirty="0"/>
              <a:t> </a:t>
            </a:r>
            <a:r>
              <a:rPr lang="de-DE" dirty="0" err="1"/>
              <a:t>been</a:t>
            </a:r>
            <a:r>
              <a:rPr lang="de-DE" dirty="0"/>
              <a:t> </a:t>
            </a:r>
            <a:r>
              <a:rPr lang="de-DE" dirty="0" err="1"/>
              <a:t>done</a:t>
            </a:r>
            <a:r>
              <a:rPr lang="de-DE" dirty="0"/>
              <a:t> in </a:t>
            </a:r>
            <a:r>
              <a:rPr lang="de-DE" dirty="0" err="1"/>
              <a:t>the</a:t>
            </a:r>
            <a:r>
              <a:rPr lang="de-DE" dirty="0"/>
              <a:t> </a:t>
            </a:r>
            <a:r>
              <a:rPr lang="de-DE" dirty="0" err="1"/>
              <a:t>statistical</a:t>
            </a:r>
            <a:r>
              <a:rPr lang="de-DE" dirty="0"/>
              <a:t> </a:t>
            </a:r>
            <a:r>
              <a:rPr lang="de-DE" dirty="0" err="1"/>
              <a:t>modeling</a:t>
            </a:r>
            <a:r>
              <a:rPr lang="de-DE" dirty="0"/>
              <a:t> </a:t>
            </a:r>
            <a:r>
              <a:rPr lang="de-DE" dirty="0" err="1"/>
              <a:t>of</a:t>
            </a:r>
            <a:r>
              <a:rPr lang="de-DE" dirty="0"/>
              <a:t> </a:t>
            </a:r>
            <a:r>
              <a:rPr lang="de-DE" dirty="0" err="1"/>
              <a:t>knowledge</a:t>
            </a:r>
            <a:r>
              <a:rPr lang="de-DE" dirty="0"/>
              <a:t>?</a:t>
            </a:r>
          </a:p>
          <a:p>
            <a:pPr marL="228600" indent="-228600">
              <a:buAutoNum type="arabicParenBoth"/>
            </a:pPr>
            <a:r>
              <a:rPr lang="de-DE" dirty="0" err="1"/>
              <a:t>How</a:t>
            </a:r>
            <a:r>
              <a:rPr lang="de-DE" dirty="0"/>
              <a:t> </a:t>
            </a:r>
            <a:r>
              <a:rPr lang="de-DE" dirty="0" err="1"/>
              <a:t>has</a:t>
            </a:r>
            <a:r>
              <a:rPr lang="de-DE" dirty="0"/>
              <a:t> </a:t>
            </a:r>
            <a:r>
              <a:rPr lang="de-DE" dirty="0" err="1"/>
              <a:t>it</a:t>
            </a:r>
            <a:r>
              <a:rPr lang="de-DE" dirty="0"/>
              <a:t> </a:t>
            </a:r>
            <a:r>
              <a:rPr lang="de-DE" dirty="0" err="1"/>
              <a:t>changed</a:t>
            </a:r>
            <a:r>
              <a:rPr lang="de-DE" dirty="0"/>
              <a:t>, and </a:t>
            </a:r>
            <a:r>
              <a:rPr lang="de-DE" dirty="0" err="1"/>
              <a:t>why</a:t>
            </a:r>
            <a:r>
              <a:rPr lang="de-DE" dirty="0"/>
              <a:t>?</a:t>
            </a:r>
          </a:p>
          <a:p>
            <a:pPr marL="228600" indent="-228600">
              <a:buAutoNum type="arabicParenBoth"/>
            </a:pPr>
            <a:r>
              <a:rPr lang="de-DE" dirty="0" err="1"/>
              <a:t>What</a:t>
            </a:r>
            <a:r>
              <a:rPr lang="de-DE" dirty="0"/>
              <a:t> </a:t>
            </a:r>
            <a:r>
              <a:rPr lang="de-DE" dirty="0" err="1"/>
              <a:t>can</a:t>
            </a:r>
            <a:r>
              <a:rPr lang="de-DE" dirty="0"/>
              <a:t> </a:t>
            </a:r>
            <a:r>
              <a:rPr lang="de-DE" dirty="0" err="1"/>
              <a:t>we</a:t>
            </a:r>
            <a:r>
              <a:rPr lang="de-DE" dirty="0"/>
              <a:t> </a:t>
            </a:r>
            <a:r>
              <a:rPr lang="de-DE" dirty="0" err="1"/>
              <a:t>learn</a:t>
            </a:r>
            <a:r>
              <a:rPr lang="de-DE" dirty="0"/>
              <a:t> </a:t>
            </a:r>
            <a:r>
              <a:rPr lang="de-DE" dirty="0" err="1"/>
              <a:t>from</a:t>
            </a:r>
            <a:r>
              <a:rPr lang="de-DE" dirty="0"/>
              <a:t> </a:t>
            </a:r>
            <a:r>
              <a:rPr lang="de-DE" dirty="0" err="1"/>
              <a:t>this</a:t>
            </a:r>
            <a:r>
              <a:rPr lang="de-DE" dirty="0"/>
              <a:t> </a:t>
            </a:r>
            <a:r>
              <a:rPr lang="de-DE" dirty="0" err="1"/>
              <a:t>for</a:t>
            </a:r>
            <a:r>
              <a:rPr lang="de-DE" dirty="0"/>
              <a:t> </a:t>
            </a:r>
            <a:r>
              <a:rPr lang="de-DE" dirty="0" err="1"/>
              <a:t>tomorrow</a:t>
            </a:r>
            <a:r>
              <a:rPr lang="de-DE" dirty="0"/>
              <a:t> – </a:t>
            </a:r>
            <a:r>
              <a:rPr lang="de-DE" dirty="0" err="1"/>
              <a:t>what</a:t>
            </a:r>
            <a:r>
              <a:rPr lang="de-DE" dirty="0"/>
              <a:t> </a:t>
            </a:r>
            <a:r>
              <a:rPr lang="de-DE" dirty="0" err="1"/>
              <a:t>are</a:t>
            </a:r>
            <a:r>
              <a:rPr lang="de-DE" dirty="0"/>
              <a:t> </a:t>
            </a:r>
            <a:r>
              <a:rPr lang="de-DE" dirty="0" err="1"/>
              <a:t>the</a:t>
            </a:r>
            <a:r>
              <a:rPr lang="de-DE" dirty="0"/>
              <a:t> </a:t>
            </a:r>
            <a:r>
              <a:rPr lang="de-DE" dirty="0" err="1"/>
              <a:t>necessary</a:t>
            </a:r>
            <a:r>
              <a:rPr lang="de-DE" dirty="0"/>
              <a:t> </a:t>
            </a:r>
            <a:r>
              <a:rPr lang="de-DE" dirty="0" err="1"/>
              <a:t>next</a:t>
            </a:r>
            <a:r>
              <a:rPr lang="de-DE" dirty="0"/>
              <a:t> </a:t>
            </a:r>
            <a:r>
              <a:rPr lang="de-DE" dirty="0" err="1"/>
              <a:t>steps</a:t>
            </a:r>
            <a:r>
              <a:rPr lang="de-DE" dirty="0"/>
              <a:t> </a:t>
            </a:r>
            <a:r>
              <a:rPr lang="de-DE" dirty="0" err="1"/>
              <a:t>to</a:t>
            </a:r>
            <a:r>
              <a:rPr lang="de-DE" dirty="0"/>
              <a:t> </a:t>
            </a:r>
            <a:r>
              <a:rPr lang="de-DE" dirty="0" err="1"/>
              <a:t>help</a:t>
            </a:r>
            <a:r>
              <a:rPr lang="de-DE" dirty="0"/>
              <a:t> </a:t>
            </a:r>
            <a:r>
              <a:rPr lang="de-DE" dirty="0" err="1"/>
              <a:t>our</a:t>
            </a:r>
            <a:r>
              <a:rPr lang="de-DE" dirty="0"/>
              <a:t> </a:t>
            </a:r>
            <a:r>
              <a:rPr lang="de-DE" dirty="0" err="1"/>
              <a:t>theoretical</a:t>
            </a:r>
            <a:r>
              <a:rPr lang="de-DE" dirty="0"/>
              <a:t> </a:t>
            </a:r>
            <a:r>
              <a:rPr lang="de-DE" dirty="0" err="1"/>
              <a:t>understanding</a:t>
            </a:r>
            <a:r>
              <a:rPr lang="de-DE" dirty="0"/>
              <a:t> </a:t>
            </a:r>
            <a:r>
              <a:rPr lang="de-DE" dirty="0" err="1"/>
              <a:t>of</a:t>
            </a:r>
            <a:r>
              <a:rPr lang="de-DE" dirty="0"/>
              <a:t> </a:t>
            </a:r>
            <a:r>
              <a:rPr lang="de-DE" dirty="0" err="1"/>
              <a:t>learning</a:t>
            </a:r>
            <a:r>
              <a:rPr lang="de-DE" dirty="0"/>
              <a:t> and </a:t>
            </a:r>
            <a:r>
              <a:rPr lang="de-DE" dirty="0" err="1"/>
              <a:t>our</a:t>
            </a:r>
            <a:r>
              <a:rPr lang="de-DE" dirty="0"/>
              <a:t> (</a:t>
            </a:r>
            <a:r>
              <a:rPr lang="de-DE" dirty="0" err="1"/>
              <a:t>statistical</a:t>
            </a:r>
            <a:r>
              <a:rPr lang="de-DE" dirty="0"/>
              <a:t>) </a:t>
            </a:r>
            <a:r>
              <a:rPr lang="de-DE" dirty="0" err="1"/>
              <a:t>models</a:t>
            </a:r>
            <a:r>
              <a:rPr lang="de-DE" dirty="0"/>
              <a:t> </a:t>
            </a:r>
            <a:r>
              <a:rPr lang="de-DE" dirty="0" err="1"/>
              <a:t>of</a:t>
            </a:r>
            <a:r>
              <a:rPr lang="de-DE" dirty="0"/>
              <a:t> </a:t>
            </a:r>
            <a:r>
              <a:rPr lang="de-DE" dirty="0" err="1"/>
              <a:t>learners</a:t>
            </a:r>
            <a:r>
              <a:rPr lang="de-DE" dirty="0"/>
              <a:t>` </a:t>
            </a:r>
            <a:r>
              <a:rPr lang="de-DE" dirty="0" err="1"/>
              <a:t>knowledge</a:t>
            </a:r>
            <a:r>
              <a:rPr lang="de-DE" dirty="0"/>
              <a:t> </a:t>
            </a:r>
            <a:r>
              <a:rPr lang="de-DE" dirty="0" err="1"/>
              <a:t>develop</a:t>
            </a:r>
            <a:r>
              <a:rPr lang="de-DE" dirty="0"/>
              <a:t> </a:t>
            </a:r>
            <a:r>
              <a:rPr lang="de-DE" dirty="0" err="1"/>
              <a:t>further</a:t>
            </a:r>
            <a:r>
              <a:rPr lang="de-DE" dirty="0"/>
              <a:t>?</a:t>
            </a:r>
          </a:p>
          <a:p>
            <a:pPr marL="228600" indent="-228600">
              <a:buAutoNum type="arabicParenBoth"/>
            </a:pPr>
            <a:endParaRPr lang="de-DE" dirty="0"/>
          </a:p>
          <a:p>
            <a:pPr marL="228600" indent="-228600">
              <a:buAutoNum type="arabicParenBoth"/>
            </a:pPr>
            <a:endParaRPr lang="de-DE" dirty="0"/>
          </a:p>
          <a:p>
            <a:endParaRPr lang="de-DE" dirty="0"/>
          </a:p>
          <a:p>
            <a:endParaRPr lang="de-DE" dirty="0"/>
          </a:p>
          <a:p>
            <a:r>
              <a:rPr lang="de-DE" dirty="0"/>
              <a:t>In </a:t>
            </a:r>
            <a:r>
              <a:rPr lang="de-DE" dirty="0" err="1"/>
              <a:t>the</a:t>
            </a:r>
            <a:r>
              <a:rPr lang="de-DE" dirty="0"/>
              <a:t> last </a:t>
            </a:r>
            <a:r>
              <a:rPr lang="de-DE" dirty="0" err="1"/>
              <a:t>decades</a:t>
            </a:r>
            <a:r>
              <a:rPr lang="de-DE" dirty="0"/>
              <a:t>, </a:t>
            </a:r>
            <a:r>
              <a:rPr lang="de-DE" dirty="0" err="1"/>
              <a:t>there</a:t>
            </a:r>
            <a:r>
              <a:rPr lang="de-DE" dirty="0"/>
              <a:t> </a:t>
            </a:r>
            <a:r>
              <a:rPr lang="de-DE" dirty="0" err="1"/>
              <a:t>is</a:t>
            </a:r>
            <a:r>
              <a:rPr lang="de-DE" dirty="0"/>
              <a:t> a </a:t>
            </a:r>
            <a:r>
              <a:rPr lang="de-DE" dirty="0" err="1"/>
              <a:t>trend</a:t>
            </a:r>
            <a:r>
              <a:rPr lang="de-DE" dirty="0"/>
              <a:t> in </a:t>
            </a:r>
            <a:r>
              <a:rPr lang="de-DE" dirty="0" err="1"/>
              <a:t>educational</a:t>
            </a:r>
            <a:r>
              <a:rPr lang="de-DE" dirty="0"/>
              <a:t> </a:t>
            </a:r>
            <a:r>
              <a:rPr lang="de-DE" dirty="0" err="1"/>
              <a:t>research</a:t>
            </a:r>
            <a:r>
              <a:rPr lang="de-DE" dirty="0"/>
              <a:t> </a:t>
            </a:r>
            <a:r>
              <a:rPr lang="de-DE" dirty="0" err="1"/>
              <a:t>to</a:t>
            </a:r>
            <a:r>
              <a:rPr lang="de-DE" dirty="0"/>
              <a:t> </a:t>
            </a:r>
            <a:r>
              <a:rPr lang="de-DE" dirty="0" err="1"/>
              <a:t>focus</a:t>
            </a:r>
            <a:r>
              <a:rPr lang="de-DE" dirty="0"/>
              <a:t> on </a:t>
            </a:r>
            <a:r>
              <a:rPr lang="de-DE" dirty="0" err="1"/>
              <a:t>learners</a:t>
            </a:r>
            <a:r>
              <a:rPr lang="de-DE" dirty="0"/>
              <a:t>` </a:t>
            </a:r>
            <a:r>
              <a:rPr lang="de-DE" dirty="0" err="1"/>
              <a:t>competencies</a:t>
            </a:r>
            <a:r>
              <a:rPr lang="de-DE" dirty="0"/>
              <a:t>, </a:t>
            </a:r>
            <a:r>
              <a:rPr lang="de-DE" dirty="0" err="1"/>
              <a:t>motivation</a:t>
            </a:r>
            <a:r>
              <a:rPr lang="de-DE" dirty="0"/>
              <a:t> and </a:t>
            </a:r>
            <a:r>
              <a:rPr lang="de-DE" dirty="0" err="1"/>
              <a:t>emotions</a:t>
            </a:r>
            <a:r>
              <a:rPr lang="de-DE" dirty="0"/>
              <a:t>, </a:t>
            </a:r>
            <a:r>
              <a:rPr lang="de-DE" dirty="0" err="1"/>
              <a:t>self</a:t>
            </a:r>
            <a:r>
              <a:rPr lang="de-DE" dirty="0"/>
              <a:t>-regulation and meta-</a:t>
            </a:r>
            <a:r>
              <a:rPr lang="de-DE" dirty="0" err="1"/>
              <a:t>cognition</a:t>
            </a:r>
            <a:r>
              <a:rPr lang="de-DE" dirty="0"/>
              <a:t>, -</a:t>
            </a:r>
          </a:p>
          <a:p>
            <a:endParaRPr lang="de-DE" dirty="0"/>
          </a:p>
          <a:p>
            <a:r>
              <a:rPr lang="de-DE" dirty="0"/>
              <a:t>Inquiry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research</a:t>
            </a:r>
            <a:r>
              <a:rPr lang="de-DE" dirty="0"/>
              <a:t> </a:t>
            </a:r>
            <a:r>
              <a:rPr lang="de-DE" dirty="0" err="1"/>
              <a:t>share</a:t>
            </a:r>
            <a:r>
              <a:rPr lang="de-DE" dirty="0"/>
              <a:t> a </a:t>
            </a:r>
            <a:r>
              <a:rPr lang="de-DE" dirty="0" err="1"/>
              <a:t>lot</a:t>
            </a:r>
            <a:r>
              <a:rPr lang="de-DE" dirty="0"/>
              <a:t> </a:t>
            </a:r>
            <a:r>
              <a:rPr lang="de-DE" dirty="0" err="1"/>
              <a:t>of</a:t>
            </a:r>
            <a:r>
              <a:rPr lang="de-DE" dirty="0"/>
              <a:t> </a:t>
            </a:r>
            <a:r>
              <a:rPr lang="de-DE" dirty="0" err="1"/>
              <a:t>views</a:t>
            </a:r>
            <a:r>
              <a:rPr lang="de-DE" dirty="0"/>
              <a:t> on </a:t>
            </a:r>
            <a:r>
              <a:rPr lang="de-DE" dirty="0" err="1"/>
              <a:t>learners</a:t>
            </a:r>
            <a:r>
              <a:rPr lang="de-DE" dirty="0"/>
              <a:t>` </a:t>
            </a:r>
            <a:r>
              <a:rPr lang="de-DE" dirty="0" err="1"/>
              <a:t>knowledge</a:t>
            </a:r>
            <a:r>
              <a:rPr lang="de-DE" dirty="0"/>
              <a:t> and </a:t>
            </a:r>
            <a:r>
              <a:rPr lang="de-DE" dirty="0" err="1"/>
              <a:t>how</a:t>
            </a:r>
            <a:r>
              <a:rPr lang="de-DE" dirty="0"/>
              <a:t> </a:t>
            </a:r>
            <a:r>
              <a:rPr lang="de-DE" dirty="0" err="1"/>
              <a:t>it</a:t>
            </a:r>
            <a:r>
              <a:rPr lang="de-DE" dirty="0"/>
              <a:t> </a:t>
            </a:r>
            <a:r>
              <a:rPr lang="de-DE" dirty="0" err="1"/>
              <a:t>develops</a:t>
            </a:r>
            <a:r>
              <a:rPr lang="de-DE" dirty="0"/>
              <a:t>.</a:t>
            </a:r>
          </a:p>
          <a:p>
            <a:r>
              <a:rPr lang="de-DE" dirty="0"/>
              <a:t>Inquiry </a:t>
            </a:r>
            <a:r>
              <a:rPr lang="de-DE" dirty="0" err="1"/>
              <a:t>learning</a:t>
            </a:r>
            <a:r>
              <a:rPr lang="de-DE" dirty="0"/>
              <a:t> </a:t>
            </a:r>
            <a:r>
              <a:rPr lang="de-DE" dirty="0" err="1"/>
              <a:t>typically</a:t>
            </a:r>
            <a:r>
              <a:rPr lang="de-DE" dirty="0"/>
              <a:t> </a:t>
            </a:r>
            <a:r>
              <a:rPr lang="de-DE" dirty="0" err="1"/>
              <a:t>emphasizes</a:t>
            </a:r>
            <a:r>
              <a:rPr lang="de-DE" dirty="0"/>
              <a:t> a </a:t>
            </a:r>
            <a:r>
              <a:rPr lang="de-DE" dirty="0" err="1"/>
              <a:t>constructivist</a:t>
            </a:r>
            <a:r>
              <a:rPr lang="de-DE" dirty="0"/>
              <a:t> </a:t>
            </a:r>
            <a:r>
              <a:rPr lang="de-DE" dirty="0" err="1"/>
              <a:t>view</a:t>
            </a:r>
            <a:r>
              <a:rPr lang="de-DE" dirty="0"/>
              <a:t>, in </a:t>
            </a:r>
            <a:r>
              <a:rPr lang="de-DE" dirty="0" err="1"/>
              <a:t>which</a:t>
            </a:r>
            <a:r>
              <a:rPr lang="de-DE" dirty="0"/>
              <a:t> </a:t>
            </a:r>
            <a:r>
              <a:rPr lang="de-DE" dirty="0" err="1"/>
              <a:t>building</a:t>
            </a:r>
            <a:r>
              <a:rPr lang="de-DE" dirty="0"/>
              <a:t> </a:t>
            </a:r>
            <a:r>
              <a:rPr lang="de-DE" dirty="0" err="1"/>
              <a:t>up</a:t>
            </a:r>
            <a:r>
              <a:rPr lang="de-DE" dirty="0"/>
              <a:t> </a:t>
            </a:r>
            <a:r>
              <a:rPr lang="de-DE" dirty="0" err="1"/>
              <a:t>knowledge</a:t>
            </a:r>
            <a:r>
              <a:rPr lang="de-DE" dirty="0"/>
              <a:t> in </a:t>
            </a:r>
            <a:r>
              <a:rPr lang="de-DE" dirty="0" err="1"/>
              <a:t>ways</a:t>
            </a:r>
            <a:r>
              <a:rPr lang="de-DE" dirty="0"/>
              <a:t> </a:t>
            </a:r>
            <a:r>
              <a:rPr lang="de-DE" dirty="0" err="1"/>
              <a:t>similar</a:t>
            </a:r>
            <a:r>
              <a:rPr lang="de-DE" dirty="0"/>
              <a:t> </a:t>
            </a:r>
            <a:r>
              <a:rPr lang="de-DE" dirty="0" err="1"/>
              <a:t>as</a:t>
            </a:r>
            <a:r>
              <a:rPr lang="de-DE" dirty="0"/>
              <a:t> </a:t>
            </a:r>
            <a:r>
              <a:rPr lang="de-DE" dirty="0" err="1"/>
              <a:t>scientists</a:t>
            </a:r>
            <a:r>
              <a:rPr lang="de-DE" dirty="0"/>
              <a:t> do </a:t>
            </a:r>
            <a:r>
              <a:rPr lang="de-DE" dirty="0" err="1"/>
              <a:t>should</a:t>
            </a:r>
            <a:r>
              <a:rPr lang="de-DE" dirty="0"/>
              <a:t> </a:t>
            </a:r>
            <a:r>
              <a:rPr lang="de-DE" dirty="0" err="1"/>
              <a:t>help</a:t>
            </a:r>
            <a:r>
              <a:rPr lang="de-DE" dirty="0"/>
              <a:t> </a:t>
            </a:r>
            <a:r>
              <a:rPr lang="de-DE" dirty="0" err="1"/>
              <a:t>learners</a:t>
            </a:r>
            <a:r>
              <a:rPr lang="de-DE" dirty="0"/>
              <a:t> </a:t>
            </a:r>
            <a:r>
              <a:rPr lang="de-DE" dirty="0" err="1"/>
              <a:t>build</a:t>
            </a:r>
            <a:r>
              <a:rPr lang="de-DE" dirty="0"/>
              <a:t> </a:t>
            </a:r>
            <a:r>
              <a:rPr lang="de-DE" dirty="0" err="1"/>
              <a:t>up</a:t>
            </a:r>
            <a:r>
              <a:rPr lang="de-DE" dirty="0"/>
              <a:t> </a:t>
            </a:r>
            <a:r>
              <a:rPr lang="de-DE" dirty="0" err="1"/>
              <a:t>experience-based</a:t>
            </a:r>
            <a:r>
              <a:rPr lang="de-DE" dirty="0"/>
              <a:t> </a:t>
            </a:r>
            <a:r>
              <a:rPr lang="de-DE" dirty="0" err="1"/>
              <a:t>procedural</a:t>
            </a:r>
            <a:r>
              <a:rPr lang="de-DE" dirty="0"/>
              <a:t> and </a:t>
            </a:r>
            <a:r>
              <a:rPr lang="de-DE" dirty="0" err="1"/>
              <a:t>conceptual</a:t>
            </a:r>
            <a:r>
              <a:rPr lang="de-DE" dirty="0"/>
              <a:t> </a:t>
            </a:r>
            <a:r>
              <a:rPr lang="de-DE" dirty="0" err="1"/>
              <a:t>understanding</a:t>
            </a:r>
            <a:r>
              <a:rPr lang="de-DE" dirty="0"/>
              <a:t>.</a:t>
            </a:r>
          </a:p>
          <a:p>
            <a:r>
              <a:rPr lang="de-DE" dirty="0" err="1"/>
              <a:t>Conceptual</a:t>
            </a:r>
            <a:r>
              <a:rPr lang="de-DE" dirty="0"/>
              <a:t> </a:t>
            </a:r>
            <a:r>
              <a:rPr lang="de-DE" dirty="0" err="1"/>
              <a:t>change</a:t>
            </a:r>
            <a:r>
              <a:rPr lang="de-DE" dirty="0"/>
              <a:t> </a:t>
            </a:r>
            <a:r>
              <a:rPr lang="de-DE" dirty="0" err="1"/>
              <a:t>enriches</a:t>
            </a:r>
            <a:r>
              <a:rPr lang="de-DE" dirty="0"/>
              <a:t> </a:t>
            </a:r>
            <a:r>
              <a:rPr lang="de-DE" dirty="0" err="1"/>
              <a:t>this</a:t>
            </a:r>
            <a:r>
              <a:rPr lang="de-DE" dirty="0"/>
              <a:t> </a:t>
            </a:r>
            <a:r>
              <a:rPr lang="de-DE" dirty="0" err="1"/>
              <a:t>view</a:t>
            </a:r>
            <a:r>
              <a:rPr lang="de-DE" dirty="0"/>
              <a:t> </a:t>
            </a:r>
            <a:r>
              <a:rPr lang="de-DE" dirty="0" err="1"/>
              <a:t>by</a:t>
            </a:r>
            <a:r>
              <a:rPr lang="de-DE" dirty="0"/>
              <a:t> </a:t>
            </a:r>
            <a:r>
              <a:rPr lang="de-DE" dirty="0" err="1"/>
              <a:t>emphasizing</a:t>
            </a:r>
            <a:r>
              <a:rPr lang="de-DE" dirty="0"/>
              <a:t> </a:t>
            </a:r>
            <a:r>
              <a:rPr lang="de-DE" dirty="0" err="1"/>
              <a:t>that</a:t>
            </a:r>
            <a:r>
              <a:rPr lang="de-DE" dirty="0"/>
              <a:t> </a:t>
            </a:r>
            <a:r>
              <a:rPr lang="de-DE" dirty="0" err="1"/>
              <a:t>building</a:t>
            </a:r>
            <a:r>
              <a:rPr lang="de-DE" dirty="0"/>
              <a:t> </a:t>
            </a:r>
            <a:r>
              <a:rPr lang="de-DE" dirty="0" err="1"/>
              <a:t>up</a:t>
            </a:r>
            <a:r>
              <a:rPr lang="de-DE" dirty="0"/>
              <a:t> </a:t>
            </a:r>
            <a:r>
              <a:rPr lang="de-DE" dirty="0" err="1"/>
              <a:t>knowledge</a:t>
            </a:r>
            <a:r>
              <a:rPr lang="de-DE" dirty="0"/>
              <a:t> </a:t>
            </a:r>
            <a:r>
              <a:rPr lang="de-DE" dirty="0" err="1"/>
              <a:t>is</a:t>
            </a:r>
            <a:r>
              <a:rPr lang="de-DE" dirty="0"/>
              <a:t> </a:t>
            </a:r>
            <a:r>
              <a:rPr lang="de-DE" dirty="0" err="1"/>
              <a:t>commonly</a:t>
            </a:r>
            <a:r>
              <a:rPr lang="de-DE" dirty="0"/>
              <a:t> not a simple </a:t>
            </a:r>
            <a:r>
              <a:rPr lang="de-DE" dirty="0" err="1"/>
              <a:t>adding</a:t>
            </a:r>
            <a:r>
              <a:rPr lang="de-DE" dirty="0"/>
              <a:t> </a:t>
            </a:r>
            <a:r>
              <a:rPr lang="de-DE" dirty="0" err="1"/>
              <a:t>piece</a:t>
            </a:r>
            <a:r>
              <a:rPr lang="de-DE" dirty="0"/>
              <a:t>-</a:t>
            </a:r>
            <a:r>
              <a:rPr lang="de-DE" dirty="0" err="1"/>
              <a:t>by</a:t>
            </a:r>
            <a:r>
              <a:rPr lang="de-DE" dirty="0"/>
              <a:t>-piece </a:t>
            </a:r>
            <a:r>
              <a:rPr lang="de-DE" dirty="0" err="1"/>
              <a:t>process</a:t>
            </a:r>
            <a:r>
              <a:rPr lang="de-DE" dirty="0"/>
              <a:t>, but a </a:t>
            </a:r>
            <a:r>
              <a:rPr lang="de-DE" dirty="0" err="1"/>
              <a:t>highly</a:t>
            </a:r>
            <a:r>
              <a:rPr lang="de-DE" dirty="0"/>
              <a:t> non-linear and </a:t>
            </a:r>
            <a:r>
              <a:rPr lang="de-DE" dirty="0" err="1"/>
              <a:t>individualistic</a:t>
            </a:r>
            <a:r>
              <a:rPr lang="de-DE" dirty="0"/>
              <a:t> </a:t>
            </a:r>
            <a:r>
              <a:rPr lang="de-DE" dirty="0" err="1"/>
              <a:t>process</a:t>
            </a:r>
            <a:r>
              <a:rPr lang="de-DE" dirty="0"/>
              <a:t> in </a:t>
            </a:r>
            <a:r>
              <a:rPr lang="de-DE" dirty="0" err="1"/>
              <a:t>which</a:t>
            </a:r>
            <a:r>
              <a:rPr lang="de-DE" dirty="0"/>
              <a:t> </a:t>
            </a:r>
            <a:r>
              <a:rPr lang="de-DE" b="1" dirty="0" err="1"/>
              <a:t>prior</a:t>
            </a:r>
            <a:r>
              <a:rPr lang="de-DE" b="1" dirty="0"/>
              <a:t> </a:t>
            </a:r>
            <a:r>
              <a:rPr lang="de-DE" b="1" dirty="0" err="1"/>
              <a:t>knowledge</a:t>
            </a:r>
            <a:r>
              <a:rPr lang="de-DE" b="1" dirty="0"/>
              <a:t> </a:t>
            </a:r>
            <a:r>
              <a:rPr lang="de-DE" dirty="0" err="1"/>
              <a:t>plays</a:t>
            </a:r>
            <a:r>
              <a:rPr lang="de-DE" dirty="0"/>
              <a:t> a </a:t>
            </a:r>
            <a:r>
              <a:rPr lang="de-DE" dirty="0" err="1"/>
              <a:t>much</a:t>
            </a:r>
            <a:r>
              <a:rPr lang="de-DE" dirty="0"/>
              <a:t> </a:t>
            </a:r>
            <a:r>
              <a:rPr lang="de-DE" dirty="0" err="1"/>
              <a:t>more</a:t>
            </a:r>
            <a:r>
              <a:rPr lang="de-DE" dirty="0"/>
              <a:t> </a:t>
            </a:r>
            <a:r>
              <a:rPr lang="de-DE" dirty="0" err="1"/>
              <a:t>complicated</a:t>
            </a:r>
            <a:r>
              <a:rPr lang="de-DE" dirty="0"/>
              <a:t> </a:t>
            </a:r>
            <a:r>
              <a:rPr lang="de-DE" dirty="0" err="1"/>
              <a:t>role</a:t>
            </a:r>
            <a:r>
              <a:rPr lang="de-DE" dirty="0"/>
              <a:t> </a:t>
            </a:r>
            <a:r>
              <a:rPr lang="de-DE" dirty="0" err="1"/>
              <a:t>than</a:t>
            </a:r>
            <a:r>
              <a:rPr lang="de-DE" dirty="0"/>
              <a:t> just </a:t>
            </a:r>
            <a:r>
              <a:rPr lang="de-DE" dirty="0" err="1"/>
              <a:t>representing</a:t>
            </a:r>
            <a:r>
              <a:rPr lang="de-DE" dirty="0"/>
              <a:t> </a:t>
            </a:r>
            <a:r>
              <a:rPr lang="de-DE" dirty="0" err="1"/>
              <a:t>the</a:t>
            </a:r>
            <a:r>
              <a:rPr lang="de-DE" dirty="0"/>
              <a:t> </a:t>
            </a:r>
            <a:r>
              <a:rPr lang="de-DE" dirty="0" err="1"/>
              <a:t>basis</a:t>
            </a:r>
            <a:r>
              <a:rPr lang="de-DE" dirty="0"/>
              <a:t> </a:t>
            </a:r>
            <a:r>
              <a:rPr lang="de-DE" dirty="0" err="1"/>
              <a:t>to</a:t>
            </a:r>
            <a:r>
              <a:rPr lang="de-DE" dirty="0"/>
              <a:t> </a:t>
            </a:r>
            <a:r>
              <a:rPr lang="de-DE" dirty="0" err="1"/>
              <a:t>which</a:t>
            </a:r>
            <a:r>
              <a:rPr lang="de-DE" dirty="0"/>
              <a:t> </a:t>
            </a:r>
            <a:r>
              <a:rPr lang="de-DE" dirty="0" err="1"/>
              <a:t>new</a:t>
            </a:r>
            <a:r>
              <a:rPr lang="de-DE" dirty="0"/>
              <a:t> </a:t>
            </a:r>
            <a:r>
              <a:rPr lang="de-DE" dirty="0" err="1"/>
              <a:t>pieses</a:t>
            </a:r>
            <a:r>
              <a:rPr lang="de-DE" dirty="0"/>
              <a:t> </a:t>
            </a:r>
            <a:r>
              <a:rPr lang="de-DE" dirty="0" err="1"/>
              <a:t>are</a:t>
            </a:r>
            <a:r>
              <a:rPr lang="de-DE" dirty="0"/>
              <a:t> </a:t>
            </a:r>
            <a:r>
              <a:rPr lang="de-DE" dirty="0" err="1"/>
              <a:t>added</a:t>
            </a:r>
            <a:r>
              <a:rPr lang="de-DE" dirty="0"/>
              <a:t>.</a:t>
            </a:r>
          </a:p>
          <a:p>
            <a:r>
              <a:rPr lang="de-DE" dirty="0"/>
              <a:t>In </a:t>
            </a:r>
            <a:r>
              <a:rPr lang="de-DE" dirty="0" err="1"/>
              <a:t>both</a:t>
            </a:r>
            <a:r>
              <a:rPr lang="de-DE" dirty="0"/>
              <a:t> </a:t>
            </a:r>
            <a:r>
              <a:rPr lang="de-DE" dirty="0" err="1"/>
              <a:t>research</a:t>
            </a:r>
            <a:r>
              <a:rPr lang="de-DE" dirty="0"/>
              <a:t> </a:t>
            </a:r>
            <a:r>
              <a:rPr lang="de-DE" dirty="0" err="1"/>
              <a:t>areas</a:t>
            </a:r>
            <a:r>
              <a:rPr lang="de-DE" dirty="0"/>
              <a:t>, </a:t>
            </a:r>
            <a:r>
              <a:rPr lang="de-DE" dirty="0" err="1"/>
              <a:t>knowledge</a:t>
            </a:r>
            <a:r>
              <a:rPr lang="de-DE" dirty="0"/>
              <a:t> </a:t>
            </a:r>
            <a:r>
              <a:rPr lang="de-DE" dirty="0" err="1"/>
              <a:t>is</a:t>
            </a:r>
            <a:r>
              <a:rPr lang="de-DE" dirty="0"/>
              <a:t> a </a:t>
            </a:r>
            <a:r>
              <a:rPr lang="de-DE" dirty="0" err="1"/>
              <a:t>central</a:t>
            </a:r>
            <a:r>
              <a:rPr lang="de-DE" dirty="0"/>
              <a:t> </a:t>
            </a:r>
            <a:r>
              <a:rPr lang="de-DE" dirty="0" err="1"/>
              <a:t>construct</a:t>
            </a:r>
            <a:r>
              <a:rPr lang="de-DE" dirty="0"/>
              <a:t> </a:t>
            </a:r>
            <a:r>
              <a:rPr lang="de-DE" dirty="0" err="1"/>
              <a:t>that</a:t>
            </a:r>
            <a:r>
              <a:rPr lang="de-DE" dirty="0"/>
              <a:t> </a:t>
            </a:r>
            <a:r>
              <a:rPr lang="de-DE" dirty="0" err="1"/>
              <a:t>they</a:t>
            </a:r>
            <a:r>
              <a:rPr lang="de-DE" dirty="0"/>
              <a:t> </a:t>
            </a:r>
            <a:r>
              <a:rPr lang="de-DE" dirty="0" err="1"/>
              <a:t>believe</a:t>
            </a:r>
            <a:r>
              <a:rPr lang="de-DE" dirty="0"/>
              <a:t> </a:t>
            </a:r>
            <a:r>
              <a:rPr lang="de-DE" dirty="0" err="1"/>
              <a:t>is</a:t>
            </a:r>
            <a:r>
              <a:rPr lang="de-DE" dirty="0"/>
              <a:t> </a:t>
            </a:r>
            <a:r>
              <a:rPr lang="de-DE" dirty="0" err="1"/>
              <a:t>important</a:t>
            </a:r>
            <a:r>
              <a:rPr lang="de-DE" dirty="0"/>
              <a:t> </a:t>
            </a:r>
            <a:r>
              <a:rPr lang="de-DE" dirty="0" err="1"/>
              <a:t>both</a:t>
            </a:r>
            <a:r>
              <a:rPr lang="de-DE" dirty="0"/>
              <a:t> </a:t>
            </a:r>
            <a:r>
              <a:rPr lang="de-DE" dirty="0" err="1"/>
              <a:t>as</a:t>
            </a:r>
            <a:r>
              <a:rPr lang="de-DE" dirty="0"/>
              <a:t> a </a:t>
            </a:r>
            <a:r>
              <a:rPr lang="de-DE" dirty="0" err="1"/>
              <a:t>predictor</a:t>
            </a:r>
            <a:r>
              <a:rPr lang="de-DE" dirty="0"/>
              <a:t> and an </a:t>
            </a:r>
            <a:r>
              <a:rPr lang="de-DE" dirty="0" err="1"/>
              <a:t>outcome</a:t>
            </a:r>
            <a:r>
              <a:rPr lang="de-DE" dirty="0"/>
              <a:t> </a:t>
            </a:r>
            <a:r>
              <a:rPr lang="de-DE" dirty="0" err="1"/>
              <a:t>of</a:t>
            </a:r>
            <a:r>
              <a:rPr lang="de-DE" dirty="0"/>
              <a:t> </a:t>
            </a:r>
            <a:r>
              <a:rPr lang="de-DE" dirty="0" err="1"/>
              <a:t>learning</a:t>
            </a:r>
            <a:r>
              <a:rPr lang="de-DE" dirty="0"/>
              <a:t>.</a:t>
            </a:r>
          </a:p>
          <a:p>
            <a:endParaRPr lang="de-DE" dirty="0"/>
          </a:p>
          <a:p>
            <a:r>
              <a:rPr lang="de-DE" dirty="0" err="1"/>
              <a:t>What</a:t>
            </a:r>
            <a:r>
              <a:rPr lang="de-DE" dirty="0"/>
              <a:t> </a:t>
            </a:r>
            <a:r>
              <a:rPr lang="de-DE" dirty="0" err="1"/>
              <a:t>is</a:t>
            </a:r>
            <a:r>
              <a:rPr lang="de-DE" dirty="0"/>
              <a:t> </a:t>
            </a:r>
            <a:r>
              <a:rPr lang="de-DE" dirty="0" err="1"/>
              <a:t>knowledge</a:t>
            </a:r>
            <a:r>
              <a:rPr lang="de-DE" dirty="0"/>
              <a:t>? I </a:t>
            </a:r>
            <a:r>
              <a:rPr lang="de-DE" dirty="0" err="1"/>
              <a:t>don`t</a:t>
            </a:r>
            <a:r>
              <a:rPr lang="de-DE" dirty="0"/>
              <a:t> </a:t>
            </a:r>
            <a:r>
              <a:rPr lang="de-DE" dirty="0" err="1"/>
              <a:t>have</a:t>
            </a:r>
            <a:r>
              <a:rPr lang="de-DE" dirty="0"/>
              <a:t> a </a:t>
            </a:r>
            <a:r>
              <a:rPr lang="de-DE" dirty="0" err="1"/>
              <a:t>clue</a:t>
            </a:r>
            <a:r>
              <a:rPr lang="de-DE" dirty="0"/>
              <a:t>.</a:t>
            </a:r>
          </a:p>
          <a:p>
            <a:r>
              <a:rPr lang="de-DE" dirty="0" err="1"/>
              <a:t>I`m</a:t>
            </a:r>
            <a:r>
              <a:rPr lang="de-DE" dirty="0"/>
              <a:t> </a:t>
            </a:r>
            <a:r>
              <a:rPr lang="de-DE" dirty="0" err="1"/>
              <a:t>quite</a:t>
            </a:r>
            <a:r>
              <a:rPr lang="de-DE" dirty="0"/>
              <a:t> </a:t>
            </a:r>
            <a:r>
              <a:rPr lang="de-DE" dirty="0" err="1"/>
              <a:t>sure</a:t>
            </a:r>
            <a:r>
              <a:rPr lang="de-DE" dirty="0"/>
              <a:t> </a:t>
            </a:r>
            <a:r>
              <a:rPr lang="de-DE" dirty="0" err="1"/>
              <a:t>it`s</a:t>
            </a:r>
            <a:r>
              <a:rPr lang="de-DE" dirty="0"/>
              <a:t> a </a:t>
            </a:r>
            <a:r>
              <a:rPr lang="de-DE" dirty="0" err="1"/>
              <a:t>cognitive</a:t>
            </a:r>
            <a:r>
              <a:rPr lang="de-DE" dirty="0"/>
              <a:t> </a:t>
            </a:r>
            <a:r>
              <a:rPr lang="de-DE" dirty="0" err="1"/>
              <a:t>representation</a:t>
            </a:r>
            <a:r>
              <a:rPr lang="de-DE" dirty="0"/>
              <a:t>, </a:t>
            </a:r>
            <a:r>
              <a:rPr lang="de-DE" dirty="0" err="1"/>
              <a:t>of</a:t>
            </a:r>
            <a:r>
              <a:rPr lang="de-DE" dirty="0"/>
              <a:t> </a:t>
            </a:r>
            <a:r>
              <a:rPr lang="de-DE" dirty="0" err="1"/>
              <a:t>facts</a:t>
            </a:r>
            <a:r>
              <a:rPr lang="de-DE" dirty="0"/>
              <a:t>, </a:t>
            </a:r>
            <a:r>
              <a:rPr lang="de-DE" dirty="0" err="1"/>
              <a:t>procedures</a:t>
            </a:r>
            <a:r>
              <a:rPr lang="de-DE" dirty="0"/>
              <a:t>, </a:t>
            </a:r>
            <a:r>
              <a:rPr lang="de-DE" dirty="0" err="1"/>
              <a:t>events</a:t>
            </a:r>
            <a:r>
              <a:rPr lang="de-DE" dirty="0"/>
              <a:t>, </a:t>
            </a:r>
            <a:r>
              <a:rPr lang="de-DE" dirty="0" err="1"/>
              <a:t>concepts</a:t>
            </a:r>
            <a:r>
              <a:rPr lang="de-DE" dirty="0"/>
              <a:t>, </a:t>
            </a:r>
            <a:r>
              <a:rPr lang="de-DE" dirty="0" err="1"/>
              <a:t>schemata</a:t>
            </a:r>
            <a:r>
              <a:rPr lang="de-DE" dirty="0"/>
              <a:t>, and </a:t>
            </a:r>
            <a:r>
              <a:rPr lang="de-DE" dirty="0" err="1"/>
              <a:t>other</a:t>
            </a:r>
            <a:r>
              <a:rPr lang="de-DE" dirty="0"/>
              <a:t> </a:t>
            </a:r>
            <a:r>
              <a:rPr lang="de-DE" dirty="0" err="1"/>
              <a:t>ontological</a:t>
            </a:r>
            <a:r>
              <a:rPr lang="de-DE" dirty="0"/>
              <a:t> </a:t>
            </a:r>
            <a:r>
              <a:rPr lang="de-DE" dirty="0" err="1"/>
              <a:t>categories</a:t>
            </a:r>
            <a:r>
              <a:rPr lang="de-DE" dirty="0"/>
              <a:t>. I like </a:t>
            </a:r>
            <a:r>
              <a:rPr lang="de-DE" dirty="0" err="1"/>
              <a:t>to</a:t>
            </a:r>
            <a:r>
              <a:rPr lang="de-DE" dirty="0"/>
              <a:t> </a:t>
            </a:r>
            <a:r>
              <a:rPr lang="de-DE" dirty="0" err="1"/>
              <a:t>see</a:t>
            </a:r>
            <a:r>
              <a:rPr lang="de-DE" dirty="0"/>
              <a:t> </a:t>
            </a:r>
            <a:r>
              <a:rPr lang="de-DE" dirty="0" err="1"/>
              <a:t>knowledge</a:t>
            </a:r>
            <a:r>
              <a:rPr lang="de-DE" dirty="0"/>
              <a:t> </a:t>
            </a:r>
            <a:r>
              <a:rPr lang="de-DE" dirty="0" err="1"/>
              <a:t>as</a:t>
            </a:r>
            <a:r>
              <a:rPr lang="de-DE" dirty="0"/>
              <a:t> </a:t>
            </a:r>
            <a:r>
              <a:rPr lang="de-DE" dirty="0" err="1"/>
              <a:t>measurement</a:t>
            </a:r>
            <a:r>
              <a:rPr lang="de-DE" dirty="0"/>
              <a:t>:</a:t>
            </a:r>
          </a:p>
          <a:p>
            <a:r>
              <a:rPr lang="de-DE" dirty="0" err="1"/>
              <a:t>Our</a:t>
            </a:r>
            <a:r>
              <a:rPr lang="de-DE" dirty="0"/>
              <a:t> </a:t>
            </a:r>
            <a:r>
              <a:rPr lang="de-DE" dirty="0" err="1"/>
              <a:t>brains</a:t>
            </a:r>
            <a:r>
              <a:rPr lang="de-DE" dirty="0"/>
              <a:t> </a:t>
            </a:r>
            <a:r>
              <a:rPr lang="de-DE" dirty="0" err="1"/>
              <a:t>represents</a:t>
            </a:r>
            <a:r>
              <a:rPr lang="de-DE" dirty="0"/>
              <a:t> </a:t>
            </a:r>
            <a:r>
              <a:rPr lang="de-DE" dirty="0" err="1"/>
              <a:t>central</a:t>
            </a:r>
            <a:r>
              <a:rPr lang="de-DE" dirty="0"/>
              <a:t> </a:t>
            </a:r>
            <a:r>
              <a:rPr lang="de-DE" dirty="0" err="1"/>
              <a:t>characteristics</a:t>
            </a:r>
            <a:r>
              <a:rPr lang="de-DE" dirty="0"/>
              <a:t> </a:t>
            </a:r>
            <a:r>
              <a:rPr lang="de-DE" dirty="0" err="1"/>
              <a:t>of</a:t>
            </a:r>
            <a:r>
              <a:rPr lang="de-DE" dirty="0"/>
              <a:t> </a:t>
            </a:r>
            <a:r>
              <a:rPr lang="de-DE" dirty="0" err="1"/>
              <a:t>phenomena</a:t>
            </a:r>
            <a:r>
              <a:rPr lang="de-DE" dirty="0"/>
              <a:t> in </a:t>
            </a:r>
            <a:r>
              <a:rPr lang="de-DE" dirty="0" err="1"/>
              <a:t>the</a:t>
            </a:r>
            <a:r>
              <a:rPr lang="de-DE" dirty="0"/>
              <a:t> </a:t>
            </a:r>
            <a:r>
              <a:rPr lang="de-DE" dirty="0" err="1"/>
              <a:t>world</a:t>
            </a:r>
            <a:r>
              <a:rPr lang="de-DE" dirty="0"/>
              <a:t> </a:t>
            </a:r>
            <a:r>
              <a:rPr lang="de-DE" dirty="0" err="1"/>
              <a:t>to</a:t>
            </a:r>
            <a:r>
              <a:rPr lang="de-DE" dirty="0"/>
              <a:t> </a:t>
            </a:r>
            <a:r>
              <a:rPr lang="de-DE" dirty="0" err="1"/>
              <a:t>help</a:t>
            </a:r>
            <a:r>
              <a:rPr lang="de-DE" dirty="0"/>
              <a:t> </a:t>
            </a:r>
            <a:r>
              <a:rPr lang="de-DE" dirty="0" err="1"/>
              <a:t>us</a:t>
            </a:r>
            <a:r>
              <a:rPr lang="de-DE" dirty="0"/>
              <a:t> </a:t>
            </a:r>
            <a:r>
              <a:rPr lang="de-DE" dirty="0" err="1"/>
              <a:t>make</a:t>
            </a:r>
            <a:r>
              <a:rPr lang="de-DE" dirty="0"/>
              <a:t> </a:t>
            </a:r>
            <a:r>
              <a:rPr lang="de-DE" dirty="0" err="1"/>
              <a:t>it</a:t>
            </a:r>
            <a:r>
              <a:rPr lang="de-DE" dirty="0"/>
              <a:t> </a:t>
            </a:r>
            <a:r>
              <a:rPr lang="de-DE" dirty="0" err="1"/>
              <a:t>more</a:t>
            </a:r>
            <a:r>
              <a:rPr lang="de-DE" dirty="0"/>
              <a:t> </a:t>
            </a:r>
            <a:r>
              <a:rPr lang="de-DE" dirty="0" err="1"/>
              <a:t>predictable</a:t>
            </a:r>
            <a:r>
              <a:rPr lang="de-DE" dirty="0"/>
              <a:t> and </a:t>
            </a:r>
            <a:r>
              <a:rPr lang="de-DE" dirty="0" err="1"/>
              <a:t>give</a:t>
            </a:r>
            <a:r>
              <a:rPr lang="de-DE" dirty="0"/>
              <a:t> </a:t>
            </a:r>
            <a:r>
              <a:rPr lang="de-DE" dirty="0" err="1"/>
              <a:t>us</a:t>
            </a:r>
            <a:r>
              <a:rPr lang="de-DE" dirty="0"/>
              <a:t> </a:t>
            </a:r>
            <a:r>
              <a:rPr lang="de-DE" dirty="0" err="1"/>
              <a:t>agency</a:t>
            </a:r>
            <a:r>
              <a:rPr lang="de-DE" dirty="0"/>
              <a:t> – </a:t>
            </a:r>
            <a:r>
              <a:rPr lang="de-DE" dirty="0" err="1"/>
              <a:t>maybe</a:t>
            </a:r>
            <a:r>
              <a:rPr lang="de-DE" dirty="0"/>
              <a:t> </a:t>
            </a:r>
            <a:r>
              <a:rPr lang="de-DE" dirty="0" err="1"/>
              <a:t>that`s</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show</a:t>
            </a:r>
            <a:r>
              <a:rPr lang="de-DE" dirty="0"/>
              <a:t>: Measurement: </a:t>
            </a:r>
            <a:r>
              <a:rPr lang="de-DE" dirty="0" err="1"/>
              <a:t>represent</a:t>
            </a:r>
            <a:r>
              <a:rPr lang="de-DE" dirty="0"/>
              <a:t> </a:t>
            </a:r>
            <a:r>
              <a:rPr lang="de-DE" dirty="0" err="1"/>
              <a:t>differences</a:t>
            </a:r>
            <a:r>
              <a:rPr lang="de-DE" dirty="0"/>
              <a:t> in </a:t>
            </a:r>
            <a:r>
              <a:rPr lang="de-DE" dirty="0" err="1"/>
              <a:t>something</a:t>
            </a:r>
            <a:r>
              <a:rPr lang="de-DE" dirty="0"/>
              <a:t> </a:t>
            </a:r>
            <a:r>
              <a:rPr lang="de-DE" dirty="0" err="1"/>
              <a:t>that</a:t>
            </a:r>
            <a:r>
              <a:rPr lang="de-DE" dirty="0"/>
              <a:t> </a:t>
            </a:r>
            <a:r>
              <a:rPr lang="de-DE" dirty="0" err="1"/>
              <a:t>we</a:t>
            </a:r>
            <a:r>
              <a:rPr lang="de-DE" dirty="0"/>
              <a:t> care </a:t>
            </a:r>
            <a:r>
              <a:rPr lang="de-DE" dirty="0" err="1"/>
              <a:t>about</a:t>
            </a:r>
            <a:r>
              <a:rPr lang="de-DE" dirty="0"/>
              <a:t>, </a:t>
            </a:r>
            <a:r>
              <a:rPr lang="de-DE" dirty="0" err="1"/>
              <a:t>capturing</a:t>
            </a:r>
            <a:r>
              <a:rPr lang="de-DE" dirty="0"/>
              <a:t> </a:t>
            </a:r>
            <a:r>
              <a:rPr lang="de-DE" dirty="0" err="1"/>
              <a:t>relations</a:t>
            </a:r>
            <a:r>
              <a:rPr lang="de-DE" dirty="0"/>
              <a:t> in </a:t>
            </a:r>
            <a:r>
              <a:rPr lang="de-DE" dirty="0" err="1"/>
              <a:t>differences</a:t>
            </a:r>
            <a:r>
              <a:rPr lang="de-DE" dirty="0"/>
              <a:t> in </a:t>
            </a:r>
            <a:r>
              <a:rPr lang="de-DE" dirty="0" err="1"/>
              <a:t>this</a:t>
            </a:r>
            <a:r>
              <a:rPr lang="de-DE" dirty="0"/>
              <a:t> </a:t>
            </a:r>
            <a:r>
              <a:rPr lang="de-DE" dirty="0" err="1"/>
              <a:t>some</a:t>
            </a:r>
            <a:r>
              <a:rPr lang="de-DE" dirty="0"/>
              <a:t>-thing in </a:t>
            </a:r>
            <a:r>
              <a:rPr lang="de-DE" dirty="0" err="1"/>
              <a:t>numbers</a:t>
            </a:r>
            <a:r>
              <a:rPr lang="de-DE" dirty="0"/>
              <a:t>)</a:t>
            </a:r>
          </a:p>
          <a:p>
            <a:endParaRPr lang="de-DE" dirty="0"/>
          </a:p>
          <a:p>
            <a:r>
              <a:rPr lang="de-DE" dirty="0" err="1"/>
              <a:t>Although</a:t>
            </a:r>
            <a:r>
              <a:rPr lang="de-DE" dirty="0"/>
              <a:t> </a:t>
            </a:r>
            <a:r>
              <a:rPr lang="de-DE" dirty="0" err="1"/>
              <a:t>no</a:t>
            </a:r>
            <a:r>
              <a:rPr lang="de-DE" dirty="0"/>
              <a:t> </a:t>
            </a:r>
            <a:r>
              <a:rPr lang="de-DE" dirty="0" err="1"/>
              <a:t>one</a:t>
            </a:r>
            <a:r>
              <a:rPr lang="de-DE" dirty="0"/>
              <a:t> </a:t>
            </a:r>
            <a:r>
              <a:rPr lang="de-DE" dirty="0" err="1"/>
              <a:t>can</a:t>
            </a:r>
            <a:r>
              <a:rPr lang="de-DE" dirty="0"/>
              <a:t> </a:t>
            </a:r>
            <a:r>
              <a:rPr lang="de-DE" dirty="0" err="1"/>
              <a:t>define</a:t>
            </a:r>
            <a:r>
              <a:rPr lang="de-DE" dirty="0"/>
              <a:t> </a:t>
            </a:r>
            <a:r>
              <a:rPr lang="de-DE" dirty="0" err="1"/>
              <a:t>what</a:t>
            </a:r>
            <a:r>
              <a:rPr lang="de-DE" dirty="0"/>
              <a:t> </a:t>
            </a:r>
            <a:r>
              <a:rPr lang="de-DE" dirty="0" err="1"/>
              <a:t>knowledge</a:t>
            </a:r>
            <a:r>
              <a:rPr lang="de-DE" dirty="0"/>
              <a:t> </a:t>
            </a:r>
            <a:r>
              <a:rPr lang="de-DE" dirty="0" err="1"/>
              <a:t>is</a:t>
            </a:r>
            <a:r>
              <a:rPr lang="de-DE" dirty="0"/>
              <a:t>, </a:t>
            </a:r>
            <a:r>
              <a:rPr lang="de-DE" dirty="0" err="1"/>
              <a:t>we</a:t>
            </a:r>
            <a:r>
              <a:rPr lang="de-DE" dirty="0"/>
              <a:t> </a:t>
            </a:r>
            <a:r>
              <a:rPr lang="de-DE" dirty="0" err="1"/>
              <a:t>have</a:t>
            </a:r>
            <a:r>
              <a:rPr lang="de-DE" dirty="0"/>
              <a:t> </a:t>
            </a:r>
            <a:r>
              <a:rPr lang="de-DE" dirty="0" err="1"/>
              <a:t>many</a:t>
            </a:r>
            <a:r>
              <a:rPr lang="de-DE" dirty="0"/>
              <a:t> </a:t>
            </a:r>
            <a:r>
              <a:rPr lang="de-DE" dirty="0" err="1"/>
              <a:t>ontological</a:t>
            </a:r>
            <a:r>
              <a:rPr lang="de-DE" dirty="0"/>
              <a:t> </a:t>
            </a:r>
            <a:r>
              <a:rPr lang="de-DE" dirty="0" err="1"/>
              <a:t>categories</a:t>
            </a:r>
            <a:r>
              <a:rPr lang="de-DE" dirty="0"/>
              <a:t> </a:t>
            </a:r>
            <a:r>
              <a:rPr lang="de-DE" dirty="0" err="1"/>
              <a:t>assembled</a:t>
            </a:r>
            <a:r>
              <a:rPr lang="de-DE" dirty="0"/>
              <a:t> </a:t>
            </a:r>
            <a:r>
              <a:rPr lang="de-DE" dirty="0" err="1"/>
              <a:t>within</a:t>
            </a:r>
            <a:r>
              <a:rPr lang="de-DE" dirty="0"/>
              <a:t> </a:t>
            </a:r>
            <a:r>
              <a:rPr lang="de-DE" dirty="0" err="1"/>
              <a:t>this</a:t>
            </a:r>
            <a:r>
              <a:rPr lang="de-DE" dirty="0"/>
              <a:t> </a:t>
            </a:r>
            <a:r>
              <a:rPr lang="de-DE" dirty="0" err="1"/>
              <a:t>term</a:t>
            </a:r>
            <a:r>
              <a:rPr lang="de-DE" dirty="0"/>
              <a:t> – </a:t>
            </a:r>
            <a:r>
              <a:rPr lang="de-DE" dirty="0" err="1"/>
              <a:t>maybe</a:t>
            </a:r>
            <a:r>
              <a:rPr lang="de-DE" dirty="0"/>
              <a:t> </a:t>
            </a:r>
            <a:r>
              <a:rPr lang="de-DE" dirty="0" err="1"/>
              <a:t>around</a:t>
            </a:r>
            <a:r>
              <a:rPr lang="de-DE" dirty="0"/>
              <a:t> 120.</a:t>
            </a:r>
          </a:p>
          <a:p>
            <a:endParaRPr lang="de-DE" dirty="0"/>
          </a:p>
          <a:p>
            <a:r>
              <a:rPr lang="de-DE" dirty="0" err="1"/>
              <a:t>We</a:t>
            </a:r>
            <a:r>
              <a:rPr lang="de-DE" dirty="0"/>
              <a:t> </a:t>
            </a:r>
            <a:r>
              <a:rPr lang="de-DE" dirty="0" err="1"/>
              <a:t>can</a:t>
            </a:r>
            <a:r>
              <a:rPr lang="de-DE" dirty="0"/>
              <a:t> </a:t>
            </a:r>
            <a:r>
              <a:rPr lang="de-DE" dirty="0" err="1"/>
              <a:t>summarize</a:t>
            </a:r>
            <a:r>
              <a:rPr lang="de-DE" dirty="0"/>
              <a:t> </a:t>
            </a:r>
            <a:r>
              <a:rPr lang="de-DE" dirty="0" err="1"/>
              <a:t>these</a:t>
            </a:r>
            <a:r>
              <a:rPr lang="de-DE" dirty="0"/>
              <a:t> </a:t>
            </a:r>
            <a:r>
              <a:rPr lang="de-DE" dirty="0" err="1"/>
              <a:t>as</a:t>
            </a:r>
            <a:r>
              <a:rPr lang="de-DE" dirty="0"/>
              <a:t> </a:t>
            </a:r>
            <a:r>
              <a:rPr lang="de-DE" dirty="0" err="1"/>
              <a:t>types</a:t>
            </a:r>
            <a:r>
              <a:rPr lang="de-DE" dirty="0"/>
              <a:t> and </a:t>
            </a:r>
            <a:r>
              <a:rPr lang="de-DE" dirty="0" err="1"/>
              <a:t>qualities</a:t>
            </a:r>
            <a:r>
              <a:rPr lang="de-DE" dirty="0"/>
              <a:t> </a:t>
            </a:r>
            <a:r>
              <a:rPr lang="de-DE" dirty="0" err="1"/>
              <a:t>of</a:t>
            </a:r>
            <a:r>
              <a:rPr lang="de-DE" dirty="0"/>
              <a:t> </a:t>
            </a:r>
            <a:r>
              <a:rPr lang="de-DE" dirty="0" err="1"/>
              <a:t>knowledge</a:t>
            </a:r>
            <a:r>
              <a:rPr lang="de-DE" dirty="0"/>
              <a:t>…</a:t>
            </a:r>
          </a:p>
          <a:p>
            <a:endParaRPr lang="de-DE" dirty="0"/>
          </a:p>
          <a:p>
            <a:endParaRPr lang="de-DE" dirty="0"/>
          </a:p>
          <a:p>
            <a:endParaRPr lang="de-DE" dirty="0"/>
          </a:p>
          <a:p>
            <a:endParaRPr lang="de-DE" dirty="0"/>
          </a:p>
          <a:p>
            <a:endParaRPr lang="de-DE" dirty="0"/>
          </a:p>
          <a:p>
            <a:endParaRPr lang="de-DE" dirty="0"/>
          </a:p>
          <a:p>
            <a:endParaRPr lang="de-DE" dirty="0"/>
          </a:p>
          <a:p>
            <a:r>
              <a:rPr lang="de-DE" dirty="0"/>
              <a:t>In </a:t>
            </a:r>
            <a:r>
              <a:rPr lang="de-DE" dirty="0" err="1"/>
              <a:t>inquiry</a:t>
            </a:r>
            <a:r>
              <a:rPr lang="de-DE" dirty="0"/>
              <a:t> </a:t>
            </a:r>
            <a:r>
              <a:rPr lang="de-DE" dirty="0" err="1"/>
              <a:t>learning</a:t>
            </a:r>
            <a:r>
              <a:rPr lang="de-DE" dirty="0"/>
              <a:t> and </a:t>
            </a:r>
            <a:r>
              <a:rPr lang="de-DE" dirty="0" err="1"/>
              <a:t>conceptual</a:t>
            </a:r>
            <a:r>
              <a:rPr lang="de-DE" dirty="0"/>
              <a:t> </a:t>
            </a:r>
            <a:r>
              <a:rPr lang="de-DE" dirty="0" err="1"/>
              <a:t>change</a:t>
            </a:r>
            <a:r>
              <a:rPr lang="de-DE" dirty="0"/>
              <a:t> </a:t>
            </a:r>
            <a:r>
              <a:rPr lang="de-DE" dirty="0" err="1"/>
              <a:t>researc</a:t>
            </a:r>
            <a:r>
              <a:rPr lang="de-DE" dirty="0"/>
              <a:t>, a </a:t>
            </a:r>
            <a:r>
              <a:rPr lang="de-DE" dirty="0" err="1"/>
              <a:t>central</a:t>
            </a:r>
            <a:r>
              <a:rPr lang="de-DE" dirty="0"/>
              <a:t> </a:t>
            </a:r>
            <a:r>
              <a:rPr lang="de-DE" dirty="0" err="1"/>
              <a:t>concept</a:t>
            </a:r>
            <a:r>
              <a:rPr lang="de-DE" dirty="0"/>
              <a:t> </a:t>
            </a:r>
            <a:r>
              <a:rPr lang="de-DE" dirty="0" err="1"/>
              <a:t>of</a:t>
            </a:r>
            <a:r>
              <a:rPr lang="de-DE" dirty="0"/>
              <a:t> </a:t>
            </a:r>
            <a:r>
              <a:rPr lang="de-DE" dirty="0" err="1"/>
              <a:t>interest</a:t>
            </a:r>
            <a:r>
              <a:rPr lang="de-DE" dirty="0"/>
              <a:t> </a:t>
            </a:r>
            <a:r>
              <a:rPr lang="de-DE" dirty="0" err="1"/>
              <a:t>is</a:t>
            </a:r>
            <a:r>
              <a:rPr lang="de-DE" dirty="0"/>
              <a:t> </a:t>
            </a:r>
            <a:r>
              <a:rPr lang="de-DE" dirty="0" err="1"/>
              <a:t>knowledge</a:t>
            </a:r>
            <a:r>
              <a:rPr lang="de-DE" dirty="0"/>
              <a:t>.</a:t>
            </a:r>
          </a:p>
          <a:p>
            <a:r>
              <a:rPr lang="de-DE" dirty="0" err="1"/>
              <a:t>There</a:t>
            </a:r>
            <a:r>
              <a:rPr lang="de-DE" dirty="0"/>
              <a:t> </a:t>
            </a:r>
            <a:r>
              <a:rPr lang="de-DE" dirty="0" err="1"/>
              <a:t>are</a:t>
            </a:r>
            <a:r>
              <a:rPr lang="de-DE" dirty="0"/>
              <a:t> </a:t>
            </a:r>
            <a:r>
              <a:rPr lang="de-DE" dirty="0" err="1"/>
              <a:t>various</a:t>
            </a:r>
            <a:r>
              <a:rPr lang="de-DE" dirty="0"/>
              <a:t> </a:t>
            </a:r>
            <a:r>
              <a:rPr lang="de-DE" dirty="0" err="1"/>
              <a:t>types</a:t>
            </a:r>
            <a:r>
              <a:rPr lang="de-DE" dirty="0"/>
              <a:t> </a:t>
            </a:r>
            <a:r>
              <a:rPr lang="de-DE" dirty="0" err="1"/>
              <a:t>of</a:t>
            </a:r>
            <a:r>
              <a:rPr lang="de-DE" dirty="0"/>
              <a:t> </a:t>
            </a:r>
            <a:r>
              <a:rPr lang="de-DE" dirty="0" err="1"/>
              <a:t>knowledge</a:t>
            </a:r>
            <a:r>
              <a:rPr lang="de-DE" dirty="0"/>
              <a:t> - </a:t>
            </a:r>
          </a:p>
        </p:txBody>
      </p:sp>
      <p:sp>
        <p:nvSpPr>
          <p:cNvPr id="4" name="Foliennummernplatzhalter 3"/>
          <p:cNvSpPr>
            <a:spLocks noGrp="1"/>
          </p:cNvSpPr>
          <p:nvPr>
            <p:ph type="sldNum" sz="quarter" idx="5"/>
          </p:nvPr>
        </p:nvSpPr>
        <p:spPr/>
        <p:txBody>
          <a:bodyPr/>
          <a:lstStyle/>
          <a:p>
            <a:fld id="{5F3851DE-F466-402D-BCCE-A21736686A05}" type="slidenum">
              <a:rPr lang="de-DE" smtClean="0"/>
              <a:t>92</a:t>
            </a:fld>
            <a:endParaRPr lang="de-DE"/>
          </a:p>
        </p:txBody>
      </p:sp>
    </p:spTree>
    <p:extLst>
      <p:ext uri="{BB962C8B-B14F-4D97-AF65-F5344CB8AC3E}">
        <p14:creationId xmlns:p14="http://schemas.microsoft.com/office/powerpoint/2010/main" val="331882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a:p>
        </p:txBody>
      </p:sp>
      <p:sp>
        <p:nvSpPr>
          <p:cNvPr id="6" name="Foliennummernplatzhalter 5"/>
          <p:cNvSpPr>
            <a:spLocks noGrp="1"/>
          </p:cNvSpPr>
          <p:nvPr>
            <p:ph type="sldNum" sz="quarter" idx="12"/>
          </p:nvPr>
        </p:nvSpPr>
        <p:spPr>
          <a:xfrm>
            <a:off x="9296400" y="6492875"/>
            <a:ext cx="2743200" cy="365125"/>
          </a:xfrm>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
        <p:nvSpPr>
          <p:cNvPr id="5" name="Foliennummernplatzhalter 5">
            <a:extLst>
              <a:ext uri="{FF2B5EF4-FFF2-40B4-BE49-F238E27FC236}">
                <a16:creationId xmlns:a16="http://schemas.microsoft.com/office/drawing/2014/main" id="{76C28204-87C0-49C0-A2AC-CEB31E4E9049}"/>
              </a:ext>
            </a:extLst>
          </p:cNvPr>
          <p:cNvSpPr txBox="1">
            <a:spLocks/>
          </p:cNvSpPr>
          <p:nvPr userDrawn="1"/>
        </p:nvSpPr>
        <p:spPr>
          <a:xfrm>
            <a:off x="92964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F9199A8-74E1-481D-886D-259B86D8CE8A}" type="slidenum">
              <a:rPr lang="en-US" smtClean="0"/>
              <a:pPr/>
              <a:t>‹Nr.›</a:t>
            </a:fld>
            <a:endParaRPr lang="en-US"/>
          </a:p>
        </p:txBody>
      </p:sp>
    </p:spTree>
    <p:extLst>
      <p:ext uri="{BB962C8B-B14F-4D97-AF65-F5344CB8AC3E}">
        <p14:creationId xmlns:p14="http://schemas.microsoft.com/office/powerpoint/2010/main" val="4245132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Inhaltsplatzhalt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E5CA370-940F-4719-9D7F-9D9510DD8F97}" type="datetimeFigureOut">
              <a:rPr lang="en-US" smtClean="0"/>
              <a:pPr/>
              <a:t>8/18/2026</a:t>
            </a:fld>
            <a:endParaRPr lang="en-US"/>
          </a:p>
        </p:txBody>
      </p:sp>
      <p:sp>
        <p:nvSpPr>
          <p:cNvPr id="5" name="Fußzeilenplatzhalt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Foliennummernplatzhalt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F9199A8-74E1-481D-886D-259B86D8CE8A}" type="slidenum">
              <a:rPr lang="en-US" smtClean="0"/>
              <a:pPr/>
              <a:t>‹Nr.›</a:t>
            </a:fld>
            <a:endParaRPr lang="en-US"/>
          </a:p>
        </p:txBody>
      </p:sp>
      <p:sp>
        <p:nvSpPr>
          <p:cNvPr id="7" name="Rechteck 6">
            <a:extLst>
              <a:ext uri="{FF2B5EF4-FFF2-40B4-BE49-F238E27FC236}">
                <a16:creationId xmlns:a16="http://schemas.microsoft.com/office/drawing/2014/main" id="{8CB7708C-2EFA-4916-9FE7-C9887660A60D}"/>
              </a:ext>
            </a:extLst>
          </p:cNvPr>
          <p:cNvSpPr/>
          <p:nvPr userDrawn="1"/>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4128140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endParaRPr lang="en-US"/>
          </a:p>
        </p:txBody>
      </p:sp>
      <p:sp>
        <p:nvSpPr>
          <p:cNvPr id="4" name="Datumsplatzhalter 3"/>
          <p:cNvSpPr>
            <a:spLocks noGrp="1"/>
          </p:cNvSpPr>
          <p:nvPr>
            <p:ph type="dt" sz="half" idx="10"/>
          </p:nvPr>
        </p:nvSpPr>
        <p:spPr/>
        <p:txBody>
          <a:bodyPr/>
          <a:lstStyle/>
          <a:p>
            <a:fld id="{23CB3BCC-374A-41E5-BFEA-C866467ABD4B}" type="datetimeFigureOut">
              <a:rPr lang="en-US" smtClean="0"/>
              <a:t>8/18/2026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B284E3EC-D12A-4777-A773-8DBD74BCA08A}" type="slidenum">
              <a:rPr lang="en-US" smtClean="0"/>
              <a:t>‹Nr.›</a:t>
            </a:fld>
            <a:endParaRPr lang="en-US"/>
          </a:p>
        </p:txBody>
      </p:sp>
    </p:spTree>
    <p:extLst>
      <p:ext uri="{BB962C8B-B14F-4D97-AF65-F5344CB8AC3E}">
        <p14:creationId xmlns:p14="http://schemas.microsoft.com/office/powerpoint/2010/main" val="391599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p>
            <a:fld id="{23CB3BCC-374A-41E5-BFEA-C866467ABD4B}" type="datetimeFigureOut">
              <a:rPr lang="en-US" smtClean="0"/>
              <a:t>8/18/2026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B284E3EC-D12A-4777-A773-8DBD74BCA08A}" type="slidenum">
              <a:rPr lang="en-US" smtClean="0"/>
              <a:t>‹Nr.›</a:t>
            </a:fld>
            <a:endParaRPr lang="en-US"/>
          </a:p>
        </p:txBody>
      </p:sp>
    </p:spTree>
    <p:extLst>
      <p:ext uri="{BB962C8B-B14F-4D97-AF65-F5344CB8AC3E}">
        <p14:creationId xmlns:p14="http://schemas.microsoft.com/office/powerpoint/2010/main" val="40046625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5CA370-940F-4719-9D7F-9D9510DD8F97}" type="datetimeFigureOut">
              <a:rPr lang="en-US" smtClean="0"/>
              <a:t>8/18/2026</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99A8-74E1-481D-886D-259B86D8CE8A}" type="slidenum">
              <a:rPr lang="en-US" smtClean="0"/>
              <a:t>‹Nr.›</a:t>
            </a:fld>
            <a:endParaRPr lang="en-US"/>
          </a:p>
        </p:txBody>
      </p:sp>
    </p:spTree>
    <p:extLst>
      <p:ext uri="{BB962C8B-B14F-4D97-AF65-F5344CB8AC3E}">
        <p14:creationId xmlns:p14="http://schemas.microsoft.com/office/powerpoint/2010/main" val="388192804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B3BCC-374A-41E5-BFEA-C866467ABD4B}" type="datetimeFigureOut">
              <a:rPr lang="en-US" smtClean="0"/>
              <a:t>8/18/2026</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84E3EC-D12A-4777-A773-8DBD74BCA08A}" type="slidenum">
              <a:rPr lang="en-US" smtClean="0"/>
              <a:t>‹Nr.›</a:t>
            </a:fld>
            <a:endParaRPr lang="en-US"/>
          </a:p>
        </p:txBody>
      </p:sp>
    </p:spTree>
    <p:extLst>
      <p:ext uri="{BB962C8B-B14F-4D97-AF65-F5344CB8AC3E}">
        <p14:creationId xmlns:p14="http://schemas.microsoft.com/office/powerpoint/2010/main" val="1683531465"/>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peter1328/presentations"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1.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3" Type="http://schemas.openxmlformats.org/officeDocument/2006/relationships/hyperlink" Target="https://doi.org/10.1080/07370008.2016.1251287" TargetMode="External"/><Relationship Id="rId18" Type="http://schemas.openxmlformats.org/officeDocument/2006/relationships/hyperlink" Target="https://doi.org/10.3758/s13428-020-01398-0" TargetMode="External"/><Relationship Id="rId26" Type="http://schemas.openxmlformats.org/officeDocument/2006/relationships/hyperlink" Target="https://doi.org/10.1016/j.jecp.2008.03.004" TargetMode="External"/><Relationship Id="rId3" Type="http://schemas.openxmlformats.org/officeDocument/2006/relationships/hyperlink" Target="https://doi.org/10.1080/0969594X.2017.1319337" TargetMode="External"/><Relationship Id="rId21" Type="http://schemas.openxmlformats.org/officeDocument/2006/relationships/hyperlink" Target="https://doi.org/10.1007/s10648-022-09661-w" TargetMode="External"/><Relationship Id="rId34" Type="http://schemas.openxmlformats.org/officeDocument/2006/relationships/image" Target="../media/image46.png"/><Relationship Id="rId7" Type="http://schemas.openxmlformats.org/officeDocument/2006/relationships/hyperlink" Target="https://doi.org/10.3200/JEXE.76.3.281-314" TargetMode="External"/><Relationship Id="rId12" Type="http://schemas.openxmlformats.org/officeDocument/2006/relationships/hyperlink" Target="https://doi.org/10.1006/drev.2001.0530" TargetMode="External"/><Relationship Id="rId17" Type="http://schemas.openxmlformats.org/officeDocument/2006/relationships/hyperlink" Target="https://doi.org/10.1016/j.learninstruc.2013.12.004" TargetMode="External"/><Relationship Id="rId25" Type="http://schemas.openxmlformats.org/officeDocument/2006/relationships/hyperlink" Target="https://doi.org/10.1016/0010-0285(76)90016-5" TargetMode="External"/><Relationship Id="rId33" Type="http://schemas.openxmlformats.org/officeDocument/2006/relationships/hyperlink" Target="https://doi.org/10.1017/S0140525X20001685" TargetMode="External"/><Relationship Id="rId2" Type="http://schemas.openxmlformats.org/officeDocument/2006/relationships/notesSlide" Target="../notesSlides/notesSlide50.xml"/><Relationship Id="rId16" Type="http://schemas.openxmlformats.org/officeDocument/2006/relationships/hyperlink" Target="https://api.taylorfrancis.com/content/chapters/edit/download?identifierName=doi&amp;identifierValue=10.4324/9781315795225-28&amp;type=chapterpdf" TargetMode="External"/><Relationship Id="rId20" Type="http://schemas.openxmlformats.org/officeDocument/2006/relationships/hyperlink" Target="https://doi.org/10.1080/10705511.2023.2191292" TargetMode="External"/><Relationship Id="rId29" Type="http://schemas.openxmlformats.org/officeDocument/2006/relationships/hyperlink" Target="https://doi.org/10.1097/EDE.0000000000001434" TargetMode="External"/><Relationship Id="rId1" Type="http://schemas.openxmlformats.org/officeDocument/2006/relationships/slideLayout" Target="../slideLayouts/slideLayout1.xml"/><Relationship Id="rId6" Type="http://schemas.openxmlformats.org/officeDocument/2006/relationships/hyperlink" Target="https://doi.org/10.1111/tops.12749" TargetMode="External"/><Relationship Id="rId11" Type="http://schemas.openxmlformats.org/officeDocument/2006/relationships/hyperlink" Target="https://doi.org/10.1037/10034-000" TargetMode="External"/><Relationship Id="rId24" Type="http://schemas.openxmlformats.org/officeDocument/2006/relationships/hyperlink" Target="https://psycnet.apa.org/record/2027-30455-001" TargetMode="External"/><Relationship Id="rId32" Type="http://schemas.openxmlformats.org/officeDocument/2006/relationships/hyperlink" Target="https://doi.org/10.1037/0033-2909.105.2.276" TargetMode="External"/><Relationship Id="rId5" Type="http://schemas.openxmlformats.org/officeDocument/2006/relationships/hyperlink" Target="https://doi.org/10.1080/09523980600926242" TargetMode="External"/><Relationship Id="rId15" Type="http://schemas.openxmlformats.org/officeDocument/2006/relationships/hyperlink" Target="https://doi.org/10.1108/978-1-60752-634-620251015" TargetMode="External"/><Relationship Id="rId23" Type="http://schemas.openxmlformats.org/officeDocument/2006/relationships/hyperlink" Target="https://doi.org/10.1007/BF02213418" TargetMode="External"/><Relationship Id="rId28" Type="http://schemas.openxmlformats.org/officeDocument/2006/relationships/hyperlink" Target="https://doi.org/10.1080/00273171.2019.1672515" TargetMode="External"/><Relationship Id="rId10" Type="http://schemas.openxmlformats.org/officeDocument/2006/relationships/hyperlink" Target="https://doi.org/10.1007/s11251-022-09601-9" TargetMode="External"/><Relationship Id="rId19" Type="http://schemas.openxmlformats.org/officeDocument/2006/relationships/hyperlink" Target="https://doi.org/10.1177/1745691620974697" TargetMode="External"/><Relationship Id="rId31" Type="http://schemas.openxmlformats.org/officeDocument/2006/relationships/hyperlink" Target="https://doi.org/10.1016/0010-0285(92)90018-W" TargetMode="External"/><Relationship Id="rId4" Type="http://schemas.openxmlformats.org/officeDocument/2006/relationships/hyperlink" Target="https://doi.org/10.1007/978-3-030-43420-5" TargetMode="External"/><Relationship Id="rId9" Type="http://schemas.openxmlformats.org/officeDocument/2006/relationships/hyperlink" Target="https://doi.org/10.1007/s10648-024-09982-y" TargetMode="External"/><Relationship Id="rId14" Type="http://schemas.openxmlformats.org/officeDocument/2006/relationships/hyperlink" Target="https://doi.org/10.1026/0049-8637/a000053" TargetMode="External"/><Relationship Id="rId22" Type="http://schemas.openxmlformats.org/officeDocument/2006/relationships/hyperlink" Target="https://doi.org/10.1037/a0030976" TargetMode="External"/><Relationship Id="rId27" Type="http://schemas.openxmlformats.org/officeDocument/2006/relationships/hyperlink" Target="https://doi.org/10.1007/s11165-016-9602-2" TargetMode="External"/><Relationship Id="rId30" Type="http://schemas.openxmlformats.org/officeDocument/2006/relationships/hyperlink" Target="https://doi.org/10.1515/jci-2022-0074" TargetMode="External"/><Relationship Id="rId35" Type="http://schemas.openxmlformats.org/officeDocument/2006/relationships/hyperlink" Target="https://github.com/peter1328/presentations" TargetMode="External"/><Relationship Id="rId8" Type="http://schemas.openxmlformats.org/officeDocument/2006/relationships/hyperlink" Target="https://psycnet.apa.org/fulltext/2023-94082-001.html"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jpeg"/></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5.jpe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hyperlink" Target="https://space.skyrocket.de/doc_sdat/sputnik-1.htm" TargetMode="External"/><Relationship Id="rId4" Type="http://schemas.openxmlformats.org/officeDocument/2006/relationships/image" Target="../media/image53.jpe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itel 1">
            <a:extLst>
              <a:ext uri="{FF2B5EF4-FFF2-40B4-BE49-F238E27FC236}">
                <a16:creationId xmlns:a16="http://schemas.microsoft.com/office/drawing/2014/main" id="{BBB62272-8C72-4BBE-89B1-395FA6ABA9D8}"/>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Peter Edelsbrunner</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Turku 2026</a:t>
            </a:r>
          </a:p>
        </p:txBody>
      </p:sp>
      <p:pic>
        <p:nvPicPr>
          <p:cNvPr id="7" name="Grafik 6">
            <a:extLst>
              <a:ext uri="{FF2B5EF4-FFF2-40B4-BE49-F238E27FC236}">
                <a16:creationId xmlns:a16="http://schemas.microsoft.com/office/drawing/2014/main" id="{FAC41D10-4B74-4612-84B4-911CBC983B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7804" y="4229996"/>
            <a:ext cx="2055607" cy="2055607"/>
          </a:xfrm>
          <a:prstGeom prst="rect">
            <a:avLst/>
          </a:prstGeom>
        </p:spPr>
      </p:pic>
      <p:sp>
        <p:nvSpPr>
          <p:cNvPr id="8" name="Titel 1">
            <a:extLst>
              <a:ext uri="{FF2B5EF4-FFF2-40B4-BE49-F238E27FC236}">
                <a16:creationId xmlns:a16="http://schemas.microsoft.com/office/drawing/2014/main" id="{0AC1C352-5541-4B19-8B8A-5E6853A199CF}"/>
              </a:ext>
            </a:extLst>
          </p:cNvPr>
          <p:cNvSpPr txBox="1">
            <a:spLocks/>
          </p:cNvSpPr>
          <p:nvPr/>
        </p:nvSpPr>
        <p:spPr>
          <a:xfrm>
            <a:off x="6574266" y="6182898"/>
            <a:ext cx="671994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lvl="0">
              <a:defRPr/>
            </a:pPr>
            <a:r>
              <a:rPr lang="de-DE" sz="1800" dirty="0">
                <a:solidFill>
                  <a:schemeClr val="bg1"/>
                </a:solidFill>
                <a:hlinkClick r:id="rId4">
                  <a:extLst>
                    <a:ext uri="{A12FA001-AC4F-418D-AE19-62706E023703}">
                      <ahyp:hlinkClr xmlns:ahyp="http://schemas.microsoft.com/office/drawing/2018/hyperlinkcolor" val="tx"/>
                    </a:ext>
                  </a:extLst>
                </a:hlinkClick>
              </a:rPr>
              <a:t>https://github.com/peter1328/presentations</a:t>
            </a:r>
            <a:endParaRPr kumimoji="0" lang="en-US" sz="1800" b="0" i="0" u="none" strike="noStrike" kern="1200" cap="none" spc="0" normalizeH="0" baseline="0" noProof="0" dirty="0">
              <a:ln>
                <a:noFill/>
              </a:ln>
              <a:solidFill>
                <a:schemeClr val="bg1"/>
              </a:solidFill>
              <a:effectLst/>
              <a:uLnTx/>
              <a:uFillTx/>
            </a:endParaRPr>
          </a:p>
        </p:txBody>
      </p:sp>
      <p:sp>
        <p:nvSpPr>
          <p:cNvPr id="10" name="Untertitel 2">
            <a:extLst>
              <a:ext uri="{FF2B5EF4-FFF2-40B4-BE49-F238E27FC236}">
                <a16:creationId xmlns:a16="http://schemas.microsoft.com/office/drawing/2014/main" id="{CD230F3D-D275-488E-92C9-7DA5738A1C56}"/>
              </a:ext>
            </a:extLst>
          </p:cNvPr>
          <p:cNvSpPr txBox="1">
            <a:spLocks/>
          </p:cNvSpPr>
          <p:nvPr/>
        </p:nvSpPr>
        <p:spPr>
          <a:xfrm>
            <a:off x="6135743" y="369773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Slides</a:t>
            </a:r>
          </a:p>
        </p:txBody>
      </p:sp>
    </p:spTree>
    <p:extLst>
      <p:ext uri="{BB962C8B-B14F-4D97-AF65-F5344CB8AC3E}">
        <p14:creationId xmlns:p14="http://schemas.microsoft.com/office/powerpoint/2010/main" val="2045487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0">
            <a:extLst>
              <a:ext uri="{FF2B5EF4-FFF2-40B4-BE49-F238E27FC236}">
                <a16:creationId xmlns:a16="http://schemas.microsoft.com/office/drawing/2014/main" id="{44354504-77CC-4CC1-AAAD-AA06042975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616" t="52670" r="45571" b="41739"/>
          <a:stretch/>
        </p:blipFill>
        <p:spPr bwMode="auto">
          <a:xfrm>
            <a:off x="7041307" y="2691857"/>
            <a:ext cx="742637" cy="655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0">
            <a:extLst>
              <a:ext uri="{FF2B5EF4-FFF2-40B4-BE49-F238E27FC236}">
                <a16:creationId xmlns:a16="http://schemas.microsoft.com/office/drawing/2014/main" id="{7A3E9371-F944-4195-8762-52B6700F92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292" t="15218" r="42872" b="78284"/>
          <a:stretch/>
        </p:blipFill>
        <p:spPr bwMode="auto">
          <a:xfrm>
            <a:off x="4148105" y="2587538"/>
            <a:ext cx="1077945" cy="7296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D73300DC-6F81-4257-9104-8FC6944C3589}" type="slidenum">
              <a:rPr lang="de-CH" smtClean="0"/>
              <a:pPr/>
              <a:t>2</a:t>
            </a:fld>
            <a:endParaRPr lang="de-CH"/>
          </a:p>
        </p:txBody>
      </p:sp>
      <p:pic>
        <p:nvPicPr>
          <p:cNvPr id="10" name="Picture 9"/>
          <p:cNvPicPr>
            <a:picLocks noChangeAspect="1"/>
          </p:cNvPicPr>
          <p:nvPr/>
        </p:nvPicPr>
        <p:blipFill rotWithShape="1">
          <a:blip r:embed="rId4"/>
          <a:srcRect l="3687" t="2661" r="4508" b="5320"/>
          <a:stretch/>
        </p:blipFill>
        <p:spPr>
          <a:xfrm>
            <a:off x="2585354" y="2012217"/>
            <a:ext cx="1687454" cy="1683249"/>
          </a:xfrm>
          <a:prstGeom prst="rect">
            <a:avLst/>
          </a:prstGeom>
        </p:spPr>
      </p:pic>
      <p:pic>
        <p:nvPicPr>
          <p:cNvPr id="12" name="Picture 11"/>
          <p:cNvPicPr>
            <a:picLocks noChangeAspect="1"/>
          </p:cNvPicPr>
          <p:nvPr/>
        </p:nvPicPr>
        <p:blipFill>
          <a:blip r:embed="rId5"/>
          <a:stretch>
            <a:fillRect/>
          </a:stretch>
        </p:blipFill>
        <p:spPr>
          <a:xfrm>
            <a:off x="7896201" y="2075447"/>
            <a:ext cx="1641813" cy="1620019"/>
          </a:xfrm>
          <a:prstGeom prst="rect">
            <a:avLst/>
          </a:prstGeom>
        </p:spPr>
      </p:pic>
      <p:sp>
        <p:nvSpPr>
          <p:cNvPr id="13" name="Rounded Rectangular Callout 12"/>
          <p:cNvSpPr/>
          <p:nvPr/>
        </p:nvSpPr>
        <p:spPr>
          <a:xfrm>
            <a:off x="2312699" y="444928"/>
            <a:ext cx="3555781" cy="1368152"/>
          </a:xfrm>
          <a:prstGeom prst="wedgeRound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tx1"/>
                </a:solidFill>
              </a:rPr>
              <a:t>Children </a:t>
            </a:r>
            <a:r>
              <a:rPr lang="de-CH" dirty="0" err="1">
                <a:solidFill>
                  <a:schemeClr val="tx1"/>
                </a:solidFill>
              </a:rPr>
              <a:t>develop</a:t>
            </a:r>
            <a:r>
              <a:rPr lang="de-CH" dirty="0">
                <a:solidFill>
                  <a:schemeClr val="tx1"/>
                </a:solidFill>
              </a:rPr>
              <a:t> </a:t>
            </a:r>
            <a:r>
              <a:rPr lang="de-CH" dirty="0" err="1">
                <a:solidFill>
                  <a:schemeClr val="tx1"/>
                </a:solidFill>
              </a:rPr>
              <a:t>spontaneous</a:t>
            </a:r>
            <a:r>
              <a:rPr lang="de-CH" dirty="0">
                <a:solidFill>
                  <a:schemeClr val="tx1"/>
                </a:solidFill>
              </a:rPr>
              <a:t> </a:t>
            </a:r>
            <a:r>
              <a:rPr lang="de-CH" dirty="0" err="1">
                <a:solidFill>
                  <a:schemeClr val="tx1"/>
                </a:solidFill>
              </a:rPr>
              <a:t>frameworks</a:t>
            </a:r>
            <a:r>
              <a:rPr lang="de-CH" dirty="0">
                <a:solidFill>
                  <a:schemeClr val="tx1"/>
                </a:solidFill>
              </a:rPr>
              <a:t> </a:t>
            </a:r>
            <a:r>
              <a:rPr lang="de-CH" dirty="0" err="1">
                <a:solidFill>
                  <a:schemeClr val="tx1"/>
                </a:solidFill>
              </a:rPr>
              <a:t>using</a:t>
            </a:r>
            <a:r>
              <a:rPr lang="de-CH" dirty="0">
                <a:solidFill>
                  <a:schemeClr val="tx1"/>
                </a:solidFill>
              </a:rPr>
              <a:t> </a:t>
            </a:r>
            <a:r>
              <a:rPr lang="de-CH" dirty="0" err="1">
                <a:solidFill>
                  <a:schemeClr val="tx1"/>
                </a:solidFill>
              </a:rPr>
              <a:t>their</a:t>
            </a:r>
            <a:r>
              <a:rPr lang="de-CH" dirty="0">
                <a:solidFill>
                  <a:schemeClr val="tx1"/>
                </a:solidFill>
              </a:rPr>
              <a:t> </a:t>
            </a:r>
            <a:r>
              <a:rPr lang="de-CH" dirty="0" err="1">
                <a:solidFill>
                  <a:schemeClr val="tx1"/>
                </a:solidFill>
              </a:rPr>
              <a:t>conceptual</a:t>
            </a:r>
            <a:r>
              <a:rPr lang="de-CH" dirty="0">
                <a:solidFill>
                  <a:schemeClr val="tx1"/>
                </a:solidFill>
              </a:rPr>
              <a:t> </a:t>
            </a:r>
            <a:r>
              <a:rPr lang="de-CH" dirty="0" err="1">
                <a:solidFill>
                  <a:schemeClr val="tx1"/>
                </a:solidFill>
              </a:rPr>
              <a:t>knowledge</a:t>
            </a:r>
            <a:r>
              <a:rPr lang="de-CH" dirty="0">
                <a:solidFill>
                  <a:schemeClr val="tx1"/>
                </a:solidFill>
              </a:rPr>
              <a:t> </a:t>
            </a:r>
            <a:r>
              <a:rPr lang="de-CH" dirty="0" err="1">
                <a:solidFill>
                  <a:schemeClr val="tx1"/>
                </a:solidFill>
              </a:rPr>
              <a:t>that</a:t>
            </a:r>
            <a:r>
              <a:rPr lang="de-CH" dirty="0">
                <a:solidFill>
                  <a:schemeClr val="tx1"/>
                </a:solidFill>
              </a:rPr>
              <a:t> </a:t>
            </a:r>
            <a:r>
              <a:rPr lang="de-CH" dirty="0" err="1">
                <a:solidFill>
                  <a:schemeClr val="tx1"/>
                </a:solidFill>
              </a:rPr>
              <a:t>are</a:t>
            </a:r>
            <a:r>
              <a:rPr lang="de-CH" dirty="0">
                <a:solidFill>
                  <a:schemeClr val="tx1"/>
                </a:solidFill>
              </a:rPr>
              <a:t> </a:t>
            </a:r>
            <a:r>
              <a:rPr lang="de-CH" dirty="0" err="1">
                <a:solidFill>
                  <a:schemeClr val="tx1"/>
                </a:solidFill>
              </a:rPr>
              <a:t>structured</a:t>
            </a:r>
            <a:r>
              <a:rPr lang="de-CH" dirty="0">
                <a:solidFill>
                  <a:schemeClr val="tx1"/>
                </a:solidFill>
              </a:rPr>
              <a:t> like a </a:t>
            </a:r>
            <a:r>
              <a:rPr lang="de-CH" dirty="0" err="1">
                <a:solidFill>
                  <a:schemeClr val="tx1"/>
                </a:solidFill>
              </a:rPr>
              <a:t>coherent</a:t>
            </a:r>
            <a:r>
              <a:rPr lang="de-CH" dirty="0">
                <a:solidFill>
                  <a:schemeClr val="tx1"/>
                </a:solidFill>
              </a:rPr>
              <a:t> </a:t>
            </a:r>
            <a:r>
              <a:rPr lang="de-CH" dirty="0" err="1">
                <a:solidFill>
                  <a:schemeClr val="tx1"/>
                </a:solidFill>
              </a:rPr>
              <a:t>theory</a:t>
            </a:r>
            <a:r>
              <a:rPr lang="de-CH" dirty="0">
                <a:solidFill>
                  <a:schemeClr val="tx1"/>
                </a:solidFill>
              </a:rPr>
              <a:t>!</a:t>
            </a:r>
          </a:p>
        </p:txBody>
      </p:sp>
      <p:sp>
        <p:nvSpPr>
          <p:cNvPr id="14" name="Rounded Rectangular Callout 13"/>
          <p:cNvSpPr/>
          <p:nvPr/>
        </p:nvSpPr>
        <p:spPr>
          <a:xfrm>
            <a:off x="6240016" y="85304"/>
            <a:ext cx="2664296" cy="1368152"/>
          </a:xfrm>
          <a:prstGeom prst="wedgeRoundRectCallout">
            <a:avLst>
              <a:gd name="adj1" fmla="val 44735"/>
              <a:gd name="adj2" fmla="val 8544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tx1"/>
                </a:solidFill>
              </a:rPr>
              <a:t>Stella, </a:t>
            </a:r>
            <a:r>
              <a:rPr lang="de-CH" dirty="0" err="1">
                <a:solidFill>
                  <a:schemeClr val="tx1"/>
                </a:solidFill>
              </a:rPr>
              <a:t>you</a:t>
            </a:r>
            <a:r>
              <a:rPr lang="de-CH" dirty="0">
                <a:solidFill>
                  <a:schemeClr val="tx1"/>
                </a:solidFill>
              </a:rPr>
              <a:t> </a:t>
            </a:r>
            <a:r>
              <a:rPr lang="de-CH" dirty="0" err="1">
                <a:solidFill>
                  <a:schemeClr val="tx1"/>
                </a:solidFill>
              </a:rPr>
              <a:t>are</a:t>
            </a:r>
            <a:r>
              <a:rPr lang="de-CH" dirty="0">
                <a:solidFill>
                  <a:schemeClr val="tx1"/>
                </a:solidFill>
              </a:rPr>
              <a:t> </a:t>
            </a:r>
            <a:r>
              <a:rPr lang="de-CH" dirty="0" err="1">
                <a:solidFill>
                  <a:schemeClr val="tx1"/>
                </a:solidFill>
              </a:rPr>
              <a:t>wrong</a:t>
            </a:r>
            <a:r>
              <a:rPr lang="de-CH" dirty="0">
                <a:solidFill>
                  <a:schemeClr val="tx1"/>
                </a:solidFill>
              </a:rPr>
              <a:t>! </a:t>
            </a:r>
            <a:r>
              <a:rPr lang="de-CH" dirty="0" err="1">
                <a:solidFill>
                  <a:schemeClr val="tx1"/>
                </a:solidFill>
              </a:rPr>
              <a:t>Children’s</a:t>
            </a:r>
            <a:r>
              <a:rPr lang="de-CH" dirty="0">
                <a:solidFill>
                  <a:schemeClr val="tx1"/>
                </a:solidFill>
              </a:rPr>
              <a:t> </a:t>
            </a:r>
            <a:r>
              <a:rPr lang="de-CH" dirty="0" err="1">
                <a:solidFill>
                  <a:schemeClr val="tx1"/>
                </a:solidFill>
              </a:rPr>
              <a:t>knowledge</a:t>
            </a:r>
            <a:r>
              <a:rPr lang="de-CH" dirty="0">
                <a:solidFill>
                  <a:schemeClr val="tx1"/>
                </a:solidFill>
              </a:rPr>
              <a:t> </a:t>
            </a:r>
            <a:r>
              <a:rPr lang="de-CH" dirty="0" err="1">
                <a:solidFill>
                  <a:schemeClr val="tx1"/>
                </a:solidFill>
              </a:rPr>
              <a:t>is</a:t>
            </a:r>
            <a:r>
              <a:rPr lang="de-CH" dirty="0">
                <a:solidFill>
                  <a:schemeClr val="tx1"/>
                </a:solidFill>
              </a:rPr>
              <a:t> not </a:t>
            </a:r>
            <a:r>
              <a:rPr lang="de-CH" dirty="0" err="1">
                <a:solidFill>
                  <a:schemeClr val="tx1"/>
                </a:solidFill>
              </a:rPr>
              <a:t>theory</a:t>
            </a:r>
            <a:r>
              <a:rPr lang="de-CH" dirty="0">
                <a:solidFill>
                  <a:schemeClr val="tx1"/>
                </a:solidFill>
              </a:rPr>
              <a:t>-like, </a:t>
            </a:r>
            <a:r>
              <a:rPr lang="de-CH" dirty="0" err="1">
                <a:solidFill>
                  <a:schemeClr val="tx1"/>
                </a:solidFill>
              </a:rPr>
              <a:t>it</a:t>
            </a:r>
            <a:r>
              <a:rPr lang="de-CH" dirty="0">
                <a:solidFill>
                  <a:schemeClr val="tx1"/>
                </a:solidFill>
              </a:rPr>
              <a:t> </a:t>
            </a:r>
            <a:r>
              <a:rPr lang="de-CH" dirty="0" err="1">
                <a:solidFill>
                  <a:schemeClr val="tx1"/>
                </a:solidFill>
              </a:rPr>
              <a:t>consists</a:t>
            </a:r>
            <a:r>
              <a:rPr lang="de-CH" dirty="0">
                <a:solidFill>
                  <a:schemeClr val="tx1"/>
                </a:solidFill>
              </a:rPr>
              <a:t> </a:t>
            </a:r>
            <a:r>
              <a:rPr lang="de-CH" dirty="0" err="1">
                <a:solidFill>
                  <a:schemeClr val="tx1"/>
                </a:solidFill>
              </a:rPr>
              <a:t>of</a:t>
            </a:r>
            <a:r>
              <a:rPr lang="de-CH" dirty="0">
                <a:solidFill>
                  <a:schemeClr val="tx1"/>
                </a:solidFill>
              </a:rPr>
              <a:t> </a:t>
            </a:r>
            <a:r>
              <a:rPr lang="de-CH" dirty="0" err="1">
                <a:solidFill>
                  <a:schemeClr val="tx1"/>
                </a:solidFill>
              </a:rPr>
              <a:t>many</a:t>
            </a:r>
            <a:r>
              <a:rPr lang="de-CH" dirty="0">
                <a:solidFill>
                  <a:schemeClr val="tx1"/>
                </a:solidFill>
              </a:rPr>
              <a:t> </a:t>
            </a:r>
            <a:r>
              <a:rPr lang="de-CH" dirty="0" err="1">
                <a:solidFill>
                  <a:schemeClr val="tx1"/>
                </a:solidFill>
              </a:rPr>
              <a:t>loose</a:t>
            </a:r>
            <a:r>
              <a:rPr lang="de-CH" dirty="0">
                <a:solidFill>
                  <a:schemeClr val="tx1"/>
                </a:solidFill>
              </a:rPr>
              <a:t> </a:t>
            </a:r>
            <a:r>
              <a:rPr lang="de-CH" dirty="0" err="1">
                <a:solidFill>
                  <a:schemeClr val="tx1"/>
                </a:solidFill>
              </a:rPr>
              <a:t>intuitions</a:t>
            </a:r>
            <a:r>
              <a:rPr lang="de-CH" dirty="0">
                <a:solidFill>
                  <a:schemeClr val="tx1"/>
                </a:solidFill>
              </a:rPr>
              <a:t>!</a:t>
            </a:r>
          </a:p>
        </p:txBody>
      </p:sp>
      <p:sp>
        <p:nvSpPr>
          <p:cNvPr id="15" name="Rectangle 14"/>
          <p:cNvSpPr/>
          <p:nvPr/>
        </p:nvSpPr>
        <p:spPr>
          <a:xfrm>
            <a:off x="2948634" y="3540855"/>
            <a:ext cx="7542584" cy="523220"/>
          </a:xfrm>
          <a:prstGeom prst="rect">
            <a:avLst/>
          </a:prstGeom>
        </p:spPr>
        <p:txBody>
          <a:bodyPr wrap="square">
            <a:spAutoFit/>
          </a:bodyPr>
          <a:lstStyle/>
          <a:p>
            <a:endParaRPr lang="de-CH" sz="1400">
              <a:solidFill>
                <a:srgbClr val="000000"/>
              </a:solidFill>
              <a:latin typeface="Times New Roman" panose="02020603050405020304" pitchFamily="18" charset="0"/>
            </a:endParaRPr>
          </a:p>
          <a:p>
            <a:r>
              <a:rPr lang="en-US" sz="1400">
                <a:solidFill>
                  <a:srgbClr val="000000"/>
                </a:solidFill>
                <a:latin typeface="Times New Roman" panose="02020603050405020304" pitchFamily="18" charset="0"/>
              </a:rPr>
              <a:t>S.Vosniadou</a:t>
            </a:r>
            <a:endParaRPr lang="de-CH" sz="1200"/>
          </a:p>
        </p:txBody>
      </p:sp>
      <p:sp>
        <p:nvSpPr>
          <p:cNvPr id="16" name="Rectangle 15"/>
          <p:cNvSpPr/>
          <p:nvPr/>
        </p:nvSpPr>
        <p:spPr>
          <a:xfrm>
            <a:off x="8184232" y="3731196"/>
            <a:ext cx="2306986" cy="307777"/>
          </a:xfrm>
          <a:prstGeom prst="rect">
            <a:avLst/>
          </a:prstGeom>
        </p:spPr>
        <p:txBody>
          <a:bodyPr wrap="square">
            <a:spAutoFit/>
          </a:bodyPr>
          <a:lstStyle/>
          <a:p>
            <a:r>
              <a:rPr lang="de-CH" sz="1400">
                <a:solidFill>
                  <a:srgbClr val="000000"/>
                </a:solidFill>
                <a:latin typeface="Times New Roman" panose="02020603050405020304" pitchFamily="18" charset="0"/>
              </a:rPr>
              <a:t>A. diSessa</a:t>
            </a:r>
            <a:endParaRPr lang="de-CH" sz="1200"/>
          </a:p>
        </p:txBody>
      </p:sp>
      <p:pic>
        <p:nvPicPr>
          <p:cNvPr id="22" name="Picture 21"/>
          <p:cNvPicPr>
            <a:picLocks noChangeAspect="1"/>
          </p:cNvPicPr>
          <p:nvPr/>
        </p:nvPicPr>
        <p:blipFill>
          <a:blip r:embed="rId6"/>
          <a:stretch>
            <a:fillRect/>
          </a:stretch>
        </p:blipFill>
        <p:spPr>
          <a:xfrm>
            <a:off x="5488029" y="2492945"/>
            <a:ext cx="1238250" cy="1238250"/>
          </a:xfrm>
          <a:prstGeom prst="rect">
            <a:avLst/>
          </a:prstGeom>
        </p:spPr>
      </p:pic>
      <p:sp>
        <p:nvSpPr>
          <p:cNvPr id="23" name="Rectangle 22"/>
          <p:cNvSpPr/>
          <p:nvPr/>
        </p:nvSpPr>
        <p:spPr>
          <a:xfrm>
            <a:off x="5656998" y="3529674"/>
            <a:ext cx="1510226" cy="492443"/>
          </a:xfrm>
          <a:prstGeom prst="rect">
            <a:avLst/>
          </a:prstGeom>
        </p:spPr>
        <p:txBody>
          <a:bodyPr wrap="square">
            <a:spAutoFit/>
          </a:bodyPr>
          <a:lstStyle/>
          <a:p>
            <a:endParaRPr lang="de-CH" sz="1400">
              <a:solidFill>
                <a:srgbClr val="000000"/>
              </a:solidFill>
              <a:latin typeface="Times New Roman" panose="02020603050405020304" pitchFamily="18" charset="0"/>
            </a:endParaRPr>
          </a:p>
          <a:p>
            <a:r>
              <a:rPr lang="de-CH" sz="1200"/>
              <a:t>M. Schneider</a:t>
            </a:r>
          </a:p>
        </p:txBody>
      </p:sp>
      <p:sp>
        <p:nvSpPr>
          <p:cNvPr id="24" name="Rounded Rectangular Callout 23"/>
          <p:cNvSpPr/>
          <p:nvPr/>
        </p:nvSpPr>
        <p:spPr>
          <a:xfrm>
            <a:off x="5015880" y="517135"/>
            <a:ext cx="2592288" cy="1512783"/>
          </a:xfrm>
          <a:prstGeom prst="wedgeRoundRectCallout">
            <a:avLst>
              <a:gd name="adj1" fmla="val -5225"/>
              <a:gd name="adj2" fmla="val 7333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a:solidFill>
                  <a:schemeClr val="tx1"/>
                </a:solidFill>
              </a:rPr>
              <a:t>You are both right and wrong! It differs between children – there is heterogeneity!</a:t>
            </a:r>
          </a:p>
        </p:txBody>
      </p:sp>
      <p:pic>
        <p:nvPicPr>
          <p:cNvPr id="2" name="Grafik 1">
            <a:extLst>
              <a:ext uri="{FF2B5EF4-FFF2-40B4-BE49-F238E27FC236}">
                <a16:creationId xmlns:a16="http://schemas.microsoft.com/office/drawing/2014/main" id="{F68EE3BF-98B4-49AD-8A82-9EB0611AE06C}"/>
              </a:ext>
            </a:extLst>
          </p:cNvPr>
          <p:cNvPicPr>
            <a:picLocks noChangeAspect="1"/>
          </p:cNvPicPr>
          <p:nvPr/>
        </p:nvPicPr>
        <p:blipFill>
          <a:blip r:embed="rId7"/>
          <a:stretch>
            <a:fillRect/>
          </a:stretch>
        </p:blipFill>
        <p:spPr>
          <a:xfrm>
            <a:off x="89245" y="4236357"/>
            <a:ext cx="2896568" cy="2442136"/>
          </a:xfrm>
          <a:prstGeom prst="rect">
            <a:avLst/>
          </a:prstGeom>
        </p:spPr>
      </p:pic>
      <p:sp>
        <p:nvSpPr>
          <p:cNvPr id="3" name="Textfeld 2">
            <a:extLst>
              <a:ext uri="{FF2B5EF4-FFF2-40B4-BE49-F238E27FC236}">
                <a16:creationId xmlns:a16="http://schemas.microsoft.com/office/drawing/2014/main" id="{330141F3-6F9B-4B20-8D34-2EC5284E1FBD}"/>
              </a:ext>
            </a:extLst>
          </p:cNvPr>
          <p:cNvSpPr txBox="1"/>
          <p:nvPr/>
        </p:nvSpPr>
        <p:spPr>
          <a:xfrm>
            <a:off x="145009" y="3715807"/>
            <a:ext cx="3555781" cy="646331"/>
          </a:xfrm>
          <a:prstGeom prst="rect">
            <a:avLst/>
          </a:prstGeom>
          <a:noFill/>
        </p:spPr>
        <p:txBody>
          <a:bodyPr wrap="square" rtlCol="0">
            <a:spAutoFit/>
          </a:bodyPr>
          <a:lstStyle/>
          <a:p>
            <a:r>
              <a:rPr lang="de-DE" dirty="0"/>
              <a:t>Schneider &amp; Hardy (2013)</a:t>
            </a:r>
          </a:p>
          <a:p>
            <a:r>
              <a:rPr lang="de-DE" dirty="0"/>
              <a:t>Latent </a:t>
            </a:r>
            <a:r>
              <a:rPr lang="de-DE" dirty="0" err="1"/>
              <a:t>transition</a:t>
            </a:r>
            <a:r>
              <a:rPr lang="de-DE" dirty="0"/>
              <a:t> </a:t>
            </a:r>
            <a:r>
              <a:rPr lang="de-DE" dirty="0" err="1"/>
              <a:t>analysis</a:t>
            </a:r>
            <a:endParaRPr lang="de-DE" dirty="0"/>
          </a:p>
        </p:txBody>
      </p:sp>
      <p:sp>
        <p:nvSpPr>
          <p:cNvPr id="17" name="Textfeld 16">
            <a:extLst>
              <a:ext uri="{FF2B5EF4-FFF2-40B4-BE49-F238E27FC236}">
                <a16:creationId xmlns:a16="http://schemas.microsoft.com/office/drawing/2014/main" id="{FD081AB5-9C7C-4A0E-9234-C6C6BA108220}"/>
              </a:ext>
            </a:extLst>
          </p:cNvPr>
          <p:cNvSpPr txBox="1"/>
          <p:nvPr/>
        </p:nvSpPr>
        <p:spPr>
          <a:xfrm>
            <a:off x="2948634" y="5138969"/>
            <a:ext cx="3388822" cy="923330"/>
          </a:xfrm>
          <a:prstGeom prst="rect">
            <a:avLst/>
          </a:prstGeom>
          <a:noFill/>
        </p:spPr>
        <p:txBody>
          <a:bodyPr wrap="square" rtlCol="0">
            <a:spAutoFit/>
          </a:bodyPr>
          <a:lstStyle/>
          <a:p>
            <a:r>
              <a:rPr lang="de-DE" dirty="0"/>
              <a:t>Children </a:t>
            </a:r>
            <a:r>
              <a:rPr lang="de-DE" dirty="0" err="1"/>
              <a:t>develop</a:t>
            </a:r>
            <a:r>
              <a:rPr lang="de-DE" dirty="0"/>
              <a:t> </a:t>
            </a:r>
            <a:r>
              <a:rPr lang="de-DE" dirty="0" err="1"/>
              <a:t>through</a:t>
            </a:r>
            <a:r>
              <a:rPr lang="de-DE" dirty="0"/>
              <a:t> </a:t>
            </a:r>
            <a:r>
              <a:rPr lang="de-DE" dirty="0" err="1"/>
              <a:t>knowledge</a:t>
            </a:r>
            <a:r>
              <a:rPr lang="de-DE" dirty="0"/>
              <a:t> </a:t>
            </a:r>
            <a:r>
              <a:rPr lang="de-DE" dirty="0" err="1"/>
              <a:t>states</a:t>
            </a:r>
            <a:endParaRPr lang="de-DE" dirty="0"/>
          </a:p>
          <a:p>
            <a:r>
              <a:rPr lang="de-DE" dirty="0"/>
              <a:t>(e.g., </a:t>
            </a:r>
            <a:r>
              <a:rPr lang="de-DE" dirty="0" err="1"/>
              <a:t>fragmented</a:t>
            </a:r>
            <a:r>
              <a:rPr lang="de-DE" dirty="0"/>
              <a:t> -&gt; </a:t>
            </a:r>
            <a:r>
              <a:rPr lang="de-DE" dirty="0" err="1"/>
              <a:t>coherent</a:t>
            </a:r>
            <a:r>
              <a:rPr lang="de-DE" dirty="0"/>
              <a:t>)</a:t>
            </a:r>
          </a:p>
        </p:txBody>
      </p:sp>
      <p:sp>
        <p:nvSpPr>
          <p:cNvPr id="18" name="Textfeld 17">
            <a:extLst>
              <a:ext uri="{FF2B5EF4-FFF2-40B4-BE49-F238E27FC236}">
                <a16:creationId xmlns:a16="http://schemas.microsoft.com/office/drawing/2014/main" id="{095E35DF-829E-425D-AE17-94D10E656781}"/>
              </a:ext>
            </a:extLst>
          </p:cNvPr>
          <p:cNvSpPr txBox="1"/>
          <p:nvPr/>
        </p:nvSpPr>
        <p:spPr>
          <a:xfrm>
            <a:off x="2967224" y="4780610"/>
            <a:ext cx="3388822" cy="369332"/>
          </a:xfrm>
          <a:prstGeom prst="rect">
            <a:avLst/>
          </a:prstGeom>
          <a:noFill/>
        </p:spPr>
        <p:txBody>
          <a:bodyPr wrap="square" rtlCol="0">
            <a:spAutoFit/>
          </a:bodyPr>
          <a:lstStyle/>
          <a:p>
            <a:r>
              <a:rPr lang="de-DE" b="1" dirty="0" err="1"/>
              <a:t>Mixture</a:t>
            </a:r>
            <a:r>
              <a:rPr lang="de-DE" b="1" dirty="0"/>
              <a:t> </a:t>
            </a:r>
            <a:r>
              <a:rPr lang="de-DE" b="1" dirty="0" err="1"/>
              <a:t>modeling</a:t>
            </a:r>
            <a:endParaRPr lang="de-DE" b="1" dirty="0"/>
          </a:p>
        </p:txBody>
      </p:sp>
      <p:pic>
        <p:nvPicPr>
          <p:cNvPr id="5" name="Grafik 4">
            <a:extLst>
              <a:ext uri="{FF2B5EF4-FFF2-40B4-BE49-F238E27FC236}">
                <a16:creationId xmlns:a16="http://schemas.microsoft.com/office/drawing/2014/main" id="{AFEFC67B-082A-4B55-A326-A8469633F204}"/>
              </a:ext>
            </a:extLst>
          </p:cNvPr>
          <p:cNvPicPr>
            <a:picLocks noChangeAspect="1"/>
          </p:cNvPicPr>
          <p:nvPr/>
        </p:nvPicPr>
        <p:blipFill>
          <a:blip r:embed="rId8"/>
          <a:stretch>
            <a:fillRect/>
          </a:stretch>
        </p:blipFill>
        <p:spPr>
          <a:xfrm>
            <a:off x="6157352" y="4447029"/>
            <a:ext cx="3809608" cy="2091883"/>
          </a:xfrm>
          <a:prstGeom prst="rect">
            <a:avLst/>
          </a:prstGeom>
        </p:spPr>
      </p:pic>
      <p:sp>
        <p:nvSpPr>
          <p:cNvPr id="6" name="Rechteck: abgerundete Ecken 5">
            <a:extLst>
              <a:ext uri="{FF2B5EF4-FFF2-40B4-BE49-F238E27FC236}">
                <a16:creationId xmlns:a16="http://schemas.microsoft.com/office/drawing/2014/main" id="{563B0ACC-7ABC-48DB-B1DE-FDC95AF2B6AA}"/>
              </a:ext>
            </a:extLst>
          </p:cNvPr>
          <p:cNvSpPr/>
          <p:nvPr/>
        </p:nvSpPr>
        <p:spPr>
          <a:xfrm>
            <a:off x="6322680" y="4732195"/>
            <a:ext cx="1461264" cy="683085"/>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aute 6">
            <a:extLst>
              <a:ext uri="{FF2B5EF4-FFF2-40B4-BE49-F238E27FC236}">
                <a16:creationId xmlns:a16="http://schemas.microsoft.com/office/drawing/2014/main" id="{7CAE54EF-0A12-4CC6-B97E-9069D6E27132}"/>
              </a:ext>
            </a:extLst>
          </p:cNvPr>
          <p:cNvSpPr/>
          <p:nvPr/>
        </p:nvSpPr>
        <p:spPr>
          <a:xfrm>
            <a:off x="1026160" y="5138969"/>
            <a:ext cx="106680" cy="9343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aute 20">
            <a:extLst>
              <a:ext uri="{FF2B5EF4-FFF2-40B4-BE49-F238E27FC236}">
                <a16:creationId xmlns:a16="http://schemas.microsoft.com/office/drawing/2014/main" id="{FA0F7C32-388A-471E-8796-EA1A5E74554B}"/>
              </a:ext>
            </a:extLst>
          </p:cNvPr>
          <p:cNvSpPr/>
          <p:nvPr/>
        </p:nvSpPr>
        <p:spPr>
          <a:xfrm>
            <a:off x="1739511" y="6015583"/>
            <a:ext cx="106680" cy="9343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aute 24">
            <a:extLst>
              <a:ext uri="{FF2B5EF4-FFF2-40B4-BE49-F238E27FC236}">
                <a16:creationId xmlns:a16="http://schemas.microsoft.com/office/drawing/2014/main" id="{3704D07D-2E74-4205-8DFE-567F3397A218}"/>
              </a:ext>
            </a:extLst>
          </p:cNvPr>
          <p:cNvSpPr/>
          <p:nvPr/>
        </p:nvSpPr>
        <p:spPr>
          <a:xfrm>
            <a:off x="2462755" y="5968867"/>
            <a:ext cx="106680" cy="9343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ACEB4084-63A8-4828-A6C9-0B88B67C19BC}"/>
              </a:ext>
            </a:extLst>
          </p:cNvPr>
          <p:cNvSpPr/>
          <p:nvPr/>
        </p:nvSpPr>
        <p:spPr>
          <a:xfrm>
            <a:off x="1026160" y="4760290"/>
            <a:ext cx="106680" cy="93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80C7A2C1-E952-4185-A192-F524A234EE04}"/>
              </a:ext>
            </a:extLst>
          </p:cNvPr>
          <p:cNvSpPr/>
          <p:nvPr/>
        </p:nvSpPr>
        <p:spPr>
          <a:xfrm>
            <a:off x="1739511" y="5103739"/>
            <a:ext cx="106680" cy="93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a:extLst>
              <a:ext uri="{FF2B5EF4-FFF2-40B4-BE49-F238E27FC236}">
                <a16:creationId xmlns:a16="http://schemas.microsoft.com/office/drawing/2014/main" id="{670BA1D1-86FA-4751-99D7-3816A4EC56BF}"/>
              </a:ext>
            </a:extLst>
          </p:cNvPr>
          <p:cNvSpPr/>
          <p:nvPr/>
        </p:nvSpPr>
        <p:spPr>
          <a:xfrm>
            <a:off x="2462755" y="5197170"/>
            <a:ext cx="106680" cy="934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5169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p:bldP spid="16" grpId="0"/>
      <p:bldP spid="23" grpId="0"/>
      <p:bldP spid="24" grpId="0" animBg="1"/>
      <p:bldP spid="3" grpId="0"/>
      <p:bldP spid="17" grpId="0"/>
      <p:bldP spid="18" grpId="0"/>
      <p:bldP spid="6" grpId="0" animBg="1"/>
      <p:bldP spid="7" grpId="0" animBg="1"/>
      <p:bldP spid="21" grpId="0" animBg="1"/>
      <p:bldP spid="25" grpId="0" animBg="1"/>
      <p:bldP spid="8"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bg1"/>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Beyond traditional theory-model ontologies</a:t>
            </a:r>
          </a:p>
        </p:txBody>
      </p:sp>
    </p:spTree>
    <p:extLst>
      <p:ext uri="{BB962C8B-B14F-4D97-AF65-F5344CB8AC3E}">
        <p14:creationId xmlns:p14="http://schemas.microsoft.com/office/powerpoint/2010/main" val="1088694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bg1"/>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tx1">
                    <a:lumMod val="75000"/>
                    <a:lumOff val="25000"/>
                  </a:schemeClr>
                </a:solidFill>
              </a:rPr>
              <a:t>Beyond traditional theory-model ontologies</a:t>
            </a:r>
          </a:p>
        </p:txBody>
      </p:sp>
    </p:spTree>
    <p:extLst>
      <p:ext uri="{BB962C8B-B14F-4D97-AF65-F5344CB8AC3E}">
        <p14:creationId xmlns:p14="http://schemas.microsoft.com/office/powerpoint/2010/main" val="3820979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1" y="2177129"/>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sp>
        <p:nvSpPr>
          <p:cNvPr id="4" name="Textfeld 3">
            <a:extLst>
              <a:ext uri="{FF2B5EF4-FFF2-40B4-BE49-F238E27FC236}">
                <a16:creationId xmlns:a16="http://schemas.microsoft.com/office/drawing/2014/main" id="{D7C8932F-8C82-4729-A62F-066453EA4662}"/>
              </a:ext>
            </a:extLst>
          </p:cNvPr>
          <p:cNvSpPr txBox="1"/>
          <p:nvPr/>
        </p:nvSpPr>
        <p:spPr>
          <a:xfrm>
            <a:off x="297562" y="4080069"/>
            <a:ext cx="3873065" cy="1569660"/>
          </a:xfrm>
          <a:prstGeom prst="rect">
            <a:avLst/>
          </a:prstGeom>
          <a:noFill/>
        </p:spPr>
        <p:txBody>
          <a:bodyPr wrap="square" rtlCol="0">
            <a:spAutoFit/>
          </a:bodyPr>
          <a:lstStyle/>
          <a:p>
            <a:pPr algn="ctr"/>
            <a:r>
              <a:rPr lang="de-DE" sz="2400" dirty="0">
                <a:solidFill>
                  <a:schemeClr val="accent2">
                    <a:lumMod val="75000"/>
                  </a:schemeClr>
                </a:solidFill>
              </a:rPr>
              <a:t>Example </a:t>
            </a:r>
            <a:r>
              <a:rPr lang="de-DE" sz="2400" dirty="0" err="1">
                <a:solidFill>
                  <a:schemeClr val="accent2">
                    <a:lumMod val="75000"/>
                  </a:schemeClr>
                </a:solidFill>
              </a:rPr>
              <a:t>subtraction</a:t>
            </a:r>
            <a:r>
              <a:rPr lang="de-DE" sz="2400" dirty="0">
                <a:solidFill>
                  <a:schemeClr val="accent2">
                    <a:lumMod val="75000"/>
                  </a:schemeClr>
                </a:solidFill>
              </a:rPr>
              <a:t> </a:t>
            </a:r>
            <a:r>
              <a:rPr lang="de-DE" sz="2400" dirty="0" err="1">
                <a:solidFill>
                  <a:schemeClr val="accent2">
                    <a:lumMod val="75000"/>
                  </a:schemeClr>
                </a:solidFill>
              </a:rPr>
              <a:t>items</a:t>
            </a:r>
            <a:r>
              <a:rPr lang="de-DE" sz="2400" dirty="0">
                <a:solidFill>
                  <a:schemeClr val="accent2">
                    <a:lumMod val="75000"/>
                  </a:schemeClr>
                </a:solidFill>
              </a:rPr>
              <a:t>: -16 - (-7)</a:t>
            </a:r>
          </a:p>
          <a:p>
            <a:pPr algn="ctr"/>
            <a:r>
              <a:rPr lang="de-DE" sz="2400" dirty="0">
                <a:solidFill>
                  <a:schemeClr val="accent2">
                    <a:lumMod val="75000"/>
                  </a:schemeClr>
                </a:solidFill>
              </a:rPr>
              <a:t>2 - 11</a:t>
            </a:r>
          </a:p>
          <a:p>
            <a:pPr algn="ctr"/>
            <a:r>
              <a:rPr lang="de-DE" sz="2400" dirty="0">
                <a:solidFill>
                  <a:schemeClr val="accent2">
                    <a:lumMod val="75000"/>
                  </a:schemeClr>
                </a:solidFill>
              </a:rPr>
              <a:t>12 + (-3)</a:t>
            </a: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6115" y="1620484"/>
            <a:ext cx="1373742" cy="1689703"/>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0305" y="839307"/>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41" name="Textfeld 40">
            <a:extLst>
              <a:ext uri="{FF2B5EF4-FFF2-40B4-BE49-F238E27FC236}">
                <a16:creationId xmlns:a16="http://schemas.microsoft.com/office/drawing/2014/main" id="{5E009F9A-DC45-4F26-962E-10569995FE6A}"/>
              </a:ext>
            </a:extLst>
          </p:cNvPr>
          <p:cNvSpPr txBox="1"/>
          <p:nvPr/>
        </p:nvSpPr>
        <p:spPr>
          <a:xfrm>
            <a:off x="477980" y="3123125"/>
            <a:ext cx="487184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Sato`s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(1975)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erroneous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bugs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identification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approach</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Textfeld 37">
            <a:extLst>
              <a:ext uri="{FF2B5EF4-FFF2-40B4-BE49-F238E27FC236}">
                <a16:creationId xmlns:a16="http://schemas.microsoft.com/office/drawing/2014/main" id="{77AAA280-B6A2-4073-8433-6BCA30B0BE8D}"/>
              </a:ext>
            </a:extLst>
          </p:cNvPr>
          <p:cNvSpPr txBox="1"/>
          <p:nvPr/>
        </p:nvSpPr>
        <p:spPr>
          <a:xfrm>
            <a:off x="4032664" y="3960336"/>
            <a:ext cx="3677920" cy="2862322"/>
          </a:xfrm>
          <a:prstGeom prst="rect">
            <a:avLst/>
          </a:prstGeom>
          <a:noFill/>
        </p:spPr>
        <p:txBody>
          <a:bodyPr wrap="square" rtlCol="0">
            <a:spAutoFit/>
          </a:bodyPr>
          <a:lstStyle/>
          <a:p>
            <a:r>
              <a:rPr lang="de-DE" dirty="0">
                <a:solidFill>
                  <a:schemeClr val="bg1"/>
                </a:solidFill>
              </a:rPr>
              <a:t>Solution </a:t>
            </a:r>
            <a:r>
              <a:rPr lang="de-DE" dirty="0" err="1">
                <a:solidFill>
                  <a:schemeClr val="bg1"/>
                </a:solidFill>
              </a:rPr>
              <a:t>patterns</a:t>
            </a:r>
            <a:r>
              <a:rPr lang="de-DE" dirty="0">
                <a:solidFill>
                  <a:schemeClr val="bg1"/>
                </a:solidFill>
              </a:rPr>
              <a:t>:</a:t>
            </a:r>
          </a:p>
          <a:p>
            <a:r>
              <a:rPr lang="de-DE" dirty="0">
                <a:solidFill>
                  <a:schemeClr val="bg1"/>
                </a:solidFill>
              </a:rPr>
              <a:t>000</a:t>
            </a:r>
          </a:p>
          <a:p>
            <a:r>
              <a:rPr lang="de-DE" dirty="0">
                <a:solidFill>
                  <a:schemeClr val="bg1"/>
                </a:solidFill>
              </a:rPr>
              <a:t>001</a:t>
            </a:r>
          </a:p>
          <a:p>
            <a:r>
              <a:rPr lang="de-DE" dirty="0">
                <a:solidFill>
                  <a:schemeClr val="bg1"/>
                </a:solidFill>
              </a:rPr>
              <a:t>010</a:t>
            </a:r>
          </a:p>
          <a:p>
            <a:r>
              <a:rPr lang="de-DE" dirty="0">
                <a:solidFill>
                  <a:schemeClr val="bg1"/>
                </a:solidFill>
              </a:rPr>
              <a:t>100</a:t>
            </a:r>
          </a:p>
          <a:p>
            <a:r>
              <a:rPr lang="de-DE" dirty="0">
                <a:solidFill>
                  <a:schemeClr val="bg1"/>
                </a:solidFill>
              </a:rPr>
              <a:t>011</a:t>
            </a:r>
          </a:p>
          <a:p>
            <a:r>
              <a:rPr lang="de-DE" dirty="0">
                <a:solidFill>
                  <a:schemeClr val="bg1"/>
                </a:solidFill>
              </a:rPr>
              <a:t>101</a:t>
            </a:r>
          </a:p>
          <a:p>
            <a:r>
              <a:rPr lang="de-DE" dirty="0">
                <a:solidFill>
                  <a:schemeClr val="bg1"/>
                </a:solidFill>
              </a:rPr>
              <a:t>110</a:t>
            </a:r>
          </a:p>
          <a:p>
            <a:r>
              <a:rPr lang="de-DE" dirty="0">
                <a:solidFill>
                  <a:schemeClr val="bg1"/>
                </a:solidFill>
              </a:rPr>
              <a:t>111</a:t>
            </a:r>
          </a:p>
          <a:p>
            <a:endParaRPr lang="de-DE" dirty="0">
              <a:solidFill>
                <a:schemeClr val="bg1"/>
              </a:solidFill>
            </a:endParaRPr>
          </a:p>
        </p:txBody>
      </p:sp>
      <p:sp>
        <p:nvSpPr>
          <p:cNvPr id="43" name="Titel 1">
            <a:extLst>
              <a:ext uri="{FF2B5EF4-FFF2-40B4-BE49-F238E27FC236}">
                <a16:creationId xmlns:a16="http://schemas.microsoft.com/office/drawing/2014/main" id="{08783CD2-7723-488D-A137-0ADA47A93EF9}"/>
              </a:ext>
            </a:extLst>
          </p:cNvPr>
          <p:cNvSpPr txBox="1">
            <a:spLocks/>
          </p:cNvSpPr>
          <p:nvPr/>
        </p:nvSpPr>
        <p:spPr>
          <a:xfrm>
            <a:off x="6192147" y="1815554"/>
            <a:ext cx="4369084" cy="79174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Mapping:</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Solution pattern &lt;-&gt; cognitive rule 			(i.e., solution strategy)</a:t>
            </a:r>
          </a:p>
        </p:txBody>
      </p:sp>
      <p:sp>
        <p:nvSpPr>
          <p:cNvPr id="39" name="Rechteck 38">
            <a:extLst>
              <a:ext uri="{FF2B5EF4-FFF2-40B4-BE49-F238E27FC236}">
                <a16:creationId xmlns:a16="http://schemas.microsoft.com/office/drawing/2014/main" id="{D99F253F-D662-4242-BA5B-7F030DA6E39C}"/>
              </a:ext>
            </a:extLst>
          </p:cNvPr>
          <p:cNvSpPr/>
          <p:nvPr/>
        </p:nvSpPr>
        <p:spPr>
          <a:xfrm>
            <a:off x="6161667" y="2963224"/>
            <a:ext cx="6063550" cy="3139321"/>
          </a:xfrm>
          <a:prstGeom prst="rect">
            <a:avLst/>
          </a:prstGeom>
        </p:spPr>
        <p:txBody>
          <a:bodyPr wrap="square">
            <a:spAutoFit/>
          </a:bodyPr>
          <a:lstStyle/>
          <a:p>
            <a:r>
              <a:rPr lang="de-DE" dirty="0">
                <a:solidFill>
                  <a:schemeClr val="bg1"/>
                </a:solidFill>
              </a:rPr>
              <a:t>e.g.</a:t>
            </a:r>
          </a:p>
          <a:p>
            <a:r>
              <a:rPr lang="de-DE" dirty="0">
                <a:solidFill>
                  <a:schemeClr val="bg1"/>
                </a:solidFill>
              </a:rPr>
              <a:t>„011“ -&gt; 80% prob. </a:t>
            </a:r>
            <a:r>
              <a:rPr lang="de-DE" dirty="0" err="1">
                <a:solidFill>
                  <a:schemeClr val="bg1"/>
                </a:solidFill>
              </a:rPr>
              <a:t>produced</a:t>
            </a:r>
            <a:r>
              <a:rPr lang="de-DE" dirty="0">
                <a:solidFill>
                  <a:schemeClr val="bg1"/>
                </a:solidFill>
              </a:rPr>
              <a:t> </a:t>
            </a:r>
            <a:r>
              <a:rPr lang="de-DE" dirty="0" err="1">
                <a:solidFill>
                  <a:schemeClr val="bg1"/>
                </a:solidFill>
              </a:rPr>
              <a:t>by</a:t>
            </a:r>
            <a:r>
              <a:rPr lang="de-DE" dirty="0">
                <a:solidFill>
                  <a:schemeClr val="bg1"/>
                </a:solidFill>
              </a:rPr>
              <a:t> </a:t>
            </a:r>
            <a:r>
              <a:rPr lang="de-DE" dirty="0" err="1">
                <a:solidFill>
                  <a:schemeClr val="bg1"/>
                </a:solidFill>
              </a:rPr>
              <a:t>misconception</a:t>
            </a:r>
            <a:r>
              <a:rPr lang="de-DE" dirty="0">
                <a:solidFill>
                  <a:schemeClr val="bg1"/>
                </a:solidFill>
              </a:rPr>
              <a:t> („</a:t>
            </a:r>
            <a:r>
              <a:rPr lang="de-DE" dirty="0" err="1">
                <a:solidFill>
                  <a:schemeClr val="bg1"/>
                </a:solidFill>
              </a:rPr>
              <a:t>bug</a:t>
            </a:r>
            <a:r>
              <a:rPr lang="de-DE" dirty="0">
                <a:solidFill>
                  <a:schemeClr val="bg1"/>
                </a:solidFill>
              </a:rPr>
              <a:t>“)</a:t>
            </a:r>
          </a:p>
          <a:p>
            <a:r>
              <a:rPr lang="de-DE" dirty="0" err="1">
                <a:solidFill>
                  <a:schemeClr val="bg1"/>
                </a:solidFill>
              </a:rPr>
              <a:t>leading</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subtract</a:t>
            </a:r>
            <a:r>
              <a:rPr lang="de-DE" dirty="0">
                <a:solidFill>
                  <a:schemeClr val="bg1"/>
                </a:solidFill>
              </a:rPr>
              <a:t> -7 </a:t>
            </a:r>
            <a:r>
              <a:rPr lang="de-DE" dirty="0" err="1">
                <a:solidFill>
                  <a:schemeClr val="bg1"/>
                </a:solidFill>
              </a:rPr>
              <a:t>from</a:t>
            </a:r>
            <a:r>
              <a:rPr lang="de-DE" dirty="0">
                <a:solidFill>
                  <a:schemeClr val="bg1"/>
                </a:solidFill>
              </a:rPr>
              <a:t> -16</a:t>
            </a:r>
          </a:p>
          <a:p>
            <a:endParaRPr lang="de-DE" dirty="0">
              <a:solidFill>
                <a:schemeClr val="bg1"/>
              </a:solidFill>
            </a:endParaRPr>
          </a:p>
          <a:p>
            <a:r>
              <a:rPr lang="de-DE" dirty="0">
                <a:solidFill>
                  <a:schemeClr val="bg1"/>
                </a:solidFill>
              </a:rPr>
              <a:t>Latent variable </a:t>
            </a:r>
            <a:r>
              <a:rPr lang="de-DE" dirty="0" err="1">
                <a:solidFill>
                  <a:schemeClr val="bg1"/>
                </a:solidFill>
              </a:rPr>
              <a:t>model</a:t>
            </a:r>
            <a:r>
              <a:rPr lang="de-DE" dirty="0">
                <a:solidFill>
                  <a:schemeClr val="bg1"/>
                </a:solidFill>
              </a:rPr>
              <a:t> (cf. </a:t>
            </a:r>
            <a:r>
              <a:rPr lang="de-DE" i="1" dirty="0" err="1">
                <a:solidFill>
                  <a:schemeClr val="bg1"/>
                </a:solidFill>
              </a:rPr>
              <a:t>cognitive</a:t>
            </a:r>
            <a:r>
              <a:rPr lang="de-DE" i="1" dirty="0">
                <a:solidFill>
                  <a:schemeClr val="bg1"/>
                </a:solidFill>
              </a:rPr>
              <a:t> </a:t>
            </a:r>
            <a:r>
              <a:rPr lang="de-DE" i="1" dirty="0" err="1">
                <a:solidFill>
                  <a:schemeClr val="bg1"/>
                </a:solidFill>
              </a:rPr>
              <a:t>diagnosis</a:t>
            </a:r>
            <a:r>
              <a:rPr lang="de-DE" i="1" dirty="0">
                <a:solidFill>
                  <a:schemeClr val="bg1"/>
                </a:solidFill>
              </a:rPr>
              <a:t> </a:t>
            </a:r>
            <a:r>
              <a:rPr lang="de-DE" i="1" dirty="0" err="1">
                <a:solidFill>
                  <a:schemeClr val="bg1"/>
                </a:solidFill>
              </a:rPr>
              <a:t>model</a:t>
            </a:r>
            <a:r>
              <a:rPr lang="de-DE" dirty="0">
                <a:solidFill>
                  <a:schemeClr val="bg1"/>
                </a:solidFill>
              </a:rPr>
              <a:t>):</a:t>
            </a:r>
          </a:p>
          <a:p>
            <a:pPr marL="285750" indent="-285750">
              <a:buFontTx/>
              <a:buChar char="-"/>
            </a:pPr>
            <a:r>
              <a:rPr lang="de-DE" dirty="0">
                <a:solidFill>
                  <a:schemeClr val="bg1"/>
                </a:solidFill>
              </a:rPr>
              <a:t>Bugs (i.e., </a:t>
            </a:r>
            <a:r>
              <a:rPr lang="de-DE" dirty="0" err="1">
                <a:solidFill>
                  <a:schemeClr val="bg1"/>
                </a:solidFill>
              </a:rPr>
              <a:t>misconceptions</a:t>
            </a:r>
            <a:r>
              <a:rPr lang="de-DE" dirty="0">
                <a:solidFill>
                  <a:schemeClr val="bg1"/>
                </a:solidFill>
              </a:rPr>
              <a:t>) </a:t>
            </a:r>
            <a:r>
              <a:rPr lang="de-DE" dirty="0" err="1">
                <a:solidFill>
                  <a:schemeClr val="bg1"/>
                </a:solidFill>
              </a:rPr>
              <a:t>as</a:t>
            </a:r>
            <a:r>
              <a:rPr lang="de-DE" dirty="0">
                <a:solidFill>
                  <a:schemeClr val="bg1"/>
                </a:solidFill>
              </a:rPr>
              <a:t> </a:t>
            </a:r>
            <a:r>
              <a:rPr lang="de-DE" b="1" dirty="0">
                <a:solidFill>
                  <a:schemeClr val="bg1"/>
                </a:solidFill>
              </a:rPr>
              <a:t>latent mental </a:t>
            </a:r>
            <a:r>
              <a:rPr lang="de-DE" b="1" dirty="0" err="1">
                <a:solidFill>
                  <a:schemeClr val="bg1"/>
                </a:solidFill>
              </a:rPr>
              <a:t>states</a:t>
            </a:r>
            <a:endParaRPr lang="de-DE" b="1" dirty="0">
              <a:solidFill>
                <a:schemeClr val="bg1"/>
              </a:solidFill>
            </a:endParaRPr>
          </a:p>
          <a:p>
            <a:pPr marL="285750" indent="-285750">
              <a:buFontTx/>
              <a:buChar char="-"/>
            </a:pPr>
            <a:r>
              <a:rPr lang="de-DE" dirty="0" err="1">
                <a:solidFill>
                  <a:schemeClr val="bg1"/>
                </a:solidFill>
              </a:rPr>
              <a:t>Each</a:t>
            </a:r>
            <a:r>
              <a:rPr lang="de-DE" dirty="0">
                <a:solidFill>
                  <a:schemeClr val="bg1"/>
                </a:solidFill>
              </a:rPr>
              <a:t> </a:t>
            </a:r>
            <a:r>
              <a:rPr lang="de-DE" dirty="0" err="1">
                <a:solidFill>
                  <a:schemeClr val="bg1"/>
                </a:solidFill>
              </a:rPr>
              <a:t>response</a:t>
            </a:r>
            <a:r>
              <a:rPr lang="de-DE" dirty="0">
                <a:solidFill>
                  <a:schemeClr val="bg1"/>
                </a:solidFill>
              </a:rPr>
              <a:t> </a:t>
            </a:r>
            <a:r>
              <a:rPr lang="de-DE" dirty="0" err="1">
                <a:solidFill>
                  <a:schemeClr val="bg1"/>
                </a:solidFill>
              </a:rPr>
              <a:t>pattern</a:t>
            </a:r>
            <a:r>
              <a:rPr lang="de-DE" dirty="0">
                <a:solidFill>
                  <a:schemeClr val="bg1"/>
                </a:solidFill>
              </a:rPr>
              <a:t> </a:t>
            </a:r>
            <a:r>
              <a:rPr lang="de-DE" dirty="0" err="1">
                <a:solidFill>
                  <a:schemeClr val="bg1"/>
                </a:solidFill>
              </a:rPr>
              <a:t>produced</a:t>
            </a:r>
            <a:r>
              <a:rPr lang="de-DE" dirty="0">
                <a:solidFill>
                  <a:schemeClr val="bg1"/>
                </a:solidFill>
              </a:rPr>
              <a:t> </a:t>
            </a:r>
            <a:r>
              <a:rPr lang="de-DE" dirty="0" err="1">
                <a:solidFill>
                  <a:schemeClr val="bg1"/>
                </a:solidFill>
              </a:rPr>
              <a:t>by</a:t>
            </a:r>
            <a:r>
              <a:rPr lang="de-DE" dirty="0">
                <a:solidFill>
                  <a:schemeClr val="bg1"/>
                </a:solidFill>
              </a:rPr>
              <a:t> </a:t>
            </a:r>
            <a:r>
              <a:rPr lang="de-DE" dirty="0" err="1">
                <a:solidFill>
                  <a:schemeClr val="bg1"/>
                </a:solidFill>
              </a:rPr>
              <a:t>each</a:t>
            </a:r>
            <a:r>
              <a:rPr lang="de-DE" dirty="0">
                <a:solidFill>
                  <a:schemeClr val="bg1"/>
                </a:solidFill>
              </a:rPr>
              <a:t> </a:t>
            </a:r>
            <a:r>
              <a:rPr lang="de-DE" dirty="0" err="1">
                <a:solidFill>
                  <a:schemeClr val="bg1"/>
                </a:solidFill>
              </a:rPr>
              <a:t>bug</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specific</a:t>
            </a:r>
            <a:r>
              <a:rPr lang="de-DE" dirty="0">
                <a:solidFill>
                  <a:schemeClr val="bg1"/>
                </a:solidFill>
              </a:rPr>
              <a:t> </a:t>
            </a:r>
            <a:r>
              <a:rPr lang="de-DE" dirty="0" err="1">
                <a:solidFill>
                  <a:schemeClr val="bg1"/>
                </a:solidFill>
              </a:rPr>
              <a:t>probability</a:t>
            </a:r>
            <a:endParaRPr lang="de-DE" dirty="0">
              <a:solidFill>
                <a:schemeClr val="bg1"/>
              </a:solidFill>
            </a:endParaRPr>
          </a:p>
          <a:p>
            <a:pPr marL="285750" indent="-285750">
              <a:buFontTx/>
              <a:buChar char="-"/>
            </a:pPr>
            <a:r>
              <a:rPr lang="de-DE" dirty="0" err="1">
                <a:solidFill>
                  <a:schemeClr val="bg1"/>
                </a:solidFill>
              </a:rPr>
              <a:t>Emphasis</a:t>
            </a:r>
            <a:r>
              <a:rPr lang="de-DE" dirty="0">
                <a:solidFill>
                  <a:schemeClr val="bg1"/>
                </a:solidFill>
              </a:rPr>
              <a:t> on </a:t>
            </a:r>
            <a:r>
              <a:rPr lang="de-DE" b="1" dirty="0" err="1">
                <a:solidFill>
                  <a:schemeClr val="bg1"/>
                </a:solidFill>
              </a:rPr>
              <a:t>patterns</a:t>
            </a:r>
            <a:r>
              <a:rPr lang="de-DE" b="1" dirty="0">
                <a:solidFill>
                  <a:schemeClr val="bg1"/>
                </a:solidFill>
              </a:rPr>
              <a:t> </a:t>
            </a:r>
            <a:r>
              <a:rPr lang="de-DE" b="1" dirty="0" err="1">
                <a:solidFill>
                  <a:schemeClr val="bg1"/>
                </a:solidFill>
              </a:rPr>
              <a:t>across</a:t>
            </a:r>
            <a:r>
              <a:rPr lang="de-DE" b="1" dirty="0">
                <a:solidFill>
                  <a:schemeClr val="bg1"/>
                </a:solidFill>
              </a:rPr>
              <a:t> multiple </a:t>
            </a:r>
            <a:r>
              <a:rPr lang="de-DE" b="1" dirty="0" err="1">
                <a:solidFill>
                  <a:schemeClr val="bg1"/>
                </a:solidFill>
              </a:rPr>
              <a:t>items</a:t>
            </a:r>
            <a:endParaRPr lang="de-DE" b="1" dirty="0">
              <a:solidFill>
                <a:schemeClr val="bg1"/>
              </a:solidFill>
            </a:endParaRPr>
          </a:p>
          <a:p>
            <a:pPr marL="285750" indent="-285750">
              <a:buFontTx/>
              <a:buChar char="-"/>
            </a:pPr>
            <a:r>
              <a:rPr lang="de-DE" b="1" dirty="0">
                <a:solidFill>
                  <a:schemeClr val="bg1"/>
                </a:solidFill>
              </a:rPr>
              <a:t>Different </a:t>
            </a:r>
            <a:r>
              <a:rPr lang="de-DE" b="1" dirty="0" err="1">
                <a:solidFill>
                  <a:schemeClr val="bg1"/>
                </a:solidFill>
              </a:rPr>
              <a:t>strategies</a:t>
            </a:r>
            <a:r>
              <a:rPr lang="de-DE" dirty="0">
                <a:solidFill>
                  <a:schemeClr val="bg1"/>
                </a:solidFill>
              </a:rPr>
              <a:t>/</a:t>
            </a:r>
            <a:r>
              <a:rPr lang="de-DE" dirty="0" err="1">
                <a:solidFill>
                  <a:schemeClr val="bg1"/>
                </a:solidFill>
              </a:rPr>
              <a:t>misconceptions</a:t>
            </a:r>
            <a:r>
              <a:rPr lang="de-DE" dirty="0">
                <a:solidFill>
                  <a:schemeClr val="bg1"/>
                </a:solidFill>
              </a:rPr>
              <a:t> </a:t>
            </a:r>
            <a:r>
              <a:rPr lang="de-DE" dirty="0" err="1">
                <a:solidFill>
                  <a:schemeClr val="bg1"/>
                </a:solidFill>
              </a:rPr>
              <a:t>can</a:t>
            </a:r>
            <a:r>
              <a:rPr lang="de-DE" dirty="0">
                <a:solidFill>
                  <a:schemeClr val="bg1"/>
                </a:solidFill>
              </a:rPr>
              <a:t> </a:t>
            </a:r>
            <a:r>
              <a:rPr lang="de-DE" dirty="0" err="1">
                <a:solidFill>
                  <a:schemeClr val="bg1"/>
                </a:solidFill>
              </a:rPr>
              <a:t>lead</a:t>
            </a:r>
            <a:r>
              <a:rPr lang="de-DE" dirty="0">
                <a:solidFill>
                  <a:schemeClr val="bg1"/>
                </a:solidFill>
              </a:rPr>
              <a:t> </a:t>
            </a:r>
            <a:r>
              <a:rPr lang="de-DE" dirty="0" err="1">
                <a:solidFill>
                  <a:schemeClr val="bg1"/>
                </a:solidFill>
              </a:rPr>
              <a:t>to</a:t>
            </a:r>
            <a:r>
              <a:rPr lang="de-DE" dirty="0">
                <a:solidFill>
                  <a:schemeClr val="bg1"/>
                </a:solidFill>
              </a:rPr>
              <a:t> </a:t>
            </a:r>
            <a:r>
              <a:rPr lang="de-DE" b="1" dirty="0">
                <a:solidFill>
                  <a:schemeClr val="bg1"/>
                </a:solidFill>
              </a:rPr>
              <a:t>same </a:t>
            </a:r>
            <a:r>
              <a:rPr lang="de-DE" dirty="0">
                <a:solidFill>
                  <a:schemeClr val="bg1"/>
                </a:solidFill>
              </a:rPr>
              <a:t>(</a:t>
            </a:r>
            <a:r>
              <a:rPr lang="de-DE" dirty="0" err="1">
                <a:solidFill>
                  <a:schemeClr val="bg1"/>
                </a:solidFill>
              </a:rPr>
              <a:t>sum</a:t>
            </a:r>
            <a:r>
              <a:rPr lang="de-DE" dirty="0">
                <a:solidFill>
                  <a:schemeClr val="bg1"/>
                </a:solidFill>
              </a:rPr>
              <a:t>) </a:t>
            </a:r>
            <a:r>
              <a:rPr lang="de-DE" b="1" dirty="0">
                <a:solidFill>
                  <a:schemeClr val="bg1"/>
                </a:solidFill>
              </a:rPr>
              <a:t>score</a:t>
            </a:r>
          </a:p>
        </p:txBody>
      </p:sp>
    </p:spTree>
    <p:extLst>
      <p:ext uri="{BB962C8B-B14F-4D97-AF65-F5344CB8AC3E}">
        <p14:creationId xmlns:p14="http://schemas.microsoft.com/office/powerpoint/2010/main" val="27541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5" grpId="0" animBg="1"/>
      <p:bldP spid="43"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1" y="2177129"/>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sp>
        <p:nvSpPr>
          <p:cNvPr id="4" name="Textfeld 3">
            <a:extLst>
              <a:ext uri="{FF2B5EF4-FFF2-40B4-BE49-F238E27FC236}">
                <a16:creationId xmlns:a16="http://schemas.microsoft.com/office/drawing/2014/main" id="{D7C8932F-8C82-4729-A62F-066453EA4662}"/>
              </a:ext>
            </a:extLst>
          </p:cNvPr>
          <p:cNvSpPr txBox="1"/>
          <p:nvPr/>
        </p:nvSpPr>
        <p:spPr>
          <a:xfrm>
            <a:off x="297562" y="4080069"/>
            <a:ext cx="3873065" cy="1569660"/>
          </a:xfrm>
          <a:prstGeom prst="rect">
            <a:avLst/>
          </a:prstGeom>
          <a:noFill/>
        </p:spPr>
        <p:txBody>
          <a:bodyPr wrap="square" rtlCol="0">
            <a:spAutoFit/>
          </a:bodyPr>
          <a:lstStyle/>
          <a:p>
            <a:pPr algn="ctr"/>
            <a:r>
              <a:rPr lang="de-DE" sz="2400" dirty="0">
                <a:solidFill>
                  <a:schemeClr val="accent2">
                    <a:lumMod val="75000"/>
                  </a:schemeClr>
                </a:solidFill>
              </a:rPr>
              <a:t>Example </a:t>
            </a:r>
            <a:r>
              <a:rPr lang="de-DE" sz="2400" dirty="0" err="1">
                <a:solidFill>
                  <a:schemeClr val="accent2">
                    <a:lumMod val="75000"/>
                  </a:schemeClr>
                </a:solidFill>
              </a:rPr>
              <a:t>subtraction</a:t>
            </a:r>
            <a:r>
              <a:rPr lang="de-DE" sz="2400" dirty="0">
                <a:solidFill>
                  <a:schemeClr val="accent2">
                    <a:lumMod val="75000"/>
                  </a:schemeClr>
                </a:solidFill>
              </a:rPr>
              <a:t> </a:t>
            </a:r>
            <a:r>
              <a:rPr lang="de-DE" sz="2400" dirty="0" err="1">
                <a:solidFill>
                  <a:schemeClr val="accent2">
                    <a:lumMod val="75000"/>
                  </a:schemeClr>
                </a:solidFill>
              </a:rPr>
              <a:t>items</a:t>
            </a:r>
            <a:r>
              <a:rPr lang="de-DE" sz="2400" dirty="0">
                <a:solidFill>
                  <a:schemeClr val="accent2">
                    <a:lumMod val="75000"/>
                  </a:schemeClr>
                </a:solidFill>
              </a:rPr>
              <a:t>: -16 - (-7)</a:t>
            </a:r>
          </a:p>
          <a:p>
            <a:pPr algn="ctr"/>
            <a:r>
              <a:rPr lang="de-DE" sz="2400" dirty="0">
                <a:solidFill>
                  <a:schemeClr val="accent2">
                    <a:lumMod val="75000"/>
                  </a:schemeClr>
                </a:solidFill>
              </a:rPr>
              <a:t>2 - 11</a:t>
            </a:r>
          </a:p>
          <a:p>
            <a:pPr algn="ctr"/>
            <a:r>
              <a:rPr lang="de-DE" sz="2400" dirty="0">
                <a:solidFill>
                  <a:schemeClr val="accent2">
                    <a:lumMod val="75000"/>
                  </a:schemeClr>
                </a:solidFill>
              </a:rPr>
              <a:t>12 + (-3)</a:t>
            </a: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6115" y="1620484"/>
            <a:ext cx="1373742" cy="1689703"/>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0305" y="839307"/>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41" name="Textfeld 40">
            <a:extLst>
              <a:ext uri="{FF2B5EF4-FFF2-40B4-BE49-F238E27FC236}">
                <a16:creationId xmlns:a16="http://schemas.microsoft.com/office/drawing/2014/main" id="{5E009F9A-DC45-4F26-962E-10569995FE6A}"/>
              </a:ext>
            </a:extLst>
          </p:cNvPr>
          <p:cNvSpPr txBox="1"/>
          <p:nvPr/>
        </p:nvSpPr>
        <p:spPr>
          <a:xfrm>
            <a:off x="477980" y="3123125"/>
            <a:ext cx="487184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Sato`s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(1975)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erroneous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bugs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identification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approach</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Textfeld 37">
            <a:extLst>
              <a:ext uri="{FF2B5EF4-FFF2-40B4-BE49-F238E27FC236}">
                <a16:creationId xmlns:a16="http://schemas.microsoft.com/office/drawing/2014/main" id="{77AAA280-B6A2-4073-8433-6BCA30B0BE8D}"/>
              </a:ext>
            </a:extLst>
          </p:cNvPr>
          <p:cNvSpPr txBox="1"/>
          <p:nvPr/>
        </p:nvSpPr>
        <p:spPr>
          <a:xfrm>
            <a:off x="4032664" y="3960336"/>
            <a:ext cx="3677920" cy="2862322"/>
          </a:xfrm>
          <a:prstGeom prst="rect">
            <a:avLst/>
          </a:prstGeom>
          <a:noFill/>
        </p:spPr>
        <p:txBody>
          <a:bodyPr wrap="square" rtlCol="0">
            <a:spAutoFit/>
          </a:bodyPr>
          <a:lstStyle/>
          <a:p>
            <a:r>
              <a:rPr lang="de-DE" dirty="0">
                <a:solidFill>
                  <a:schemeClr val="bg1"/>
                </a:solidFill>
              </a:rPr>
              <a:t>Solution </a:t>
            </a:r>
            <a:r>
              <a:rPr lang="de-DE" dirty="0" err="1">
                <a:solidFill>
                  <a:schemeClr val="bg1"/>
                </a:solidFill>
              </a:rPr>
              <a:t>patterns</a:t>
            </a:r>
            <a:r>
              <a:rPr lang="de-DE" dirty="0">
                <a:solidFill>
                  <a:schemeClr val="bg1"/>
                </a:solidFill>
              </a:rPr>
              <a:t>:</a:t>
            </a:r>
          </a:p>
          <a:p>
            <a:r>
              <a:rPr lang="de-DE" dirty="0">
                <a:solidFill>
                  <a:schemeClr val="bg1"/>
                </a:solidFill>
              </a:rPr>
              <a:t>000</a:t>
            </a:r>
          </a:p>
          <a:p>
            <a:r>
              <a:rPr lang="de-DE" dirty="0">
                <a:solidFill>
                  <a:schemeClr val="bg1"/>
                </a:solidFill>
              </a:rPr>
              <a:t>001</a:t>
            </a:r>
          </a:p>
          <a:p>
            <a:r>
              <a:rPr lang="de-DE" dirty="0">
                <a:solidFill>
                  <a:schemeClr val="bg1"/>
                </a:solidFill>
              </a:rPr>
              <a:t>010</a:t>
            </a:r>
          </a:p>
          <a:p>
            <a:r>
              <a:rPr lang="de-DE" dirty="0">
                <a:solidFill>
                  <a:schemeClr val="bg1"/>
                </a:solidFill>
              </a:rPr>
              <a:t>100</a:t>
            </a:r>
          </a:p>
          <a:p>
            <a:r>
              <a:rPr lang="de-DE" dirty="0">
                <a:solidFill>
                  <a:schemeClr val="bg1"/>
                </a:solidFill>
              </a:rPr>
              <a:t>011</a:t>
            </a:r>
          </a:p>
          <a:p>
            <a:r>
              <a:rPr lang="de-DE" dirty="0">
                <a:solidFill>
                  <a:schemeClr val="bg1"/>
                </a:solidFill>
              </a:rPr>
              <a:t>101</a:t>
            </a:r>
          </a:p>
          <a:p>
            <a:r>
              <a:rPr lang="de-DE" dirty="0">
                <a:solidFill>
                  <a:schemeClr val="bg1"/>
                </a:solidFill>
              </a:rPr>
              <a:t>110</a:t>
            </a:r>
          </a:p>
          <a:p>
            <a:r>
              <a:rPr lang="de-DE" dirty="0">
                <a:solidFill>
                  <a:schemeClr val="bg1"/>
                </a:solidFill>
              </a:rPr>
              <a:t>111</a:t>
            </a:r>
          </a:p>
          <a:p>
            <a:endParaRPr lang="de-DE" dirty="0">
              <a:solidFill>
                <a:schemeClr val="bg1"/>
              </a:solidFill>
            </a:endParaRPr>
          </a:p>
        </p:txBody>
      </p:sp>
      <p:sp>
        <p:nvSpPr>
          <p:cNvPr id="43" name="Titel 1">
            <a:extLst>
              <a:ext uri="{FF2B5EF4-FFF2-40B4-BE49-F238E27FC236}">
                <a16:creationId xmlns:a16="http://schemas.microsoft.com/office/drawing/2014/main" id="{08783CD2-7723-488D-A137-0ADA47A93EF9}"/>
              </a:ext>
            </a:extLst>
          </p:cNvPr>
          <p:cNvSpPr txBox="1">
            <a:spLocks/>
          </p:cNvSpPr>
          <p:nvPr/>
        </p:nvSpPr>
        <p:spPr>
          <a:xfrm>
            <a:off x="6192147" y="1815554"/>
            <a:ext cx="4369084" cy="79174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Mapping:</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Solution pattern &lt;-&gt; cognitive rule 			(i.e., solution strategy)</a:t>
            </a:r>
          </a:p>
        </p:txBody>
      </p:sp>
      <p:pic>
        <p:nvPicPr>
          <p:cNvPr id="2" name="Grafik 1">
            <a:extLst>
              <a:ext uri="{FF2B5EF4-FFF2-40B4-BE49-F238E27FC236}">
                <a16:creationId xmlns:a16="http://schemas.microsoft.com/office/drawing/2014/main" id="{12AC12EF-A33F-449B-BAA6-363F9FA1BFBA}"/>
              </a:ext>
            </a:extLst>
          </p:cNvPr>
          <p:cNvPicPr>
            <a:picLocks noChangeAspect="1"/>
          </p:cNvPicPr>
          <p:nvPr/>
        </p:nvPicPr>
        <p:blipFill>
          <a:blip r:embed="rId4"/>
          <a:stretch>
            <a:fillRect/>
          </a:stretch>
        </p:blipFill>
        <p:spPr>
          <a:xfrm>
            <a:off x="7845918" y="2802369"/>
            <a:ext cx="2188773" cy="3285276"/>
          </a:xfrm>
          <a:prstGeom prst="rect">
            <a:avLst/>
          </a:prstGeom>
        </p:spPr>
      </p:pic>
    </p:spTree>
    <p:extLst>
      <p:ext uri="{BB962C8B-B14F-4D97-AF65-F5344CB8AC3E}">
        <p14:creationId xmlns:p14="http://schemas.microsoft.com/office/powerpoint/2010/main" val="2988668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7151849" y="3398177"/>
            <a:ext cx="4243188" cy="480760"/>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Extension of the </a:t>
            </a:r>
            <a:r>
              <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Rasch model</a:t>
            </a:r>
          </a:p>
        </p:txBody>
      </p:sp>
      <p:sp>
        <p:nvSpPr>
          <p:cNvPr id="39" name="Titel 1">
            <a:extLst>
              <a:ext uri="{FF2B5EF4-FFF2-40B4-BE49-F238E27FC236}">
                <a16:creationId xmlns:a16="http://schemas.microsoft.com/office/drawing/2014/main" id="{023512FB-618D-444C-97B7-60D6014DF91A}"/>
              </a:ext>
            </a:extLst>
          </p:cNvPr>
          <p:cNvSpPr txBox="1">
            <a:spLocks/>
          </p:cNvSpPr>
          <p:nvPr/>
        </p:nvSpPr>
        <p:spPr>
          <a:xfrm>
            <a:off x="6492214" y="4326038"/>
            <a:ext cx="5190471"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Items have different difficulties but </a:t>
            </a:r>
            <a:r>
              <a:rPr lang="en-US" sz="1800" dirty="0">
                <a:solidFill>
                  <a:prstClr val="white"/>
                </a:solidFill>
              </a:rPr>
              <a:t>they</a:t>
            </a:r>
            <a:r>
              <a:rPr kumimoji="0" lang="en-US" sz="1800" i="0" u="none" strike="noStrike" kern="1200" cap="none" spc="0" normalizeH="0" baseline="0" noProof="0" dirty="0">
                <a:ln>
                  <a:noFill/>
                </a:ln>
                <a:solidFill>
                  <a:prstClr val="white"/>
                </a:solidFill>
                <a:effectLst/>
                <a:uLnTx/>
                <a:uFillTx/>
              </a:rPr>
              <a:t> depend on a person characteristic:</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The cognitive rule (i.e., developmental stage)</a:t>
            </a:r>
            <a:endParaRPr kumimoji="0" lang="en-US" sz="1800" i="0" u="none" strike="noStrike" kern="1200" cap="none" spc="0" normalizeH="0" baseline="0" noProof="0" dirty="0">
              <a:ln>
                <a:noFill/>
              </a:ln>
              <a:solidFill>
                <a:prstClr val="white"/>
              </a:solidFill>
              <a:effectLst/>
              <a:uLnTx/>
              <a:uFillTx/>
            </a:endParaRPr>
          </a:p>
        </p:txBody>
      </p:sp>
      <p:sp>
        <p:nvSpPr>
          <p:cNvPr id="40" name="Titel 1">
            <a:extLst>
              <a:ext uri="{FF2B5EF4-FFF2-40B4-BE49-F238E27FC236}">
                <a16:creationId xmlns:a16="http://schemas.microsoft.com/office/drawing/2014/main" id="{47472301-E16E-44C9-9AAA-1E147158CA80}"/>
              </a:ext>
            </a:extLst>
          </p:cNvPr>
          <p:cNvSpPr txBox="1">
            <a:spLocks/>
          </p:cNvSpPr>
          <p:nvPr/>
        </p:nvSpPr>
        <p:spPr>
          <a:xfrm>
            <a:off x="6390356" y="5252225"/>
            <a:ext cx="5455946"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Rule I (one-dimensional reasoning, e.g. weight)</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Rule IV (proportional reasoning distance x weight)</a:t>
            </a:r>
            <a:endParaRPr kumimoji="0" lang="en-US" sz="1800" i="0" u="none" strike="noStrike" kern="1200" cap="none" spc="0" normalizeH="0" baseline="0" noProof="0" dirty="0">
              <a:ln>
                <a:noFill/>
              </a:ln>
              <a:solidFill>
                <a:prstClr val="white"/>
              </a:solidFill>
              <a:effectLst/>
              <a:uLnTx/>
              <a:uFillTx/>
            </a:endParaRPr>
          </a:p>
        </p:txBody>
      </p:sp>
      <p:sp>
        <p:nvSpPr>
          <p:cNvPr id="41" name="Titel 1">
            <a:extLst>
              <a:ext uri="{FF2B5EF4-FFF2-40B4-BE49-F238E27FC236}">
                <a16:creationId xmlns:a16="http://schemas.microsoft.com/office/drawing/2014/main" id="{36E790F0-6BF9-4EBB-AD17-69901CB1CDBC}"/>
              </a:ext>
            </a:extLst>
          </p:cNvPr>
          <p:cNvSpPr txBox="1">
            <a:spLocks/>
          </p:cNvSpPr>
          <p:nvPr/>
        </p:nvSpPr>
        <p:spPr>
          <a:xfrm>
            <a:off x="6736054" y="5864088"/>
            <a:ext cx="5455946"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Depending on rule person uses, specific items become easier (or harder)</a:t>
            </a:r>
          </a:p>
        </p:txBody>
      </p:sp>
    </p:spTree>
    <p:extLst>
      <p:ext uri="{BB962C8B-B14F-4D97-AF65-F5344CB8AC3E}">
        <p14:creationId xmlns:p14="http://schemas.microsoft.com/office/powerpoint/2010/main" val="399805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p:bldP spid="38" grpId="0"/>
      <p:bldP spid="39" grpId="0"/>
      <p:bldP spid="40"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7151849" y="3398177"/>
            <a:ext cx="4243188" cy="480760"/>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Extension of the </a:t>
            </a:r>
            <a:r>
              <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Rasch model</a:t>
            </a:r>
          </a:p>
        </p:txBody>
      </p:sp>
      <p:sp>
        <p:nvSpPr>
          <p:cNvPr id="39" name="Titel 1">
            <a:extLst>
              <a:ext uri="{FF2B5EF4-FFF2-40B4-BE49-F238E27FC236}">
                <a16:creationId xmlns:a16="http://schemas.microsoft.com/office/drawing/2014/main" id="{023512FB-618D-444C-97B7-60D6014DF91A}"/>
              </a:ext>
            </a:extLst>
          </p:cNvPr>
          <p:cNvSpPr txBox="1">
            <a:spLocks/>
          </p:cNvSpPr>
          <p:nvPr/>
        </p:nvSpPr>
        <p:spPr>
          <a:xfrm>
            <a:off x="7237944" y="3649912"/>
            <a:ext cx="5190471"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The </a:t>
            </a:r>
            <a:r>
              <a:rPr kumimoji="0" lang="en-US" sz="1800" b="1" i="0" u="none" strike="noStrike" kern="1200" cap="none" spc="0" normalizeH="0" baseline="0" noProof="0" dirty="0">
                <a:ln>
                  <a:noFill/>
                </a:ln>
                <a:solidFill>
                  <a:prstClr val="white"/>
                </a:solidFill>
                <a:effectLst/>
                <a:uLnTx/>
                <a:uFillTx/>
              </a:rPr>
              <a:t>Saltus</a:t>
            </a:r>
            <a:r>
              <a:rPr kumimoji="0" lang="en-US" sz="1800" i="0" u="none" strike="noStrike" kern="1200" cap="none" spc="0" normalizeH="0" baseline="0" noProof="0" dirty="0">
                <a:ln>
                  <a:noFill/>
                </a:ln>
                <a:solidFill>
                  <a:prstClr val="white"/>
                </a:solidFill>
                <a:effectLst/>
                <a:uLnTx/>
                <a:uFillTx/>
              </a:rPr>
              <a:t> model</a:t>
            </a:r>
          </a:p>
        </p:txBody>
      </p:sp>
      <p:sp>
        <p:nvSpPr>
          <p:cNvPr id="40" name="Titel 1">
            <a:extLst>
              <a:ext uri="{FF2B5EF4-FFF2-40B4-BE49-F238E27FC236}">
                <a16:creationId xmlns:a16="http://schemas.microsoft.com/office/drawing/2014/main" id="{47472301-E16E-44C9-9AAA-1E147158CA80}"/>
              </a:ext>
            </a:extLst>
          </p:cNvPr>
          <p:cNvSpPr txBox="1">
            <a:spLocks/>
          </p:cNvSpPr>
          <p:nvPr/>
        </p:nvSpPr>
        <p:spPr>
          <a:xfrm>
            <a:off x="6423104" y="4271809"/>
            <a:ext cx="5801644" cy="5281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i="0" u="none" strike="noStrike" kern="1200" cap="none" spc="0" normalizeH="0" baseline="0" noProof="0" dirty="0">
                <a:ln>
                  <a:noFill/>
                </a:ln>
                <a:solidFill>
                  <a:prstClr val="white"/>
                </a:solidFill>
                <a:effectLst/>
                <a:uLnTx/>
                <a:uFillTx/>
              </a:rPr>
              <a:t>Each </a:t>
            </a:r>
            <a:r>
              <a:rPr kumimoji="0" lang="en-US" sz="1800" b="1" i="0" u="none" strike="noStrike" kern="1200" cap="none" spc="0" normalizeH="0" baseline="0" noProof="0" dirty="0">
                <a:ln>
                  <a:noFill/>
                </a:ln>
                <a:solidFill>
                  <a:prstClr val="white"/>
                </a:solidFill>
                <a:effectLst/>
                <a:uLnTx/>
                <a:uFillTx/>
              </a:rPr>
              <a:t>response</a:t>
            </a:r>
            <a:r>
              <a:rPr kumimoji="0" lang="en-US" sz="1800" b="1" i="0" u="none" strike="noStrike" kern="1200" cap="none" spc="0" normalizeH="0" noProof="0" dirty="0">
                <a:ln>
                  <a:noFill/>
                </a:ln>
                <a:solidFill>
                  <a:prstClr val="white"/>
                </a:solidFill>
                <a:effectLst/>
                <a:uLnTx/>
                <a:uFillTx/>
              </a:rPr>
              <a:t> pattern </a:t>
            </a:r>
            <a:r>
              <a:rPr kumimoji="0" lang="en-US" sz="1800" i="0" u="none" strike="noStrike" kern="1200" cap="none" spc="0" normalizeH="0" noProof="0" dirty="0">
                <a:ln>
                  <a:noFill/>
                </a:ln>
                <a:solidFill>
                  <a:prstClr val="white"/>
                </a:solidFill>
                <a:effectLst/>
                <a:uLnTx/>
                <a:uFillTx/>
              </a:rPr>
              <a:t>indicates the </a:t>
            </a:r>
            <a:r>
              <a:rPr kumimoji="0" lang="en-US" sz="1800" b="1" i="0" u="none" strike="noStrike" kern="1200" cap="none" spc="0" normalizeH="0" noProof="0" dirty="0">
                <a:ln>
                  <a:noFill/>
                </a:ln>
                <a:solidFill>
                  <a:prstClr val="white"/>
                </a:solidFill>
                <a:effectLst/>
                <a:uLnTx/>
                <a:uFillTx/>
              </a:rPr>
              <a:t>probability for </a:t>
            </a:r>
            <a:r>
              <a:rPr kumimoji="0" lang="en-US" sz="1800" i="0" u="none" strike="noStrike" kern="1200" cap="none" spc="0" normalizeH="0" noProof="0" dirty="0">
                <a:ln>
                  <a:noFill/>
                </a:ln>
                <a:solidFill>
                  <a:prstClr val="white"/>
                </a:solidFill>
                <a:effectLst/>
                <a:uLnTx/>
                <a:uFillTx/>
              </a:rPr>
              <a:t>each of the four latent </a:t>
            </a:r>
            <a:r>
              <a:rPr kumimoji="0" lang="en-US" sz="1800" b="1" i="0" u="none" strike="noStrike" kern="1200" cap="none" spc="0" normalizeH="0" noProof="0" dirty="0">
                <a:ln>
                  <a:noFill/>
                </a:ln>
                <a:solidFill>
                  <a:prstClr val="white"/>
                </a:solidFill>
                <a:effectLst/>
                <a:uLnTx/>
                <a:uFillTx/>
              </a:rPr>
              <a:t>mental states </a:t>
            </a:r>
            <a:r>
              <a:rPr kumimoji="0" lang="en-US" sz="1800" i="0" u="none" strike="noStrike" kern="1200" cap="none" spc="0" normalizeH="0" noProof="0" dirty="0">
                <a:ln>
                  <a:noFill/>
                </a:ln>
                <a:solidFill>
                  <a:prstClr val="white"/>
                </a:solidFill>
                <a:effectLst/>
                <a:uLnTx/>
                <a:uFillTx/>
              </a:rPr>
              <a:t>(Rule I – IV)</a:t>
            </a:r>
            <a:endParaRPr kumimoji="0" lang="en-US" sz="1800" i="0" u="none" strike="noStrike" kern="1200" cap="none" spc="0" normalizeH="0" baseline="0" noProof="0" dirty="0">
              <a:ln>
                <a:noFill/>
              </a:ln>
              <a:solidFill>
                <a:prstClr val="white"/>
              </a:solidFill>
              <a:effectLst/>
              <a:uLnTx/>
              <a:uFillTx/>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pic>
        <p:nvPicPr>
          <p:cNvPr id="8" name="Grafik 7">
            <a:extLst>
              <a:ext uri="{FF2B5EF4-FFF2-40B4-BE49-F238E27FC236}">
                <a16:creationId xmlns:a16="http://schemas.microsoft.com/office/drawing/2014/main" id="{0F6B036F-2FD0-45F7-8832-05684B399AA3}"/>
              </a:ext>
            </a:extLst>
          </p:cNvPr>
          <p:cNvPicPr>
            <a:picLocks noChangeAspect="1"/>
          </p:cNvPicPr>
          <p:nvPr/>
        </p:nvPicPr>
        <p:blipFill>
          <a:blip r:embed="rId5"/>
          <a:stretch>
            <a:fillRect/>
          </a:stretch>
        </p:blipFill>
        <p:spPr>
          <a:xfrm>
            <a:off x="8918198" y="5337070"/>
            <a:ext cx="2691282" cy="481733"/>
          </a:xfrm>
          <a:prstGeom prst="rect">
            <a:avLst/>
          </a:prstGeom>
        </p:spPr>
      </p:pic>
      <p:grpSp>
        <p:nvGrpSpPr>
          <p:cNvPr id="43" name="Gruppieren 42">
            <a:extLst>
              <a:ext uri="{FF2B5EF4-FFF2-40B4-BE49-F238E27FC236}">
                <a16:creationId xmlns:a16="http://schemas.microsoft.com/office/drawing/2014/main" id="{24B8F03F-5183-451C-BE66-7B4B824206C8}"/>
              </a:ext>
            </a:extLst>
          </p:cNvPr>
          <p:cNvGrpSpPr/>
          <p:nvPr/>
        </p:nvGrpSpPr>
        <p:grpSpPr>
          <a:xfrm>
            <a:off x="6876572" y="5023713"/>
            <a:ext cx="1940044" cy="1021575"/>
            <a:chOff x="6945406" y="5058420"/>
            <a:chExt cx="1614306" cy="842674"/>
          </a:xfrm>
        </p:grpSpPr>
        <p:pic>
          <p:nvPicPr>
            <p:cNvPr id="32" name="Grafik 31">
              <a:extLst>
                <a:ext uri="{FF2B5EF4-FFF2-40B4-BE49-F238E27FC236}">
                  <a16:creationId xmlns:a16="http://schemas.microsoft.com/office/drawing/2014/main" id="{74BABFA7-9E3B-4AAB-90FC-CDD35B427F2B}"/>
                </a:ext>
              </a:extLst>
            </p:cNvPr>
            <p:cNvPicPr>
              <a:picLocks noChangeAspect="1"/>
            </p:cNvPicPr>
            <p:nvPr/>
          </p:nvPicPr>
          <p:blipFill rotWithShape="1">
            <a:blip r:embed="rId6"/>
            <a:srcRect l="51857" r="39714"/>
            <a:stretch/>
          </p:blipFill>
          <p:spPr>
            <a:xfrm>
              <a:off x="7967035" y="5061523"/>
              <a:ext cx="217064" cy="839570"/>
            </a:xfrm>
            <a:prstGeom prst="rect">
              <a:avLst/>
            </a:prstGeom>
          </p:spPr>
        </p:pic>
        <p:pic>
          <p:nvPicPr>
            <p:cNvPr id="44" name="Grafik 43">
              <a:extLst>
                <a:ext uri="{FF2B5EF4-FFF2-40B4-BE49-F238E27FC236}">
                  <a16:creationId xmlns:a16="http://schemas.microsoft.com/office/drawing/2014/main" id="{8B6B6ABF-BC31-4C0C-A075-0E144FC208A0}"/>
                </a:ext>
              </a:extLst>
            </p:cNvPr>
            <p:cNvPicPr>
              <a:picLocks noChangeAspect="1"/>
            </p:cNvPicPr>
            <p:nvPr/>
          </p:nvPicPr>
          <p:blipFill rotWithShape="1">
            <a:blip r:embed="rId6"/>
            <a:srcRect r="60109"/>
            <a:stretch/>
          </p:blipFill>
          <p:spPr>
            <a:xfrm>
              <a:off x="6945406" y="5061524"/>
              <a:ext cx="1027266" cy="839570"/>
            </a:xfrm>
            <a:prstGeom prst="rect">
              <a:avLst/>
            </a:prstGeom>
          </p:spPr>
        </p:pic>
        <p:pic>
          <p:nvPicPr>
            <p:cNvPr id="45" name="Grafik 44">
              <a:extLst>
                <a:ext uri="{FF2B5EF4-FFF2-40B4-BE49-F238E27FC236}">
                  <a16:creationId xmlns:a16="http://schemas.microsoft.com/office/drawing/2014/main" id="{CF7AF246-F11C-42E0-BFFF-CECD4D817B9C}"/>
                </a:ext>
              </a:extLst>
            </p:cNvPr>
            <p:cNvPicPr>
              <a:picLocks noChangeAspect="1"/>
            </p:cNvPicPr>
            <p:nvPr/>
          </p:nvPicPr>
          <p:blipFill rotWithShape="1">
            <a:blip r:embed="rId6"/>
            <a:srcRect l="72865" r="21239"/>
            <a:stretch/>
          </p:blipFill>
          <p:spPr>
            <a:xfrm>
              <a:off x="8184098" y="5058420"/>
              <a:ext cx="152400" cy="842673"/>
            </a:xfrm>
            <a:prstGeom prst="rect">
              <a:avLst/>
            </a:prstGeom>
          </p:spPr>
        </p:pic>
        <p:pic>
          <p:nvPicPr>
            <p:cNvPr id="46" name="Grafik 45">
              <a:extLst>
                <a:ext uri="{FF2B5EF4-FFF2-40B4-BE49-F238E27FC236}">
                  <a16:creationId xmlns:a16="http://schemas.microsoft.com/office/drawing/2014/main" id="{190560CB-7A78-4C92-B860-3BD2739B0BFC}"/>
                </a:ext>
              </a:extLst>
            </p:cNvPr>
            <p:cNvPicPr>
              <a:picLocks noChangeAspect="1"/>
            </p:cNvPicPr>
            <p:nvPr/>
          </p:nvPicPr>
          <p:blipFill rotWithShape="1">
            <a:blip r:embed="rId6"/>
            <a:srcRect l="90991"/>
            <a:stretch/>
          </p:blipFill>
          <p:spPr>
            <a:xfrm>
              <a:off x="8327710" y="5058421"/>
              <a:ext cx="232002" cy="839570"/>
            </a:xfrm>
            <a:prstGeom prst="rect">
              <a:avLst/>
            </a:prstGeom>
          </p:spPr>
        </p:pic>
      </p:gr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flipV="1">
            <a:off x="4954058" y="4110397"/>
            <a:ext cx="1934227" cy="1715764"/>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flipV="1">
            <a:off x="3818966" y="5358337"/>
            <a:ext cx="3069319" cy="57038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14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a:solidFill>
                  <a:schemeClr val="bg1"/>
                </a:solidFill>
              </a:rPr>
              <a:t>70s/80s</a:t>
            </a:r>
            <a:endParaRPr lang="en-US" dirty="0">
              <a:solidFill>
                <a:schemeClr val="bg1"/>
              </a:solidFill>
            </a:endParaRP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2192" y="3756386"/>
            <a:ext cx="5537383"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rPr>
              <a:t>- Difference between </a:t>
            </a:r>
            <a:r>
              <a:rPr kumimoji="0" lang="en-US" sz="1800" b="0" i="0" u="none" strike="noStrike" kern="1200" cap="none" spc="0" normalizeH="0" baseline="0" noProof="0" dirty="0">
                <a:ln>
                  <a:noFill/>
                </a:ln>
                <a:solidFill>
                  <a:schemeClr val="accent6">
                    <a:lumMod val="75000"/>
                  </a:schemeClr>
                </a:solidFill>
                <a:effectLst/>
                <a:uLnTx/>
                <a:uFillTx/>
              </a:rPr>
              <a:t>person ability </a:t>
            </a:r>
            <a:r>
              <a:rPr kumimoji="0" lang="en-US" sz="1800" b="0" i="0" u="none" strike="noStrike" kern="1200" cap="none" spc="0" normalizeH="0" baseline="0" noProof="0" dirty="0">
                <a:ln>
                  <a:noFill/>
                </a:ln>
                <a:solidFill>
                  <a:prstClr val="white"/>
                </a:solidFill>
                <a:effectLst/>
                <a:uLnTx/>
                <a:uFillTx/>
              </a:rPr>
              <a:t>and </a:t>
            </a:r>
            <a:r>
              <a:rPr kumimoji="0" lang="en-US" sz="1800" b="0" i="0" u="none" strike="noStrike" kern="1200" cap="none" spc="0" normalizeH="0" baseline="0" noProof="0" dirty="0">
                <a:ln>
                  <a:noFill/>
                </a:ln>
                <a:solidFill>
                  <a:schemeClr val="accent6">
                    <a:lumMod val="75000"/>
                  </a:schemeClr>
                </a:solidFill>
                <a:effectLst/>
                <a:uLnTx/>
                <a:uFillTx/>
              </a:rPr>
              <a:t>item difficulty</a:t>
            </a:r>
            <a:r>
              <a:rPr kumimoji="0" lang="en-US" sz="1800" b="0" i="0" u="none" strike="noStrike" kern="1200" cap="none" spc="0" normalizeH="0" baseline="0" noProof="0" dirty="0">
                <a:ln>
                  <a:noFill/>
                </a:ln>
                <a:solidFill>
                  <a:schemeClr val="accent3">
                    <a:lumMod val="75000"/>
                  </a:schemeClr>
                </a:solidFill>
                <a:effectLst/>
                <a:uLnTx/>
                <a:uFillTx/>
              </a:rPr>
              <a:t> </a:t>
            </a:r>
            <a:r>
              <a:rPr kumimoji="0" lang="en-US" sz="1800" b="0" i="0" u="none" strike="noStrike" kern="1200" cap="none" spc="0" normalizeH="0" baseline="0" noProof="0" dirty="0">
                <a:ln>
                  <a:noFill/>
                </a:ln>
                <a:solidFill>
                  <a:prstClr val="white"/>
                </a:solidFill>
                <a:effectLst/>
                <a:uLnTx/>
                <a:uFillTx/>
              </a:rPr>
              <a:t>determines solution</a:t>
            </a:r>
            <a:r>
              <a:rPr kumimoji="0" lang="en-US" sz="1800" b="0" i="0" u="none" strike="noStrike" kern="1200" cap="none" spc="0" normalizeH="0" noProof="0" dirty="0">
                <a:ln>
                  <a:noFill/>
                </a:ln>
                <a:solidFill>
                  <a:prstClr val="white"/>
                </a:solidFill>
                <a:effectLst/>
                <a:uLnTx/>
                <a:uFillTx/>
              </a:rPr>
              <a:t> probability</a:t>
            </a:r>
          </a:p>
          <a:p>
            <a:pPr marL="0" marR="0" lvl="0" indent="0" algn="l" defTabSz="914400" rtl="0" eaLnBrk="1" fontAlgn="auto" latinLnBrk="0" hangingPunct="1">
              <a:lnSpc>
                <a:spcPct val="90000"/>
              </a:lnSpc>
              <a:spcBef>
                <a:spcPct val="0"/>
              </a:spcBef>
              <a:spcAft>
                <a:spcPts val="0"/>
              </a:spcAft>
              <a:buClrTx/>
              <a:buSzTx/>
              <a:buFontTx/>
              <a:buNone/>
              <a:tabLst/>
              <a:defRPr/>
            </a:pPr>
            <a:endParaRPr lang="en-US" sz="1800" b="1"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prstClr val="white"/>
                </a:solidFill>
              </a:rPr>
              <a:t>- </a:t>
            </a:r>
            <a:r>
              <a:rPr lang="en-US" sz="1800" b="1" dirty="0">
                <a:solidFill>
                  <a:schemeClr val="accent5">
                    <a:lumMod val="75000"/>
                  </a:schemeClr>
                </a:solidFill>
              </a:rPr>
              <a:t>Bonus/malus on solution probability</a:t>
            </a:r>
            <a:r>
              <a:rPr lang="en-US" sz="1800" dirty="0">
                <a:solidFill>
                  <a:schemeClr val="accent5">
                    <a:lumMod val="75000"/>
                  </a:schemeClr>
                </a:solidFill>
              </a:rPr>
              <a:t> </a:t>
            </a:r>
            <a:r>
              <a:rPr lang="en-US" sz="1800" dirty="0">
                <a:solidFill>
                  <a:prstClr val="white"/>
                </a:solidFill>
              </a:rPr>
              <a:t>depending on latent rule state</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800" baseline="0" dirty="0">
                <a:solidFill>
                  <a:prstClr val="white"/>
                </a:solidFill>
              </a:rPr>
              <a:t>- Latent</a:t>
            </a:r>
            <a:r>
              <a:rPr lang="en-US" sz="1800" dirty="0">
                <a:solidFill>
                  <a:prstClr val="white"/>
                </a:solidFill>
              </a:rPr>
              <a:t> rule </a:t>
            </a:r>
            <a:r>
              <a:rPr lang="en-US" sz="1800" i="1" dirty="0">
                <a:solidFill>
                  <a:prstClr val="white"/>
                </a:solidFill>
              </a:rPr>
              <a:t>h</a:t>
            </a:r>
            <a:r>
              <a:rPr lang="en-US" sz="1800" dirty="0">
                <a:solidFill>
                  <a:prstClr val="white"/>
                </a:solidFill>
              </a:rPr>
              <a:t> differs across persons, bonus/malus </a:t>
            </a:r>
            <a:r>
              <a:rPr lang="el-GR" sz="1800" i="1" dirty="0">
                <a:solidFill>
                  <a:prstClr val="white"/>
                </a:solidFill>
              </a:rPr>
              <a:t>τ</a:t>
            </a:r>
            <a:r>
              <a:rPr lang="en-US" sz="1800" dirty="0">
                <a:solidFill>
                  <a:prstClr val="white"/>
                </a:solidFill>
              </a:rPr>
              <a:t> across item groups </a:t>
            </a:r>
            <a:r>
              <a:rPr lang="en-US" sz="1800" i="1" dirty="0">
                <a:solidFill>
                  <a:prstClr val="white"/>
                </a:solidFill>
              </a:rPr>
              <a:t>k</a:t>
            </a:r>
            <a:endParaRPr lang="en-US" sz="1800" i="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390356" y="1008809"/>
            <a:ext cx="2970411"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pic>
        <p:nvPicPr>
          <p:cNvPr id="8" name="Grafik 7">
            <a:extLst>
              <a:ext uri="{FF2B5EF4-FFF2-40B4-BE49-F238E27FC236}">
                <a16:creationId xmlns:a16="http://schemas.microsoft.com/office/drawing/2014/main" id="{0F6B036F-2FD0-45F7-8832-05684B399AA3}"/>
              </a:ext>
            </a:extLst>
          </p:cNvPr>
          <p:cNvPicPr>
            <a:picLocks noChangeAspect="1"/>
          </p:cNvPicPr>
          <p:nvPr/>
        </p:nvPicPr>
        <p:blipFill>
          <a:blip r:embed="rId4"/>
          <a:stretch>
            <a:fillRect/>
          </a:stretch>
        </p:blipFill>
        <p:spPr>
          <a:xfrm>
            <a:off x="8918198" y="5337070"/>
            <a:ext cx="2691282" cy="481733"/>
          </a:xfrm>
          <a:prstGeom prst="rect">
            <a:avLst/>
          </a:prstGeom>
        </p:spPr>
      </p:pic>
      <p:sp>
        <p:nvSpPr>
          <p:cNvPr id="36" name="Rechteck: abgerundete Ecken 35">
            <a:extLst>
              <a:ext uri="{FF2B5EF4-FFF2-40B4-BE49-F238E27FC236}">
                <a16:creationId xmlns:a16="http://schemas.microsoft.com/office/drawing/2014/main" id="{5130A4B7-6173-4733-BDE3-4C7A8BD1A28C}"/>
              </a:ext>
            </a:extLst>
          </p:cNvPr>
          <p:cNvSpPr/>
          <p:nvPr/>
        </p:nvSpPr>
        <p:spPr>
          <a:xfrm>
            <a:off x="10525124" y="5345031"/>
            <a:ext cx="1084355" cy="465809"/>
          </a:xfrm>
          <a:prstGeom prst="roundRect">
            <a:avLst/>
          </a:prstGeom>
          <a:noFill/>
          <a:ln w="254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1" name="Rechteck: abgerundete Ecken 40">
            <a:extLst>
              <a:ext uri="{FF2B5EF4-FFF2-40B4-BE49-F238E27FC236}">
                <a16:creationId xmlns:a16="http://schemas.microsoft.com/office/drawing/2014/main" id="{20FFFB55-2C80-483F-90EE-98159116B120}"/>
              </a:ext>
            </a:extLst>
          </p:cNvPr>
          <p:cNvSpPr/>
          <p:nvPr/>
        </p:nvSpPr>
        <p:spPr>
          <a:xfrm>
            <a:off x="9522302" y="5345031"/>
            <a:ext cx="778006" cy="465809"/>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3" name="Titel 1">
            <a:extLst>
              <a:ext uri="{FF2B5EF4-FFF2-40B4-BE49-F238E27FC236}">
                <a16:creationId xmlns:a16="http://schemas.microsoft.com/office/drawing/2014/main" id="{FE56360F-753F-4ECF-888B-F6E74E80E120}"/>
              </a:ext>
            </a:extLst>
          </p:cNvPr>
          <p:cNvSpPr txBox="1">
            <a:spLocks/>
          </p:cNvSpPr>
          <p:nvPr/>
        </p:nvSpPr>
        <p:spPr>
          <a:xfrm>
            <a:off x="6278559" y="1956315"/>
            <a:ext cx="344732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 showed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deviations</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from some of Siegler`s </a:t>
            </a: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predictions</a:t>
            </a:r>
          </a:p>
        </p:txBody>
      </p:sp>
      <p:pic>
        <p:nvPicPr>
          <p:cNvPr id="11" name="Grafik 10">
            <a:extLst>
              <a:ext uri="{FF2B5EF4-FFF2-40B4-BE49-F238E27FC236}">
                <a16:creationId xmlns:a16="http://schemas.microsoft.com/office/drawing/2014/main" id="{A0C6308E-DBC8-46A6-A881-6F150021F5E9}"/>
              </a:ext>
            </a:extLst>
          </p:cNvPr>
          <p:cNvPicPr>
            <a:picLocks noChangeAspect="1"/>
          </p:cNvPicPr>
          <p:nvPr/>
        </p:nvPicPr>
        <p:blipFill>
          <a:blip r:embed="rId5"/>
          <a:stretch>
            <a:fillRect/>
          </a:stretch>
        </p:blipFill>
        <p:spPr>
          <a:xfrm>
            <a:off x="9725883" y="1061132"/>
            <a:ext cx="1789333" cy="2306252"/>
          </a:xfrm>
          <a:prstGeom prst="rect">
            <a:avLst/>
          </a:prstGeom>
        </p:spPr>
      </p:pic>
    </p:spTree>
    <p:extLst>
      <p:ext uri="{BB962C8B-B14F-4D97-AF65-F5344CB8AC3E}">
        <p14:creationId xmlns:p14="http://schemas.microsoft.com/office/powerpoint/2010/main" val="1088800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532742" y="5212611"/>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0" i="0" u="none" strike="noStrike" kern="1200" cap="none" spc="0" normalizeH="0" baseline="0" noProof="0" dirty="0" err="1">
                <a:ln>
                  <a:noFill/>
                </a:ln>
                <a:solidFill>
                  <a:prstClr val="white"/>
                </a:solidFill>
                <a:effectLst/>
                <a:uLnTx/>
                <a:uFillTx/>
              </a:rPr>
              <a:t>Formalized</a:t>
            </a:r>
            <a:r>
              <a:rPr kumimoji="0" lang="de-DE" sz="2000" b="0" i="0" u="none" strike="noStrike" kern="1200" cap="none" spc="0" normalizeH="0" baseline="0" noProof="0" dirty="0">
                <a:ln>
                  <a:noFill/>
                </a:ln>
                <a:solidFill>
                  <a:prstClr val="white"/>
                </a:solidFill>
                <a:effectLst/>
                <a:uLnTx/>
                <a:uFillTx/>
              </a:rPr>
              <a:t> </a:t>
            </a:r>
            <a:r>
              <a:rPr kumimoji="0" lang="de-DE" sz="2000" b="0" i="0" u="none" strike="noStrike" kern="1200" cap="none" spc="0" normalizeH="0" baseline="0" noProof="0" dirty="0" err="1">
                <a:ln>
                  <a:noFill/>
                </a:ln>
                <a:solidFill>
                  <a:prstClr val="white"/>
                </a:solidFill>
                <a:effectLst/>
                <a:uLnTx/>
                <a:uFillTx/>
              </a:rPr>
              <a:t>further</a:t>
            </a:r>
            <a:r>
              <a:rPr kumimoji="0" lang="de-DE" sz="2000" b="0" i="0" u="none" strike="noStrike" kern="1200" cap="none" spc="0" normalizeH="0" baseline="0" noProof="0" dirty="0">
                <a:ln>
                  <a:noFill/>
                </a:ln>
                <a:solidFill>
                  <a:prstClr val="white"/>
                </a:solidFill>
                <a:effectLst/>
                <a:uLnTx/>
                <a:uFillTx/>
              </a:rPr>
              <a:t> potential </a:t>
            </a:r>
            <a:r>
              <a:rPr kumimoji="0" lang="de-DE" sz="2000" b="0" i="0" u="none" strike="noStrike" kern="1200" cap="none" spc="0" normalizeH="0" baseline="0" noProof="0" dirty="0" err="1">
                <a:ln>
                  <a:noFill/>
                </a:ln>
                <a:solidFill>
                  <a:prstClr val="white"/>
                </a:solidFill>
                <a:effectLst/>
                <a:uLnTx/>
                <a:uFillTx/>
              </a:rPr>
              <a:t>rules</a:t>
            </a:r>
            <a:r>
              <a:rPr kumimoji="0" lang="de-DE" sz="2000" b="0" i="0" u="none" strike="noStrike" kern="1200" cap="none" spc="0" normalizeH="0" baseline="0" noProof="0" dirty="0">
                <a:ln>
                  <a:noFill/>
                </a:ln>
                <a:solidFill>
                  <a:prstClr val="white"/>
                </a:solidFill>
                <a:effectLst/>
                <a:uLnTx/>
                <a:uFillTx/>
              </a:rPr>
              <a: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2000" b="0" i="0" u="none" strike="noStrike" kern="1200" cap="none" spc="0" normalizeH="0" baseline="0" noProof="0" dirty="0">
              <a:ln>
                <a:noFill/>
              </a:ln>
              <a:solidFill>
                <a:prstClr val="white"/>
              </a:solidFill>
              <a:effectLst/>
              <a:uLnTx/>
              <a:uFillTx/>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Random </a:t>
            </a:r>
            <a:r>
              <a:rPr lang="de-DE" sz="2000" dirty="0" err="1">
                <a:solidFill>
                  <a:prstClr val="white"/>
                </a:solidFill>
              </a:rPr>
              <a:t>answer</a:t>
            </a:r>
            <a:r>
              <a:rPr lang="de-DE" sz="2000" dirty="0">
                <a:solidFill>
                  <a:prstClr val="white"/>
                </a:solidFill>
              </a:rPr>
              <a:t> in </a:t>
            </a:r>
            <a:r>
              <a:rPr lang="de-DE" sz="2000" dirty="0" err="1">
                <a:solidFill>
                  <a:prstClr val="white"/>
                </a:solidFill>
              </a:rPr>
              <a:t>case</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dirty="0" err="1">
                <a:solidFill>
                  <a:prstClr val="white"/>
                </a:solidFill>
              </a:rPr>
              <a:t>balance</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a:solidFill>
                  <a:prstClr val="white"/>
                </a:solidFill>
              </a:rPr>
              <a:t>Balance in </a:t>
            </a:r>
            <a:r>
              <a:rPr lang="de-DE" sz="2000" baseline="0" dirty="0" err="1">
                <a:solidFill>
                  <a:prstClr val="white"/>
                </a:solidFill>
              </a:rPr>
              <a:t>case</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w/d </a:t>
            </a:r>
            <a:r>
              <a:rPr lang="de-DE" sz="2000" baseline="0" dirty="0" err="1">
                <a:solidFill>
                  <a:prstClr val="white"/>
                </a:solidFill>
              </a:rPr>
              <a:t>conflict</a:t>
            </a:r>
            <a:r>
              <a:rPr lang="de-DE" sz="2000" baseline="0" dirty="0">
                <a:solidFill>
                  <a:prstClr val="white"/>
                </a:solidFill>
              </a:rPr>
              <a:t> </a:t>
            </a:r>
          </a:p>
          <a:p>
            <a:pPr marR="0" lvl="0" algn="l" defTabSz="914400" rtl="0" eaLnBrk="1" fontAlgn="auto" latinLnBrk="0" hangingPunct="1">
              <a:lnSpc>
                <a:spcPct val="90000"/>
              </a:lnSpc>
              <a:spcBef>
                <a:spcPct val="0"/>
              </a:spcBef>
              <a:spcAft>
                <a:spcPts val="0"/>
              </a:spcAft>
              <a:buClrTx/>
              <a:buSzTx/>
              <a:tabLst/>
              <a:defRPr/>
            </a:pPr>
            <a:endParaRPr lang="de-DE" sz="2000" baseline="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Acknowledgment</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i="1" dirty="0">
                <a:solidFill>
                  <a:prstClr val="white"/>
                </a:solidFill>
              </a:rPr>
              <a:t>large</a:t>
            </a:r>
            <a:r>
              <a:rPr lang="de-DE" sz="2000" dirty="0">
                <a:solidFill>
                  <a:prstClr val="white"/>
                </a:solidFill>
              </a:rPr>
              <a:t> </a:t>
            </a:r>
            <a:r>
              <a:rPr lang="de-DE" sz="2000" dirty="0" err="1">
                <a:solidFill>
                  <a:prstClr val="white"/>
                </a:solidFill>
              </a:rPr>
              <a:t>distances</a:t>
            </a:r>
            <a:r>
              <a:rPr lang="de-DE" sz="2000" dirty="0">
                <a:solidFill>
                  <a:prstClr val="white"/>
                </a:solidFill>
              </a:rPr>
              <a:t> </a:t>
            </a:r>
            <a:r>
              <a:rPr lang="de-DE" sz="2000" dirty="0" err="1">
                <a:solidFill>
                  <a:prstClr val="white"/>
                </a:solidFill>
              </a:rPr>
              <a:t>only</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Restriction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known</a:t>
            </a:r>
            <a:r>
              <a:rPr lang="de-DE" sz="2000" baseline="0" dirty="0">
                <a:solidFill>
                  <a:prstClr val="white"/>
                </a:solidFill>
              </a:rPr>
              <a:t> item </a:t>
            </a:r>
            <a:r>
              <a:rPr lang="de-DE" sz="2000" baseline="0" dirty="0" err="1">
                <a:solidFill>
                  <a:prstClr val="white"/>
                </a:solidFill>
              </a:rPr>
              <a:t>solution</a:t>
            </a:r>
            <a:r>
              <a:rPr lang="de-DE" sz="2000" dirty="0">
                <a:solidFill>
                  <a:prstClr val="white"/>
                </a:solidFill>
              </a:rPr>
              <a:t> </a:t>
            </a:r>
            <a:r>
              <a:rPr lang="de-DE" sz="2000" baseline="0" dirty="0" err="1">
                <a:solidFill>
                  <a:prstClr val="white"/>
                </a:solidFill>
              </a:rPr>
              <a:t>probabilities</a:t>
            </a:r>
            <a:r>
              <a:rPr lang="de-DE" sz="2000" dirty="0">
                <a:solidFill>
                  <a:prstClr val="white"/>
                </a:solidFill>
              </a:rPr>
              <a:t> </a:t>
            </a:r>
            <a:r>
              <a:rPr lang="de-DE" sz="2000" dirty="0" err="1">
                <a:solidFill>
                  <a:prstClr val="white"/>
                </a:solidFill>
              </a:rPr>
              <a:t>for</a:t>
            </a:r>
            <a:r>
              <a:rPr lang="de-DE" sz="2000" dirty="0">
                <a:solidFill>
                  <a:prstClr val="white"/>
                </a:solidFill>
              </a:rPr>
              <a:t> Siegler Rules I – IV</a:t>
            </a:r>
          </a:p>
        </p:txBody>
      </p:sp>
    </p:spTree>
    <p:extLst>
      <p:ext uri="{BB962C8B-B14F-4D97-AF65-F5344CB8AC3E}">
        <p14:creationId xmlns:p14="http://schemas.microsoft.com/office/powerpoint/2010/main" val="2165761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52560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Result</a:t>
            </a:r>
            <a:r>
              <a:rPr lang="de-DE" sz="2400" dirty="0">
                <a:solidFill>
                  <a:prstClr val="white"/>
                </a:solidFill>
                <a:latin typeface="Arial" panose="020B0604020202020204"/>
              </a:rPr>
              <a:t>: Integrative </a:t>
            </a:r>
            <a:r>
              <a:rPr lang="de-DE" sz="2400" dirty="0" err="1">
                <a:solidFill>
                  <a:prstClr val="white"/>
                </a:solidFill>
                <a:latin typeface="Arial" panose="020B0604020202020204"/>
              </a:rPr>
              <a:t>theoretical</a:t>
            </a:r>
            <a:r>
              <a:rPr lang="de-DE" sz="2400" dirty="0">
                <a:solidFill>
                  <a:prstClr val="white"/>
                </a:solidFill>
                <a:latin typeface="Arial" panose="020B0604020202020204"/>
              </a:rPr>
              <a:t> </a:t>
            </a:r>
            <a:r>
              <a:rPr lang="de-DE" sz="2400" i="1" dirty="0" err="1">
                <a:solidFill>
                  <a:prstClr val="white"/>
                </a:solidFill>
                <a:latin typeface="Arial" panose="020B0604020202020204"/>
              </a:rPr>
              <a:t>model</a:t>
            </a:r>
            <a:r>
              <a:rPr lang="de-DE" sz="2400" i="1" dirty="0">
                <a:solidFill>
                  <a:prstClr val="white"/>
                </a:solidFill>
                <a:latin typeface="Arial" panose="020B0604020202020204"/>
              </a:rPr>
              <a:t> </a:t>
            </a:r>
            <a:r>
              <a:rPr lang="de-DE" sz="2400" i="1" dirty="0" err="1">
                <a:solidFill>
                  <a:prstClr val="white"/>
                </a:solidFill>
                <a:latin typeface="Arial" panose="020B0604020202020204"/>
              </a:rPr>
              <a:t>of</a:t>
            </a:r>
            <a:r>
              <a:rPr lang="de-DE" sz="2400" i="1" dirty="0">
                <a:solidFill>
                  <a:prstClr val="white"/>
                </a:solidFill>
                <a:latin typeface="Arial" panose="020B0604020202020204"/>
              </a:rPr>
              <a:t> </a:t>
            </a:r>
            <a:r>
              <a:rPr lang="de-DE" sz="2400" i="1" dirty="0" err="1">
                <a:solidFill>
                  <a:prstClr val="white"/>
                </a:solidFill>
                <a:latin typeface="Arial" panose="020B0604020202020204"/>
              </a:rPr>
              <a:t>reasoning</a:t>
            </a:r>
            <a:r>
              <a:rPr lang="de-DE" sz="2400" i="1" dirty="0">
                <a:solidFill>
                  <a:prstClr val="white"/>
                </a:solidFill>
                <a:latin typeface="Arial" panose="020B0604020202020204"/>
              </a:rPr>
              <a:t> </a:t>
            </a:r>
            <a:r>
              <a:rPr lang="de-DE" sz="2400" i="1" dirty="0" err="1">
                <a:solidFill>
                  <a:prstClr val="white"/>
                </a:solidFill>
                <a:latin typeface="Arial" panose="020B0604020202020204"/>
              </a:rPr>
              <a:t>about</a:t>
            </a:r>
            <a:r>
              <a:rPr lang="de-DE" sz="2400" i="1" dirty="0">
                <a:solidFill>
                  <a:prstClr val="white"/>
                </a:solidFill>
                <a:latin typeface="Arial" panose="020B0604020202020204"/>
              </a:rPr>
              <a:t> </a:t>
            </a:r>
            <a:r>
              <a:rPr lang="de-DE" sz="2400" i="1" dirty="0" err="1">
                <a:solidFill>
                  <a:prstClr val="white"/>
                </a:solidFill>
                <a:latin typeface="Arial" panose="020B0604020202020204"/>
              </a:rPr>
              <a:t>the</a:t>
            </a:r>
            <a:r>
              <a:rPr lang="de-DE" sz="2400" i="1" dirty="0">
                <a:solidFill>
                  <a:prstClr val="white"/>
                </a:solidFill>
                <a:latin typeface="Arial" panose="020B0604020202020204"/>
              </a:rPr>
              <a:t> </a:t>
            </a:r>
            <a:r>
              <a:rPr lang="de-DE" sz="2400" i="1" dirty="0" err="1">
                <a:solidFill>
                  <a:prstClr val="white"/>
                </a:solidFill>
                <a:latin typeface="Arial" panose="020B0604020202020204"/>
              </a:rPr>
              <a:t>balance</a:t>
            </a:r>
            <a:r>
              <a:rPr lang="de-DE" sz="2400" i="1" dirty="0">
                <a:solidFill>
                  <a:prstClr val="white"/>
                </a:solidFill>
                <a:latin typeface="Arial" panose="020B0604020202020204"/>
              </a:rPr>
              <a:t> </a:t>
            </a:r>
            <a:r>
              <a:rPr lang="de-DE" sz="2400" i="1" dirty="0" err="1">
                <a:solidFill>
                  <a:prstClr val="white"/>
                </a:solidFill>
                <a:latin typeface="Arial" panose="020B0604020202020204"/>
              </a:rPr>
              <a:t>scale</a:t>
            </a:r>
            <a:r>
              <a:rPr lang="de-DE" sz="2400" i="1" dirty="0">
                <a:solidFill>
                  <a:prstClr val="white"/>
                </a:solidFill>
                <a:latin typeface="Arial" panose="020B0604020202020204"/>
              </a:rPr>
              <a:t> </a:t>
            </a:r>
            <a:r>
              <a:rPr lang="de-DE" sz="2400" i="1" dirty="0" err="1">
                <a:solidFill>
                  <a:prstClr val="white"/>
                </a:solidFill>
                <a:latin typeface="Arial" panose="020B0604020202020204"/>
              </a:rPr>
              <a:t>task</a:t>
            </a:r>
            <a:endParaRPr kumimoji="0" lang="de-DE" sz="2400" b="0" i="1"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381891" y="5501185"/>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b="1" dirty="0" err="1">
                <a:solidFill>
                  <a:prstClr val="white"/>
                </a:solidFill>
              </a:rPr>
              <a:t>Results</a:t>
            </a:r>
            <a:endParaRPr lang="de-DE" sz="2000" b="1"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i="1" dirty="0">
                <a:solidFill>
                  <a:prstClr val="white"/>
                </a:solidFill>
              </a:rPr>
              <a:t>N</a:t>
            </a:r>
            <a:r>
              <a:rPr lang="de-DE" sz="2000" dirty="0">
                <a:solidFill>
                  <a:prstClr val="white"/>
                </a:solidFill>
              </a:rPr>
              <a:t> = 484 7th- and 8th-graders:</a:t>
            </a: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Rules I and II </a:t>
            </a:r>
            <a:r>
              <a:rPr lang="de-DE" sz="2000" dirty="0" err="1">
                <a:solidFill>
                  <a:prstClr val="white"/>
                </a:solidFill>
              </a:rPr>
              <a:t>very</a:t>
            </a:r>
            <a:r>
              <a:rPr lang="de-DE" sz="2000" dirty="0">
                <a:solidFill>
                  <a:prstClr val="white"/>
                </a:solidFill>
              </a:rPr>
              <a:t> </a:t>
            </a:r>
            <a:r>
              <a:rPr lang="de-DE" sz="2000" dirty="0" err="1">
                <a:solidFill>
                  <a:prstClr val="white"/>
                </a:solidFill>
              </a:rPr>
              <a:t>consistent</a:t>
            </a:r>
            <a:r>
              <a:rPr lang="de-DE" sz="2000" dirty="0">
                <a:solidFill>
                  <a:prstClr val="white"/>
                </a:solidFill>
              </a:rPr>
              <a:t>, </a:t>
            </a:r>
            <a:r>
              <a:rPr lang="de-DE" sz="2000" dirty="0" err="1">
                <a:solidFill>
                  <a:prstClr val="white"/>
                </a:solidFill>
              </a:rPr>
              <a:t>rules</a:t>
            </a:r>
            <a:r>
              <a:rPr lang="de-DE" sz="2000" dirty="0">
                <a:solidFill>
                  <a:prstClr val="white"/>
                </a:solidFill>
              </a:rPr>
              <a:t> </a:t>
            </a:r>
            <a:r>
              <a:rPr lang="de-DE" sz="2000" dirty="0" err="1">
                <a:solidFill>
                  <a:prstClr val="white"/>
                </a:solidFill>
              </a:rPr>
              <a:t>above</a:t>
            </a:r>
            <a:r>
              <a:rPr lang="de-DE" sz="2000" dirty="0">
                <a:solidFill>
                  <a:prstClr val="white"/>
                </a:solidFill>
              </a:rPr>
              <a:t> </a:t>
            </a:r>
            <a:r>
              <a:rPr lang="de-DE" sz="2000" dirty="0" err="1">
                <a:solidFill>
                  <a:prstClr val="white"/>
                </a:solidFill>
              </a:rPr>
              <a:t>partially</a:t>
            </a:r>
            <a:endParaRPr lang="de-DE" sz="20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000" baseline="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Further </a:t>
            </a:r>
            <a:r>
              <a:rPr lang="de-DE" sz="2000" dirty="0" err="1">
                <a:solidFill>
                  <a:prstClr val="white"/>
                </a:solidFill>
              </a:rPr>
              <a:t>applications</a:t>
            </a:r>
            <a:r>
              <a:rPr lang="de-DE" sz="2000" dirty="0">
                <a:solidFill>
                  <a:prstClr val="white"/>
                </a:solidFill>
              </a:rPr>
              <a:t>:</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Rejection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connectonist</a:t>
            </a:r>
            <a:r>
              <a:rPr lang="de-DE" sz="2000" baseline="0" dirty="0">
                <a:solidFill>
                  <a:prstClr val="white"/>
                </a:solidFill>
              </a:rPr>
              <a:t> </a:t>
            </a:r>
            <a:r>
              <a:rPr lang="de-DE" sz="2000" baseline="0" dirty="0" err="1">
                <a:solidFill>
                  <a:prstClr val="white"/>
                </a:solidFill>
              </a:rPr>
              <a:t>models</a:t>
            </a:r>
            <a:r>
              <a:rPr lang="de-DE" sz="2000" baseline="0" dirty="0">
                <a:solidFill>
                  <a:prstClr val="white"/>
                </a:solidFill>
              </a:rPr>
              <a:t> </a:t>
            </a:r>
            <a:r>
              <a:rPr lang="de-DE" sz="2000" baseline="0" dirty="0" err="1">
                <a:solidFill>
                  <a:prstClr val="white"/>
                </a:solidFill>
              </a:rPr>
              <a:t>as</a:t>
            </a:r>
            <a:r>
              <a:rPr lang="de-DE" sz="2000" dirty="0">
                <a:solidFill>
                  <a:prstClr val="white"/>
                </a:solidFill>
              </a:rPr>
              <a:t> </a:t>
            </a:r>
            <a:r>
              <a:rPr lang="de-DE" sz="2000" dirty="0" err="1">
                <a:solidFill>
                  <a:prstClr val="white"/>
                </a:solidFill>
              </a:rPr>
              <a:t>rule-behaving</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Modeling </a:t>
            </a:r>
            <a:r>
              <a:rPr lang="de-DE" sz="2000" dirty="0" err="1">
                <a:solidFill>
                  <a:prstClr val="white"/>
                </a:solidFill>
              </a:rPr>
              <a:t>of</a:t>
            </a:r>
            <a:r>
              <a:rPr lang="de-DE" sz="2000" dirty="0">
                <a:solidFill>
                  <a:prstClr val="white"/>
                </a:solidFill>
              </a:rPr>
              <a:t> </a:t>
            </a:r>
            <a:r>
              <a:rPr lang="de-DE" sz="2000" dirty="0" err="1">
                <a:solidFill>
                  <a:prstClr val="white"/>
                </a:solidFill>
              </a:rPr>
              <a:t>rules</a:t>
            </a:r>
            <a:r>
              <a:rPr lang="de-DE" sz="2000" dirty="0">
                <a:solidFill>
                  <a:prstClr val="white"/>
                </a:solidFill>
              </a:rPr>
              <a:t> in </a:t>
            </a:r>
            <a:r>
              <a:rPr lang="de-DE" sz="2000" dirty="0" err="1">
                <a:solidFill>
                  <a:prstClr val="white"/>
                </a:solidFill>
              </a:rPr>
              <a:t>transition</a:t>
            </a:r>
            <a:r>
              <a:rPr lang="de-DE" sz="2000" dirty="0">
                <a:solidFill>
                  <a:prstClr val="white"/>
                </a:solidFill>
              </a:rPr>
              <a:t> </a:t>
            </a:r>
            <a:r>
              <a:rPr lang="de-DE" sz="2000" dirty="0" err="1">
                <a:solidFill>
                  <a:prstClr val="white"/>
                </a:solidFill>
              </a:rPr>
              <a:t>phases</a:t>
            </a:r>
            <a:r>
              <a:rPr lang="de-DE" sz="2000" dirty="0">
                <a:solidFill>
                  <a:prstClr val="white"/>
                </a:solidFill>
              </a:rPr>
              <a:t>, </a:t>
            </a:r>
            <a:r>
              <a:rPr lang="de-DE" sz="2000" dirty="0" err="1">
                <a:solidFill>
                  <a:prstClr val="white"/>
                </a:solidFill>
              </a:rPr>
              <a:t>differences</a:t>
            </a:r>
            <a:r>
              <a:rPr lang="de-DE" sz="2000" dirty="0">
                <a:solidFill>
                  <a:prstClr val="white"/>
                </a:solidFill>
              </a:rPr>
              <a:t> </a:t>
            </a:r>
            <a:r>
              <a:rPr lang="de-DE" sz="2000" dirty="0" err="1">
                <a:solidFill>
                  <a:prstClr val="white"/>
                </a:solidFill>
              </a:rPr>
              <a:t>across</a:t>
            </a:r>
            <a:r>
              <a:rPr lang="de-DE" sz="2000" dirty="0">
                <a:solidFill>
                  <a:prstClr val="white"/>
                </a:solidFill>
              </a:rPr>
              <a:t> </a:t>
            </a:r>
            <a:r>
              <a:rPr lang="de-DE" sz="2000" dirty="0" err="1">
                <a:solidFill>
                  <a:prstClr val="white"/>
                </a:solidFill>
              </a:rPr>
              <a:t>age</a:t>
            </a:r>
            <a:r>
              <a:rPr lang="de-DE" sz="2000" dirty="0">
                <a:solidFill>
                  <a:prstClr val="white"/>
                </a:solidFill>
              </a:rPr>
              <a:t> and </a:t>
            </a:r>
            <a:r>
              <a:rPr lang="de-DE" sz="2000" dirty="0" err="1">
                <a:solidFill>
                  <a:prstClr val="white"/>
                </a:solidFill>
              </a:rPr>
              <a:t>development</a:t>
            </a:r>
            <a:endParaRPr lang="de-DE" sz="2000" dirty="0">
              <a:solidFill>
                <a:prstClr val="white"/>
              </a:solidFill>
            </a:endParaRPr>
          </a:p>
        </p:txBody>
      </p:sp>
      <p:pic>
        <p:nvPicPr>
          <p:cNvPr id="6" name="Grafik 5">
            <a:extLst>
              <a:ext uri="{FF2B5EF4-FFF2-40B4-BE49-F238E27FC236}">
                <a16:creationId xmlns:a16="http://schemas.microsoft.com/office/drawing/2014/main" id="{84010817-DA60-42E8-9E7A-A25DC2F1DA96}"/>
              </a:ext>
            </a:extLst>
          </p:cNvPr>
          <p:cNvPicPr>
            <a:picLocks noChangeAspect="1"/>
          </p:cNvPicPr>
          <p:nvPr/>
        </p:nvPicPr>
        <p:blipFill>
          <a:blip r:embed="rId5"/>
          <a:stretch>
            <a:fillRect/>
          </a:stretch>
        </p:blipFill>
        <p:spPr>
          <a:xfrm>
            <a:off x="1487307" y="2107358"/>
            <a:ext cx="2867165" cy="4163933"/>
          </a:xfrm>
          <a:prstGeom prst="rect">
            <a:avLst/>
          </a:prstGeom>
        </p:spPr>
      </p:pic>
      <p:cxnSp>
        <p:nvCxnSpPr>
          <p:cNvPr id="8" name="Gerade Verbindung mit Pfeil 7">
            <a:extLst>
              <a:ext uri="{FF2B5EF4-FFF2-40B4-BE49-F238E27FC236}">
                <a16:creationId xmlns:a16="http://schemas.microsoft.com/office/drawing/2014/main" id="{13D77AD4-744D-4FA8-9209-C7449CDFC9B0}"/>
              </a:ext>
            </a:extLst>
          </p:cNvPr>
          <p:cNvCxnSpPr>
            <a:cxnSpLocks/>
            <a:stCxn id="31" idx="1"/>
          </p:cNvCxnSpPr>
          <p:nvPr/>
        </p:nvCxnSpPr>
        <p:spPr>
          <a:xfrm flipH="1" flipV="1">
            <a:off x="4543425" y="3638557"/>
            <a:ext cx="168800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638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57059" y="185292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948251"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338935" y="23550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accent5">
                    <a:lumMod val="75000"/>
                  </a:schemeClr>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36428" y="778005"/>
            <a:ext cx="11948251"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373066" y="1042691"/>
            <a:ext cx="3726281" cy="8758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(1985/1989)</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40442" y="421879"/>
            <a:ext cx="4455248" cy="105642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35" name="Picture 2" descr="Kikumi Tatsuoka: The Rule-Space Model for Educational Measur... | Teachers  College, Columbia University">
            <a:extLst>
              <a:ext uri="{FF2B5EF4-FFF2-40B4-BE49-F238E27FC236}">
                <a16:creationId xmlns:a16="http://schemas.microsoft.com/office/drawing/2014/main" id="{83EFF8A7-3128-412B-9B9D-5D0625848E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3910" y="1012875"/>
            <a:ext cx="743697" cy="91474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Mark Wilson">
            <a:extLst>
              <a:ext uri="{FF2B5EF4-FFF2-40B4-BE49-F238E27FC236}">
                <a16:creationId xmlns:a16="http://schemas.microsoft.com/office/drawing/2014/main" id="{39373FA3-B750-493E-B2E1-123BE22F87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05889" y="1009624"/>
            <a:ext cx="964738" cy="803948"/>
          </a:xfrm>
          <a:prstGeom prst="rect">
            <a:avLst/>
          </a:prstGeom>
          <a:noFill/>
          <a:extLst>
            <a:ext uri="{909E8E84-426E-40DD-AFC4-6F175D3DCCD1}">
              <a14:hiddenFill xmlns:a14="http://schemas.microsoft.com/office/drawing/2010/main">
                <a:solidFill>
                  <a:srgbClr val="FFFFFF"/>
                </a:solidFill>
              </a14:hiddenFill>
            </a:ext>
          </a:extLst>
        </p:spPr>
      </p:pic>
      <p:sp>
        <p:nvSpPr>
          <p:cNvPr id="40" name="Titel 1">
            <a:extLst>
              <a:ext uri="{FF2B5EF4-FFF2-40B4-BE49-F238E27FC236}">
                <a16:creationId xmlns:a16="http://schemas.microsoft.com/office/drawing/2014/main" id="{5FDF3812-B409-481F-AA91-4D25FCAFE2E9}"/>
              </a:ext>
            </a:extLst>
          </p:cNvPr>
          <p:cNvSpPr txBox="1">
            <a:spLocks/>
          </p:cNvSpPr>
          <p:nvPr/>
        </p:nvSpPr>
        <p:spPr>
          <a:xfrm>
            <a:off x="621268" y="3248371"/>
            <a:ext cx="11197666" cy="3290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rPr>
              <a:t>Modeling </a:t>
            </a:r>
            <a:r>
              <a:rPr kumimoji="0" lang="de-DE" sz="2400" b="0" i="0" u="none" strike="noStrike" kern="1200" cap="none" spc="0" normalizeH="0" baseline="0" noProof="0" dirty="0" err="1">
                <a:ln>
                  <a:noFill/>
                </a:ln>
                <a:solidFill>
                  <a:prstClr val="white"/>
                </a:solidFill>
                <a:effectLst/>
                <a:uLnTx/>
                <a:uFillTx/>
              </a:rPr>
              <a:t>theoretical</a:t>
            </a:r>
            <a:r>
              <a:rPr kumimoji="0" lang="de-DE" sz="2400" b="0" i="0" u="none" strike="noStrike" kern="1200" cap="none" spc="0" normalizeH="0" baseline="0" noProof="0" dirty="0">
                <a:ln>
                  <a:noFill/>
                </a:ln>
                <a:solidFill>
                  <a:prstClr val="white"/>
                </a:solidFill>
                <a:effectLst/>
                <a:uLnTx/>
                <a:uFillTx/>
              </a:rPr>
              <a:t> </a:t>
            </a:r>
            <a:r>
              <a:rPr kumimoji="0" lang="de-DE" sz="2400" b="0" i="0" u="none" strike="noStrike" kern="1200" cap="none" spc="0" normalizeH="0" baseline="0" noProof="0" dirty="0" err="1">
                <a:ln>
                  <a:noFill/>
                </a:ln>
                <a:solidFill>
                  <a:prstClr val="white"/>
                </a:solidFill>
                <a:effectLst/>
                <a:uLnTx/>
                <a:uFillTx/>
              </a:rPr>
              <a:t>assumptions</a:t>
            </a:r>
            <a:r>
              <a:rPr kumimoji="0" lang="de-DE" sz="2400" b="0" i="0" u="none" strike="noStrike" kern="1200" cap="none" spc="0" normalizeH="0" baseline="0" noProof="0" dirty="0">
                <a:ln>
                  <a:noFill/>
                </a:ln>
                <a:solidFill>
                  <a:prstClr val="white"/>
                </a:solidFill>
                <a:effectLst/>
                <a:uLnTx/>
                <a:uFillTx/>
              </a:rPr>
              <a:t> </a:t>
            </a:r>
            <a:r>
              <a:rPr kumimoji="0" lang="de-DE" sz="2400" b="0" i="0" u="none" strike="noStrike" kern="1200" cap="none" spc="0" normalizeH="0" baseline="0" noProof="0" dirty="0" err="1">
                <a:ln>
                  <a:noFill/>
                </a:ln>
                <a:solidFill>
                  <a:prstClr val="white"/>
                </a:solidFill>
                <a:effectLst/>
                <a:uLnTx/>
                <a:uFillTx/>
              </a:rPr>
              <a:t>allowed</a:t>
            </a:r>
            <a:r>
              <a:rPr kumimoji="0" lang="de-DE" sz="2400" b="0" i="0" u="none" strike="noStrike" kern="1200" cap="none" spc="0" normalizeH="0" baseline="0" noProof="0" dirty="0">
                <a:ln>
                  <a:noFill/>
                </a:ln>
                <a:solidFill>
                  <a:prstClr val="white"/>
                </a:solidFill>
                <a:effectLst/>
                <a:uLnTx/>
                <a:uFillTx/>
              </a:rPr>
              <a: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err="1">
                <a:solidFill>
                  <a:prstClr val="white"/>
                </a:solidFill>
              </a:rPr>
              <a:t>Determining</a:t>
            </a:r>
            <a:r>
              <a:rPr lang="de-DE" sz="2400" dirty="0">
                <a:solidFill>
                  <a:prstClr val="white"/>
                </a:solidFill>
              </a:rPr>
              <a:t> </a:t>
            </a:r>
            <a:r>
              <a:rPr lang="de-DE" sz="2400" b="1" dirty="0" err="1">
                <a:solidFill>
                  <a:prstClr val="white"/>
                </a:solidFill>
              </a:rPr>
              <a:t>probabilistic</a:t>
            </a:r>
            <a:r>
              <a:rPr lang="de-DE" sz="2400" dirty="0">
                <a:solidFill>
                  <a:prstClr val="white"/>
                </a:solidFill>
              </a:rPr>
              <a:t> </a:t>
            </a:r>
            <a:r>
              <a:rPr lang="de-DE" sz="2400" dirty="0" err="1">
                <a:solidFill>
                  <a:prstClr val="white"/>
                </a:solidFill>
              </a:rPr>
              <a:t>misconception</a:t>
            </a:r>
            <a:r>
              <a:rPr lang="de-DE" sz="2400" dirty="0">
                <a:solidFill>
                  <a:prstClr val="white"/>
                </a:solidFill>
              </a:rPr>
              <a:t>/</a:t>
            </a:r>
            <a:r>
              <a:rPr lang="de-DE" sz="2400" dirty="0" err="1">
                <a:solidFill>
                  <a:prstClr val="white"/>
                </a:solidFill>
              </a:rPr>
              <a:t>rule</a:t>
            </a:r>
            <a:r>
              <a:rPr lang="de-DE" sz="2400" dirty="0">
                <a:solidFill>
                  <a:prstClr val="white"/>
                </a:solidFill>
              </a:rPr>
              <a:t> </a:t>
            </a:r>
            <a:r>
              <a:rPr lang="de-DE" sz="2400" dirty="0" err="1">
                <a:solidFill>
                  <a:prstClr val="white"/>
                </a:solidFill>
              </a:rPr>
              <a:t>use</a:t>
            </a:r>
            <a:r>
              <a:rPr lang="de-DE" sz="2400" dirty="0">
                <a:solidFill>
                  <a:prstClr val="white"/>
                </a:solidFill>
              </a:rPr>
              <a:t> </a:t>
            </a:r>
            <a:r>
              <a:rPr lang="de-DE" sz="2400" dirty="0" err="1">
                <a:solidFill>
                  <a:prstClr val="white"/>
                </a:solidFill>
              </a:rPr>
              <a:t>for</a:t>
            </a:r>
            <a:r>
              <a:rPr lang="de-DE" sz="2400" dirty="0">
                <a:solidFill>
                  <a:prstClr val="white"/>
                </a:solidFill>
              </a:rPr>
              <a:t> </a:t>
            </a:r>
            <a:r>
              <a:rPr lang="de-DE" sz="2400" dirty="0" err="1">
                <a:solidFill>
                  <a:prstClr val="white"/>
                </a:solidFill>
              </a:rPr>
              <a:t>each</a:t>
            </a:r>
            <a:r>
              <a:rPr lang="de-DE" sz="2400" dirty="0">
                <a:solidFill>
                  <a:prstClr val="white"/>
                </a:solidFill>
              </a:rPr>
              <a:t> </a:t>
            </a:r>
            <a:r>
              <a:rPr lang="de-DE" sz="2400" dirty="0" err="1">
                <a:solidFill>
                  <a:prstClr val="white"/>
                </a:solidFill>
              </a:rPr>
              <a:t>child</a:t>
            </a:r>
            <a:endParaRPr lang="de-DE" sz="2400" dirty="0">
              <a:solidFill>
                <a:prstClr val="white"/>
              </a:solidFill>
            </a:endParaRPr>
          </a:p>
          <a:p>
            <a:pPr marR="0" lvl="0" algn="l" defTabSz="914400" rtl="0" eaLnBrk="1" fontAlgn="auto" latinLnBrk="0" hangingPunct="1">
              <a:lnSpc>
                <a:spcPct val="90000"/>
              </a:lnSpc>
              <a:spcBef>
                <a:spcPct val="0"/>
              </a:spcBef>
              <a:spcAft>
                <a:spcPts val="0"/>
              </a:spcAft>
              <a:buClrTx/>
              <a:buSzTx/>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baseline="0" dirty="0" err="1">
                <a:solidFill>
                  <a:prstClr val="white"/>
                </a:solidFill>
              </a:rPr>
              <a:t>Estimating</a:t>
            </a:r>
            <a:r>
              <a:rPr lang="de-DE" sz="2400" baseline="0" dirty="0">
                <a:solidFill>
                  <a:prstClr val="white"/>
                </a:solidFill>
              </a:rPr>
              <a:t> and </a:t>
            </a:r>
            <a:r>
              <a:rPr lang="de-DE" sz="2400" baseline="0" dirty="0" err="1">
                <a:solidFill>
                  <a:prstClr val="white"/>
                </a:solidFill>
              </a:rPr>
              <a:t>comparing</a:t>
            </a:r>
            <a:r>
              <a:rPr lang="de-DE" sz="2400" baseline="0" dirty="0">
                <a:solidFill>
                  <a:prstClr val="white"/>
                </a:solidFill>
              </a:rPr>
              <a:t> </a:t>
            </a:r>
            <a:r>
              <a:rPr lang="de-DE" sz="2400" baseline="0" dirty="0" err="1">
                <a:solidFill>
                  <a:prstClr val="white"/>
                </a:solidFill>
              </a:rPr>
              <a:t>proportions</a:t>
            </a:r>
            <a:r>
              <a:rPr lang="de-DE" sz="2400" dirty="0">
                <a:solidFill>
                  <a:prstClr val="white"/>
                </a:solidFill>
              </a:rPr>
              <a:t> </a:t>
            </a:r>
            <a:r>
              <a:rPr lang="de-DE" sz="2400" dirty="0" err="1">
                <a:solidFill>
                  <a:prstClr val="white"/>
                </a:solidFill>
              </a:rPr>
              <a:t>of</a:t>
            </a:r>
            <a:r>
              <a:rPr lang="de-DE" sz="2400" dirty="0">
                <a:solidFill>
                  <a:prstClr val="white"/>
                </a:solidFill>
              </a:rPr>
              <a:t> </a:t>
            </a:r>
            <a:r>
              <a:rPr lang="de-DE" sz="2400" dirty="0" err="1">
                <a:solidFill>
                  <a:prstClr val="white"/>
                </a:solidFill>
              </a:rPr>
              <a:t>children</a:t>
            </a:r>
            <a:r>
              <a:rPr lang="de-DE" sz="2400" dirty="0">
                <a:solidFill>
                  <a:prstClr val="white"/>
                </a:solidFill>
              </a:rPr>
              <a:t> </a:t>
            </a:r>
            <a:r>
              <a:rPr lang="de-DE" sz="2400" dirty="0" err="1">
                <a:solidFill>
                  <a:prstClr val="white"/>
                </a:solidFill>
              </a:rPr>
              <a:t>showing</a:t>
            </a:r>
            <a:r>
              <a:rPr lang="de-DE" sz="2400" dirty="0">
                <a:solidFill>
                  <a:prstClr val="white"/>
                </a:solidFill>
              </a:rPr>
              <a:t> </a:t>
            </a:r>
            <a:r>
              <a:rPr lang="de-DE" sz="2400" dirty="0" err="1">
                <a:solidFill>
                  <a:prstClr val="white"/>
                </a:solidFill>
              </a:rPr>
              <a:t>each</a:t>
            </a:r>
            <a:r>
              <a:rPr lang="de-DE" sz="2400" dirty="0">
                <a:solidFill>
                  <a:prstClr val="white"/>
                </a:solidFill>
              </a:rPr>
              <a:t> </a:t>
            </a:r>
            <a:r>
              <a:rPr lang="de-DE" sz="2400" dirty="0" err="1">
                <a:solidFill>
                  <a:prstClr val="white"/>
                </a:solidFill>
              </a:rPr>
              <a:t>misconception</a:t>
            </a:r>
            <a:r>
              <a:rPr lang="de-DE" sz="2400" dirty="0">
                <a:solidFill>
                  <a:prstClr val="white"/>
                </a:solidFill>
              </a:rPr>
              <a:t>/</a:t>
            </a:r>
            <a:r>
              <a:rPr lang="de-DE" sz="2400" dirty="0" err="1">
                <a:solidFill>
                  <a:prstClr val="white"/>
                </a:solidFill>
              </a:rPr>
              <a:t>rule</a:t>
            </a: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err="1">
                <a:solidFill>
                  <a:prstClr val="white"/>
                </a:solidFill>
              </a:rPr>
              <a:t>Estimating</a:t>
            </a:r>
            <a:r>
              <a:rPr lang="de-DE" sz="2400" dirty="0">
                <a:solidFill>
                  <a:prstClr val="white"/>
                </a:solidFill>
              </a:rPr>
              <a:t> </a:t>
            </a:r>
            <a:r>
              <a:rPr lang="de-DE" sz="2400" dirty="0" err="1">
                <a:solidFill>
                  <a:prstClr val="white"/>
                </a:solidFill>
              </a:rPr>
              <a:t>effects</a:t>
            </a:r>
            <a:r>
              <a:rPr lang="de-DE" sz="2400" dirty="0">
                <a:solidFill>
                  <a:prstClr val="white"/>
                </a:solidFill>
              </a:rPr>
              <a:t> </a:t>
            </a:r>
            <a:r>
              <a:rPr lang="de-DE" sz="2400" dirty="0" err="1">
                <a:solidFill>
                  <a:prstClr val="white"/>
                </a:solidFill>
              </a:rPr>
              <a:t>of</a:t>
            </a:r>
            <a:r>
              <a:rPr lang="de-DE" sz="2400" dirty="0">
                <a:solidFill>
                  <a:prstClr val="white"/>
                </a:solidFill>
              </a:rPr>
              <a:t> </a:t>
            </a:r>
            <a:r>
              <a:rPr lang="de-DE" sz="2400" dirty="0" err="1">
                <a:solidFill>
                  <a:prstClr val="white"/>
                </a:solidFill>
              </a:rPr>
              <a:t>practice</a:t>
            </a:r>
            <a:r>
              <a:rPr lang="de-DE" sz="2400" dirty="0">
                <a:solidFill>
                  <a:prstClr val="white"/>
                </a:solidFill>
              </a:rPr>
              <a:t>/</a:t>
            </a:r>
            <a:r>
              <a:rPr lang="de-DE" sz="2400" dirty="0" err="1">
                <a:solidFill>
                  <a:prstClr val="white"/>
                </a:solidFill>
              </a:rPr>
              <a:t>interventions</a:t>
            </a:r>
            <a:r>
              <a:rPr lang="de-DE" sz="2400" dirty="0">
                <a:solidFill>
                  <a:prstClr val="white"/>
                </a:solidFill>
              </a:rPr>
              <a:t> on </a:t>
            </a:r>
            <a:r>
              <a:rPr lang="de-DE" sz="2400" dirty="0" err="1">
                <a:solidFill>
                  <a:prstClr val="white"/>
                </a:solidFill>
              </a:rPr>
              <a:t>misconceptions</a:t>
            </a:r>
            <a:r>
              <a:rPr lang="de-DE" sz="2400" dirty="0">
                <a:solidFill>
                  <a:prstClr val="white"/>
                </a:solidFill>
              </a:rPr>
              <a:t>/</a:t>
            </a:r>
            <a:r>
              <a:rPr lang="de-DE" sz="2400" dirty="0" err="1">
                <a:solidFill>
                  <a:prstClr val="white"/>
                </a:solidFill>
              </a:rPr>
              <a:t>rule</a:t>
            </a:r>
            <a:r>
              <a:rPr lang="de-DE" sz="2400" dirty="0">
                <a:solidFill>
                  <a:prstClr val="white"/>
                </a:solidFill>
              </a:rPr>
              <a:t> </a:t>
            </a:r>
            <a:r>
              <a:rPr lang="de-DE" sz="2400" dirty="0" err="1">
                <a:solidFill>
                  <a:prstClr val="white"/>
                </a:solidFill>
              </a:rPr>
              <a:t>use</a:t>
            </a: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dirty="0">
                <a:solidFill>
                  <a:prstClr val="white"/>
                </a:solidFill>
              </a:rPr>
              <a:t>Adaptive </a:t>
            </a:r>
            <a:r>
              <a:rPr lang="de-DE" sz="2400" dirty="0" err="1">
                <a:solidFill>
                  <a:prstClr val="white"/>
                </a:solidFill>
              </a:rPr>
              <a:t>instruction</a:t>
            </a:r>
            <a:r>
              <a:rPr lang="de-DE" sz="2400" dirty="0">
                <a:solidFill>
                  <a:prstClr val="white"/>
                </a:solidFill>
              </a:rPr>
              <a:t> (cf. Intelligent </a:t>
            </a:r>
            <a:r>
              <a:rPr lang="de-DE" sz="2400" dirty="0" err="1">
                <a:solidFill>
                  <a:prstClr val="white"/>
                </a:solidFill>
              </a:rPr>
              <a:t>tutoring</a:t>
            </a:r>
            <a:r>
              <a:rPr lang="de-DE" sz="2400" dirty="0">
                <a:solidFill>
                  <a:prstClr val="white"/>
                </a:solidFill>
              </a:rPr>
              <a:t> </a:t>
            </a:r>
            <a:r>
              <a:rPr lang="de-DE" sz="2400" dirty="0" err="1">
                <a:solidFill>
                  <a:prstClr val="white"/>
                </a:solidFill>
              </a:rPr>
              <a:t>systems</a:t>
            </a:r>
            <a:r>
              <a:rPr lang="de-DE" sz="2400" dirty="0">
                <a:solidFill>
                  <a:prstClr val="white"/>
                </a:solidFill>
              </a:rPr>
              <a:t>)</a:t>
            </a:r>
          </a:p>
          <a:p>
            <a:pPr marR="0" lvl="0" algn="l" defTabSz="914400" rtl="0" eaLnBrk="1" fontAlgn="auto" latinLnBrk="0" hangingPunct="1">
              <a:lnSpc>
                <a:spcPct val="90000"/>
              </a:lnSpc>
              <a:spcBef>
                <a:spcPct val="0"/>
              </a:spcBef>
              <a:spcAft>
                <a:spcPts val="0"/>
              </a:spcAft>
              <a:buClrTx/>
              <a:buSzTx/>
              <a:tabLst/>
              <a:defRPr/>
            </a:pPr>
            <a:endParaRPr lang="de-DE" sz="24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2400" baseline="0" dirty="0" err="1">
                <a:solidFill>
                  <a:prstClr val="white"/>
                </a:solidFill>
              </a:rPr>
              <a:t>Comparing</a:t>
            </a:r>
            <a:r>
              <a:rPr lang="de-DE" sz="2400" baseline="0" dirty="0">
                <a:solidFill>
                  <a:prstClr val="white"/>
                </a:solidFill>
              </a:rPr>
              <a:t> </a:t>
            </a:r>
            <a:r>
              <a:rPr lang="de-DE" sz="2400" baseline="0" dirty="0" err="1">
                <a:solidFill>
                  <a:prstClr val="white"/>
                </a:solidFill>
              </a:rPr>
              <a:t>theoretical</a:t>
            </a:r>
            <a:r>
              <a:rPr lang="de-DE" sz="2400" baseline="0" dirty="0">
                <a:solidFill>
                  <a:prstClr val="white"/>
                </a:solidFill>
              </a:rPr>
              <a:t> </a:t>
            </a:r>
            <a:r>
              <a:rPr lang="de-DE" sz="2400" baseline="0" dirty="0" err="1">
                <a:solidFill>
                  <a:prstClr val="white"/>
                </a:solidFill>
              </a:rPr>
              <a:t>predictions</a:t>
            </a:r>
            <a:r>
              <a:rPr lang="de-DE" sz="2400" baseline="0" dirty="0">
                <a:solidFill>
                  <a:prstClr val="white"/>
                </a:solidFill>
              </a:rPr>
              <a:t> </a:t>
            </a:r>
            <a:r>
              <a:rPr lang="de-DE" sz="2400" baseline="0" dirty="0" err="1">
                <a:solidFill>
                  <a:prstClr val="white"/>
                </a:solidFill>
              </a:rPr>
              <a:t>with</a:t>
            </a:r>
            <a:r>
              <a:rPr lang="de-DE" sz="2400" baseline="0" dirty="0">
                <a:solidFill>
                  <a:prstClr val="white"/>
                </a:solidFill>
              </a:rPr>
              <a:t> </a:t>
            </a:r>
            <a:r>
              <a:rPr lang="de-DE" sz="2400" baseline="0" dirty="0" err="1">
                <a:solidFill>
                  <a:prstClr val="white"/>
                </a:solidFill>
              </a:rPr>
              <a:t>empirical</a:t>
            </a:r>
            <a:r>
              <a:rPr lang="de-DE" sz="2400" baseline="0" dirty="0">
                <a:solidFill>
                  <a:prstClr val="white"/>
                </a:solidFill>
              </a:rPr>
              <a:t> </a:t>
            </a:r>
            <a:r>
              <a:rPr lang="de-DE" sz="2400" baseline="0" dirty="0" err="1">
                <a:solidFill>
                  <a:prstClr val="white"/>
                </a:solidFill>
              </a:rPr>
              <a:t>model</a:t>
            </a:r>
            <a:r>
              <a:rPr lang="de-DE" sz="2400" baseline="0" dirty="0">
                <a:solidFill>
                  <a:prstClr val="white"/>
                </a:solidFill>
              </a:rPr>
              <a:t> </a:t>
            </a:r>
            <a:r>
              <a:rPr lang="de-DE" sz="2400" baseline="0" dirty="0" err="1">
                <a:solidFill>
                  <a:prstClr val="white"/>
                </a:solidFill>
              </a:rPr>
              <a:t>estimates</a:t>
            </a:r>
            <a:r>
              <a:rPr lang="de-DE" sz="2400" baseline="0" dirty="0">
                <a:solidFill>
                  <a:prstClr val="white"/>
                </a:solidFill>
              </a:rPr>
              <a:t>; </a:t>
            </a:r>
            <a:r>
              <a:rPr lang="de-DE" sz="2400" baseline="0" dirty="0" err="1">
                <a:solidFill>
                  <a:prstClr val="white"/>
                </a:solidFill>
              </a:rPr>
              <a:t>theory</a:t>
            </a:r>
            <a:r>
              <a:rPr lang="de-DE" sz="2400" dirty="0">
                <a:solidFill>
                  <a:prstClr val="white"/>
                </a:solidFill>
              </a:rPr>
              <a:t> </a:t>
            </a:r>
            <a:r>
              <a:rPr lang="de-DE" sz="2400" dirty="0" err="1">
                <a:solidFill>
                  <a:prstClr val="white"/>
                </a:solidFill>
              </a:rPr>
              <a:t>development</a:t>
            </a:r>
            <a:endParaRPr lang="de-DE" sz="2400" baseline="0" dirty="0">
              <a:solidFill>
                <a:prstClr val="white"/>
              </a:solidFill>
            </a:endParaRPr>
          </a:p>
        </p:txBody>
      </p:sp>
      <p:sp>
        <p:nvSpPr>
          <p:cNvPr id="44" name="Titel 1">
            <a:extLst>
              <a:ext uri="{FF2B5EF4-FFF2-40B4-BE49-F238E27FC236}">
                <a16:creationId xmlns:a16="http://schemas.microsoft.com/office/drawing/2014/main" id="{75455E68-8C54-41DA-A056-AAF952C3DA43}"/>
              </a:ext>
            </a:extLst>
          </p:cNvPr>
          <p:cNvSpPr txBox="1">
            <a:spLocks/>
          </p:cNvSpPr>
          <p:nvPr/>
        </p:nvSpPr>
        <p:spPr>
          <a:xfrm>
            <a:off x="131393" y="1742987"/>
            <a:ext cx="5696697"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66231" y="1852923"/>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4003937" y="-394631"/>
            <a:ext cx="4035923" cy="126523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70s - 2000s</a:t>
            </a:r>
          </a:p>
        </p:txBody>
      </p:sp>
      <p:pic>
        <p:nvPicPr>
          <p:cNvPr id="6" name="Grafik 5">
            <a:extLst>
              <a:ext uri="{FF2B5EF4-FFF2-40B4-BE49-F238E27FC236}">
                <a16:creationId xmlns:a16="http://schemas.microsoft.com/office/drawing/2014/main" id="{EACFA539-9271-4417-8872-584F2518F072}"/>
              </a:ext>
            </a:extLst>
          </p:cNvPr>
          <p:cNvPicPr>
            <a:picLocks noChangeAspect="1"/>
          </p:cNvPicPr>
          <p:nvPr/>
        </p:nvPicPr>
        <p:blipFill>
          <a:blip r:embed="rId7"/>
          <a:stretch>
            <a:fillRect/>
          </a:stretch>
        </p:blipFill>
        <p:spPr>
          <a:xfrm>
            <a:off x="6925415" y="1409544"/>
            <a:ext cx="2419468" cy="1061845"/>
          </a:xfrm>
          <a:prstGeom prst="rect">
            <a:avLst/>
          </a:prstGeom>
        </p:spPr>
      </p:pic>
    </p:spTree>
    <p:extLst>
      <p:ext uri="{BB962C8B-B14F-4D97-AF65-F5344CB8AC3E}">
        <p14:creationId xmlns:p14="http://schemas.microsoft.com/office/powerpoint/2010/main" val="371330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7044" y="925065"/>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Vosniadou &amp; Brewer (1992)</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228131" y="4354142"/>
            <a:ext cx="5696698"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rPr>
              <a:t>- Children</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are</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typically</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classified</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according</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to</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answers</a:t>
            </a:r>
            <a:r>
              <a:rPr kumimoji="0" lang="de-DE" sz="1800" b="0" i="0" u="none" strike="noStrike" kern="1200" cap="none" spc="0" normalizeH="0" noProof="0" dirty="0">
                <a:ln>
                  <a:noFill/>
                </a:ln>
                <a:solidFill>
                  <a:prstClr val="white"/>
                </a:solidFill>
                <a:effectLst/>
                <a:uLnTx/>
                <a:uFillTx/>
              </a:rPr>
              <a:t> in </a:t>
            </a:r>
            <a:r>
              <a:rPr kumimoji="0" lang="de-DE" sz="1800" b="0" i="0" u="none" strike="noStrike" kern="1200" cap="none" spc="0" normalizeH="0" noProof="0" dirty="0" err="1">
                <a:ln>
                  <a:noFill/>
                </a:ln>
                <a:solidFill>
                  <a:prstClr val="white"/>
                </a:solidFill>
                <a:effectLst/>
                <a:uLnTx/>
                <a:uFillTx/>
              </a:rPr>
              <a:t>interviews</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drawing</a:t>
            </a:r>
            <a:r>
              <a:rPr lang="de-DE" sz="1800" noProof="0" dirty="0">
                <a:solidFill>
                  <a:prstClr val="white"/>
                </a:solidFill>
              </a:rPr>
              <a:t>, </a:t>
            </a:r>
            <a:r>
              <a:rPr lang="de-DE" sz="1800" noProof="0" dirty="0" err="1">
                <a:solidFill>
                  <a:prstClr val="white"/>
                </a:solidFill>
              </a:rPr>
              <a:t>or</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claying</a:t>
            </a:r>
            <a:r>
              <a:rPr kumimoji="0" lang="de-DE" sz="1800" b="0" i="0" u="none" strike="noStrike" kern="1200" cap="none" spc="0" normalizeH="0" noProof="0" dirty="0">
                <a:ln>
                  <a:noFill/>
                </a:ln>
                <a:solidFill>
                  <a:prstClr val="white"/>
                </a:solidFill>
                <a:effectLst/>
                <a:uLnTx/>
                <a:uFillTx/>
              </a:rPr>
              <a:t> </a:t>
            </a:r>
            <a:r>
              <a:rPr kumimoji="0" lang="de-DE" sz="1800" b="0" i="0" u="none" strike="noStrike" kern="1200" cap="none" spc="0" normalizeH="0" noProof="0" dirty="0" err="1">
                <a:ln>
                  <a:noFill/>
                </a:ln>
                <a:solidFill>
                  <a:prstClr val="white"/>
                </a:solidFill>
                <a:effectLst/>
                <a:uLnTx/>
                <a:uFillTx/>
              </a:rPr>
              <a:t>tasks</a:t>
            </a:r>
            <a:endParaRPr kumimoji="0" lang="de-DE" sz="1800" b="0" i="0" u="none" strike="noStrike" kern="1200" cap="none" spc="0" normalizeH="0" baseline="0" noProof="0" dirty="0">
              <a:ln>
                <a:noFill/>
              </a:ln>
              <a:solidFill>
                <a:prstClr val="white"/>
              </a:solidFill>
              <a:effectLst/>
              <a:uLnTx/>
              <a:uFillTx/>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Arbitrary</a:t>
            </a:r>
            <a:r>
              <a:rPr lang="de-DE" sz="1800" dirty="0">
                <a:solidFill>
                  <a:prstClr val="white"/>
                </a:solidFill>
              </a:rPr>
              <a:t> </a:t>
            </a:r>
            <a:r>
              <a:rPr lang="de-DE" sz="1800" dirty="0" err="1">
                <a:solidFill>
                  <a:prstClr val="white"/>
                </a:solidFill>
              </a:rPr>
              <a:t>calssification</a:t>
            </a:r>
            <a:r>
              <a:rPr lang="de-DE" sz="1800" dirty="0">
                <a:solidFill>
                  <a:prstClr val="white"/>
                </a:solidFill>
              </a:rPr>
              <a:t> </a:t>
            </a:r>
            <a:r>
              <a:rPr lang="de-DE" sz="1800" dirty="0" err="1">
                <a:solidFill>
                  <a:prstClr val="white"/>
                </a:solidFill>
              </a:rPr>
              <a:t>cut</a:t>
            </a:r>
            <a:r>
              <a:rPr lang="de-DE" sz="1800" dirty="0">
                <a:solidFill>
                  <a:prstClr val="white"/>
                </a:solidFill>
              </a:rPr>
              <a:t>-offs (e.g., &gt; 80% in </a:t>
            </a:r>
            <a:r>
              <a:rPr lang="de-DE" sz="1800" dirty="0" err="1">
                <a:solidFill>
                  <a:prstClr val="white"/>
                </a:solidFill>
              </a:rPr>
              <a:t>accordance</a:t>
            </a:r>
            <a:r>
              <a:rPr lang="de-DE" sz="1800" dirty="0">
                <a:solidFill>
                  <a:prstClr val="white"/>
                </a:solidFill>
              </a:rPr>
              <a:t> </a:t>
            </a:r>
            <a:r>
              <a:rPr lang="de-DE" sz="1800" dirty="0" err="1">
                <a:solidFill>
                  <a:prstClr val="white"/>
                </a:solidFill>
              </a:rPr>
              <a:t>with</a:t>
            </a:r>
            <a:r>
              <a:rPr lang="de-DE" sz="1800" dirty="0">
                <a:solidFill>
                  <a:prstClr val="white"/>
                </a:solidFill>
              </a:rPr>
              <a:t> </a:t>
            </a:r>
            <a:r>
              <a:rPr lang="de-DE" sz="1800" dirty="0" err="1">
                <a:solidFill>
                  <a:prstClr val="white"/>
                </a:solidFill>
              </a:rPr>
              <a:t>one</a:t>
            </a:r>
            <a:r>
              <a:rPr lang="de-DE" sz="1800" dirty="0">
                <a:solidFill>
                  <a:prstClr val="white"/>
                </a:solidFill>
              </a:rPr>
              <a:t> </a:t>
            </a:r>
            <a:r>
              <a:rPr lang="de-DE" sz="1800" dirty="0" err="1">
                <a:solidFill>
                  <a:prstClr val="white"/>
                </a:solidFill>
              </a:rPr>
              <a:t>predicted</a:t>
            </a:r>
            <a:r>
              <a:rPr lang="de-DE" sz="1800" dirty="0">
                <a:solidFill>
                  <a:prstClr val="white"/>
                </a:solidFill>
              </a:rPr>
              <a:t> </a:t>
            </a:r>
            <a:r>
              <a:rPr lang="de-DE" sz="1800" dirty="0" err="1">
                <a:solidFill>
                  <a:prstClr val="white"/>
                </a:solidFill>
              </a:rPr>
              <a:t>pattern</a:t>
            </a:r>
            <a:r>
              <a:rPr lang="de-DE" sz="1800" dirty="0">
                <a:solidFill>
                  <a:prstClr val="white"/>
                </a:solidFill>
              </a:rPr>
              <a:t>), lack </a:t>
            </a:r>
            <a:r>
              <a:rPr lang="de-DE" sz="1800" dirty="0" err="1">
                <a:solidFill>
                  <a:prstClr val="white"/>
                </a:solidFill>
              </a:rPr>
              <a:t>of</a:t>
            </a:r>
            <a:r>
              <a:rPr lang="de-DE" sz="1800" dirty="0">
                <a:solidFill>
                  <a:prstClr val="white"/>
                </a:solidFill>
              </a:rPr>
              <a:t> </a:t>
            </a:r>
            <a:r>
              <a:rPr lang="de-DE" sz="1800" dirty="0" err="1">
                <a:solidFill>
                  <a:prstClr val="white"/>
                </a:solidFill>
              </a:rPr>
              <a:t>possibility</a:t>
            </a:r>
            <a:r>
              <a:rPr lang="de-DE" sz="1800" dirty="0">
                <a:solidFill>
                  <a:prstClr val="white"/>
                </a:solidFill>
              </a:rPr>
              <a:t> </a:t>
            </a:r>
            <a:r>
              <a:rPr lang="de-DE" sz="1800" dirty="0" err="1">
                <a:solidFill>
                  <a:prstClr val="white"/>
                </a:solidFill>
              </a:rPr>
              <a:t>to</a:t>
            </a:r>
            <a:r>
              <a:rPr lang="de-DE" sz="1800" dirty="0">
                <a:solidFill>
                  <a:prstClr val="white"/>
                </a:solidFill>
              </a:rPr>
              <a:t> </a:t>
            </a:r>
            <a:r>
              <a:rPr lang="de-DE" sz="1800" dirty="0" err="1">
                <a:solidFill>
                  <a:prstClr val="white"/>
                </a:solidFill>
              </a:rPr>
              <a:t>identify</a:t>
            </a:r>
            <a:r>
              <a:rPr lang="de-DE" sz="1800" dirty="0">
                <a:solidFill>
                  <a:prstClr val="white"/>
                </a:solidFill>
              </a:rPr>
              <a:t> </a:t>
            </a:r>
            <a:r>
              <a:rPr lang="de-DE" sz="1800" dirty="0" err="1">
                <a:solidFill>
                  <a:prstClr val="white"/>
                </a:solidFill>
              </a:rPr>
              <a:t>unexpected</a:t>
            </a:r>
            <a:r>
              <a:rPr lang="de-DE" sz="1800" dirty="0">
                <a:solidFill>
                  <a:prstClr val="white"/>
                </a:solidFill>
              </a:rPr>
              <a:t> </a:t>
            </a:r>
            <a:r>
              <a:rPr lang="de-DE" sz="1800" dirty="0" err="1">
                <a:solidFill>
                  <a:prstClr val="white"/>
                </a:solidFill>
              </a:rPr>
              <a:t>patterns</a:t>
            </a:r>
            <a:r>
              <a:rPr lang="de-DE" sz="1800" dirty="0">
                <a:solidFill>
                  <a:prstClr val="white"/>
                </a:solidFill>
              </a:rPr>
              <a:t>, </a:t>
            </a:r>
            <a:r>
              <a:rPr lang="de-DE" sz="1800" dirty="0" err="1">
                <a:solidFill>
                  <a:prstClr val="white"/>
                </a:solidFill>
              </a:rPr>
              <a:t>no</a:t>
            </a:r>
            <a:r>
              <a:rPr lang="de-DE" sz="1800" dirty="0">
                <a:solidFill>
                  <a:prstClr val="white"/>
                </a:solidFill>
              </a:rPr>
              <a:t> </a:t>
            </a:r>
            <a:r>
              <a:rPr lang="de-DE" sz="1800" dirty="0" err="1">
                <a:solidFill>
                  <a:prstClr val="white"/>
                </a:solidFill>
              </a:rPr>
              <a:t>possibility</a:t>
            </a:r>
            <a:r>
              <a:rPr lang="de-DE" sz="1800" dirty="0">
                <a:solidFill>
                  <a:prstClr val="white"/>
                </a:solidFill>
              </a:rPr>
              <a:t> </a:t>
            </a:r>
            <a:r>
              <a:rPr lang="de-DE" sz="1800" dirty="0" err="1">
                <a:solidFill>
                  <a:prstClr val="white"/>
                </a:solidFill>
              </a:rPr>
              <a:t>to</a:t>
            </a:r>
            <a:r>
              <a:rPr lang="de-DE" sz="1800" dirty="0">
                <a:solidFill>
                  <a:prstClr val="white"/>
                </a:solidFill>
              </a:rPr>
              <a:t> </a:t>
            </a:r>
            <a:r>
              <a:rPr lang="de-DE" sz="1800" dirty="0" err="1">
                <a:solidFill>
                  <a:prstClr val="white"/>
                </a:solidFill>
              </a:rPr>
              <a:t>test</a:t>
            </a:r>
            <a:r>
              <a:rPr lang="de-DE" sz="1800" dirty="0">
                <a:solidFill>
                  <a:prstClr val="white"/>
                </a:solidFill>
              </a:rPr>
              <a:t> </a:t>
            </a:r>
            <a:r>
              <a:rPr lang="de-DE" sz="1800" dirty="0" err="1">
                <a:solidFill>
                  <a:prstClr val="white"/>
                </a:solidFill>
              </a:rPr>
              <a:t>goodness</a:t>
            </a:r>
            <a:r>
              <a:rPr lang="de-DE" sz="1800" dirty="0">
                <a:solidFill>
                  <a:prstClr val="white"/>
                </a:solidFill>
              </a:rPr>
              <a:t>-</a:t>
            </a:r>
            <a:r>
              <a:rPr lang="de-DE" sz="1800" dirty="0" err="1">
                <a:solidFill>
                  <a:prstClr val="white"/>
                </a:solidFill>
              </a:rPr>
              <a:t>of</a:t>
            </a:r>
            <a:r>
              <a:rPr lang="de-DE" sz="1800" dirty="0">
                <a:solidFill>
                  <a:prstClr val="white"/>
                </a:solidFill>
              </a:rPr>
              <a:t>-fit (</a:t>
            </a:r>
            <a:r>
              <a:rPr lang="de-DE" sz="1800" dirty="0" err="1">
                <a:solidFill>
                  <a:prstClr val="white"/>
                </a:solidFill>
              </a:rPr>
              <a:t>how</a:t>
            </a:r>
            <a:r>
              <a:rPr lang="de-DE" sz="1800" dirty="0">
                <a:solidFill>
                  <a:prstClr val="white"/>
                </a:solidFill>
              </a:rPr>
              <a:t> </a:t>
            </a:r>
            <a:r>
              <a:rPr lang="de-DE" sz="1800" dirty="0" err="1">
                <a:solidFill>
                  <a:prstClr val="white"/>
                </a:solidFill>
              </a:rPr>
              <a:t>well</a:t>
            </a:r>
            <a:r>
              <a:rPr lang="de-DE" sz="1800" dirty="0">
                <a:solidFill>
                  <a:prstClr val="white"/>
                </a:solidFill>
              </a:rPr>
              <a:t> </a:t>
            </a:r>
            <a:r>
              <a:rPr lang="de-DE" sz="1800" dirty="0" err="1">
                <a:solidFill>
                  <a:prstClr val="white"/>
                </a:solidFill>
              </a:rPr>
              <a:t>does</a:t>
            </a:r>
            <a:r>
              <a:rPr lang="de-DE" sz="1800" dirty="0">
                <a:solidFill>
                  <a:prstClr val="white"/>
                </a:solidFill>
              </a:rPr>
              <a:t> </a:t>
            </a:r>
            <a:r>
              <a:rPr lang="de-DE" sz="1800" dirty="0" err="1">
                <a:solidFill>
                  <a:prstClr val="white"/>
                </a:solidFill>
              </a:rPr>
              <a:t>our</a:t>
            </a:r>
            <a:r>
              <a:rPr lang="de-DE" sz="1800" dirty="0">
                <a:solidFill>
                  <a:prstClr val="white"/>
                </a:solidFill>
              </a:rPr>
              <a:t> </a:t>
            </a:r>
            <a:r>
              <a:rPr lang="de-DE" sz="1800" dirty="0" err="1">
                <a:solidFill>
                  <a:prstClr val="white"/>
                </a:solidFill>
              </a:rPr>
              <a:t>classification</a:t>
            </a:r>
            <a:r>
              <a:rPr lang="de-DE" sz="1800" dirty="0">
                <a:solidFill>
                  <a:prstClr val="white"/>
                </a:solidFill>
              </a:rPr>
              <a:t> </a:t>
            </a:r>
            <a:r>
              <a:rPr lang="de-DE" sz="1800" dirty="0" err="1">
                <a:solidFill>
                  <a:prstClr val="white"/>
                </a:solidFill>
              </a:rPr>
              <a:t>account</a:t>
            </a:r>
            <a:r>
              <a:rPr lang="de-DE" sz="1800" dirty="0">
                <a:solidFill>
                  <a:prstClr val="white"/>
                </a:solidFill>
              </a:rPr>
              <a:t> </a:t>
            </a:r>
            <a:r>
              <a:rPr lang="de-DE" sz="1800" dirty="0" err="1">
                <a:solidFill>
                  <a:prstClr val="white"/>
                </a:solidFill>
              </a:rPr>
              <a:t>for</a:t>
            </a:r>
            <a:r>
              <a:rPr lang="de-DE" sz="1800" dirty="0">
                <a:solidFill>
                  <a:prstClr val="white"/>
                </a:solidFill>
              </a:rPr>
              <a:t> </a:t>
            </a:r>
            <a:r>
              <a:rPr lang="de-DE" sz="1800" dirty="0" err="1">
                <a:solidFill>
                  <a:prstClr val="white"/>
                </a:solidFill>
              </a:rPr>
              <a:t>the</a:t>
            </a:r>
            <a:r>
              <a:rPr lang="de-DE" sz="1800" dirty="0">
                <a:solidFill>
                  <a:prstClr val="white"/>
                </a:solidFill>
              </a:rPr>
              <a:t> </a:t>
            </a:r>
            <a:r>
              <a:rPr lang="de-DE" sz="1800" dirty="0" err="1">
                <a:solidFill>
                  <a:prstClr val="white"/>
                </a:solidFill>
              </a:rPr>
              <a:t>observed</a:t>
            </a:r>
            <a:r>
              <a:rPr lang="de-DE" sz="1800" dirty="0">
                <a:solidFill>
                  <a:prstClr val="white"/>
                </a:solidFill>
              </a:rPr>
              <a:t> </a:t>
            </a:r>
            <a:r>
              <a:rPr lang="de-DE" sz="1800" dirty="0" err="1">
                <a:solidFill>
                  <a:prstClr val="white"/>
                </a:solidFill>
              </a:rPr>
              <a:t>data</a:t>
            </a:r>
            <a:r>
              <a:rPr lang="de-DE" sz="1800" dirty="0">
                <a:solidFill>
                  <a:prstClr val="white"/>
                </a:solidFill>
              </a:rPr>
              <a:t>?)</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Constrained</a:t>
            </a:r>
            <a:r>
              <a:rPr lang="de-DE" sz="1800" dirty="0">
                <a:solidFill>
                  <a:prstClr val="white"/>
                </a:solidFill>
              </a:rPr>
              <a:t> latent </a:t>
            </a:r>
            <a:r>
              <a:rPr lang="de-DE" sz="1800" dirty="0" err="1">
                <a:solidFill>
                  <a:prstClr val="white"/>
                </a:solidFill>
              </a:rPr>
              <a:t>class</a:t>
            </a:r>
            <a:r>
              <a:rPr lang="de-DE" sz="1800" dirty="0">
                <a:solidFill>
                  <a:prstClr val="white"/>
                </a:solidFill>
              </a:rPr>
              <a:t> </a:t>
            </a:r>
            <a:r>
              <a:rPr lang="de-DE" sz="1800" dirty="0" err="1">
                <a:solidFill>
                  <a:prstClr val="white"/>
                </a:solidFill>
              </a:rPr>
              <a:t>analysis</a:t>
            </a:r>
            <a:r>
              <a:rPr lang="de-DE" sz="1800" dirty="0">
                <a:solidFill>
                  <a:prstClr val="white"/>
                </a:solidFill>
              </a:rPr>
              <a:t> </a:t>
            </a:r>
            <a:r>
              <a:rPr lang="de-DE" sz="1800" dirty="0" err="1">
                <a:solidFill>
                  <a:prstClr val="white"/>
                </a:solidFill>
              </a:rPr>
              <a:t>using</a:t>
            </a:r>
            <a:r>
              <a:rPr lang="de-DE" sz="1800" dirty="0">
                <a:solidFill>
                  <a:prstClr val="white"/>
                </a:solidFill>
              </a:rPr>
              <a:t> a </a:t>
            </a:r>
            <a:r>
              <a:rPr lang="de-DE" sz="1800" dirty="0" err="1">
                <a:solidFill>
                  <a:prstClr val="white"/>
                </a:solidFill>
              </a:rPr>
              <a:t>new</a:t>
            </a:r>
            <a:r>
              <a:rPr lang="de-DE" sz="1800" dirty="0">
                <a:solidFill>
                  <a:prstClr val="white"/>
                </a:solidFill>
              </a:rPr>
              <a:t> </a:t>
            </a:r>
            <a:r>
              <a:rPr lang="de-DE" sz="1800" dirty="0" err="1">
                <a:solidFill>
                  <a:prstClr val="white"/>
                </a:solidFill>
              </a:rPr>
              <a:t>pen</a:t>
            </a:r>
            <a:r>
              <a:rPr lang="de-DE" sz="1800" dirty="0">
                <a:solidFill>
                  <a:prstClr val="white"/>
                </a:solidFill>
              </a:rPr>
              <a:t>-and-paper </a:t>
            </a:r>
            <a:r>
              <a:rPr lang="de-DE" sz="1800" dirty="0" err="1">
                <a:solidFill>
                  <a:prstClr val="white"/>
                </a:solidFill>
              </a:rPr>
              <a:t>test</a:t>
            </a:r>
            <a:r>
              <a:rPr lang="de-DE" sz="1800" dirty="0">
                <a:solidFill>
                  <a:prstClr val="white"/>
                </a:solidFill>
              </a:rPr>
              <a:t> (EARTH-2; 8 </a:t>
            </a:r>
            <a:r>
              <a:rPr lang="de-DE" sz="1800" dirty="0" err="1">
                <a:solidFill>
                  <a:prstClr val="white"/>
                </a:solidFill>
              </a:rPr>
              <a:t>items</a:t>
            </a:r>
            <a:r>
              <a:rPr lang="de-DE" sz="1800" dirty="0">
                <a:solidFill>
                  <a:prstClr val="white"/>
                </a:solidFill>
              </a:rPr>
              <a:t> + Interviews)</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r>
              <a:rPr lang="de-DE" sz="1800" dirty="0" err="1">
                <a:solidFill>
                  <a:prstClr val="white"/>
                </a:solidFill>
              </a:rPr>
              <a:t>Kindergarteners</a:t>
            </a:r>
            <a:r>
              <a:rPr lang="de-DE" sz="1800" dirty="0">
                <a:solidFill>
                  <a:prstClr val="white"/>
                </a:solidFill>
              </a:rPr>
              <a:t> – 3rd grade</a:t>
            </a: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a:p>
            <a:pPr marL="285750" marR="0" lvl="0" indent="-285750" algn="l" defTabSz="914400" rtl="0" eaLnBrk="1" fontAlgn="auto" latinLnBrk="0" hangingPunct="1">
              <a:lnSpc>
                <a:spcPct val="90000"/>
              </a:lnSpc>
              <a:spcBef>
                <a:spcPct val="0"/>
              </a:spcBef>
              <a:spcAft>
                <a:spcPts val="0"/>
              </a:spcAft>
              <a:buClrTx/>
              <a:buSzTx/>
              <a:buFontTx/>
              <a:buChar char="-"/>
              <a:tabLst/>
              <a:defRPr/>
            </a:pPr>
            <a:endParaRPr lang="de-DE" sz="1800" dirty="0">
              <a:solidFill>
                <a:prstClr val="white"/>
              </a:solidFill>
            </a:endParaRPr>
          </a:p>
        </p:txBody>
      </p:sp>
      <p:sp>
        <p:nvSpPr>
          <p:cNvPr id="44" name="Titel 1">
            <a:extLst>
              <a:ext uri="{FF2B5EF4-FFF2-40B4-BE49-F238E27FC236}">
                <a16:creationId xmlns:a16="http://schemas.microsoft.com/office/drawing/2014/main" id="{75455E68-8C54-41DA-A056-AAF952C3DA43}"/>
              </a:ext>
            </a:extLst>
          </p:cNvPr>
          <p:cNvSpPr txBox="1">
            <a:spLocks/>
          </p:cNvSpPr>
          <p:nvPr/>
        </p:nvSpPr>
        <p:spPr>
          <a:xfrm>
            <a:off x="6334426" y="1185891"/>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Straatemeier</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Jansen, &amp; van der Maas (2008)</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16216" y="92506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pic>
        <p:nvPicPr>
          <p:cNvPr id="6" name="Grafik 5">
            <a:extLst>
              <a:ext uri="{FF2B5EF4-FFF2-40B4-BE49-F238E27FC236}">
                <a16:creationId xmlns:a16="http://schemas.microsoft.com/office/drawing/2014/main" id="{31FC295C-00D3-41CB-9052-CC23ABC73F8E}"/>
              </a:ext>
            </a:extLst>
          </p:cNvPr>
          <p:cNvPicPr>
            <a:picLocks noChangeAspect="1"/>
          </p:cNvPicPr>
          <p:nvPr/>
        </p:nvPicPr>
        <p:blipFill>
          <a:blip r:embed="rId5"/>
          <a:stretch>
            <a:fillRect/>
          </a:stretch>
        </p:blipFill>
        <p:spPr>
          <a:xfrm>
            <a:off x="1359594" y="1847292"/>
            <a:ext cx="2717246" cy="4404355"/>
          </a:xfrm>
          <a:prstGeom prst="rect">
            <a:avLst/>
          </a:prstGeom>
        </p:spPr>
      </p:pic>
      <p:pic>
        <p:nvPicPr>
          <p:cNvPr id="7" name="Grafik 6">
            <a:extLst>
              <a:ext uri="{FF2B5EF4-FFF2-40B4-BE49-F238E27FC236}">
                <a16:creationId xmlns:a16="http://schemas.microsoft.com/office/drawing/2014/main" id="{0C73C14C-7170-492A-93FB-EEA986478AE1}"/>
              </a:ext>
            </a:extLst>
          </p:cNvPr>
          <p:cNvPicPr>
            <a:picLocks noChangeAspect="1"/>
          </p:cNvPicPr>
          <p:nvPr/>
        </p:nvPicPr>
        <p:blipFill>
          <a:blip r:embed="rId6"/>
          <a:stretch>
            <a:fillRect/>
          </a:stretch>
        </p:blipFill>
        <p:spPr>
          <a:xfrm>
            <a:off x="9696975" y="4867775"/>
            <a:ext cx="1584873" cy="1511552"/>
          </a:xfrm>
          <a:prstGeom prst="rect">
            <a:avLst/>
          </a:prstGeom>
        </p:spPr>
      </p:pic>
    </p:spTree>
    <p:extLst>
      <p:ext uri="{BB962C8B-B14F-4D97-AF65-F5344CB8AC3E}">
        <p14:creationId xmlns:p14="http://schemas.microsoft.com/office/powerpoint/2010/main" val="2178687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6" name="Picture 4" descr="Office Hours: Brenda Jansen">
            <a:extLst>
              <a:ext uri="{FF2B5EF4-FFF2-40B4-BE49-F238E27FC236}">
                <a16:creationId xmlns:a16="http://schemas.microsoft.com/office/drawing/2014/main" id="{1FED52CE-0563-43F3-A74F-009911348B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7044" y="925065"/>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Vosniadou &amp; Brewer (1992)</a:t>
            </a: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373884" y="679121"/>
            <a:ext cx="5696698" cy="15133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rPr>
              <a:t>Results</a:t>
            </a:r>
            <a:endParaRPr kumimoji="0" lang="de-DE" sz="1800" b="0" i="0" u="none" strike="noStrike" kern="1200" cap="none" spc="0" normalizeH="0" baseline="0" noProof="0" dirty="0">
              <a:ln>
                <a:noFill/>
              </a:ln>
              <a:solidFill>
                <a:prstClr val="white"/>
              </a:solidFill>
              <a:effectLst/>
              <a:uLnTx/>
              <a:uFillTx/>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rPr>
              <a:t> </a:t>
            </a:r>
          </a:p>
        </p:txBody>
      </p:sp>
      <p:pic>
        <p:nvPicPr>
          <p:cNvPr id="45" name="Picture 2" descr="Prof. dr. H.L.J. (Han) van der Maas - University of Amsterdam">
            <a:extLst>
              <a:ext uri="{FF2B5EF4-FFF2-40B4-BE49-F238E27FC236}">
                <a16:creationId xmlns:a16="http://schemas.microsoft.com/office/drawing/2014/main" id="{F3560288-9500-4B83-ABC0-C0A3CE1082D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16216" y="925064"/>
            <a:ext cx="852703" cy="852703"/>
          </a:xfrm>
          <a:prstGeom prst="rect">
            <a:avLst/>
          </a:prstGeom>
          <a:noFill/>
          <a:extLst>
            <a:ext uri="{909E8E84-426E-40DD-AFC4-6F175D3DCCD1}">
              <a14:hiddenFill xmlns:a14="http://schemas.microsoft.com/office/drawing/2010/main">
                <a:solidFill>
                  <a:srgbClr val="FFFFFF"/>
                </a:solidFill>
              </a14:hiddenFill>
            </a:ext>
          </a:extLst>
        </p:spPr>
      </p:pic>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pic>
        <p:nvPicPr>
          <p:cNvPr id="6" name="Grafik 5">
            <a:extLst>
              <a:ext uri="{FF2B5EF4-FFF2-40B4-BE49-F238E27FC236}">
                <a16:creationId xmlns:a16="http://schemas.microsoft.com/office/drawing/2014/main" id="{31FC295C-00D3-41CB-9052-CC23ABC73F8E}"/>
              </a:ext>
            </a:extLst>
          </p:cNvPr>
          <p:cNvPicPr>
            <a:picLocks noChangeAspect="1"/>
          </p:cNvPicPr>
          <p:nvPr/>
        </p:nvPicPr>
        <p:blipFill>
          <a:blip r:embed="rId5"/>
          <a:stretch>
            <a:fillRect/>
          </a:stretch>
        </p:blipFill>
        <p:spPr>
          <a:xfrm>
            <a:off x="1359594" y="1847292"/>
            <a:ext cx="2717246" cy="4404355"/>
          </a:xfrm>
          <a:prstGeom prst="rect">
            <a:avLst/>
          </a:prstGeom>
        </p:spPr>
      </p:pic>
      <p:pic>
        <p:nvPicPr>
          <p:cNvPr id="2" name="Grafik 1">
            <a:extLst>
              <a:ext uri="{FF2B5EF4-FFF2-40B4-BE49-F238E27FC236}">
                <a16:creationId xmlns:a16="http://schemas.microsoft.com/office/drawing/2014/main" id="{831F49A2-4E17-4937-B098-7076E1E73F8F}"/>
              </a:ext>
            </a:extLst>
          </p:cNvPr>
          <p:cNvPicPr>
            <a:picLocks noChangeAspect="1"/>
          </p:cNvPicPr>
          <p:nvPr/>
        </p:nvPicPr>
        <p:blipFill>
          <a:blip r:embed="rId6"/>
          <a:stretch>
            <a:fillRect/>
          </a:stretch>
        </p:blipFill>
        <p:spPr>
          <a:xfrm>
            <a:off x="6488074" y="2085269"/>
            <a:ext cx="3654360" cy="2439988"/>
          </a:xfrm>
          <a:prstGeom prst="rect">
            <a:avLst/>
          </a:prstGeom>
        </p:spPr>
      </p:pic>
      <p:sp>
        <p:nvSpPr>
          <p:cNvPr id="3" name="Rechteck: abgerundete Ecken 2">
            <a:extLst>
              <a:ext uri="{FF2B5EF4-FFF2-40B4-BE49-F238E27FC236}">
                <a16:creationId xmlns:a16="http://schemas.microsoft.com/office/drawing/2014/main" id="{7912E33B-F358-4F1D-8AAA-62F5965475F2}"/>
              </a:ext>
            </a:extLst>
          </p:cNvPr>
          <p:cNvSpPr/>
          <p:nvPr/>
        </p:nvSpPr>
        <p:spPr>
          <a:xfrm>
            <a:off x="8763000" y="2425700"/>
            <a:ext cx="1098550" cy="609600"/>
          </a:xfrm>
          <a:prstGeom prst="round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abgerundete Ecken 17">
            <a:extLst>
              <a:ext uri="{FF2B5EF4-FFF2-40B4-BE49-F238E27FC236}">
                <a16:creationId xmlns:a16="http://schemas.microsoft.com/office/drawing/2014/main" id="{3D18289C-1B91-403B-894C-5E706B751268}"/>
              </a:ext>
            </a:extLst>
          </p:cNvPr>
          <p:cNvSpPr/>
          <p:nvPr/>
        </p:nvSpPr>
        <p:spPr>
          <a:xfrm>
            <a:off x="8990905" y="3880511"/>
            <a:ext cx="558800" cy="101605"/>
          </a:xfrm>
          <a:prstGeom prst="round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6A0DE78C-0FB9-4B26-ABA9-A0EAC896B65C}"/>
              </a:ext>
            </a:extLst>
          </p:cNvPr>
          <p:cNvSpPr txBox="1"/>
          <p:nvPr/>
        </p:nvSpPr>
        <p:spPr>
          <a:xfrm>
            <a:off x="10132021" y="2425613"/>
            <a:ext cx="1737400" cy="646331"/>
          </a:xfrm>
          <a:prstGeom prst="rect">
            <a:avLst/>
          </a:prstGeom>
          <a:noFill/>
        </p:spPr>
        <p:txBody>
          <a:bodyPr wrap="square" rtlCol="0">
            <a:spAutoFit/>
          </a:bodyPr>
          <a:lstStyle/>
          <a:p>
            <a:r>
              <a:rPr lang="de-DE" i="1" dirty="0" err="1">
                <a:solidFill>
                  <a:schemeClr val="accent4">
                    <a:lumMod val="75000"/>
                  </a:schemeClr>
                </a:solidFill>
              </a:rPr>
              <a:t>No</a:t>
            </a:r>
            <a:r>
              <a:rPr lang="de-DE" i="1" dirty="0">
                <a:solidFill>
                  <a:schemeClr val="accent4">
                    <a:lumMod val="75000"/>
                  </a:schemeClr>
                </a:solidFill>
              </a:rPr>
              <a:t> </a:t>
            </a:r>
            <a:r>
              <a:rPr lang="de-DE" i="1" dirty="0" err="1">
                <a:solidFill>
                  <a:schemeClr val="accent4">
                    <a:lumMod val="75000"/>
                  </a:schemeClr>
                </a:solidFill>
              </a:rPr>
              <a:t>gravity</a:t>
            </a:r>
            <a:r>
              <a:rPr lang="de-DE" dirty="0" err="1">
                <a:solidFill>
                  <a:schemeClr val="accent4">
                    <a:lumMod val="75000"/>
                  </a:schemeClr>
                </a:solidFill>
              </a:rPr>
              <a:t>-conception</a:t>
            </a:r>
            <a:endParaRPr lang="de-DE" dirty="0">
              <a:solidFill>
                <a:schemeClr val="accent4">
                  <a:lumMod val="75000"/>
                </a:schemeClr>
              </a:solidFill>
            </a:endParaRPr>
          </a:p>
        </p:txBody>
      </p:sp>
      <p:sp>
        <p:nvSpPr>
          <p:cNvPr id="20" name="Textfeld 19">
            <a:extLst>
              <a:ext uri="{FF2B5EF4-FFF2-40B4-BE49-F238E27FC236}">
                <a16:creationId xmlns:a16="http://schemas.microsoft.com/office/drawing/2014/main" id="{C630300D-418F-474C-8F4C-6F5F4E266BE0}"/>
              </a:ext>
            </a:extLst>
          </p:cNvPr>
          <p:cNvSpPr txBox="1"/>
          <p:nvPr/>
        </p:nvSpPr>
        <p:spPr>
          <a:xfrm>
            <a:off x="6825412" y="4442239"/>
            <a:ext cx="1937588" cy="923330"/>
          </a:xfrm>
          <a:prstGeom prst="rect">
            <a:avLst/>
          </a:prstGeom>
          <a:noFill/>
        </p:spPr>
        <p:txBody>
          <a:bodyPr wrap="square" rtlCol="0">
            <a:spAutoFit/>
          </a:bodyPr>
          <a:lstStyle/>
          <a:p>
            <a:r>
              <a:rPr lang="de-DE" i="1" dirty="0" err="1">
                <a:solidFill>
                  <a:schemeClr val="accent2">
                    <a:lumMod val="75000"/>
                  </a:schemeClr>
                </a:solidFill>
              </a:rPr>
              <a:t>No</a:t>
            </a:r>
            <a:r>
              <a:rPr lang="de-DE" i="1" dirty="0">
                <a:solidFill>
                  <a:schemeClr val="accent2">
                    <a:lumMod val="75000"/>
                  </a:schemeClr>
                </a:solidFill>
              </a:rPr>
              <a:t> </a:t>
            </a:r>
            <a:r>
              <a:rPr lang="de-DE" i="1" dirty="0" err="1">
                <a:solidFill>
                  <a:schemeClr val="accent2">
                    <a:lumMod val="75000"/>
                  </a:schemeClr>
                </a:solidFill>
              </a:rPr>
              <a:t>gravity</a:t>
            </a:r>
            <a:r>
              <a:rPr lang="de-DE" dirty="0">
                <a:solidFill>
                  <a:schemeClr val="accent2">
                    <a:lumMod val="75000"/>
                  </a:schemeClr>
                </a:solidFill>
              </a:rPr>
              <a:t>-/</a:t>
            </a:r>
            <a:r>
              <a:rPr lang="de-DE" dirty="0" err="1">
                <a:solidFill>
                  <a:schemeClr val="accent2">
                    <a:lumMod val="75000"/>
                  </a:schemeClr>
                </a:solidFill>
              </a:rPr>
              <a:t>hollow</a:t>
            </a:r>
            <a:r>
              <a:rPr lang="de-DE" dirty="0">
                <a:solidFill>
                  <a:schemeClr val="accent2">
                    <a:lumMod val="75000"/>
                  </a:schemeClr>
                </a:solidFill>
              </a:rPr>
              <a:t> </a:t>
            </a:r>
            <a:r>
              <a:rPr lang="de-DE" dirty="0" err="1">
                <a:solidFill>
                  <a:schemeClr val="accent2">
                    <a:lumMod val="75000"/>
                  </a:schemeClr>
                </a:solidFill>
              </a:rPr>
              <a:t>sphere-conception</a:t>
            </a:r>
            <a:endParaRPr lang="de-DE" dirty="0">
              <a:solidFill>
                <a:schemeClr val="accent2">
                  <a:lumMod val="75000"/>
                </a:schemeClr>
              </a:solidFill>
            </a:endParaRPr>
          </a:p>
        </p:txBody>
      </p:sp>
      <p:sp>
        <p:nvSpPr>
          <p:cNvPr id="21" name="Rechteck: abgerundete Ecken 20">
            <a:extLst>
              <a:ext uri="{FF2B5EF4-FFF2-40B4-BE49-F238E27FC236}">
                <a16:creationId xmlns:a16="http://schemas.microsoft.com/office/drawing/2014/main" id="{95DE8114-2C04-4D03-A468-BBFEC4327715}"/>
              </a:ext>
            </a:extLst>
          </p:cNvPr>
          <p:cNvSpPr/>
          <p:nvPr/>
        </p:nvSpPr>
        <p:spPr>
          <a:xfrm>
            <a:off x="6979968" y="3736212"/>
            <a:ext cx="1267197" cy="609600"/>
          </a:xfrm>
          <a:prstGeom prst="round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abgerundete Ecken 21">
            <a:extLst>
              <a:ext uri="{FF2B5EF4-FFF2-40B4-BE49-F238E27FC236}">
                <a16:creationId xmlns:a16="http://schemas.microsoft.com/office/drawing/2014/main" id="{5B519F69-5A67-416B-951F-E8CA80711545}"/>
              </a:ext>
            </a:extLst>
          </p:cNvPr>
          <p:cNvSpPr/>
          <p:nvPr/>
        </p:nvSpPr>
        <p:spPr>
          <a:xfrm>
            <a:off x="9001065" y="3634607"/>
            <a:ext cx="633599" cy="117262"/>
          </a:xfrm>
          <a:prstGeom prst="round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abgerundete Ecken 22">
            <a:extLst>
              <a:ext uri="{FF2B5EF4-FFF2-40B4-BE49-F238E27FC236}">
                <a16:creationId xmlns:a16="http://schemas.microsoft.com/office/drawing/2014/main" id="{F7823173-A4AE-4208-B50E-32B539F00673}"/>
              </a:ext>
            </a:extLst>
          </p:cNvPr>
          <p:cNvSpPr/>
          <p:nvPr/>
        </p:nvSpPr>
        <p:spPr>
          <a:xfrm>
            <a:off x="8995475" y="3985668"/>
            <a:ext cx="633599" cy="117262"/>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abgerundete Ecken 23">
            <a:extLst>
              <a:ext uri="{FF2B5EF4-FFF2-40B4-BE49-F238E27FC236}">
                <a16:creationId xmlns:a16="http://schemas.microsoft.com/office/drawing/2014/main" id="{1B3D4351-BE73-4EB6-8A63-9BED93BA80AA}"/>
              </a:ext>
            </a:extLst>
          </p:cNvPr>
          <p:cNvSpPr/>
          <p:nvPr/>
        </p:nvSpPr>
        <p:spPr>
          <a:xfrm>
            <a:off x="6944342" y="2275488"/>
            <a:ext cx="1302823" cy="846300"/>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45E9BB2B-C05B-451F-8FC9-8F1F61255E40}"/>
              </a:ext>
            </a:extLst>
          </p:cNvPr>
          <p:cNvSpPr txBox="1"/>
          <p:nvPr/>
        </p:nvSpPr>
        <p:spPr>
          <a:xfrm>
            <a:off x="7198681" y="1471237"/>
            <a:ext cx="1737400" cy="646331"/>
          </a:xfrm>
          <a:prstGeom prst="rect">
            <a:avLst/>
          </a:prstGeom>
          <a:noFill/>
        </p:spPr>
        <p:txBody>
          <a:bodyPr wrap="square" rtlCol="0">
            <a:spAutoFit/>
          </a:bodyPr>
          <a:lstStyle/>
          <a:p>
            <a:r>
              <a:rPr lang="de-DE" i="1" dirty="0">
                <a:solidFill>
                  <a:schemeClr val="accent5">
                    <a:lumMod val="75000"/>
                  </a:schemeClr>
                </a:solidFill>
              </a:rPr>
              <a:t>Scientific </a:t>
            </a:r>
            <a:r>
              <a:rPr lang="de-DE" i="1" dirty="0" err="1">
                <a:solidFill>
                  <a:schemeClr val="accent5">
                    <a:lumMod val="75000"/>
                  </a:schemeClr>
                </a:solidFill>
              </a:rPr>
              <a:t>concept</a:t>
            </a:r>
            <a:endParaRPr lang="de-DE" dirty="0">
              <a:solidFill>
                <a:schemeClr val="accent5">
                  <a:lumMod val="75000"/>
                </a:schemeClr>
              </a:solidFill>
            </a:endParaRPr>
          </a:p>
        </p:txBody>
      </p:sp>
      <p:sp>
        <p:nvSpPr>
          <p:cNvPr id="28" name="Textfeld 27">
            <a:extLst>
              <a:ext uri="{FF2B5EF4-FFF2-40B4-BE49-F238E27FC236}">
                <a16:creationId xmlns:a16="http://schemas.microsoft.com/office/drawing/2014/main" id="{CC19839E-11CA-4A1D-8285-D773A5FA0522}"/>
              </a:ext>
            </a:extLst>
          </p:cNvPr>
          <p:cNvSpPr txBox="1"/>
          <p:nvPr/>
        </p:nvSpPr>
        <p:spPr>
          <a:xfrm>
            <a:off x="8700398" y="4823359"/>
            <a:ext cx="3047215" cy="923330"/>
          </a:xfrm>
          <a:prstGeom prst="rect">
            <a:avLst/>
          </a:prstGeom>
          <a:noFill/>
        </p:spPr>
        <p:txBody>
          <a:bodyPr wrap="square" rtlCol="0">
            <a:spAutoFit/>
          </a:bodyPr>
          <a:lstStyle/>
          <a:p>
            <a:r>
              <a:rPr lang="de-DE" dirty="0">
                <a:solidFill>
                  <a:schemeClr val="bg1"/>
                </a:solidFill>
              </a:rPr>
              <a:t>- Overall: Little </a:t>
            </a:r>
            <a:r>
              <a:rPr lang="de-DE" dirty="0" err="1">
                <a:solidFill>
                  <a:schemeClr val="bg1"/>
                </a:solidFill>
              </a:rPr>
              <a:t>evidence</a:t>
            </a:r>
            <a:r>
              <a:rPr lang="de-DE" dirty="0">
                <a:solidFill>
                  <a:schemeClr val="bg1"/>
                </a:solidFill>
              </a:rPr>
              <a:t> </a:t>
            </a:r>
            <a:r>
              <a:rPr lang="de-DE" dirty="0" err="1">
                <a:solidFill>
                  <a:schemeClr val="bg1"/>
                </a:solidFill>
              </a:rPr>
              <a:t>for</a:t>
            </a:r>
            <a:r>
              <a:rPr lang="de-DE" dirty="0">
                <a:solidFill>
                  <a:schemeClr val="bg1"/>
                </a:solidFill>
              </a:rPr>
              <a:t> </a:t>
            </a:r>
            <a:r>
              <a:rPr lang="de-DE" dirty="0" err="1">
                <a:solidFill>
                  <a:schemeClr val="bg1"/>
                </a:solidFill>
              </a:rPr>
              <a:t>coherent</a:t>
            </a:r>
            <a:r>
              <a:rPr lang="de-DE" dirty="0">
                <a:solidFill>
                  <a:schemeClr val="bg1"/>
                </a:solidFill>
              </a:rPr>
              <a:t> mental </a:t>
            </a:r>
            <a:r>
              <a:rPr lang="de-DE" dirty="0" err="1">
                <a:solidFill>
                  <a:schemeClr val="bg1"/>
                </a:solidFill>
              </a:rPr>
              <a:t>models</a:t>
            </a:r>
            <a:r>
              <a:rPr lang="de-DE" dirty="0">
                <a:solidFill>
                  <a:schemeClr val="bg1"/>
                </a:solidFill>
              </a:rPr>
              <a:t>, but also </a:t>
            </a:r>
            <a:r>
              <a:rPr lang="de-DE" dirty="0" err="1">
                <a:solidFill>
                  <a:schemeClr val="bg1"/>
                </a:solidFill>
              </a:rPr>
              <a:t>for</a:t>
            </a:r>
            <a:r>
              <a:rPr lang="de-DE" dirty="0">
                <a:solidFill>
                  <a:schemeClr val="bg1"/>
                </a:solidFill>
              </a:rPr>
              <a:t> </a:t>
            </a:r>
            <a:r>
              <a:rPr lang="de-DE" dirty="0" err="1">
                <a:solidFill>
                  <a:schemeClr val="bg1"/>
                </a:solidFill>
              </a:rPr>
              <a:t>fragmentation</a:t>
            </a:r>
            <a:endParaRPr lang="de-DE" dirty="0">
              <a:solidFill>
                <a:schemeClr val="bg1"/>
              </a:solidFill>
            </a:endParaRPr>
          </a:p>
        </p:txBody>
      </p:sp>
      <p:sp>
        <p:nvSpPr>
          <p:cNvPr id="29" name="Titel 1">
            <a:extLst>
              <a:ext uri="{FF2B5EF4-FFF2-40B4-BE49-F238E27FC236}">
                <a16:creationId xmlns:a16="http://schemas.microsoft.com/office/drawing/2014/main" id="{83EE0183-4349-436F-9795-7D6A868276E5}"/>
              </a:ext>
            </a:extLst>
          </p:cNvPr>
          <p:cNvSpPr txBox="1">
            <a:spLocks/>
          </p:cNvSpPr>
          <p:nvPr/>
        </p:nvSpPr>
        <p:spPr>
          <a:xfrm>
            <a:off x="6334426" y="1185891"/>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Straatemeier</a:t>
            </a: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Jansen, &amp; van der Maas (2008)</a:t>
            </a:r>
          </a:p>
        </p:txBody>
      </p:sp>
    </p:spTree>
    <p:extLst>
      <p:ext uri="{BB962C8B-B14F-4D97-AF65-F5344CB8AC3E}">
        <p14:creationId xmlns:p14="http://schemas.microsoft.com/office/powerpoint/2010/main" val="2703769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559853" y="1156448"/>
            <a:ext cx="4717473"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Following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up</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on Schneider &amp; Hardy (2013)</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400" dirty="0">
              <a:solidFill>
                <a:prstClr val="white"/>
              </a:solidFill>
              <a:latin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Theoretical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assumptions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lvl="0" indent="-342900">
              <a:buFontTx/>
              <a:buChar char="-"/>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rational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numbers</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lvl="0" indent="-342900">
              <a:buFontTx/>
              <a:buChar char="-"/>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Training </a:t>
            </a:r>
            <a:r>
              <a:rPr lang="de-DE" sz="2400" dirty="0" err="1">
                <a:solidFill>
                  <a:prstClr val="white"/>
                </a:solidFill>
                <a:latin typeface="Arial" panose="020B0604020202020204"/>
              </a:rPr>
              <a:t>hypothetico-deductive</a:t>
            </a:r>
            <a:r>
              <a:rPr lang="de-DE" sz="2400" dirty="0">
                <a:solidFill>
                  <a:prstClr val="white"/>
                </a:solidFill>
                <a:latin typeface="Arial" panose="020B0604020202020204"/>
              </a:rPr>
              <a:t> </a:t>
            </a:r>
            <a:r>
              <a:rPr lang="de-DE" sz="2400" dirty="0" err="1">
                <a:solidFill>
                  <a:prstClr val="white"/>
                </a:solidFill>
                <a:latin typeface="Arial" panose="020B0604020202020204"/>
              </a:rPr>
              <a:t>reasoning</a:t>
            </a:r>
            <a:r>
              <a:rPr lang="de-DE" sz="2400" dirty="0">
                <a:solidFill>
                  <a:prstClr val="white"/>
                </a:solidFill>
                <a:latin typeface="Arial" panose="020B0604020202020204"/>
              </a:rPr>
              <a:t> in </a:t>
            </a:r>
            <a:r>
              <a:rPr lang="de-DE" sz="2400" dirty="0" err="1">
                <a:solidFill>
                  <a:prstClr val="white"/>
                </a:solidFill>
                <a:latin typeface="Arial" panose="020B0604020202020204"/>
              </a:rPr>
              <a:t>children</a:t>
            </a:r>
            <a:endParaRPr lang="de-DE" sz="2400" dirty="0">
              <a:solidFill>
                <a:prstClr val="white"/>
              </a:solidFill>
              <a:latin typeface="Arial" panose="020B0604020202020204"/>
            </a:endParaRPr>
          </a:p>
          <a:p>
            <a:pPr marR="0" lvl="0" algn="l" defTabSz="914400" rtl="0" eaLnBrk="1" fontAlgn="auto" latinLnBrk="0" hangingPunct="1">
              <a:lnSpc>
                <a:spcPct val="100000"/>
              </a:lnSpc>
              <a:spcBef>
                <a:spcPts val="0"/>
              </a:spcBef>
              <a:spcAft>
                <a:spcPts val="0"/>
              </a:spcAft>
              <a:buClrTx/>
              <a:buSzTx/>
              <a:tabLst/>
              <a:defRPr/>
            </a:pPr>
            <a:endParaRPr lang="de-DE" sz="2400" dirty="0">
              <a:solidFill>
                <a:prstClr val="white"/>
              </a:solidFill>
              <a:latin typeface="Arial" panose="020B0604020202020204"/>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Higher </a:t>
            </a:r>
            <a:r>
              <a:rPr lang="de-DE" sz="2400" dirty="0" err="1">
                <a:solidFill>
                  <a:prstClr val="white"/>
                </a:solidFill>
                <a:latin typeface="Arial" panose="020B0604020202020204"/>
              </a:rPr>
              <a:t>education</a:t>
            </a:r>
            <a:r>
              <a:rPr lang="de-DE" sz="2400" dirty="0">
                <a:solidFill>
                  <a:prstClr val="white"/>
                </a:solidFill>
                <a:latin typeface="Arial" panose="020B0604020202020204"/>
              </a:rPr>
              <a:t> </a:t>
            </a:r>
            <a:r>
              <a:rPr lang="de-DE" sz="2400" dirty="0" err="1">
                <a:solidFill>
                  <a:prstClr val="white"/>
                </a:solidFill>
                <a:latin typeface="Arial" panose="020B0604020202020204"/>
              </a:rPr>
              <a:t>students</a:t>
            </a:r>
            <a:r>
              <a:rPr lang="de-DE" sz="2400" dirty="0">
                <a:solidFill>
                  <a:prstClr val="white"/>
                </a:solidFill>
                <a:latin typeface="Arial" panose="020B0604020202020204"/>
              </a:rPr>
              <a:t>` </a:t>
            </a:r>
            <a:r>
              <a:rPr lang="de-DE" sz="2400" dirty="0" err="1">
                <a:solidFill>
                  <a:prstClr val="white"/>
                </a:solidFill>
                <a:latin typeface="Arial" panose="020B0604020202020204"/>
              </a:rPr>
              <a:t>concepts</a:t>
            </a:r>
            <a:r>
              <a:rPr lang="de-DE" sz="2400" dirty="0">
                <a:solidFill>
                  <a:prstClr val="white"/>
                </a:solidFill>
                <a:latin typeface="Arial" panose="020B0604020202020204"/>
              </a:rPr>
              <a:t> </a:t>
            </a:r>
            <a:r>
              <a:rPr lang="de-DE" sz="2400" dirty="0" err="1">
                <a:solidFill>
                  <a:prstClr val="white"/>
                </a:solidFill>
                <a:latin typeface="Arial" panose="020B0604020202020204"/>
              </a:rPr>
              <a:t>of</a:t>
            </a:r>
            <a:r>
              <a:rPr lang="de-DE" sz="2400" dirty="0">
                <a:solidFill>
                  <a:prstClr val="white"/>
                </a:solidFill>
                <a:latin typeface="Arial" panose="020B0604020202020204"/>
              </a:rPr>
              <a:t> human </a:t>
            </a:r>
            <a:r>
              <a:rPr lang="de-DE" sz="2400" dirty="0" err="1">
                <a:solidFill>
                  <a:prstClr val="white"/>
                </a:solidFill>
                <a:latin typeface="Arial" panose="020B0604020202020204"/>
              </a:rPr>
              <a:t>memory</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762472" y="1966489"/>
            <a:ext cx="5696698" cy="4207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rPr>
              <a:t>McMullen</a:t>
            </a:r>
            <a:r>
              <a:rPr kumimoji="0" lang="de-DE" sz="1800" b="0" i="0" u="none" strike="noStrike" kern="1200" cap="none" spc="0" normalizeH="0" baseline="0" noProof="0" dirty="0">
                <a:ln>
                  <a:noFill/>
                </a:ln>
                <a:solidFill>
                  <a:prstClr val="white"/>
                </a:solidFill>
                <a:effectLst/>
                <a:uLnTx/>
                <a:uFillTx/>
              </a:rPr>
              <a:t> et al. (2015)</a:t>
            </a:r>
            <a:endParaRPr lang="de-DE" sz="1800"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baseline="0" dirty="0">
                <a:solidFill>
                  <a:prstClr val="white"/>
                </a:solidFill>
              </a:rPr>
              <a:t>Edelsbrunner et al</a:t>
            </a:r>
            <a:r>
              <a:rPr lang="de-DE" sz="1800" dirty="0">
                <a:solidFill>
                  <a:prstClr val="white"/>
                </a:solidFill>
              </a:rPr>
              <a:t> (2018)</a:t>
            </a: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a:solidFill>
                  <a:prstClr val="white"/>
                </a:solidFill>
              </a:rPr>
              <a:t>Grimm et al. (2023)</a:t>
            </a: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err="1">
                <a:solidFill>
                  <a:prstClr val="white"/>
                </a:solidFill>
              </a:rPr>
              <a:t>Kainulainen</a:t>
            </a:r>
            <a:r>
              <a:rPr lang="de-DE" sz="1800" dirty="0">
                <a:solidFill>
                  <a:prstClr val="white"/>
                </a:solidFill>
              </a:rPr>
              <a:t> et al. (2017)</a:t>
            </a:r>
          </a:p>
          <a:p>
            <a:pPr marL="0" marR="0" lvl="0" indent="0" algn="l" defTabSz="914400" rtl="0" eaLnBrk="1" fontAlgn="auto" latinLnBrk="0" hangingPunct="1">
              <a:lnSpc>
                <a:spcPct val="90000"/>
              </a:lnSpc>
              <a:spcBef>
                <a:spcPct val="0"/>
              </a:spcBef>
              <a:spcAft>
                <a:spcPts val="0"/>
              </a:spcAft>
              <a:buClrTx/>
              <a:buSzTx/>
              <a:buFontTx/>
              <a:buNone/>
              <a:tabLst/>
              <a:defRPr/>
            </a:pPr>
            <a:endParaRPr lang="de-DE" sz="1800" baseline="0" dirty="0">
              <a:solidFill>
                <a:prstClr val="white"/>
              </a:solidFill>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de-DE" sz="1800" dirty="0">
                <a:solidFill>
                  <a:prstClr val="white"/>
                </a:solidFill>
              </a:rPr>
              <a:t>…</a:t>
            </a: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3" name="Grafik 2">
            <a:extLst>
              <a:ext uri="{FF2B5EF4-FFF2-40B4-BE49-F238E27FC236}">
                <a16:creationId xmlns:a16="http://schemas.microsoft.com/office/drawing/2014/main" id="{55EB22D2-47C7-4A4B-A9C0-2793F5128B83}"/>
              </a:ext>
            </a:extLst>
          </p:cNvPr>
          <p:cNvPicPr>
            <a:picLocks noChangeAspect="1"/>
          </p:cNvPicPr>
          <p:nvPr/>
        </p:nvPicPr>
        <p:blipFill>
          <a:blip r:embed="rId3"/>
          <a:stretch>
            <a:fillRect/>
          </a:stretch>
        </p:blipFill>
        <p:spPr>
          <a:xfrm>
            <a:off x="7228098" y="5245751"/>
            <a:ext cx="4125175" cy="1087208"/>
          </a:xfrm>
          <a:prstGeom prst="rect">
            <a:avLst/>
          </a:prstGeom>
        </p:spPr>
      </p:pic>
      <p:pic>
        <p:nvPicPr>
          <p:cNvPr id="4" name="Grafik 3">
            <a:extLst>
              <a:ext uri="{FF2B5EF4-FFF2-40B4-BE49-F238E27FC236}">
                <a16:creationId xmlns:a16="http://schemas.microsoft.com/office/drawing/2014/main" id="{A7BE53B8-98D3-46F6-A00A-FE417063F375}"/>
              </a:ext>
            </a:extLst>
          </p:cNvPr>
          <p:cNvPicPr>
            <a:picLocks noChangeAspect="1"/>
          </p:cNvPicPr>
          <p:nvPr/>
        </p:nvPicPr>
        <p:blipFill>
          <a:blip r:embed="rId4"/>
          <a:stretch>
            <a:fillRect/>
          </a:stretch>
        </p:blipFill>
        <p:spPr>
          <a:xfrm>
            <a:off x="9725466" y="1473872"/>
            <a:ext cx="1946780" cy="1990843"/>
          </a:xfrm>
          <a:prstGeom prst="rect">
            <a:avLst/>
          </a:prstGeom>
        </p:spPr>
      </p:pic>
      <p:pic>
        <p:nvPicPr>
          <p:cNvPr id="6" name="Grafik 5">
            <a:extLst>
              <a:ext uri="{FF2B5EF4-FFF2-40B4-BE49-F238E27FC236}">
                <a16:creationId xmlns:a16="http://schemas.microsoft.com/office/drawing/2014/main" id="{92341BE8-711E-4BBC-A245-6E47462E9DE3}"/>
              </a:ext>
            </a:extLst>
          </p:cNvPr>
          <p:cNvPicPr>
            <a:picLocks noChangeAspect="1"/>
          </p:cNvPicPr>
          <p:nvPr/>
        </p:nvPicPr>
        <p:blipFill>
          <a:blip r:embed="rId5"/>
          <a:stretch>
            <a:fillRect/>
          </a:stretch>
        </p:blipFill>
        <p:spPr>
          <a:xfrm>
            <a:off x="7169119" y="3575697"/>
            <a:ext cx="2121567" cy="1503450"/>
          </a:xfrm>
          <a:prstGeom prst="rect">
            <a:avLst/>
          </a:prstGeom>
        </p:spPr>
      </p:pic>
      <p:pic>
        <p:nvPicPr>
          <p:cNvPr id="7" name="Grafik 6">
            <a:extLst>
              <a:ext uri="{FF2B5EF4-FFF2-40B4-BE49-F238E27FC236}">
                <a16:creationId xmlns:a16="http://schemas.microsoft.com/office/drawing/2014/main" id="{B2002967-B661-4577-B93A-C2064EE0BDBF}"/>
              </a:ext>
            </a:extLst>
          </p:cNvPr>
          <p:cNvPicPr>
            <a:picLocks noChangeAspect="1"/>
          </p:cNvPicPr>
          <p:nvPr/>
        </p:nvPicPr>
        <p:blipFill>
          <a:blip r:embed="rId6"/>
          <a:stretch>
            <a:fillRect/>
          </a:stretch>
        </p:blipFill>
        <p:spPr>
          <a:xfrm>
            <a:off x="9412561" y="3555684"/>
            <a:ext cx="2121567" cy="1543476"/>
          </a:xfrm>
          <a:prstGeom prst="rect">
            <a:avLst/>
          </a:prstGeom>
        </p:spPr>
      </p:pic>
      <p:pic>
        <p:nvPicPr>
          <p:cNvPr id="8" name="Grafik 7">
            <a:extLst>
              <a:ext uri="{FF2B5EF4-FFF2-40B4-BE49-F238E27FC236}">
                <a16:creationId xmlns:a16="http://schemas.microsoft.com/office/drawing/2014/main" id="{C95E3CF6-A321-4165-93C2-7800276A6A6E}"/>
              </a:ext>
            </a:extLst>
          </p:cNvPr>
          <p:cNvPicPr>
            <a:picLocks noChangeAspect="1"/>
          </p:cNvPicPr>
          <p:nvPr/>
        </p:nvPicPr>
        <p:blipFill>
          <a:blip r:embed="rId7"/>
          <a:stretch>
            <a:fillRect/>
          </a:stretch>
        </p:blipFill>
        <p:spPr>
          <a:xfrm>
            <a:off x="7169119" y="1906030"/>
            <a:ext cx="2321185" cy="1496628"/>
          </a:xfrm>
          <a:prstGeom prst="rect">
            <a:avLst/>
          </a:prstGeom>
        </p:spPr>
      </p:pic>
      <p:cxnSp>
        <p:nvCxnSpPr>
          <p:cNvPr id="10" name="Gerade Verbindung mit Pfeil 9">
            <a:extLst>
              <a:ext uri="{FF2B5EF4-FFF2-40B4-BE49-F238E27FC236}">
                <a16:creationId xmlns:a16="http://schemas.microsoft.com/office/drawing/2014/main" id="{83F64CFF-FF73-4F5E-BDAE-08D18204E37A}"/>
              </a:ext>
            </a:extLst>
          </p:cNvPr>
          <p:cNvCxnSpPr>
            <a:cxnSpLocks/>
          </p:cNvCxnSpPr>
          <p:nvPr/>
        </p:nvCxnSpPr>
        <p:spPr>
          <a:xfrm flipV="1">
            <a:off x="5043638" y="2879831"/>
            <a:ext cx="1990683" cy="39677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AC305897-69EB-43F1-846B-165D8D48DB3D}"/>
              </a:ext>
            </a:extLst>
          </p:cNvPr>
          <p:cNvCxnSpPr>
            <a:cxnSpLocks/>
          </p:cNvCxnSpPr>
          <p:nvPr/>
        </p:nvCxnSpPr>
        <p:spPr>
          <a:xfrm>
            <a:off x="5239457" y="4313563"/>
            <a:ext cx="1794864" cy="6842"/>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9349F0E2-2AFC-44F7-A17D-727DE16AF883}"/>
              </a:ext>
            </a:extLst>
          </p:cNvPr>
          <p:cNvCxnSpPr>
            <a:cxnSpLocks/>
          </p:cNvCxnSpPr>
          <p:nvPr/>
        </p:nvCxnSpPr>
        <p:spPr>
          <a:xfrm>
            <a:off x="5043638" y="5701552"/>
            <a:ext cx="1990683" cy="62089"/>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20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325119" y="978559"/>
            <a:ext cx="5757973" cy="53860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Following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up</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on Schneider &amp; Hardy (2013)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Novel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theoretical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insights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en-US" sz="2400" b="0" i="0" u="none" strike="noStrike" kern="1200" cap="none" spc="0" normalizeH="0" baseline="0" noProof="0" dirty="0">
                <a:ln>
                  <a:noFill/>
                </a:ln>
                <a:solidFill>
                  <a:prstClr val="white"/>
                </a:solidFill>
                <a:effectLst/>
                <a:uLnTx/>
                <a:uFillTx/>
                <a:latin typeface="Arial" panose="020B0604020202020204"/>
                <a:ea typeface="+mn-ea"/>
                <a:cs typeface="+mn-cs"/>
              </a:rPr>
              <a:t>Knowledge of magnitude representations is </a:t>
            </a:r>
            <a:r>
              <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rPr>
              <a:t>necessary, but insufficient</a:t>
            </a:r>
            <a:r>
              <a:rPr kumimoji="0" lang="en-US" sz="2400" b="0" i="0" u="none" strike="noStrike" kern="1200" cap="none" spc="0" normalizeH="0" baseline="0" noProof="0" dirty="0">
                <a:ln>
                  <a:noFill/>
                </a:ln>
                <a:solidFill>
                  <a:prstClr val="white"/>
                </a:solidFill>
                <a:effectLst/>
                <a:uLnTx/>
                <a:uFillTx/>
                <a:latin typeface="Arial" panose="020B0604020202020204"/>
                <a:ea typeface="+mn-ea"/>
                <a:cs typeface="+mn-cs"/>
              </a:rPr>
              <a:t>, for knowledge of density concepts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Inhibition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predicts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acquisition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about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insufficient</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evidence</a:t>
            </a:r>
            <a:endPar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Knowledge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integration</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occurs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during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complex</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concept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acquisition</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0" name="Titel 1">
            <a:extLst>
              <a:ext uri="{FF2B5EF4-FFF2-40B4-BE49-F238E27FC236}">
                <a16:creationId xmlns:a16="http://schemas.microsoft.com/office/drawing/2014/main" id="{5FDF3812-B409-481F-AA91-4D25FCAFE2E9}"/>
              </a:ext>
            </a:extLst>
          </p:cNvPr>
          <p:cNvSpPr txBox="1">
            <a:spLocks/>
          </p:cNvSpPr>
          <p:nvPr/>
        </p:nvSpPr>
        <p:spPr>
          <a:xfrm>
            <a:off x="6762472" y="1966489"/>
            <a:ext cx="5696698" cy="4207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McMullen</a:t>
            </a: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et al. (2015)</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Edelsbrunner et al (2018)</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Grimm et al. (2023)</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Kainulainen</a:t>
            </a: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et al. (2017)</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a:t>
            </a: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Conceptual Change</a:t>
            </a: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55EB22D2-47C7-4A4B-A9C0-2793F5128B83}"/>
              </a:ext>
            </a:extLst>
          </p:cNvPr>
          <p:cNvPicPr>
            <a:picLocks noChangeAspect="1"/>
          </p:cNvPicPr>
          <p:nvPr/>
        </p:nvPicPr>
        <p:blipFill>
          <a:blip r:embed="rId3"/>
          <a:stretch>
            <a:fillRect/>
          </a:stretch>
        </p:blipFill>
        <p:spPr>
          <a:xfrm>
            <a:off x="7228098" y="5245751"/>
            <a:ext cx="4125175" cy="1087208"/>
          </a:xfrm>
          <a:prstGeom prst="rect">
            <a:avLst/>
          </a:prstGeom>
        </p:spPr>
      </p:pic>
      <p:pic>
        <p:nvPicPr>
          <p:cNvPr id="4" name="Grafik 3">
            <a:extLst>
              <a:ext uri="{FF2B5EF4-FFF2-40B4-BE49-F238E27FC236}">
                <a16:creationId xmlns:a16="http://schemas.microsoft.com/office/drawing/2014/main" id="{A7BE53B8-98D3-46F6-A00A-FE417063F375}"/>
              </a:ext>
            </a:extLst>
          </p:cNvPr>
          <p:cNvPicPr>
            <a:picLocks noChangeAspect="1"/>
          </p:cNvPicPr>
          <p:nvPr/>
        </p:nvPicPr>
        <p:blipFill>
          <a:blip r:embed="rId4"/>
          <a:stretch>
            <a:fillRect/>
          </a:stretch>
        </p:blipFill>
        <p:spPr>
          <a:xfrm>
            <a:off x="9725466" y="1473872"/>
            <a:ext cx="1946780" cy="1990843"/>
          </a:xfrm>
          <a:prstGeom prst="rect">
            <a:avLst/>
          </a:prstGeom>
        </p:spPr>
      </p:pic>
      <p:pic>
        <p:nvPicPr>
          <p:cNvPr id="6" name="Grafik 5">
            <a:extLst>
              <a:ext uri="{FF2B5EF4-FFF2-40B4-BE49-F238E27FC236}">
                <a16:creationId xmlns:a16="http://schemas.microsoft.com/office/drawing/2014/main" id="{92341BE8-711E-4BBC-A245-6E47462E9DE3}"/>
              </a:ext>
            </a:extLst>
          </p:cNvPr>
          <p:cNvPicPr>
            <a:picLocks noChangeAspect="1"/>
          </p:cNvPicPr>
          <p:nvPr/>
        </p:nvPicPr>
        <p:blipFill>
          <a:blip r:embed="rId5"/>
          <a:stretch>
            <a:fillRect/>
          </a:stretch>
        </p:blipFill>
        <p:spPr>
          <a:xfrm>
            <a:off x="7169119" y="3575697"/>
            <a:ext cx="2121567" cy="1503450"/>
          </a:xfrm>
          <a:prstGeom prst="rect">
            <a:avLst/>
          </a:prstGeom>
        </p:spPr>
      </p:pic>
      <p:pic>
        <p:nvPicPr>
          <p:cNvPr id="7" name="Grafik 6">
            <a:extLst>
              <a:ext uri="{FF2B5EF4-FFF2-40B4-BE49-F238E27FC236}">
                <a16:creationId xmlns:a16="http://schemas.microsoft.com/office/drawing/2014/main" id="{B2002967-B661-4577-B93A-C2064EE0BDBF}"/>
              </a:ext>
            </a:extLst>
          </p:cNvPr>
          <p:cNvPicPr>
            <a:picLocks noChangeAspect="1"/>
          </p:cNvPicPr>
          <p:nvPr/>
        </p:nvPicPr>
        <p:blipFill>
          <a:blip r:embed="rId6"/>
          <a:stretch>
            <a:fillRect/>
          </a:stretch>
        </p:blipFill>
        <p:spPr>
          <a:xfrm>
            <a:off x="9412561" y="3555684"/>
            <a:ext cx="2121567" cy="1543476"/>
          </a:xfrm>
          <a:prstGeom prst="rect">
            <a:avLst/>
          </a:prstGeom>
        </p:spPr>
      </p:pic>
      <p:pic>
        <p:nvPicPr>
          <p:cNvPr id="8" name="Grafik 7">
            <a:extLst>
              <a:ext uri="{FF2B5EF4-FFF2-40B4-BE49-F238E27FC236}">
                <a16:creationId xmlns:a16="http://schemas.microsoft.com/office/drawing/2014/main" id="{C95E3CF6-A321-4165-93C2-7800276A6A6E}"/>
              </a:ext>
            </a:extLst>
          </p:cNvPr>
          <p:cNvPicPr>
            <a:picLocks noChangeAspect="1"/>
          </p:cNvPicPr>
          <p:nvPr/>
        </p:nvPicPr>
        <p:blipFill>
          <a:blip r:embed="rId7"/>
          <a:stretch>
            <a:fillRect/>
          </a:stretch>
        </p:blipFill>
        <p:spPr>
          <a:xfrm>
            <a:off x="7169119" y="1906030"/>
            <a:ext cx="2321185" cy="1496628"/>
          </a:xfrm>
          <a:prstGeom prst="rect">
            <a:avLst/>
          </a:prstGeom>
        </p:spPr>
      </p:pic>
      <p:cxnSp>
        <p:nvCxnSpPr>
          <p:cNvPr id="10" name="Gerade Verbindung mit Pfeil 9">
            <a:extLst>
              <a:ext uri="{FF2B5EF4-FFF2-40B4-BE49-F238E27FC236}">
                <a16:creationId xmlns:a16="http://schemas.microsoft.com/office/drawing/2014/main" id="{83F64CFF-FF73-4F5E-BDAE-08D18204E37A}"/>
              </a:ext>
            </a:extLst>
          </p:cNvPr>
          <p:cNvCxnSpPr>
            <a:cxnSpLocks/>
          </p:cNvCxnSpPr>
          <p:nvPr/>
        </p:nvCxnSpPr>
        <p:spPr>
          <a:xfrm flipH="1">
            <a:off x="5867765" y="2928438"/>
            <a:ext cx="1166557" cy="256199"/>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AC305897-69EB-43F1-846B-165D8D48DB3D}"/>
              </a:ext>
            </a:extLst>
          </p:cNvPr>
          <p:cNvCxnSpPr>
            <a:cxnSpLocks/>
          </p:cNvCxnSpPr>
          <p:nvPr/>
        </p:nvCxnSpPr>
        <p:spPr>
          <a:xfrm flipH="1">
            <a:off x="5544152" y="4040962"/>
            <a:ext cx="1624969" cy="82614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84B59A40-A7FE-411F-B174-7E0645473926}"/>
              </a:ext>
            </a:extLst>
          </p:cNvPr>
          <p:cNvCxnSpPr>
            <a:cxnSpLocks/>
          </p:cNvCxnSpPr>
          <p:nvPr/>
        </p:nvCxnSpPr>
        <p:spPr>
          <a:xfrm flipH="1">
            <a:off x="5640404" y="5812596"/>
            <a:ext cx="1393918" cy="267398"/>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088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1690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53218" y="778005"/>
            <a:ext cx="11816907"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682678" y="1102679"/>
            <a:ext cx="1103126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Historical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observations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400" dirty="0">
              <a:solidFill>
                <a:prstClr val="white"/>
              </a:solidFill>
              <a:latin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Move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away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from</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theory-driven</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(i.e.,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confirmatory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modeling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to</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1" i="0" u="none" strike="noStrike" kern="1200" cap="none" spc="0" normalizeH="0" baseline="0" noProof="0" dirty="0" err="1">
                <a:ln>
                  <a:noFill/>
                </a:ln>
                <a:solidFill>
                  <a:prstClr val="white"/>
                </a:solidFill>
                <a:effectLst/>
                <a:uLnTx/>
                <a:uFillTx/>
                <a:latin typeface="Arial" panose="020B0604020202020204"/>
                <a:ea typeface="+mn-ea"/>
                <a:cs typeface="+mn-cs"/>
              </a:rPr>
              <a:t>data-driven</a:t>
            </a:r>
            <a:r>
              <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(i.e.,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exploratory</a:t>
            </a:r>
            <a:r>
              <a:rPr lang="de-DE" sz="2400" dirty="0">
                <a:solidFill>
                  <a:prstClr val="white"/>
                </a:solidFill>
                <a:latin typeface="Arial" panose="020B0604020202020204"/>
              </a:rPr>
              <a:t>) </a:t>
            </a:r>
            <a:r>
              <a:rPr lang="de-DE" sz="2400" dirty="0" err="1">
                <a:solidFill>
                  <a:prstClr val="white"/>
                </a:solidFill>
                <a:latin typeface="Arial" panose="020B0604020202020204"/>
              </a:rPr>
              <a:t>modeling</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47" name="Titel 1">
            <a:extLst>
              <a:ext uri="{FF2B5EF4-FFF2-40B4-BE49-F238E27FC236}">
                <a16:creationId xmlns:a16="http://schemas.microsoft.com/office/drawing/2014/main" id="{FEB9802F-5DFA-453D-A21C-7D383D4CCE5A}"/>
              </a:ext>
            </a:extLst>
          </p:cNvPr>
          <p:cNvSpPr txBox="1">
            <a:spLocks/>
          </p:cNvSpPr>
          <p:nvPr/>
        </p:nvSpPr>
        <p:spPr>
          <a:xfrm>
            <a:off x="3041416" y="-556264"/>
            <a:ext cx="601636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bg1"/>
                </a:solidFill>
              </a:rPr>
              <a:t>Conceptual Change</a:t>
            </a:r>
          </a:p>
        </p:txBody>
      </p:sp>
      <p:sp>
        <p:nvSpPr>
          <p:cNvPr id="11" name="Textfeld 10">
            <a:extLst>
              <a:ext uri="{FF2B5EF4-FFF2-40B4-BE49-F238E27FC236}">
                <a16:creationId xmlns:a16="http://schemas.microsoft.com/office/drawing/2014/main" id="{2DFDE48B-A902-4014-B317-8225DCAFE6DF}"/>
              </a:ext>
            </a:extLst>
          </p:cNvPr>
          <p:cNvSpPr txBox="1"/>
          <p:nvPr/>
        </p:nvSpPr>
        <p:spPr>
          <a:xfrm>
            <a:off x="253218" y="2853727"/>
            <a:ext cx="11807437"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dirty="0">
                <a:solidFill>
                  <a:prstClr val="white"/>
                </a:solidFill>
                <a:latin typeface="Arial" panose="020B0604020202020204"/>
              </a:rPr>
              <a:t>- </a:t>
            </a:r>
            <a:r>
              <a:rPr lang="de-DE" sz="2400" dirty="0" err="1">
                <a:solidFill>
                  <a:prstClr val="white"/>
                </a:solidFill>
                <a:latin typeface="Arial" panose="020B0604020202020204"/>
              </a:rPr>
              <a:t>Integrations</a:t>
            </a:r>
            <a:r>
              <a:rPr lang="de-DE" sz="2400" dirty="0">
                <a:solidFill>
                  <a:prstClr val="white"/>
                </a:solidFill>
                <a:latin typeface="Arial" panose="020B0604020202020204"/>
              </a:rPr>
              <a:t> </a:t>
            </a:r>
            <a:r>
              <a:rPr lang="de-DE" sz="2400" dirty="0" err="1">
                <a:solidFill>
                  <a:prstClr val="white"/>
                </a:solidFill>
                <a:latin typeface="Arial" panose="020B0604020202020204"/>
              </a:rPr>
              <a:t>of</a:t>
            </a:r>
            <a:r>
              <a:rPr lang="de-DE" sz="2400" dirty="0">
                <a:solidFill>
                  <a:prstClr val="white"/>
                </a:solidFill>
                <a:latin typeface="Arial" panose="020B0604020202020204"/>
              </a:rPr>
              <a:t> </a:t>
            </a:r>
            <a:r>
              <a:rPr lang="de-DE" sz="2400" dirty="0" err="1">
                <a:solidFill>
                  <a:prstClr val="white"/>
                </a:solidFill>
                <a:latin typeface="Arial" panose="020B0604020202020204"/>
              </a:rPr>
              <a:t>educational</a:t>
            </a:r>
            <a:r>
              <a:rPr lang="de-DE" sz="2400" dirty="0">
                <a:solidFill>
                  <a:prstClr val="white"/>
                </a:solidFill>
                <a:latin typeface="Arial" panose="020B0604020202020204"/>
              </a:rPr>
              <a:t> </a:t>
            </a:r>
            <a:r>
              <a:rPr lang="de-DE" sz="2400" dirty="0" err="1">
                <a:solidFill>
                  <a:prstClr val="white"/>
                </a:solidFill>
                <a:latin typeface="Arial" panose="020B0604020202020204"/>
              </a:rPr>
              <a:t>theory</a:t>
            </a:r>
            <a:r>
              <a:rPr lang="de-DE" sz="2400" dirty="0">
                <a:solidFill>
                  <a:prstClr val="white"/>
                </a:solidFill>
                <a:latin typeface="Arial" panose="020B0604020202020204"/>
              </a:rPr>
              <a:t> </a:t>
            </a:r>
            <a:r>
              <a:rPr lang="de-DE" sz="2400" dirty="0" err="1">
                <a:solidFill>
                  <a:prstClr val="white"/>
                </a:solidFill>
                <a:latin typeface="Arial" panose="020B0604020202020204"/>
              </a:rPr>
              <a:t>into</a:t>
            </a:r>
            <a:r>
              <a:rPr lang="de-DE" sz="2400" dirty="0">
                <a:solidFill>
                  <a:prstClr val="white"/>
                </a:solidFill>
                <a:latin typeface="Arial" panose="020B0604020202020204"/>
              </a:rPr>
              <a:t> </a:t>
            </a:r>
            <a:r>
              <a:rPr lang="de-DE" sz="2400" dirty="0" err="1">
                <a:solidFill>
                  <a:prstClr val="white"/>
                </a:solidFill>
                <a:latin typeface="Arial" panose="020B0604020202020204"/>
              </a:rPr>
              <a:t>statistical</a:t>
            </a:r>
            <a:r>
              <a:rPr lang="de-DE" sz="2400" dirty="0">
                <a:solidFill>
                  <a:prstClr val="white"/>
                </a:solidFill>
                <a:latin typeface="Arial" panose="020B0604020202020204"/>
              </a:rPr>
              <a:t> </a:t>
            </a:r>
            <a:r>
              <a:rPr lang="de-DE" sz="2400" dirty="0" err="1">
                <a:solidFill>
                  <a:prstClr val="white"/>
                </a:solidFill>
                <a:latin typeface="Arial" panose="020B0604020202020204"/>
              </a:rPr>
              <a:t>models</a:t>
            </a:r>
            <a:r>
              <a:rPr lang="de-DE" sz="2400" dirty="0">
                <a:solidFill>
                  <a:prstClr val="white"/>
                </a:solidFill>
                <a:latin typeface="Arial" panose="020B0604020202020204"/>
              </a:rPr>
              <a:t> </a:t>
            </a:r>
            <a:r>
              <a:rPr lang="de-DE" sz="2400" dirty="0" err="1">
                <a:solidFill>
                  <a:prstClr val="white"/>
                </a:solidFill>
                <a:latin typeface="Arial" panose="020B0604020202020204"/>
              </a:rPr>
              <a:t>centers</a:t>
            </a:r>
            <a:r>
              <a:rPr lang="de-DE" sz="2400" dirty="0">
                <a:solidFill>
                  <a:prstClr val="white"/>
                </a:solidFill>
                <a:latin typeface="Arial" panose="020B0604020202020204"/>
              </a:rPr>
              <a:t> </a:t>
            </a:r>
            <a:r>
              <a:rPr lang="de-DE" sz="2400" dirty="0" err="1">
                <a:solidFill>
                  <a:prstClr val="white"/>
                </a:solidFill>
                <a:latin typeface="Arial" panose="020B0604020202020204"/>
              </a:rPr>
              <a:t>around</a:t>
            </a:r>
            <a:r>
              <a:rPr lang="de-DE" sz="2400" dirty="0">
                <a:solidFill>
                  <a:prstClr val="white"/>
                </a:solidFill>
                <a:latin typeface="Arial" panose="020B0604020202020204"/>
              </a:rPr>
              <a:t>  </a:t>
            </a:r>
            <a:r>
              <a:rPr lang="de-DE" sz="2400" b="1" dirty="0">
                <a:solidFill>
                  <a:prstClr val="white"/>
                </a:solidFill>
                <a:latin typeface="Arial" panose="020B0604020202020204"/>
              </a:rPr>
              <a:t>qualitative individual </a:t>
            </a:r>
            <a:r>
              <a:rPr lang="de-DE" sz="2400" b="1" dirty="0" err="1">
                <a:solidFill>
                  <a:prstClr val="white"/>
                </a:solidFill>
                <a:latin typeface="Arial" panose="020B0604020202020204"/>
              </a:rPr>
              <a:t>differences</a:t>
            </a:r>
            <a:r>
              <a:rPr lang="de-DE" sz="2400" b="1" dirty="0">
                <a:solidFill>
                  <a:prstClr val="white"/>
                </a:solidFill>
                <a:latin typeface="Arial" panose="020B0604020202020204"/>
              </a:rPr>
              <a:t> </a:t>
            </a:r>
            <a:r>
              <a:rPr lang="de-DE" sz="2400" dirty="0">
                <a:solidFill>
                  <a:prstClr val="white"/>
                </a:solidFill>
                <a:latin typeface="Arial" panose="020B0604020202020204"/>
              </a:rPr>
              <a:t>(e.g., </a:t>
            </a:r>
            <a:r>
              <a:rPr lang="de-DE" sz="2400" dirty="0" err="1">
                <a:solidFill>
                  <a:prstClr val="white"/>
                </a:solidFill>
                <a:latin typeface="Arial" panose="020B0604020202020204"/>
              </a:rPr>
              <a:t>stages</a:t>
            </a:r>
            <a:r>
              <a:rPr lang="de-DE" sz="2400" dirty="0">
                <a:solidFill>
                  <a:prstClr val="white"/>
                </a:solidFill>
                <a:latin typeface="Arial" panose="020B0604020202020204"/>
              </a:rPr>
              <a:t>, </a:t>
            </a:r>
            <a:r>
              <a:rPr lang="de-DE" sz="2400" dirty="0" err="1">
                <a:solidFill>
                  <a:prstClr val="white"/>
                </a:solidFill>
                <a:latin typeface="Arial" panose="020B0604020202020204"/>
              </a:rPr>
              <a:t>strategies</a:t>
            </a:r>
            <a:r>
              <a:rPr lang="de-DE" sz="2400" dirty="0">
                <a:solidFill>
                  <a:prstClr val="white"/>
                </a:solidFill>
                <a:latin typeface="Arial" panose="020B0604020202020204"/>
              </a:rPr>
              <a:t>, </a:t>
            </a:r>
            <a:r>
              <a:rPr lang="de-DE" sz="2400" dirty="0" err="1">
                <a:solidFill>
                  <a:prstClr val="white"/>
                </a:solidFill>
                <a:latin typeface="Arial" panose="020B0604020202020204"/>
              </a:rPr>
              <a:t>schemas</a:t>
            </a:r>
            <a:r>
              <a:rPr lang="de-DE" sz="2400" dirty="0">
                <a:solidFill>
                  <a:prstClr val="white"/>
                </a:solidFill>
                <a:latin typeface="Arial" panose="020B0604020202020204"/>
              </a:rPr>
              <a:t>, </a:t>
            </a:r>
            <a:r>
              <a:rPr lang="de-DE" sz="2400" dirty="0" err="1">
                <a:solidFill>
                  <a:prstClr val="white"/>
                </a:solidFill>
                <a:latin typeface="Arial" panose="020B0604020202020204"/>
              </a:rPr>
              <a:t>misconceptions</a:t>
            </a:r>
            <a:r>
              <a:rPr lang="de-DE" sz="2400" dirty="0">
                <a:solidFill>
                  <a:prstClr val="white"/>
                </a:solidFill>
                <a:latin typeface="Arial" panose="020B0604020202020204"/>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a:solidFill>
                  <a:prstClr val="white"/>
                </a:solidFill>
                <a:latin typeface="Arial" panose="020B0604020202020204"/>
              </a:rPr>
              <a:t>These individual </a:t>
            </a:r>
            <a:r>
              <a:rPr lang="de-DE" sz="2400" dirty="0" err="1">
                <a:solidFill>
                  <a:prstClr val="white"/>
                </a:solidFill>
                <a:latin typeface="Arial" panose="020B0604020202020204"/>
              </a:rPr>
              <a:t>differences</a:t>
            </a:r>
            <a:r>
              <a:rPr lang="de-DE" sz="2400" dirty="0">
                <a:solidFill>
                  <a:prstClr val="white"/>
                </a:solidFill>
                <a:latin typeface="Arial" panose="020B0604020202020204"/>
              </a:rPr>
              <a:t> </a:t>
            </a:r>
            <a:r>
              <a:rPr lang="de-DE" sz="2400" dirty="0" err="1">
                <a:solidFill>
                  <a:prstClr val="white"/>
                </a:solidFill>
                <a:latin typeface="Arial" panose="020B0604020202020204"/>
              </a:rPr>
              <a:t>are</a:t>
            </a:r>
            <a:r>
              <a:rPr lang="de-DE" sz="2400" dirty="0">
                <a:solidFill>
                  <a:prstClr val="white"/>
                </a:solidFill>
                <a:latin typeface="Arial" panose="020B0604020202020204"/>
              </a:rPr>
              <a:t> </a:t>
            </a:r>
            <a:r>
              <a:rPr lang="de-DE" sz="2400" dirty="0" err="1">
                <a:solidFill>
                  <a:prstClr val="white"/>
                </a:solidFill>
                <a:latin typeface="Arial" panose="020B0604020202020204"/>
              </a:rPr>
              <a:t>represented</a:t>
            </a:r>
            <a:r>
              <a:rPr lang="de-DE" sz="2400" dirty="0">
                <a:solidFill>
                  <a:prstClr val="white"/>
                </a:solidFill>
                <a:latin typeface="Arial" panose="020B0604020202020204"/>
              </a:rPr>
              <a:t> </a:t>
            </a:r>
            <a:r>
              <a:rPr lang="de-DE" sz="2400" dirty="0" err="1">
                <a:solidFill>
                  <a:prstClr val="white"/>
                </a:solidFill>
                <a:latin typeface="Arial" panose="020B0604020202020204"/>
              </a:rPr>
              <a:t>using</a:t>
            </a:r>
            <a:r>
              <a:rPr lang="de-DE" sz="2400" dirty="0">
                <a:solidFill>
                  <a:prstClr val="white"/>
                </a:solidFill>
                <a:latin typeface="Arial" panose="020B0604020202020204"/>
              </a:rPr>
              <a:t> </a:t>
            </a:r>
            <a:r>
              <a:rPr lang="de-DE" sz="2400" b="1" dirty="0" err="1">
                <a:solidFill>
                  <a:prstClr val="white"/>
                </a:solidFill>
                <a:latin typeface="Arial" panose="020B0604020202020204"/>
              </a:rPr>
              <a:t>mixture</a:t>
            </a:r>
            <a:r>
              <a:rPr lang="de-DE" sz="2400" b="1" dirty="0">
                <a:solidFill>
                  <a:prstClr val="white"/>
                </a:solidFill>
                <a:latin typeface="Arial" panose="020B0604020202020204"/>
              </a:rPr>
              <a:t> </a:t>
            </a:r>
            <a:r>
              <a:rPr lang="de-DE" sz="2400" b="1" dirty="0" err="1">
                <a:solidFill>
                  <a:prstClr val="white"/>
                </a:solidFill>
                <a:latin typeface="Arial" panose="020B0604020202020204"/>
              </a:rPr>
              <a:t>modeling</a:t>
            </a:r>
            <a:endParaRPr lang="de-DE" sz="2400" b="1" dirty="0">
              <a:solidFill>
                <a:prstClr val="white"/>
              </a:solidFill>
              <a:latin typeface="Arial" panose="020B0604020202020204"/>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endPar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lang="de-DE" sz="2400" dirty="0" err="1">
                <a:solidFill>
                  <a:prstClr val="white"/>
                </a:solidFill>
                <a:latin typeface="Arial" panose="020B0604020202020204"/>
              </a:rPr>
              <a:t>Mixture</a:t>
            </a:r>
            <a:r>
              <a:rPr lang="de-DE" sz="2400" dirty="0">
                <a:solidFill>
                  <a:prstClr val="white"/>
                </a:solidFill>
                <a:latin typeface="Arial" panose="020B0604020202020204"/>
              </a:rPr>
              <a:t> </a:t>
            </a:r>
            <a:r>
              <a:rPr lang="de-DE" sz="2400" dirty="0" err="1">
                <a:solidFill>
                  <a:prstClr val="white"/>
                </a:solidFill>
                <a:latin typeface="Arial" panose="020B0604020202020204"/>
              </a:rPr>
              <a:t>models</a:t>
            </a:r>
            <a:r>
              <a:rPr lang="de-DE" sz="2400" dirty="0">
                <a:solidFill>
                  <a:prstClr val="white"/>
                </a:solidFill>
                <a:latin typeface="Arial" panose="020B0604020202020204"/>
              </a:rPr>
              <a:t> </a:t>
            </a:r>
            <a:r>
              <a:rPr lang="de-DE" sz="2400" dirty="0" err="1">
                <a:solidFill>
                  <a:prstClr val="white"/>
                </a:solidFill>
                <a:latin typeface="Arial" panose="020B0604020202020204"/>
              </a:rPr>
              <a:t>allowed</a:t>
            </a:r>
            <a:r>
              <a:rPr lang="de-DE" sz="2400" dirty="0">
                <a:solidFill>
                  <a:prstClr val="white"/>
                </a:solidFill>
                <a:latin typeface="Arial" panose="020B0604020202020204"/>
              </a:rPr>
              <a:t> </a:t>
            </a:r>
            <a:r>
              <a:rPr lang="de-DE" sz="2400" b="1" dirty="0" err="1">
                <a:solidFill>
                  <a:prstClr val="white"/>
                </a:solidFill>
                <a:latin typeface="Arial" panose="020B0604020202020204"/>
              </a:rPr>
              <a:t>theory</a:t>
            </a:r>
            <a:r>
              <a:rPr lang="de-DE" sz="2400" b="1" dirty="0">
                <a:solidFill>
                  <a:prstClr val="white"/>
                </a:solidFill>
                <a:latin typeface="Arial" panose="020B0604020202020204"/>
              </a:rPr>
              <a:t> </a:t>
            </a:r>
            <a:r>
              <a:rPr lang="de-DE" sz="2400" b="1" dirty="0" err="1">
                <a:solidFill>
                  <a:prstClr val="white"/>
                </a:solidFill>
                <a:latin typeface="Arial" panose="020B0604020202020204"/>
              </a:rPr>
              <a:t>testing</a:t>
            </a:r>
            <a:r>
              <a:rPr lang="de-DE" sz="2400" b="1" dirty="0">
                <a:solidFill>
                  <a:prstClr val="white"/>
                </a:solidFill>
                <a:latin typeface="Arial" panose="020B0604020202020204"/>
              </a:rPr>
              <a:t> </a:t>
            </a:r>
            <a:r>
              <a:rPr lang="de-DE" sz="2400" dirty="0">
                <a:solidFill>
                  <a:prstClr val="white"/>
                </a:solidFill>
                <a:latin typeface="Arial" panose="020B0604020202020204"/>
              </a:rPr>
              <a:t>and supported </a:t>
            </a:r>
            <a:r>
              <a:rPr lang="de-DE" sz="2400" b="1" dirty="0" err="1">
                <a:solidFill>
                  <a:prstClr val="white"/>
                </a:solidFill>
                <a:latin typeface="Arial" panose="020B0604020202020204"/>
              </a:rPr>
              <a:t>theory</a:t>
            </a:r>
            <a:r>
              <a:rPr lang="de-DE" sz="2400" b="1" dirty="0">
                <a:solidFill>
                  <a:prstClr val="white"/>
                </a:solidFill>
                <a:latin typeface="Arial" panose="020B0604020202020204"/>
              </a:rPr>
              <a:t> </a:t>
            </a:r>
            <a:r>
              <a:rPr lang="de-DE" sz="2400" b="1" dirty="0" err="1">
                <a:solidFill>
                  <a:prstClr val="white"/>
                </a:solidFill>
                <a:latin typeface="Arial" panose="020B0604020202020204"/>
              </a:rPr>
              <a:t>refinement</a:t>
            </a:r>
            <a:endParaRPr kumimoji="0" lang="de-DE" sz="24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60950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tx1">
                    <a:lumMod val="75000"/>
                    <a:lumOff val="25000"/>
                  </a:schemeClr>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Beyond traditional theory-model ontologies</a:t>
            </a:r>
          </a:p>
        </p:txBody>
      </p:sp>
    </p:spTree>
    <p:extLst>
      <p:ext uri="{BB962C8B-B14F-4D97-AF65-F5344CB8AC3E}">
        <p14:creationId xmlns:p14="http://schemas.microsoft.com/office/powerpoint/2010/main" val="13944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3" name="Group 10">
            <a:extLst>
              <a:ext uri="{FF2B5EF4-FFF2-40B4-BE49-F238E27FC236}">
                <a16:creationId xmlns:a16="http://schemas.microsoft.com/office/drawing/2014/main" id="{17E9EEE9-A215-45AE-B60A-126191E10182}"/>
              </a:ext>
            </a:extLst>
          </p:cNvPr>
          <p:cNvGrpSpPr/>
          <p:nvPr/>
        </p:nvGrpSpPr>
        <p:grpSpPr>
          <a:xfrm>
            <a:off x="1164505" y="4093463"/>
            <a:ext cx="212470" cy="262834"/>
            <a:chOff x="1205948" y="4943061"/>
            <a:chExt cx="251826" cy="278296"/>
          </a:xfrm>
        </p:grpSpPr>
        <p:sp>
          <p:nvSpPr>
            <p:cNvPr id="34" name="Freeform 11">
              <a:extLst>
                <a:ext uri="{FF2B5EF4-FFF2-40B4-BE49-F238E27FC236}">
                  <a16:creationId xmlns:a16="http://schemas.microsoft.com/office/drawing/2014/main" id="{47877D4B-CD0D-40E4-A205-E1B7492B1EEA}"/>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35" name="Freeform 12">
              <a:extLst>
                <a:ext uri="{FF2B5EF4-FFF2-40B4-BE49-F238E27FC236}">
                  <a16:creationId xmlns:a16="http://schemas.microsoft.com/office/drawing/2014/main" id="{69BFCA89-B5AF-4373-AA57-EDE2A509D228}"/>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36" name="Group 10">
            <a:extLst>
              <a:ext uri="{FF2B5EF4-FFF2-40B4-BE49-F238E27FC236}">
                <a16:creationId xmlns:a16="http://schemas.microsoft.com/office/drawing/2014/main" id="{3EBB8C24-0600-446B-9F3E-9B88F9FD26F3}"/>
              </a:ext>
            </a:extLst>
          </p:cNvPr>
          <p:cNvGrpSpPr/>
          <p:nvPr/>
        </p:nvGrpSpPr>
        <p:grpSpPr>
          <a:xfrm>
            <a:off x="3338598" y="4055342"/>
            <a:ext cx="212470" cy="262834"/>
            <a:chOff x="1205948" y="4943061"/>
            <a:chExt cx="251826" cy="278296"/>
          </a:xfrm>
        </p:grpSpPr>
        <p:sp>
          <p:nvSpPr>
            <p:cNvPr id="37" name="Freeform 11">
              <a:extLst>
                <a:ext uri="{FF2B5EF4-FFF2-40B4-BE49-F238E27FC236}">
                  <a16:creationId xmlns:a16="http://schemas.microsoft.com/office/drawing/2014/main" id="{DAA9BA29-E687-4361-B3E3-B217A3539EF2}"/>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3" name="Freeform 12">
              <a:extLst>
                <a:ext uri="{FF2B5EF4-FFF2-40B4-BE49-F238E27FC236}">
                  <a16:creationId xmlns:a16="http://schemas.microsoft.com/office/drawing/2014/main" id="{BF4FD88B-53AF-48E6-9B0B-B7B14DD0E28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45" name="Group 10">
            <a:extLst>
              <a:ext uri="{FF2B5EF4-FFF2-40B4-BE49-F238E27FC236}">
                <a16:creationId xmlns:a16="http://schemas.microsoft.com/office/drawing/2014/main" id="{BD880095-7A95-4980-8C89-6615699C2C9D}"/>
              </a:ext>
            </a:extLst>
          </p:cNvPr>
          <p:cNvGrpSpPr/>
          <p:nvPr/>
        </p:nvGrpSpPr>
        <p:grpSpPr>
          <a:xfrm>
            <a:off x="4770714" y="4069837"/>
            <a:ext cx="212470" cy="262834"/>
            <a:chOff x="1205948" y="4943061"/>
            <a:chExt cx="251826" cy="278296"/>
          </a:xfrm>
        </p:grpSpPr>
        <p:sp>
          <p:nvSpPr>
            <p:cNvPr id="46" name="Freeform 11">
              <a:extLst>
                <a:ext uri="{FF2B5EF4-FFF2-40B4-BE49-F238E27FC236}">
                  <a16:creationId xmlns:a16="http://schemas.microsoft.com/office/drawing/2014/main" id="{E445FD6F-DB92-47D0-BFB9-39AD454765E3}"/>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7" name="Freeform 12">
              <a:extLst>
                <a:ext uri="{FF2B5EF4-FFF2-40B4-BE49-F238E27FC236}">
                  <a16:creationId xmlns:a16="http://schemas.microsoft.com/office/drawing/2014/main" id="{E310CDA3-C8A6-4B65-BFCE-7EF17FFC790B}"/>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774594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grpSp>
        <p:nvGrpSpPr>
          <p:cNvPr id="45" name="Group 10">
            <a:extLst>
              <a:ext uri="{FF2B5EF4-FFF2-40B4-BE49-F238E27FC236}">
                <a16:creationId xmlns:a16="http://schemas.microsoft.com/office/drawing/2014/main" id="{2E8D62B9-C903-4762-8704-8C1AE6426AB8}"/>
              </a:ext>
            </a:extLst>
          </p:cNvPr>
          <p:cNvGrpSpPr/>
          <p:nvPr/>
        </p:nvGrpSpPr>
        <p:grpSpPr>
          <a:xfrm>
            <a:off x="1164505" y="4093463"/>
            <a:ext cx="212470" cy="262834"/>
            <a:chOff x="1205948" y="4943061"/>
            <a:chExt cx="251826" cy="278296"/>
          </a:xfrm>
        </p:grpSpPr>
        <p:sp>
          <p:nvSpPr>
            <p:cNvPr id="46" name="Freeform 11">
              <a:extLst>
                <a:ext uri="{FF2B5EF4-FFF2-40B4-BE49-F238E27FC236}">
                  <a16:creationId xmlns:a16="http://schemas.microsoft.com/office/drawing/2014/main" id="{807BD57D-5892-45AC-AD49-81018571856A}"/>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7" name="Freeform 12">
              <a:extLst>
                <a:ext uri="{FF2B5EF4-FFF2-40B4-BE49-F238E27FC236}">
                  <a16:creationId xmlns:a16="http://schemas.microsoft.com/office/drawing/2014/main" id="{1DD25430-98C6-4279-9E6C-64BCF58EACDD}"/>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57" name="Group 10">
            <a:extLst>
              <a:ext uri="{FF2B5EF4-FFF2-40B4-BE49-F238E27FC236}">
                <a16:creationId xmlns:a16="http://schemas.microsoft.com/office/drawing/2014/main" id="{6727E9DB-51BA-4018-AFD9-70A43791F0D6}"/>
              </a:ext>
            </a:extLst>
          </p:cNvPr>
          <p:cNvGrpSpPr/>
          <p:nvPr/>
        </p:nvGrpSpPr>
        <p:grpSpPr>
          <a:xfrm>
            <a:off x="3338598" y="4055342"/>
            <a:ext cx="212470" cy="262834"/>
            <a:chOff x="1205948" y="4943061"/>
            <a:chExt cx="251826" cy="278296"/>
          </a:xfrm>
        </p:grpSpPr>
        <p:sp>
          <p:nvSpPr>
            <p:cNvPr id="58" name="Freeform 11">
              <a:extLst>
                <a:ext uri="{FF2B5EF4-FFF2-40B4-BE49-F238E27FC236}">
                  <a16:creationId xmlns:a16="http://schemas.microsoft.com/office/drawing/2014/main" id="{499BAD2F-4F48-4058-A801-0DB9B738F19C}"/>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9" name="Freeform 12">
              <a:extLst>
                <a:ext uri="{FF2B5EF4-FFF2-40B4-BE49-F238E27FC236}">
                  <a16:creationId xmlns:a16="http://schemas.microsoft.com/office/drawing/2014/main" id="{A94DB92F-E63E-48C6-95DB-2FD32CDEDEA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60" name="Group 10">
            <a:extLst>
              <a:ext uri="{FF2B5EF4-FFF2-40B4-BE49-F238E27FC236}">
                <a16:creationId xmlns:a16="http://schemas.microsoft.com/office/drawing/2014/main" id="{4B0637D6-0464-4B31-B37F-3842FF79E3FC}"/>
              </a:ext>
            </a:extLst>
          </p:cNvPr>
          <p:cNvGrpSpPr/>
          <p:nvPr/>
        </p:nvGrpSpPr>
        <p:grpSpPr>
          <a:xfrm>
            <a:off x="4770714" y="4069837"/>
            <a:ext cx="212470" cy="262834"/>
            <a:chOff x="1205948" y="4943061"/>
            <a:chExt cx="251826" cy="278296"/>
          </a:xfrm>
        </p:grpSpPr>
        <p:sp>
          <p:nvSpPr>
            <p:cNvPr id="61" name="Freeform 11">
              <a:extLst>
                <a:ext uri="{FF2B5EF4-FFF2-40B4-BE49-F238E27FC236}">
                  <a16:creationId xmlns:a16="http://schemas.microsoft.com/office/drawing/2014/main" id="{0A318D4C-84F0-4C11-92FA-732E0B36567D}"/>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2" name="Freeform 12">
              <a:extLst>
                <a:ext uri="{FF2B5EF4-FFF2-40B4-BE49-F238E27FC236}">
                  <a16:creationId xmlns:a16="http://schemas.microsoft.com/office/drawing/2014/main" id="{8C2E7C8A-054C-4DD0-89F7-9DC57A9E0BC2}"/>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3094047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cxnSp>
        <p:nvCxnSpPr>
          <p:cNvPr id="4" name="Gerade Verbindung mit Pfeil 3">
            <a:extLst>
              <a:ext uri="{FF2B5EF4-FFF2-40B4-BE49-F238E27FC236}">
                <a16:creationId xmlns:a16="http://schemas.microsoft.com/office/drawing/2014/main" id="{31EA3BCB-F3ED-4125-8FF2-1AE71863877F}"/>
              </a:ext>
            </a:extLst>
          </p:cNvPr>
          <p:cNvCxnSpPr/>
          <p:nvPr/>
        </p:nvCxnSpPr>
        <p:spPr>
          <a:xfrm flipV="1">
            <a:off x="5486400" y="1828800"/>
            <a:ext cx="1219200" cy="312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923330"/>
          </a:xfrm>
          <a:prstGeom prst="rect">
            <a:avLst/>
          </a:prstGeom>
          <a:noFill/>
        </p:spPr>
        <p:txBody>
          <a:bodyPr wrap="square" rtlCol="0">
            <a:spAutoFit/>
          </a:bodyPr>
          <a:lstStyle/>
          <a:p>
            <a:r>
              <a:rPr lang="de-DE" b="1" i="1" dirty="0" err="1">
                <a:solidFill>
                  <a:schemeClr val="bg1"/>
                </a:solidFill>
              </a:rPr>
              <a:t>If</a:t>
            </a:r>
            <a:r>
              <a:rPr lang="de-DE" i="1" dirty="0">
                <a:solidFill>
                  <a:schemeClr val="bg1"/>
                </a:solidFill>
              </a:rPr>
              <a:t> </a:t>
            </a:r>
            <a:r>
              <a:rPr lang="de-DE" i="1" dirty="0" err="1">
                <a:solidFill>
                  <a:schemeClr val="bg1"/>
                </a:solidFill>
              </a:rPr>
              <a:t>we</a:t>
            </a:r>
            <a:r>
              <a:rPr lang="de-DE" i="1" dirty="0">
                <a:solidFill>
                  <a:schemeClr val="bg1"/>
                </a:solidFill>
              </a:rPr>
              <a:t> </a:t>
            </a:r>
            <a:r>
              <a:rPr lang="de-DE" i="1" dirty="0" err="1">
                <a:solidFill>
                  <a:schemeClr val="bg1"/>
                </a:solidFill>
              </a:rPr>
              <a:t>assume</a:t>
            </a:r>
            <a:r>
              <a:rPr lang="de-DE" i="1" dirty="0">
                <a:solidFill>
                  <a:schemeClr val="bg1"/>
                </a:solidFill>
              </a:rPr>
              <a:t> </a:t>
            </a:r>
            <a:r>
              <a:rPr lang="de-DE" i="1" dirty="0" err="1">
                <a:solidFill>
                  <a:schemeClr val="bg1"/>
                </a:solidFill>
              </a:rPr>
              <a:t>that</a:t>
            </a:r>
            <a:r>
              <a:rPr lang="de-DE" i="1" dirty="0">
                <a:solidFill>
                  <a:schemeClr val="bg1"/>
                </a:solidFill>
              </a:rPr>
              <a:t> all </a:t>
            </a:r>
            <a:r>
              <a:rPr lang="de-DE" i="1" dirty="0" err="1">
                <a:solidFill>
                  <a:schemeClr val="bg1"/>
                </a:solidFill>
              </a:rPr>
              <a:t>items</a:t>
            </a:r>
            <a:r>
              <a:rPr lang="de-DE" i="1" dirty="0">
                <a:solidFill>
                  <a:schemeClr val="bg1"/>
                </a:solidFill>
              </a:rPr>
              <a:t> </a:t>
            </a:r>
            <a:r>
              <a:rPr lang="de-DE" i="1" dirty="0" err="1">
                <a:solidFill>
                  <a:schemeClr val="bg1"/>
                </a:solidFill>
              </a:rPr>
              <a:t>measure</a:t>
            </a:r>
            <a:r>
              <a:rPr lang="de-DE" i="1" dirty="0">
                <a:solidFill>
                  <a:schemeClr val="bg1"/>
                </a:solidFill>
              </a:rPr>
              <a:t> </a:t>
            </a:r>
            <a:r>
              <a:rPr lang="de-DE" i="1" dirty="0" err="1">
                <a:solidFill>
                  <a:schemeClr val="bg1"/>
                </a:solidFill>
              </a:rPr>
              <a:t>knowledge</a:t>
            </a:r>
            <a:r>
              <a:rPr lang="de-DE" i="1" dirty="0">
                <a:solidFill>
                  <a:schemeClr val="bg1"/>
                </a:solidFill>
              </a:rPr>
              <a:t> </a:t>
            </a:r>
            <a:r>
              <a:rPr lang="de-DE" i="1" dirty="0" err="1">
                <a:solidFill>
                  <a:schemeClr val="bg1"/>
                </a:solidFill>
              </a:rPr>
              <a:t>about</a:t>
            </a:r>
            <a:r>
              <a:rPr lang="de-DE" i="1" dirty="0">
                <a:solidFill>
                  <a:schemeClr val="bg1"/>
                </a:solidFill>
              </a:rPr>
              <a:t> </a:t>
            </a:r>
            <a:r>
              <a:rPr lang="de-DE" i="1" dirty="0" err="1">
                <a:solidFill>
                  <a:schemeClr val="bg1"/>
                </a:solidFill>
              </a:rPr>
              <a:t>floating</a:t>
            </a:r>
            <a:r>
              <a:rPr lang="de-DE" i="1" dirty="0">
                <a:solidFill>
                  <a:schemeClr val="bg1"/>
                </a:solidFill>
              </a:rPr>
              <a:t> and </a:t>
            </a:r>
            <a:r>
              <a:rPr lang="de-DE" i="1" dirty="0" err="1">
                <a:solidFill>
                  <a:schemeClr val="bg1"/>
                </a:solidFill>
              </a:rPr>
              <a:t>sinking</a:t>
            </a:r>
            <a:r>
              <a:rPr lang="de-DE" i="1" dirty="0">
                <a:solidFill>
                  <a:schemeClr val="bg1"/>
                </a:solidFill>
              </a:rPr>
              <a:t>, </a:t>
            </a:r>
            <a:r>
              <a:rPr lang="de-DE" b="1" i="1" dirty="0" err="1">
                <a:solidFill>
                  <a:schemeClr val="bg1"/>
                </a:solidFill>
              </a:rPr>
              <a:t>then</a:t>
            </a:r>
            <a:r>
              <a:rPr lang="de-DE" i="1" dirty="0">
                <a:solidFill>
                  <a:schemeClr val="bg1"/>
                </a:solidFill>
              </a:rPr>
              <a:t> a </a:t>
            </a:r>
            <a:r>
              <a:rPr lang="de-DE" i="1" dirty="0" err="1">
                <a:solidFill>
                  <a:schemeClr val="bg1"/>
                </a:solidFill>
              </a:rPr>
              <a:t>factor</a:t>
            </a:r>
            <a:r>
              <a:rPr lang="de-DE" i="1" dirty="0">
                <a:solidFill>
                  <a:schemeClr val="bg1"/>
                </a:solidFill>
              </a:rPr>
              <a:t> </a:t>
            </a:r>
            <a:r>
              <a:rPr lang="de-DE" i="1" dirty="0" err="1">
                <a:solidFill>
                  <a:schemeClr val="bg1"/>
                </a:solidFill>
              </a:rPr>
              <a:t>model</a:t>
            </a:r>
            <a:r>
              <a:rPr lang="de-DE" i="1" dirty="0">
                <a:solidFill>
                  <a:schemeClr val="bg1"/>
                </a:solidFill>
              </a:rPr>
              <a:t> </a:t>
            </a:r>
            <a:r>
              <a:rPr lang="de-DE" i="1" dirty="0" err="1">
                <a:solidFill>
                  <a:schemeClr val="bg1"/>
                </a:solidFill>
              </a:rPr>
              <a:t>postulating</a:t>
            </a:r>
            <a:r>
              <a:rPr lang="de-DE" i="1" dirty="0">
                <a:solidFill>
                  <a:schemeClr val="bg1"/>
                </a:solidFill>
              </a:rPr>
              <a:t> </a:t>
            </a:r>
            <a:r>
              <a:rPr lang="de-DE" i="1" dirty="0" err="1">
                <a:solidFill>
                  <a:schemeClr val="bg1"/>
                </a:solidFill>
              </a:rPr>
              <a:t>one</a:t>
            </a:r>
            <a:r>
              <a:rPr lang="de-DE" i="1" dirty="0">
                <a:solidFill>
                  <a:schemeClr val="bg1"/>
                </a:solidFill>
              </a:rPr>
              <a:t> </a:t>
            </a:r>
            <a:r>
              <a:rPr lang="de-DE" i="1" dirty="0" err="1">
                <a:solidFill>
                  <a:schemeClr val="bg1"/>
                </a:solidFill>
              </a:rPr>
              <a:t>common</a:t>
            </a:r>
            <a:r>
              <a:rPr lang="de-DE" i="1" dirty="0">
                <a:solidFill>
                  <a:schemeClr val="bg1"/>
                </a:solidFill>
              </a:rPr>
              <a:t> </a:t>
            </a:r>
            <a:r>
              <a:rPr lang="de-DE" i="1" dirty="0" err="1">
                <a:solidFill>
                  <a:schemeClr val="bg1"/>
                </a:solidFill>
              </a:rPr>
              <a:t>factor</a:t>
            </a:r>
            <a:r>
              <a:rPr lang="de-DE" i="1" dirty="0">
                <a:solidFill>
                  <a:schemeClr val="bg1"/>
                </a:solidFill>
              </a:rPr>
              <a:t> must fit </a:t>
            </a:r>
            <a:r>
              <a:rPr lang="de-DE" i="1" dirty="0" err="1">
                <a:solidFill>
                  <a:schemeClr val="bg1"/>
                </a:solidFill>
              </a:rPr>
              <a:t>to</a:t>
            </a:r>
            <a:r>
              <a:rPr lang="de-DE" i="1" dirty="0">
                <a:solidFill>
                  <a:schemeClr val="bg1"/>
                </a:solidFill>
              </a:rPr>
              <a:t> </a:t>
            </a:r>
            <a:r>
              <a:rPr lang="de-DE" i="1" dirty="0" err="1">
                <a:solidFill>
                  <a:schemeClr val="bg1"/>
                </a:solidFill>
              </a:rPr>
              <a:t>our</a:t>
            </a:r>
            <a:r>
              <a:rPr lang="de-DE" i="1" dirty="0">
                <a:solidFill>
                  <a:schemeClr val="bg1"/>
                </a:solidFill>
              </a:rPr>
              <a:t> </a:t>
            </a:r>
            <a:r>
              <a:rPr lang="de-DE" i="1" dirty="0" err="1">
                <a:solidFill>
                  <a:schemeClr val="bg1"/>
                </a:solidFill>
              </a:rPr>
              <a:t>data</a:t>
            </a:r>
            <a:endParaRPr lang="de-DE" b="1" i="1"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Ruling of </a:t>
            </a:r>
            <a:r>
              <a:rPr lang="en-US" b="1" dirty="0">
                <a:solidFill>
                  <a:prstClr val="white"/>
                </a:solidFill>
              </a:rPr>
              <a:t>factor analysis ritual</a:t>
            </a:r>
            <a:endParaRPr kumimoji="0" lang="en-US" sz="6000" b="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grpSp>
        <p:nvGrpSpPr>
          <p:cNvPr id="74" name="Group 10">
            <a:extLst>
              <a:ext uri="{FF2B5EF4-FFF2-40B4-BE49-F238E27FC236}">
                <a16:creationId xmlns:a16="http://schemas.microsoft.com/office/drawing/2014/main" id="{F5552ED4-4CC9-45A8-9B7E-8C7FD30AC4F4}"/>
              </a:ext>
            </a:extLst>
          </p:cNvPr>
          <p:cNvGrpSpPr/>
          <p:nvPr/>
        </p:nvGrpSpPr>
        <p:grpSpPr>
          <a:xfrm>
            <a:off x="1164505" y="4093463"/>
            <a:ext cx="212470" cy="262834"/>
            <a:chOff x="1205948" y="4943061"/>
            <a:chExt cx="251826" cy="278296"/>
          </a:xfrm>
        </p:grpSpPr>
        <p:sp>
          <p:nvSpPr>
            <p:cNvPr id="75" name="Freeform 11">
              <a:extLst>
                <a:ext uri="{FF2B5EF4-FFF2-40B4-BE49-F238E27FC236}">
                  <a16:creationId xmlns:a16="http://schemas.microsoft.com/office/drawing/2014/main" id="{D6951C78-278A-4B92-BF6B-97BFEA509FCC}"/>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76" name="Freeform 12">
              <a:extLst>
                <a:ext uri="{FF2B5EF4-FFF2-40B4-BE49-F238E27FC236}">
                  <a16:creationId xmlns:a16="http://schemas.microsoft.com/office/drawing/2014/main" id="{54BB53B2-9251-4549-99D3-A1C2E8EF98E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77" name="Group 10">
            <a:extLst>
              <a:ext uri="{FF2B5EF4-FFF2-40B4-BE49-F238E27FC236}">
                <a16:creationId xmlns:a16="http://schemas.microsoft.com/office/drawing/2014/main" id="{446ABFF8-EA32-4A0E-8EE4-34CB302ED476}"/>
              </a:ext>
            </a:extLst>
          </p:cNvPr>
          <p:cNvGrpSpPr/>
          <p:nvPr/>
        </p:nvGrpSpPr>
        <p:grpSpPr>
          <a:xfrm>
            <a:off x="3338598" y="4055342"/>
            <a:ext cx="212470" cy="262834"/>
            <a:chOff x="1205948" y="4943061"/>
            <a:chExt cx="251826" cy="278296"/>
          </a:xfrm>
        </p:grpSpPr>
        <p:sp>
          <p:nvSpPr>
            <p:cNvPr id="78" name="Freeform 11">
              <a:extLst>
                <a:ext uri="{FF2B5EF4-FFF2-40B4-BE49-F238E27FC236}">
                  <a16:creationId xmlns:a16="http://schemas.microsoft.com/office/drawing/2014/main" id="{9BBEEC8A-7F26-460F-8BA2-E32CAC137433}"/>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79" name="Freeform 12">
              <a:extLst>
                <a:ext uri="{FF2B5EF4-FFF2-40B4-BE49-F238E27FC236}">
                  <a16:creationId xmlns:a16="http://schemas.microsoft.com/office/drawing/2014/main" id="{A88D62AD-AD0C-47F1-B9F0-2143047EADB4}"/>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80" name="Group 10">
            <a:extLst>
              <a:ext uri="{FF2B5EF4-FFF2-40B4-BE49-F238E27FC236}">
                <a16:creationId xmlns:a16="http://schemas.microsoft.com/office/drawing/2014/main" id="{869B0961-9744-49F3-A347-2AEFD248D78E}"/>
              </a:ext>
            </a:extLst>
          </p:cNvPr>
          <p:cNvGrpSpPr/>
          <p:nvPr/>
        </p:nvGrpSpPr>
        <p:grpSpPr>
          <a:xfrm>
            <a:off x="4770714" y="4069837"/>
            <a:ext cx="212470" cy="262834"/>
            <a:chOff x="1205948" y="4943061"/>
            <a:chExt cx="251826" cy="278296"/>
          </a:xfrm>
        </p:grpSpPr>
        <p:sp>
          <p:nvSpPr>
            <p:cNvPr id="81" name="Freeform 11">
              <a:extLst>
                <a:ext uri="{FF2B5EF4-FFF2-40B4-BE49-F238E27FC236}">
                  <a16:creationId xmlns:a16="http://schemas.microsoft.com/office/drawing/2014/main" id="{2538FD23-4EFE-450A-9165-3B76861136C9}"/>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82" name="Freeform 12">
              <a:extLst>
                <a:ext uri="{FF2B5EF4-FFF2-40B4-BE49-F238E27FC236}">
                  <a16:creationId xmlns:a16="http://schemas.microsoft.com/office/drawing/2014/main" id="{F0B42F56-40E1-414C-98E0-69A18C7C01B2}"/>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spTree>
    <p:extLst>
      <p:ext uri="{BB962C8B-B14F-4D97-AF65-F5344CB8AC3E}">
        <p14:creationId xmlns:p14="http://schemas.microsoft.com/office/powerpoint/2010/main" val="2462396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E829C933-E7E0-49A4-93CF-1F833D348CC8}"/>
              </a:ext>
            </a:extLst>
          </p:cNvPr>
          <p:cNvSpPr txBox="1"/>
          <p:nvPr/>
        </p:nvSpPr>
        <p:spPr>
          <a:xfrm>
            <a:off x="515352" y="4378109"/>
            <a:ext cx="5183656" cy="369332"/>
          </a:xfrm>
          <a:prstGeom prst="rect">
            <a:avLst/>
          </a:prstGeom>
          <a:noFill/>
        </p:spPr>
        <p:txBody>
          <a:bodyPr wrap="square" rtlCol="0">
            <a:spAutoFit/>
          </a:bodyPr>
          <a:lstStyle/>
          <a:p>
            <a:r>
              <a:rPr lang="de-DE" dirty="0">
                <a:solidFill>
                  <a:schemeClr val="bg1"/>
                </a:solidFill>
              </a:rPr>
              <a:t>Responses </a:t>
            </a:r>
            <a:r>
              <a:rPr lang="de-DE" dirty="0" err="1">
                <a:solidFill>
                  <a:schemeClr val="bg1"/>
                </a:solidFill>
              </a:rPr>
              <a:t>to</a:t>
            </a:r>
            <a:r>
              <a:rPr lang="de-DE" dirty="0">
                <a:solidFill>
                  <a:schemeClr val="bg1"/>
                </a:solidFill>
              </a:rPr>
              <a:t> </a:t>
            </a:r>
            <a:r>
              <a:rPr lang="de-DE" dirty="0" err="1">
                <a:solidFill>
                  <a:schemeClr val="bg1"/>
                </a:solidFill>
              </a:rPr>
              <a:t>items</a:t>
            </a:r>
            <a:r>
              <a:rPr lang="de-DE" dirty="0">
                <a:solidFill>
                  <a:schemeClr val="bg1"/>
                </a:solidFill>
              </a:rPr>
              <a:t> </a:t>
            </a:r>
            <a:r>
              <a:rPr lang="de-DE" b="1" dirty="0" err="1">
                <a:solidFill>
                  <a:schemeClr val="bg1"/>
                </a:solidFill>
              </a:rPr>
              <a:t>correlate</a:t>
            </a:r>
            <a:r>
              <a:rPr lang="de-DE" dirty="0">
                <a:solidFill>
                  <a:schemeClr val="bg1"/>
                </a:solidFill>
              </a:rPr>
              <a:t> </a:t>
            </a:r>
            <a:r>
              <a:rPr lang="de-DE" dirty="0" err="1">
                <a:solidFill>
                  <a:schemeClr val="bg1"/>
                </a:solidFill>
              </a:rPr>
              <a:t>with</a:t>
            </a:r>
            <a:r>
              <a:rPr lang="de-DE" dirty="0">
                <a:solidFill>
                  <a:schemeClr val="bg1"/>
                </a:solidFill>
              </a:rPr>
              <a:t> </a:t>
            </a:r>
            <a:r>
              <a:rPr lang="de-DE" dirty="0" err="1">
                <a:solidFill>
                  <a:schemeClr val="bg1"/>
                </a:solidFill>
              </a:rPr>
              <a:t>one</a:t>
            </a:r>
            <a:r>
              <a:rPr lang="de-DE" dirty="0">
                <a:solidFill>
                  <a:schemeClr val="bg1"/>
                </a:solidFill>
              </a:rPr>
              <a:t> </a:t>
            </a:r>
            <a:r>
              <a:rPr lang="de-DE" dirty="0" err="1">
                <a:solidFill>
                  <a:schemeClr val="bg1"/>
                </a:solidFill>
              </a:rPr>
              <a:t>another</a:t>
            </a:r>
            <a:endParaRPr lang="de-DE" dirty="0">
              <a:solidFill>
                <a:schemeClr val="bg1"/>
              </a:solidFill>
            </a:endParaRPr>
          </a:p>
        </p:txBody>
      </p: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0548"/>
          <a:stretch/>
        </p:blipFill>
        <p:spPr bwMode="auto">
          <a:xfrm>
            <a:off x="-2777477" y="1584203"/>
            <a:ext cx="1892276" cy="640819"/>
          </a:xfrm>
          <a:prstGeom prst="rect">
            <a:avLst/>
          </a:prstGeom>
          <a:noFill/>
          <a:extLst>
            <a:ext uri="{909E8E84-426E-40DD-AFC4-6F175D3DCCD1}">
              <a14:hiddenFill xmlns:a14="http://schemas.microsoft.com/office/drawing/2010/main">
                <a:solidFill>
                  <a:srgbClr val="FFFFFF"/>
                </a:solidFill>
              </a14:hiddenFill>
            </a:ext>
          </a:extLst>
        </p:spPr>
      </p:pic>
      <p:sp>
        <p:nvSpPr>
          <p:cNvPr id="38" name="Rechteck 37">
            <a:extLst>
              <a:ext uri="{FF2B5EF4-FFF2-40B4-BE49-F238E27FC236}">
                <a16:creationId xmlns:a16="http://schemas.microsoft.com/office/drawing/2014/main" id="{FB99774F-6F64-4226-9257-616A0A61D894}"/>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39" name="Rechteck 38">
            <a:extLst>
              <a:ext uri="{FF2B5EF4-FFF2-40B4-BE49-F238E27FC236}">
                <a16:creationId xmlns:a16="http://schemas.microsoft.com/office/drawing/2014/main" id="{CE9DFB82-2C70-44D6-88BE-72989D87B345}"/>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40" name="Rechteck 39">
            <a:extLst>
              <a:ext uri="{FF2B5EF4-FFF2-40B4-BE49-F238E27FC236}">
                <a16:creationId xmlns:a16="http://schemas.microsoft.com/office/drawing/2014/main" id="{FA010F2A-A66B-47FD-91CC-EB261A6ECDE8}"/>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41" name="Verbinder: gekrümmt 40">
            <a:extLst>
              <a:ext uri="{FF2B5EF4-FFF2-40B4-BE49-F238E27FC236}">
                <a16:creationId xmlns:a16="http://schemas.microsoft.com/office/drawing/2014/main" id="{C6D994A8-95BE-4EA6-BBB1-5005EBAEED35}"/>
              </a:ext>
            </a:extLst>
          </p:cNvPr>
          <p:cNvCxnSpPr>
            <a:cxnSpLocks/>
            <a:stCxn id="38" idx="2"/>
            <a:endCxn id="39"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krümmt 41">
            <a:extLst>
              <a:ext uri="{FF2B5EF4-FFF2-40B4-BE49-F238E27FC236}">
                <a16:creationId xmlns:a16="http://schemas.microsoft.com/office/drawing/2014/main" id="{C6B5C423-FA45-4380-80AD-8C37BD22C6CF}"/>
              </a:ext>
            </a:extLst>
          </p:cNvPr>
          <p:cNvCxnSpPr>
            <a:cxnSpLocks/>
            <a:stCxn id="39" idx="2"/>
            <a:endCxn id="40"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krümmt 43">
            <a:extLst>
              <a:ext uri="{FF2B5EF4-FFF2-40B4-BE49-F238E27FC236}">
                <a16:creationId xmlns:a16="http://schemas.microsoft.com/office/drawing/2014/main" id="{621C36DE-5072-41FC-9F35-F4179440DE13}"/>
              </a:ext>
            </a:extLst>
          </p:cNvPr>
          <p:cNvCxnSpPr>
            <a:cxnSpLocks/>
            <a:stCxn id="38" idx="2"/>
            <a:endCxn id="40"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10">
            <a:extLst>
              <a:ext uri="{FF2B5EF4-FFF2-40B4-BE49-F238E27FC236}">
                <a16:creationId xmlns:a16="http://schemas.microsoft.com/office/drawing/2014/main" id="{24BE6C6B-D229-42CE-BA21-4C9EA7F7A21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26"/>
          <a:stretch/>
        </p:blipFill>
        <p:spPr bwMode="auto">
          <a:xfrm>
            <a:off x="-2401650" y="1695731"/>
            <a:ext cx="2270125" cy="2512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feld 12">
            <a:extLst>
              <a:ext uri="{FF2B5EF4-FFF2-40B4-BE49-F238E27FC236}">
                <a16:creationId xmlns:a16="http://schemas.microsoft.com/office/drawing/2014/main" id="{1935B918-23EC-4041-9B60-663730A5964E}"/>
              </a:ext>
            </a:extLst>
          </p:cNvPr>
          <p:cNvSpPr txBox="1"/>
          <p:nvPr/>
        </p:nvSpPr>
        <p:spPr>
          <a:xfrm>
            <a:off x="949613" y="3429000"/>
            <a:ext cx="1115175" cy="276999"/>
          </a:xfrm>
          <a:prstGeom prst="rect">
            <a:avLst/>
          </a:prstGeom>
          <a:solidFill>
            <a:schemeClr val="bg1"/>
          </a:solidFill>
        </p:spPr>
        <p:txBody>
          <a:bodyPr wrap="square" rtlCol="0">
            <a:spAutoFit/>
          </a:bodyPr>
          <a:lstStyle/>
          <a:p>
            <a:r>
              <a:rPr lang="de-DE" sz="1200" dirty="0"/>
              <a:t>a </a:t>
            </a:r>
            <a:r>
              <a:rPr lang="de-DE" sz="1200" dirty="0" err="1"/>
              <a:t>metal</a:t>
            </a:r>
            <a:r>
              <a:rPr lang="de-DE" sz="1200" dirty="0"/>
              <a:t> </a:t>
            </a:r>
            <a:r>
              <a:rPr lang="de-DE" sz="1200" dirty="0" err="1"/>
              <a:t>cube</a:t>
            </a:r>
            <a:endParaRPr lang="de-DE" sz="1200" dirty="0"/>
          </a:p>
        </p:txBody>
      </p:sp>
      <p:sp>
        <p:nvSpPr>
          <p:cNvPr id="49" name="Textfeld 48">
            <a:extLst>
              <a:ext uri="{FF2B5EF4-FFF2-40B4-BE49-F238E27FC236}">
                <a16:creationId xmlns:a16="http://schemas.microsoft.com/office/drawing/2014/main" id="{5BE75A06-7CB0-4632-8185-E2889F21518B}"/>
              </a:ext>
            </a:extLst>
          </p:cNvPr>
          <p:cNvSpPr txBox="1"/>
          <p:nvPr/>
        </p:nvSpPr>
        <p:spPr>
          <a:xfrm>
            <a:off x="2333471" y="3429000"/>
            <a:ext cx="1115175" cy="276999"/>
          </a:xfrm>
          <a:prstGeom prst="rect">
            <a:avLst/>
          </a:prstGeom>
          <a:solidFill>
            <a:schemeClr val="bg1"/>
          </a:solidFill>
        </p:spPr>
        <p:txBody>
          <a:bodyPr wrap="square" rtlCol="0">
            <a:spAutoFit/>
          </a:bodyPr>
          <a:lstStyle/>
          <a:p>
            <a:r>
              <a:rPr lang="de-DE" sz="1200" dirty="0"/>
              <a:t>a </a:t>
            </a:r>
            <a:r>
              <a:rPr lang="de-DE" sz="1200" dirty="0" err="1"/>
              <a:t>cork</a:t>
            </a:r>
            <a:r>
              <a:rPr lang="de-DE" sz="1200" dirty="0"/>
              <a:t> </a:t>
            </a:r>
            <a:r>
              <a:rPr lang="de-DE" sz="1200" dirty="0" err="1"/>
              <a:t>cube</a:t>
            </a:r>
            <a:endParaRPr lang="de-DE" sz="1200" dirty="0"/>
          </a:p>
        </p:txBody>
      </p:sp>
      <p:sp>
        <p:nvSpPr>
          <p:cNvPr id="50" name="Textfeld 49">
            <a:extLst>
              <a:ext uri="{FF2B5EF4-FFF2-40B4-BE49-F238E27FC236}">
                <a16:creationId xmlns:a16="http://schemas.microsoft.com/office/drawing/2014/main" id="{3A76D222-E5D8-4328-937F-4029D19A2E17}"/>
              </a:ext>
            </a:extLst>
          </p:cNvPr>
          <p:cNvSpPr txBox="1"/>
          <p:nvPr/>
        </p:nvSpPr>
        <p:spPr>
          <a:xfrm>
            <a:off x="3717329" y="3429000"/>
            <a:ext cx="1250016" cy="276999"/>
          </a:xfrm>
          <a:prstGeom prst="rect">
            <a:avLst/>
          </a:prstGeom>
          <a:solidFill>
            <a:schemeClr val="bg1"/>
          </a:solidFill>
        </p:spPr>
        <p:txBody>
          <a:bodyPr wrap="square" rtlCol="0">
            <a:spAutoFit/>
          </a:bodyPr>
          <a:lstStyle/>
          <a:p>
            <a:r>
              <a:rPr lang="de-DE" sz="1200" dirty="0"/>
              <a:t>a </a:t>
            </a:r>
            <a:r>
              <a:rPr lang="de-DE" sz="1200" dirty="0" err="1"/>
              <a:t>wooden</a:t>
            </a:r>
            <a:r>
              <a:rPr lang="de-DE" sz="1200" dirty="0"/>
              <a:t> </a:t>
            </a:r>
            <a:r>
              <a:rPr lang="de-DE" sz="1200" dirty="0" err="1"/>
              <a:t>cube</a:t>
            </a:r>
            <a:endParaRPr lang="de-DE" sz="1200" dirty="0"/>
          </a:p>
        </p:txBody>
      </p:sp>
      <p:pic>
        <p:nvPicPr>
          <p:cNvPr id="51" name="Picture 10">
            <a:extLst>
              <a:ext uri="{FF2B5EF4-FFF2-40B4-BE49-F238E27FC236}">
                <a16:creationId xmlns:a16="http://schemas.microsoft.com/office/drawing/2014/main" id="{96A9716A-A8BA-4D23-A522-54D86F7EF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292" t="15218" r="42872" b="78284"/>
          <a:stretch/>
        </p:blipFill>
        <p:spPr bwMode="auto">
          <a:xfrm>
            <a:off x="1232938" y="3707955"/>
            <a:ext cx="567798" cy="384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10">
            <a:extLst>
              <a:ext uri="{FF2B5EF4-FFF2-40B4-BE49-F238E27FC236}">
                <a16:creationId xmlns:a16="http://schemas.microsoft.com/office/drawing/2014/main" id="{0D278EB5-1190-42D5-851F-32E5AF928C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848" t="34151" r="44481" b="59741"/>
          <a:stretch/>
        </p:blipFill>
        <p:spPr bwMode="auto">
          <a:xfrm>
            <a:off x="2664449" y="3701217"/>
            <a:ext cx="442560" cy="384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a:extLst>
              <a:ext uri="{FF2B5EF4-FFF2-40B4-BE49-F238E27FC236}">
                <a16:creationId xmlns:a16="http://schemas.microsoft.com/office/drawing/2014/main" id="{38D269DE-ED2E-440C-A397-028FD99466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616" t="52670" r="45571" b="41739"/>
          <a:stretch/>
        </p:blipFill>
        <p:spPr bwMode="auto">
          <a:xfrm>
            <a:off x="4114980" y="3695788"/>
            <a:ext cx="437733" cy="386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feld 53">
            <a:extLst>
              <a:ext uri="{FF2B5EF4-FFF2-40B4-BE49-F238E27FC236}">
                <a16:creationId xmlns:a16="http://schemas.microsoft.com/office/drawing/2014/main" id="{E5684CE4-9233-4ED2-9B18-0AC735522ED0}"/>
              </a:ext>
            </a:extLst>
          </p:cNvPr>
          <p:cNvSpPr txBox="1"/>
          <p:nvPr/>
        </p:nvSpPr>
        <p:spPr>
          <a:xfrm>
            <a:off x="777388"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14" name="Rechteck 13">
            <a:extLst>
              <a:ext uri="{FF2B5EF4-FFF2-40B4-BE49-F238E27FC236}">
                <a16:creationId xmlns:a16="http://schemas.microsoft.com/office/drawing/2014/main" id="{CB420327-19D4-4CFA-82DF-FAA63B5884D4}"/>
              </a:ext>
            </a:extLst>
          </p:cNvPr>
          <p:cNvSpPr/>
          <p:nvPr/>
        </p:nvSpPr>
        <p:spPr>
          <a:xfrm>
            <a:off x="1238681"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a:extLst>
              <a:ext uri="{FF2B5EF4-FFF2-40B4-BE49-F238E27FC236}">
                <a16:creationId xmlns:a16="http://schemas.microsoft.com/office/drawing/2014/main" id="{97F256C3-85AE-48C8-9FAD-C453EB841C4B}"/>
              </a:ext>
            </a:extLst>
          </p:cNvPr>
          <p:cNvSpPr/>
          <p:nvPr/>
        </p:nvSpPr>
        <p:spPr>
          <a:xfrm>
            <a:off x="2004463"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Textfeld 66">
            <a:extLst>
              <a:ext uri="{FF2B5EF4-FFF2-40B4-BE49-F238E27FC236}">
                <a16:creationId xmlns:a16="http://schemas.microsoft.com/office/drawing/2014/main" id="{559D80BE-4D96-46B8-BDE8-9D3F333AC55C}"/>
              </a:ext>
            </a:extLst>
          </p:cNvPr>
          <p:cNvSpPr txBox="1"/>
          <p:nvPr/>
        </p:nvSpPr>
        <p:spPr>
          <a:xfrm>
            <a:off x="2198387"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68" name="Rechteck 67">
            <a:extLst>
              <a:ext uri="{FF2B5EF4-FFF2-40B4-BE49-F238E27FC236}">
                <a16:creationId xmlns:a16="http://schemas.microsoft.com/office/drawing/2014/main" id="{A9148A50-AD38-4FB0-9B59-01914D8C8DBF}"/>
              </a:ext>
            </a:extLst>
          </p:cNvPr>
          <p:cNvSpPr/>
          <p:nvPr/>
        </p:nvSpPr>
        <p:spPr>
          <a:xfrm>
            <a:off x="2659680"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0A17D2EF-F1E8-478D-A90F-722D8CDE061A}"/>
              </a:ext>
            </a:extLst>
          </p:cNvPr>
          <p:cNvSpPr/>
          <p:nvPr/>
        </p:nvSpPr>
        <p:spPr>
          <a:xfrm>
            <a:off x="3425462"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Textfeld 69">
            <a:extLst>
              <a:ext uri="{FF2B5EF4-FFF2-40B4-BE49-F238E27FC236}">
                <a16:creationId xmlns:a16="http://schemas.microsoft.com/office/drawing/2014/main" id="{DDA171B3-AEF4-497B-B93B-4C6074C4A221}"/>
              </a:ext>
            </a:extLst>
          </p:cNvPr>
          <p:cNvSpPr txBox="1"/>
          <p:nvPr/>
        </p:nvSpPr>
        <p:spPr>
          <a:xfrm>
            <a:off x="3628672" y="4079298"/>
            <a:ext cx="1404642" cy="276999"/>
          </a:xfrm>
          <a:prstGeom prst="rect">
            <a:avLst/>
          </a:prstGeom>
          <a:solidFill>
            <a:schemeClr val="bg1"/>
          </a:solidFill>
        </p:spPr>
        <p:txBody>
          <a:bodyPr wrap="square" rtlCol="0">
            <a:spAutoFit/>
          </a:bodyPr>
          <a:lstStyle/>
          <a:p>
            <a:r>
              <a:rPr lang="de-DE" sz="1200" dirty="0" err="1"/>
              <a:t>sinks</a:t>
            </a:r>
            <a:r>
              <a:rPr lang="de-DE" sz="1200" dirty="0"/>
              <a:t>         </a:t>
            </a:r>
            <a:r>
              <a:rPr lang="de-DE" sz="1200" dirty="0" err="1"/>
              <a:t>floats</a:t>
            </a:r>
            <a:endParaRPr lang="de-DE" sz="1200" dirty="0"/>
          </a:p>
        </p:txBody>
      </p:sp>
      <p:sp>
        <p:nvSpPr>
          <p:cNvPr id="71" name="Rechteck 70">
            <a:extLst>
              <a:ext uri="{FF2B5EF4-FFF2-40B4-BE49-F238E27FC236}">
                <a16:creationId xmlns:a16="http://schemas.microsoft.com/office/drawing/2014/main" id="{4452F347-CA5D-46DB-B790-428A8010CF0F}"/>
              </a:ext>
            </a:extLst>
          </p:cNvPr>
          <p:cNvSpPr/>
          <p:nvPr/>
        </p:nvSpPr>
        <p:spPr>
          <a:xfrm>
            <a:off x="4089965"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10714745-6BD6-41E9-9CEC-5C2A7B7362ED}"/>
              </a:ext>
            </a:extLst>
          </p:cNvPr>
          <p:cNvSpPr/>
          <p:nvPr/>
        </p:nvSpPr>
        <p:spPr>
          <a:xfrm>
            <a:off x="4855747" y="4158868"/>
            <a:ext cx="120650" cy="11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E129EBB2-3992-4D03-97A1-A3BAC08B1613}"/>
              </a:ext>
            </a:extLst>
          </p:cNvPr>
          <p:cNvSpPr txBox="1"/>
          <p:nvPr/>
        </p:nvSpPr>
        <p:spPr>
          <a:xfrm>
            <a:off x="515352" y="4742220"/>
            <a:ext cx="5183656" cy="646331"/>
          </a:xfrm>
          <a:prstGeom prst="rect">
            <a:avLst/>
          </a:prstGeom>
          <a:noFill/>
        </p:spPr>
        <p:txBody>
          <a:bodyPr wrap="square" rtlCol="0">
            <a:spAutoFit/>
          </a:bodyPr>
          <a:lstStyle/>
          <a:p>
            <a:r>
              <a:rPr lang="de-DE" dirty="0" err="1">
                <a:solidFill>
                  <a:schemeClr val="bg1"/>
                </a:solidFill>
              </a:rPr>
              <a:t>Because</a:t>
            </a:r>
            <a:r>
              <a:rPr lang="de-DE" dirty="0">
                <a:solidFill>
                  <a:schemeClr val="bg1"/>
                </a:solidFill>
              </a:rPr>
              <a:t> </a:t>
            </a:r>
            <a:r>
              <a:rPr lang="de-DE" dirty="0" err="1">
                <a:solidFill>
                  <a:schemeClr val="bg1"/>
                </a:solidFill>
              </a:rPr>
              <a:t>of</a:t>
            </a:r>
            <a:r>
              <a:rPr lang="de-DE" dirty="0">
                <a:solidFill>
                  <a:schemeClr val="bg1"/>
                </a:solidFill>
              </a:rPr>
              <a:t> a </a:t>
            </a:r>
            <a:r>
              <a:rPr lang="de-DE" dirty="0" err="1">
                <a:solidFill>
                  <a:schemeClr val="bg1"/>
                </a:solidFill>
              </a:rPr>
              <a:t>common</a:t>
            </a:r>
            <a:r>
              <a:rPr lang="de-DE" dirty="0">
                <a:solidFill>
                  <a:schemeClr val="bg1"/>
                </a:solidFill>
              </a:rPr>
              <a:t> </a:t>
            </a:r>
            <a:r>
              <a:rPr lang="de-DE" dirty="0" err="1">
                <a:solidFill>
                  <a:schemeClr val="bg1"/>
                </a:solidFill>
              </a:rPr>
              <a:t>underlying</a:t>
            </a:r>
            <a:r>
              <a:rPr lang="de-DE" dirty="0">
                <a:solidFill>
                  <a:schemeClr val="bg1"/>
                </a:solidFill>
              </a:rPr>
              <a:t> </a:t>
            </a:r>
            <a:r>
              <a:rPr lang="de-DE" b="1" dirty="0" err="1">
                <a:solidFill>
                  <a:schemeClr val="bg1"/>
                </a:solidFill>
              </a:rPr>
              <a:t>factor</a:t>
            </a:r>
            <a:r>
              <a:rPr lang="de-DE" dirty="0">
                <a:solidFill>
                  <a:schemeClr val="bg1"/>
                </a:solidFill>
              </a:rPr>
              <a:t> – </a:t>
            </a:r>
          </a:p>
          <a:p>
            <a:r>
              <a:rPr lang="de-DE" dirty="0" err="1">
                <a:solidFill>
                  <a:schemeClr val="bg1"/>
                </a:solidFill>
              </a:rPr>
              <a:t>Children`s</a:t>
            </a:r>
            <a:r>
              <a:rPr lang="de-DE" dirty="0">
                <a:solidFill>
                  <a:schemeClr val="bg1"/>
                </a:solidFill>
              </a:rPr>
              <a:t> </a:t>
            </a:r>
            <a:r>
              <a:rPr lang="de-DE" b="1" dirty="0" err="1">
                <a:solidFill>
                  <a:schemeClr val="bg1"/>
                </a:solidFill>
              </a:rPr>
              <a:t>knowledge</a:t>
            </a:r>
            <a:endParaRPr lang="de-DE" b="1" dirty="0">
              <a:solidFill>
                <a:schemeClr val="bg1"/>
              </a:solidFill>
            </a:endParaRPr>
          </a:p>
        </p:txBody>
      </p:sp>
      <p:grpSp>
        <p:nvGrpSpPr>
          <p:cNvPr id="45" name="Group 10">
            <a:extLst>
              <a:ext uri="{FF2B5EF4-FFF2-40B4-BE49-F238E27FC236}">
                <a16:creationId xmlns:a16="http://schemas.microsoft.com/office/drawing/2014/main" id="{C2AF67C6-0E15-4EA7-BE31-492BE2BC0052}"/>
              </a:ext>
            </a:extLst>
          </p:cNvPr>
          <p:cNvGrpSpPr/>
          <p:nvPr/>
        </p:nvGrpSpPr>
        <p:grpSpPr>
          <a:xfrm>
            <a:off x="1164505" y="4093463"/>
            <a:ext cx="212470" cy="262834"/>
            <a:chOff x="1205948" y="4943061"/>
            <a:chExt cx="251826" cy="278296"/>
          </a:xfrm>
        </p:grpSpPr>
        <p:sp>
          <p:nvSpPr>
            <p:cNvPr id="46" name="Freeform 11">
              <a:extLst>
                <a:ext uri="{FF2B5EF4-FFF2-40B4-BE49-F238E27FC236}">
                  <a16:creationId xmlns:a16="http://schemas.microsoft.com/office/drawing/2014/main" id="{6A595011-C038-4784-A8FF-684B6FEF16C0}"/>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7" name="Freeform 12">
              <a:extLst>
                <a:ext uri="{FF2B5EF4-FFF2-40B4-BE49-F238E27FC236}">
                  <a16:creationId xmlns:a16="http://schemas.microsoft.com/office/drawing/2014/main" id="{0C730731-C887-444D-98A9-7DE16FF858F8}"/>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58" name="Group 10">
            <a:extLst>
              <a:ext uri="{FF2B5EF4-FFF2-40B4-BE49-F238E27FC236}">
                <a16:creationId xmlns:a16="http://schemas.microsoft.com/office/drawing/2014/main" id="{934327DF-0EC3-404E-91BB-F3ADDA9AA4CC}"/>
              </a:ext>
            </a:extLst>
          </p:cNvPr>
          <p:cNvGrpSpPr/>
          <p:nvPr/>
        </p:nvGrpSpPr>
        <p:grpSpPr>
          <a:xfrm>
            <a:off x="3338598" y="4055342"/>
            <a:ext cx="212470" cy="262834"/>
            <a:chOff x="1205948" y="4943061"/>
            <a:chExt cx="251826" cy="278296"/>
          </a:xfrm>
        </p:grpSpPr>
        <p:sp>
          <p:nvSpPr>
            <p:cNvPr id="59" name="Freeform 11">
              <a:extLst>
                <a:ext uri="{FF2B5EF4-FFF2-40B4-BE49-F238E27FC236}">
                  <a16:creationId xmlns:a16="http://schemas.microsoft.com/office/drawing/2014/main" id="{FD7EEB6A-459E-4CC3-B3B2-0DC03E8350C4}"/>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0" name="Freeform 12">
              <a:extLst>
                <a:ext uri="{FF2B5EF4-FFF2-40B4-BE49-F238E27FC236}">
                  <a16:creationId xmlns:a16="http://schemas.microsoft.com/office/drawing/2014/main" id="{06B0B481-B075-47CB-A481-3DD46B92C529}"/>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grpSp>
        <p:nvGrpSpPr>
          <p:cNvPr id="61" name="Group 10">
            <a:extLst>
              <a:ext uri="{FF2B5EF4-FFF2-40B4-BE49-F238E27FC236}">
                <a16:creationId xmlns:a16="http://schemas.microsoft.com/office/drawing/2014/main" id="{A9276762-CF28-468F-9F42-27BD0636FDEE}"/>
              </a:ext>
            </a:extLst>
          </p:cNvPr>
          <p:cNvGrpSpPr/>
          <p:nvPr/>
        </p:nvGrpSpPr>
        <p:grpSpPr>
          <a:xfrm>
            <a:off x="4770714" y="4069837"/>
            <a:ext cx="212470" cy="262834"/>
            <a:chOff x="1205948" y="4943061"/>
            <a:chExt cx="251826" cy="278296"/>
          </a:xfrm>
        </p:grpSpPr>
        <p:sp>
          <p:nvSpPr>
            <p:cNvPr id="62" name="Freeform 11">
              <a:extLst>
                <a:ext uri="{FF2B5EF4-FFF2-40B4-BE49-F238E27FC236}">
                  <a16:creationId xmlns:a16="http://schemas.microsoft.com/office/drawing/2014/main" id="{FCF3E72E-9B81-4321-8836-FC0F4AB47283}"/>
                </a:ext>
              </a:extLst>
            </p:cNvPr>
            <p:cNvSpPr/>
            <p:nvPr/>
          </p:nvSpPr>
          <p:spPr>
            <a:xfrm>
              <a:off x="1285384" y="4943061"/>
              <a:ext cx="172355" cy="278296"/>
            </a:xfrm>
            <a:custGeom>
              <a:avLst/>
              <a:gdLst>
                <a:gd name="connsiteX0" fmla="*/ 172355 w 172355"/>
                <a:gd name="connsiteY0" fmla="*/ 0 h 278296"/>
                <a:gd name="connsiteX1" fmla="*/ 132599 w 172355"/>
                <a:gd name="connsiteY1" fmla="*/ 145774 h 278296"/>
                <a:gd name="connsiteX2" fmla="*/ 92842 w 172355"/>
                <a:gd name="connsiteY2" fmla="*/ 159026 h 278296"/>
                <a:gd name="connsiteX3" fmla="*/ 39833 w 172355"/>
                <a:gd name="connsiteY3" fmla="*/ 238539 h 278296"/>
                <a:gd name="connsiteX4" fmla="*/ 77 w 172355"/>
                <a:gd name="connsiteY4" fmla="*/ 278296 h 278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55" h="278296">
                  <a:moveTo>
                    <a:pt x="172355" y="0"/>
                  </a:moveTo>
                  <a:cubicBezTo>
                    <a:pt x="166975" y="37661"/>
                    <a:pt x="166326" y="112047"/>
                    <a:pt x="132599" y="145774"/>
                  </a:cubicBezTo>
                  <a:cubicBezTo>
                    <a:pt x="122721" y="155652"/>
                    <a:pt x="106094" y="154609"/>
                    <a:pt x="92842" y="159026"/>
                  </a:cubicBezTo>
                  <a:cubicBezTo>
                    <a:pt x="75172" y="185530"/>
                    <a:pt x="66337" y="220869"/>
                    <a:pt x="39833" y="238539"/>
                  </a:cubicBezTo>
                  <a:cubicBezTo>
                    <a:pt x="-3599" y="267493"/>
                    <a:pt x="77" y="249116"/>
                    <a:pt x="77" y="2782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63" name="Freeform 12">
              <a:extLst>
                <a:ext uri="{FF2B5EF4-FFF2-40B4-BE49-F238E27FC236}">
                  <a16:creationId xmlns:a16="http://schemas.microsoft.com/office/drawing/2014/main" id="{3AF3C579-8B49-4AF9-8DF9-A8A7621388E3}"/>
                </a:ext>
              </a:extLst>
            </p:cNvPr>
            <p:cNvSpPr/>
            <p:nvPr/>
          </p:nvSpPr>
          <p:spPr>
            <a:xfrm>
              <a:off x="1205948" y="4982817"/>
              <a:ext cx="251826" cy="238540"/>
            </a:xfrm>
            <a:custGeom>
              <a:avLst/>
              <a:gdLst>
                <a:gd name="connsiteX0" fmla="*/ 0 w 251826"/>
                <a:gd name="connsiteY0" fmla="*/ 0 h 238540"/>
                <a:gd name="connsiteX1" fmla="*/ 66261 w 251826"/>
                <a:gd name="connsiteY1" fmla="*/ 26505 h 238540"/>
                <a:gd name="connsiteX2" fmla="*/ 106017 w 251826"/>
                <a:gd name="connsiteY2" fmla="*/ 39757 h 238540"/>
                <a:gd name="connsiteX3" fmla="*/ 159026 w 251826"/>
                <a:gd name="connsiteY3" fmla="*/ 92766 h 238540"/>
                <a:gd name="connsiteX4" fmla="*/ 198782 w 251826"/>
                <a:gd name="connsiteY4" fmla="*/ 119270 h 238540"/>
                <a:gd name="connsiteX5" fmla="*/ 212035 w 251826"/>
                <a:gd name="connsiteY5" fmla="*/ 159026 h 238540"/>
                <a:gd name="connsiteX6" fmla="*/ 238539 w 251826"/>
                <a:gd name="connsiteY6" fmla="*/ 185531 h 238540"/>
                <a:gd name="connsiteX7" fmla="*/ 251791 w 251826"/>
                <a:gd name="connsiteY7" fmla="*/ 238540 h 238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826" h="238540">
                  <a:moveTo>
                    <a:pt x="0" y="0"/>
                  </a:moveTo>
                  <a:cubicBezTo>
                    <a:pt x="22087" y="8835"/>
                    <a:pt x="43987" y="18152"/>
                    <a:pt x="66261" y="26505"/>
                  </a:cubicBezTo>
                  <a:cubicBezTo>
                    <a:pt x="79340" y="31410"/>
                    <a:pt x="94650" y="31638"/>
                    <a:pt x="106017" y="39757"/>
                  </a:cubicBezTo>
                  <a:cubicBezTo>
                    <a:pt x="126351" y="54281"/>
                    <a:pt x="138234" y="78905"/>
                    <a:pt x="159026" y="92766"/>
                  </a:cubicBezTo>
                  <a:lnTo>
                    <a:pt x="198782" y="119270"/>
                  </a:lnTo>
                  <a:cubicBezTo>
                    <a:pt x="203200" y="132522"/>
                    <a:pt x="204848" y="147048"/>
                    <a:pt x="212035" y="159026"/>
                  </a:cubicBezTo>
                  <a:cubicBezTo>
                    <a:pt x="218463" y="169740"/>
                    <a:pt x="232111" y="174817"/>
                    <a:pt x="238539" y="185531"/>
                  </a:cubicBezTo>
                  <a:cubicBezTo>
                    <a:pt x="253188" y="209946"/>
                    <a:pt x="251791" y="217495"/>
                    <a:pt x="251791" y="238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grpSp>
      <p:cxnSp>
        <p:nvCxnSpPr>
          <p:cNvPr id="4" name="Gerade Verbindung mit Pfeil 3">
            <a:extLst>
              <a:ext uri="{FF2B5EF4-FFF2-40B4-BE49-F238E27FC236}">
                <a16:creationId xmlns:a16="http://schemas.microsoft.com/office/drawing/2014/main" id="{31EA3BCB-F3ED-4125-8FF2-1AE71863877F}"/>
              </a:ext>
            </a:extLst>
          </p:cNvPr>
          <p:cNvCxnSpPr/>
          <p:nvPr/>
        </p:nvCxnSpPr>
        <p:spPr>
          <a:xfrm flipV="1">
            <a:off x="5486400" y="1828800"/>
            <a:ext cx="1219200" cy="312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1200329"/>
          </a:xfrm>
          <a:prstGeom prst="rect">
            <a:avLst/>
          </a:prstGeom>
          <a:noFill/>
        </p:spPr>
        <p:txBody>
          <a:bodyPr wrap="square" rtlCol="0">
            <a:spAutoFit/>
          </a:bodyPr>
          <a:lstStyle/>
          <a:p>
            <a:r>
              <a:rPr lang="de-DE" b="1" dirty="0" err="1">
                <a:solidFill>
                  <a:schemeClr val="bg1"/>
                </a:solidFill>
              </a:rPr>
              <a:t>Epistemic</a:t>
            </a:r>
            <a:r>
              <a:rPr lang="de-DE" b="1" dirty="0">
                <a:solidFill>
                  <a:schemeClr val="bg1"/>
                </a:solidFill>
              </a:rPr>
              <a:t> beliefs </a:t>
            </a:r>
            <a:r>
              <a:rPr lang="de-DE" dirty="0" err="1">
                <a:solidFill>
                  <a:schemeClr val="bg1"/>
                </a:solidFill>
              </a:rPr>
              <a:t>about</a:t>
            </a:r>
            <a:r>
              <a:rPr lang="de-DE" dirty="0">
                <a:solidFill>
                  <a:schemeClr val="bg1"/>
                </a:solidFill>
              </a:rPr>
              <a:t> </a:t>
            </a:r>
            <a:r>
              <a:rPr lang="de-DE" dirty="0" err="1">
                <a:solidFill>
                  <a:schemeClr val="bg1"/>
                </a:solidFill>
              </a:rPr>
              <a:t>knowledge</a:t>
            </a:r>
            <a:r>
              <a:rPr lang="de-DE" dirty="0">
                <a:solidFill>
                  <a:schemeClr val="bg1"/>
                </a:solidFill>
              </a:rPr>
              <a:t>, </a:t>
            </a:r>
            <a:r>
              <a:rPr lang="de-DE" dirty="0" err="1">
                <a:solidFill>
                  <a:schemeClr val="bg1"/>
                </a:solidFill>
              </a:rPr>
              <a:t>its</a:t>
            </a:r>
            <a:r>
              <a:rPr lang="de-DE" dirty="0">
                <a:solidFill>
                  <a:schemeClr val="bg1"/>
                </a:solidFill>
              </a:rPr>
              <a:t> </a:t>
            </a:r>
            <a:r>
              <a:rPr lang="de-DE" dirty="0" err="1">
                <a:solidFill>
                  <a:schemeClr val="bg1"/>
                </a:solidFill>
              </a:rPr>
              <a:t>sources</a:t>
            </a:r>
            <a:r>
              <a:rPr lang="de-DE" dirty="0">
                <a:solidFill>
                  <a:schemeClr val="bg1"/>
                </a:solidFill>
              </a:rPr>
              <a:t>, and </a:t>
            </a:r>
            <a:r>
              <a:rPr lang="de-DE" dirty="0" err="1">
                <a:solidFill>
                  <a:schemeClr val="bg1"/>
                </a:solidFill>
              </a:rPr>
              <a:t>development</a:t>
            </a:r>
            <a:r>
              <a:rPr lang="de-DE" dirty="0">
                <a:solidFill>
                  <a:schemeClr val="bg1"/>
                </a:solidFill>
              </a:rPr>
              <a:t> (Perry, 1970)</a:t>
            </a:r>
          </a:p>
          <a:p>
            <a:endParaRPr lang="de-DE" dirty="0">
              <a:solidFill>
                <a:schemeClr val="bg1"/>
              </a:solidFill>
            </a:endParaRPr>
          </a:p>
          <a:p>
            <a:r>
              <a:rPr lang="de-DE" dirty="0" err="1">
                <a:solidFill>
                  <a:schemeClr val="bg1"/>
                </a:solidFill>
              </a:rPr>
              <a:t>Beliefed</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affect</a:t>
            </a:r>
            <a:r>
              <a:rPr lang="de-DE" dirty="0">
                <a:solidFill>
                  <a:schemeClr val="bg1"/>
                </a:solidFill>
              </a:rPr>
              <a:t> </a:t>
            </a:r>
            <a:r>
              <a:rPr lang="de-DE" dirty="0" err="1">
                <a:solidFill>
                  <a:schemeClr val="bg1"/>
                </a:solidFill>
              </a:rPr>
              <a:t>learning</a:t>
            </a:r>
            <a:r>
              <a:rPr lang="de-DE" dirty="0">
                <a:solidFill>
                  <a:schemeClr val="bg1"/>
                </a:solidFill>
              </a:rPr>
              <a:t> </a:t>
            </a:r>
            <a:r>
              <a:rPr lang="de-DE" dirty="0" err="1">
                <a:solidFill>
                  <a:schemeClr val="bg1"/>
                </a:solidFill>
              </a:rPr>
              <a:t>strategies</a:t>
            </a:r>
            <a:r>
              <a:rPr lang="de-DE" dirty="0">
                <a:solidFill>
                  <a:schemeClr val="bg1"/>
                </a:solidFill>
              </a:rPr>
              <a:t> and </a:t>
            </a:r>
            <a:r>
              <a:rPr lang="de-DE" dirty="0" err="1">
                <a:solidFill>
                  <a:schemeClr val="bg1"/>
                </a:solidFill>
              </a:rPr>
              <a:t>outcomes</a:t>
            </a:r>
            <a:endParaRPr lang="de-DE"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Ruling of </a:t>
            </a:r>
            <a:r>
              <a:rPr lang="en-US" b="1" dirty="0">
                <a:solidFill>
                  <a:prstClr val="white"/>
                </a:solidFill>
              </a:rPr>
              <a:t>factor analysis ritual</a:t>
            </a:r>
            <a:endParaRPr kumimoji="0" lang="en-US" sz="6000" b="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Tree>
    <p:extLst>
      <p:ext uri="{BB962C8B-B14F-4D97-AF65-F5344CB8AC3E}">
        <p14:creationId xmlns:p14="http://schemas.microsoft.com/office/powerpoint/2010/main" val="707626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705600" y="1351441"/>
            <a:ext cx="5315181" cy="1200329"/>
          </a:xfrm>
          <a:prstGeom prst="rect">
            <a:avLst/>
          </a:prstGeom>
          <a:noFill/>
        </p:spPr>
        <p:txBody>
          <a:bodyPr wrap="square" rtlCol="0">
            <a:spAutoFit/>
          </a:bodyPr>
          <a:lstStyle/>
          <a:p>
            <a:r>
              <a:rPr lang="de-DE" b="1" dirty="0" err="1">
                <a:solidFill>
                  <a:schemeClr val="bg1"/>
                </a:solidFill>
              </a:rPr>
              <a:t>Epistemic</a:t>
            </a:r>
            <a:r>
              <a:rPr lang="de-DE" b="1" dirty="0">
                <a:solidFill>
                  <a:schemeClr val="bg1"/>
                </a:solidFill>
              </a:rPr>
              <a:t> beliefs </a:t>
            </a:r>
            <a:r>
              <a:rPr lang="de-DE" dirty="0" err="1">
                <a:solidFill>
                  <a:schemeClr val="bg1"/>
                </a:solidFill>
              </a:rPr>
              <a:t>about</a:t>
            </a:r>
            <a:r>
              <a:rPr lang="de-DE" dirty="0">
                <a:solidFill>
                  <a:schemeClr val="bg1"/>
                </a:solidFill>
              </a:rPr>
              <a:t> </a:t>
            </a:r>
            <a:r>
              <a:rPr lang="de-DE" dirty="0" err="1">
                <a:solidFill>
                  <a:schemeClr val="bg1"/>
                </a:solidFill>
              </a:rPr>
              <a:t>knowledge</a:t>
            </a:r>
            <a:r>
              <a:rPr lang="de-DE" dirty="0">
                <a:solidFill>
                  <a:schemeClr val="bg1"/>
                </a:solidFill>
              </a:rPr>
              <a:t> and </a:t>
            </a:r>
            <a:r>
              <a:rPr lang="de-DE" dirty="0" err="1">
                <a:solidFill>
                  <a:schemeClr val="bg1"/>
                </a:solidFill>
              </a:rPr>
              <a:t>knowing</a:t>
            </a:r>
            <a:r>
              <a:rPr lang="de-DE" dirty="0">
                <a:solidFill>
                  <a:schemeClr val="bg1"/>
                </a:solidFill>
              </a:rPr>
              <a:t> (Perry, 1970)</a:t>
            </a:r>
          </a:p>
          <a:p>
            <a:endParaRPr lang="de-DE" dirty="0">
              <a:solidFill>
                <a:schemeClr val="bg1"/>
              </a:solidFill>
            </a:endParaRPr>
          </a:p>
          <a:p>
            <a:r>
              <a:rPr lang="de-DE" dirty="0" err="1">
                <a:solidFill>
                  <a:schemeClr val="bg1"/>
                </a:solidFill>
              </a:rPr>
              <a:t>Beliefed</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affect</a:t>
            </a:r>
            <a:r>
              <a:rPr lang="de-DE" dirty="0">
                <a:solidFill>
                  <a:schemeClr val="bg1"/>
                </a:solidFill>
              </a:rPr>
              <a:t> </a:t>
            </a:r>
            <a:r>
              <a:rPr lang="de-DE" dirty="0" err="1">
                <a:solidFill>
                  <a:schemeClr val="bg1"/>
                </a:solidFill>
              </a:rPr>
              <a:t>learning</a:t>
            </a:r>
            <a:r>
              <a:rPr lang="de-DE" dirty="0">
                <a:solidFill>
                  <a:schemeClr val="bg1"/>
                </a:solidFill>
              </a:rPr>
              <a:t> </a:t>
            </a:r>
            <a:r>
              <a:rPr lang="de-DE" dirty="0" err="1">
                <a:solidFill>
                  <a:schemeClr val="bg1"/>
                </a:solidFill>
              </a:rPr>
              <a:t>strategies</a:t>
            </a:r>
            <a:r>
              <a:rPr lang="de-DE" dirty="0">
                <a:solidFill>
                  <a:schemeClr val="bg1"/>
                </a:solidFill>
              </a:rPr>
              <a:t> and </a:t>
            </a:r>
            <a:r>
              <a:rPr lang="de-DE" dirty="0" err="1">
                <a:solidFill>
                  <a:schemeClr val="bg1"/>
                </a:solidFill>
              </a:rPr>
              <a:t>outcomes</a:t>
            </a:r>
            <a:endParaRPr lang="de-DE" dirty="0">
              <a:solidFill>
                <a:schemeClr val="bg1"/>
              </a:solidFill>
            </a:endParaRP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Ruling of </a:t>
            </a:r>
            <a:r>
              <a:rPr lang="en-US" b="1" dirty="0">
                <a:solidFill>
                  <a:prstClr val="white"/>
                </a:solidFill>
              </a:rPr>
              <a:t>factor analysis ritual</a:t>
            </a:r>
            <a:endParaRPr kumimoji="0" lang="en-US" sz="6000" b="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75" name="Textfeld 74">
            <a:extLst>
              <a:ext uri="{FF2B5EF4-FFF2-40B4-BE49-F238E27FC236}">
                <a16:creationId xmlns:a16="http://schemas.microsoft.com/office/drawing/2014/main" id="{17D03F38-118B-49CF-80AE-5322B1BC425A}"/>
              </a:ext>
            </a:extLst>
          </p:cNvPr>
          <p:cNvSpPr txBox="1"/>
          <p:nvPr/>
        </p:nvSpPr>
        <p:spPr>
          <a:xfrm>
            <a:off x="1546877" y="807680"/>
            <a:ext cx="3379051" cy="369332"/>
          </a:xfrm>
          <a:prstGeom prst="rect">
            <a:avLst/>
          </a:prstGeom>
          <a:noFill/>
        </p:spPr>
        <p:txBody>
          <a:bodyPr wrap="square" rtlCol="0">
            <a:spAutoFit/>
          </a:bodyPr>
          <a:lstStyle/>
          <a:p>
            <a:r>
              <a:rPr lang="de-DE" dirty="0">
                <a:solidFill>
                  <a:schemeClr val="bg1"/>
                </a:solidFill>
              </a:rPr>
              <a:t>Schommer (1990, 1993; 1994)</a:t>
            </a:r>
          </a:p>
        </p:txBody>
      </p:sp>
      <p:sp>
        <p:nvSpPr>
          <p:cNvPr id="7" name="Rechteck 6">
            <a:extLst>
              <a:ext uri="{FF2B5EF4-FFF2-40B4-BE49-F238E27FC236}">
                <a16:creationId xmlns:a16="http://schemas.microsoft.com/office/drawing/2014/main" id="{2EFEF967-DC8E-490B-967F-84FA483C4C67}"/>
              </a:ext>
            </a:extLst>
          </p:cNvPr>
          <p:cNvSpPr/>
          <p:nvPr/>
        </p:nvSpPr>
        <p:spPr>
          <a:xfrm>
            <a:off x="1459516" y="5680988"/>
            <a:ext cx="4198585" cy="369332"/>
          </a:xfrm>
          <a:prstGeom prst="rect">
            <a:avLst/>
          </a:prstGeom>
        </p:spPr>
        <p:txBody>
          <a:bodyPr wrap="none">
            <a:spAutoFit/>
          </a:bodyPr>
          <a:lstStyle/>
          <a:p>
            <a:r>
              <a:rPr lang="en-US" dirty="0"/>
              <a:t>Scientists can ultimately get to the truth</a:t>
            </a:r>
            <a:endParaRPr lang="de-DE" dirty="0"/>
          </a:p>
        </p:txBody>
      </p:sp>
      <p:sp>
        <p:nvSpPr>
          <p:cNvPr id="80" name="Textfeld 79">
            <a:extLst>
              <a:ext uri="{FF2B5EF4-FFF2-40B4-BE49-F238E27FC236}">
                <a16:creationId xmlns:a16="http://schemas.microsoft.com/office/drawing/2014/main" id="{7457B9E4-1A10-477C-8F4B-01748F3A9827}"/>
              </a:ext>
            </a:extLst>
          </p:cNvPr>
          <p:cNvSpPr txBox="1"/>
          <p:nvPr/>
        </p:nvSpPr>
        <p:spPr>
          <a:xfrm>
            <a:off x="648402" y="4404620"/>
            <a:ext cx="5786563" cy="1477328"/>
          </a:xfrm>
          <a:prstGeom prst="rect">
            <a:avLst/>
          </a:prstGeom>
          <a:noFill/>
        </p:spPr>
        <p:txBody>
          <a:bodyPr wrap="square" rtlCol="0">
            <a:spAutoFit/>
          </a:bodyPr>
          <a:lstStyle/>
          <a:p>
            <a:r>
              <a:rPr lang="en-US" i="1" dirty="0">
                <a:solidFill>
                  <a:schemeClr val="bg1"/>
                </a:solidFill>
              </a:rPr>
              <a:t>Source</a:t>
            </a:r>
            <a:r>
              <a:rPr lang="en-US" dirty="0">
                <a:solidFill>
                  <a:schemeClr val="bg1"/>
                </a:solidFill>
              </a:rPr>
              <a:t>: Omniscient authority &lt;-&gt; reasoned out </a:t>
            </a:r>
            <a:r>
              <a:rPr lang="en-US" i="1" dirty="0">
                <a:solidFill>
                  <a:schemeClr val="bg1"/>
                </a:solidFill>
              </a:rPr>
              <a:t>Certainty</a:t>
            </a:r>
            <a:r>
              <a:rPr lang="en-US" dirty="0">
                <a:solidFill>
                  <a:schemeClr val="bg1"/>
                </a:solidFill>
              </a:rPr>
              <a:t>: Absolute &lt;-&gt; evolving.</a:t>
            </a:r>
          </a:p>
          <a:p>
            <a:r>
              <a:rPr lang="en-US" i="1" dirty="0">
                <a:solidFill>
                  <a:schemeClr val="bg1"/>
                </a:solidFill>
              </a:rPr>
              <a:t>Organization</a:t>
            </a:r>
            <a:r>
              <a:rPr lang="en-US" dirty="0">
                <a:solidFill>
                  <a:schemeClr val="bg1"/>
                </a:solidFill>
              </a:rPr>
              <a:t>: Compartmentalized &lt;-&gt; integrated</a:t>
            </a:r>
          </a:p>
          <a:p>
            <a:r>
              <a:rPr lang="en-US" i="1" dirty="0">
                <a:solidFill>
                  <a:schemeClr val="bg1"/>
                </a:solidFill>
              </a:rPr>
              <a:t>Control</a:t>
            </a:r>
            <a:r>
              <a:rPr lang="en-US" dirty="0">
                <a:solidFill>
                  <a:schemeClr val="bg1"/>
                </a:solidFill>
              </a:rPr>
              <a:t>: determined &lt;-&gt; acquired</a:t>
            </a:r>
          </a:p>
          <a:p>
            <a:r>
              <a:rPr lang="en-US" i="1" dirty="0">
                <a:solidFill>
                  <a:schemeClr val="bg1"/>
                </a:solidFill>
              </a:rPr>
              <a:t>Speed</a:t>
            </a:r>
            <a:r>
              <a:rPr lang="en-US" dirty="0">
                <a:solidFill>
                  <a:schemeClr val="bg1"/>
                </a:solidFill>
              </a:rPr>
              <a:t>: quick &lt;-&gt; gradual</a:t>
            </a: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82" name="Ellipse 81">
            <a:extLst>
              <a:ext uri="{FF2B5EF4-FFF2-40B4-BE49-F238E27FC236}">
                <a16:creationId xmlns:a16="http://schemas.microsoft.com/office/drawing/2014/main" id="{B9D76769-2935-4F87-971D-6C377464E7DF}"/>
              </a:ext>
            </a:extLst>
          </p:cNvPr>
          <p:cNvSpPr/>
          <p:nvPr/>
        </p:nvSpPr>
        <p:spPr>
          <a:xfrm>
            <a:off x="1301491" y="3809273"/>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7" name="Gerade Verbindung mit Pfeil 86">
            <a:extLst>
              <a:ext uri="{FF2B5EF4-FFF2-40B4-BE49-F238E27FC236}">
                <a16:creationId xmlns:a16="http://schemas.microsoft.com/office/drawing/2014/main" id="{51874B68-5960-42B9-A6FF-3BB5C7F998E7}"/>
              </a:ext>
            </a:extLst>
          </p:cNvPr>
          <p:cNvCxnSpPr>
            <a:cxnSpLocks/>
            <a:stCxn id="82" idx="3"/>
          </p:cNvCxnSpPr>
          <p:nvPr/>
        </p:nvCxnSpPr>
        <p:spPr>
          <a:xfrm flipH="1">
            <a:off x="1321488" y="4090935"/>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 Verbindung mit Pfeil 87">
            <a:extLst>
              <a:ext uri="{FF2B5EF4-FFF2-40B4-BE49-F238E27FC236}">
                <a16:creationId xmlns:a16="http://schemas.microsoft.com/office/drawing/2014/main" id="{56D37689-A7FF-4A24-880A-70ED21458C4D}"/>
              </a:ext>
            </a:extLst>
          </p:cNvPr>
          <p:cNvCxnSpPr>
            <a:cxnSpLocks/>
            <a:stCxn id="82" idx="4"/>
          </p:cNvCxnSpPr>
          <p:nvPr/>
        </p:nvCxnSpPr>
        <p:spPr>
          <a:xfrm>
            <a:off x="1618297" y="4139260"/>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Gerade Verbindung mit Pfeil 88">
            <a:extLst>
              <a:ext uri="{FF2B5EF4-FFF2-40B4-BE49-F238E27FC236}">
                <a16:creationId xmlns:a16="http://schemas.microsoft.com/office/drawing/2014/main" id="{C3A39199-2D99-4CD3-BB3F-9F9CF951150F}"/>
              </a:ext>
            </a:extLst>
          </p:cNvPr>
          <p:cNvCxnSpPr>
            <a:cxnSpLocks/>
            <a:stCxn id="82" idx="5"/>
          </p:cNvCxnSpPr>
          <p:nvPr/>
        </p:nvCxnSpPr>
        <p:spPr>
          <a:xfrm>
            <a:off x="1842313" y="4090935"/>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E4132143-E4C5-4BE2-B982-27B9890DB8ED}"/>
              </a:ext>
            </a:extLst>
          </p:cNvPr>
          <p:cNvSpPr/>
          <p:nvPr/>
        </p:nvSpPr>
        <p:spPr>
          <a:xfrm>
            <a:off x="2035081"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1" name="Gerade Verbindung mit Pfeil 90">
            <a:extLst>
              <a:ext uri="{FF2B5EF4-FFF2-40B4-BE49-F238E27FC236}">
                <a16:creationId xmlns:a16="http://schemas.microsoft.com/office/drawing/2014/main" id="{11868598-D9D1-49F8-A00E-62F84C11AB5A}"/>
              </a:ext>
            </a:extLst>
          </p:cNvPr>
          <p:cNvCxnSpPr>
            <a:cxnSpLocks/>
            <a:stCxn id="90" idx="3"/>
          </p:cNvCxnSpPr>
          <p:nvPr/>
        </p:nvCxnSpPr>
        <p:spPr>
          <a:xfrm flipH="1">
            <a:off x="2055078"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Gerade Verbindung mit Pfeil 91">
            <a:extLst>
              <a:ext uri="{FF2B5EF4-FFF2-40B4-BE49-F238E27FC236}">
                <a16:creationId xmlns:a16="http://schemas.microsoft.com/office/drawing/2014/main" id="{AC1B0F17-0801-4861-95D0-6CD2D9E07CCD}"/>
              </a:ext>
            </a:extLst>
          </p:cNvPr>
          <p:cNvCxnSpPr>
            <a:cxnSpLocks/>
            <a:stCxn id="90" idx="4"/>
          </p:cNvCxnSpPr>
          <p:nvPr/>
        </p:nvCxnSpPr>
        <p:spPr>
          <a:xfrm>
            <a:off x="2351887"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09B4402A-195B-4F06-B6D7-EDDDB3AAF41D}"/>
              </a:ext>
            </a:extLst>
          </p:cNvPr>
          <p:cNvCxnSpPr>
            <a:cxnSpLocks/>
            <a:stCxn id="90" idx="5"/>
          </p:cNvCxnSpPr>
          <p:nvPr/>
        </p:nvCxnSpPr>
        <p:spPr>
          <a:xfrm>
            <a:off x="2575903"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4" name="Ellipse 93">
            <a:extLst>
              <a:ext uri="{FF2B5EF4-FFF2-40B4-BE49-F238E27FC236}">
                <a16:creationId xmlns:a16="http://schemas.microsoft.com/office/drawing/2014/main" id="{B6F78651-CE94-4B1E-AFDB-AA542C41D728}"/>
              </a:ext>
            </a:extLst>
          </p:cNvPr>
          <p:cNvSpPr/>
          <p:nvPr/>
        </p:nvSpPr>
        <p:spPr>
          <a:xfrm>
            <a:off x="2806631" y="3827056"/>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5" name="Gerade Verbindung mit Pfeil 94">
            <a:extLst>
              <a:ext uri="{FF2B5EF4-FFF2-40B4-BE49-F238E27FC236}">
                <a16:creationId xmlns:a16="http://schemas.microsoft.com/office/drawing/2014/main" id="{3D16043F-C816-4C5C-8BBA-DCC54134F272}"/>
              </a:ext>
            </a:extLst>
          </p:cNvPr>
          <p:cNvCxnSpPr>
            <a:cxnSpLocks/>
            <a:stCxn id="94" idx="3"/>
          </p:cNvCxnSpPr>
          <p:nvPr/>
        </p:nvCxnSpPr>
        <p:spPr>
          <a:xfrm flipH="1">
            <a:off x="2826628" y="4108718"/>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Gerade Verbindung mit Pfeil 95">
            <a:extLst>
              <a:ext uri="{FF2B5EF4-FFF2-40B4-BE49-F238E27FC236}">
                <a16:creationId xmlns:a16="http://schemas.microsoft.com/office/drawing/2014/main" id="{E466C1F7-EEFF-4E17-8E6E-AB1CA9BEA942}"/>
              </a:ext>
            </a:extLst>
          </p:cNvPr>
          <p:cNvCxnSpPr>
            <a:cxnSpLocks/>
            <a:stCxn id="94" idx="4"/>
          </p:cNvCxnSpPr>
          <p:nvPr/>
        </p:nvCxnSpPr>
        <p:spPr>
          <a:xfrm>
            <a:off x="3123437" y="4157043"/>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99C25EFA-421A-4C70-B517-49F9B46EABEB}"/>
              </a:ext>
            </a:extLst>
          </p:cNvPr>
          <p:cNvCxnSpPr>
            <a:cxnSpLocks/>
            <a:stCxn id="94" idx="5"/>
          </p:cNvCxnSpPr>
          <p:nvPr/>
        </p:nvCxnSpPr>
        <p:spPr>
          <a:xfrm>
            <a:off x="3347453" y="4108718"/>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8" name="Ellipse 97">
            <a:extLst>
              <a:ext uri="{FF2B5EF4-FFF2-40B4-BE49-F238E27FC236}">
                <a16:creationId xmlns:a16="http://schemas.microsoft.com/office/drawing/2014/main" id="{D9F3F852-BD04-485B-B8CF-2294E2E1496C}"/>
              </a:ext>
            </a:extLst>
          </p:cNvPr>
          <p:cNvSpPr/>
          <p:nvPr/>
        </p:nvSpPr>
        <p:spPr>
          <a:xfrm>
            <a:off x="3541684"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9" name="Gerade Verbindung mit Pfeil 98">
            <a:extLst>
              <a:ext uri="{FF2B5EF4-FFF2-40B4-BE49-F238E27FC236}">
                <a16:creationId xmlns:a16="http://schemas.microsoft.com/office/drawing/2014/main" id="{7B16E084-4F44-4A1F-A347-C5A9103DABA0}"/>
              </a:ext>
            </a:extLst>
          </p:cNvPr>
          <p:cNvCxnSpPr>
            <a:cxnSpLocks/>
            <a:stCxn id="98" idx="3"/>
          </p:cNvCxnSpPr>
          <p:nvPr/>
        </p:nvCxnSpPr>
        <p:spPr>
          <a:xfrm flipH="1">
            <a:off x="3561681"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104DA6AA-C151-4E51-900D-E070636E8CF2}"/>
              </a:ext>
            </a:extLst>
          </p:cNvPr>
          <p:cNvCxnSpPr>
            <a:cxnSpLocks/>
            <a:stCxn id="98" idx="4"/>
          </p:cNvCxnSpPr>
          <p:nvPr/>
        </p:nvCxnSpPr>
        <p:spPr>
          <a:xfrm>
            <a:off x="3858490"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FF45FE3E-D970-4865-8481-49D35CB17737}"/>
              </a:ext>
            </a:extLst>
          </p:cNvPr>
          <p:cNvCxnSpPr>
            <a:cxnSpLocks/>
            <a:stCxn id="98" idx="5"/>
          </p:cNvCxnSpPr>
          <p:nvPr/>
        </p:nvCxnSpPr>
        <p:spPr>
          <a:xfrm>
            <a:off x="4082506"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2" name="Ellipse 101">
            <a:extLst>
              <a:ext uri="{FF2B5EF4-FFF2-40B4-BE49-F238E27FC236}">
                <a16:creationId xmlns:a16="http://schemas.microsoft.com/office/drawing/2014/main" id="{D321E990-BA08-426A-8700-0EF3A61BD081}"/>
              </a:ext>
            </a:extLst>
          </p:cNvPr>
          <p:cNvSpPr/>
          <p:nvPr/>
        </p:nvSpPr>
        <p:spPr>
          <a:xfrm>
            <a:off x="4292316"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3" name="Gerade Verbindung mit Pfeil 102">
            <a:extLst>
              <a:ext uri="{FF2B5EF4-FFF2-40B4-BE49-F238E27FC236}">
                <a16:creationId xmlns:a16="http://schemas.microsoft.com/office/drawing/2014/main" id="{E6AE74B4-D3F6-405A-A976-818EEEFF7688}"/>
              </a:ext>
            </a:extLst>
          </p:cNvPr>
          <p:cNvCxnSpPr>
            <a:cxnSpLocks/>
            <a:stCxn id="102" idx="3"/>
          </p:cNvCxnSpPr>
          <p:nvPr/>
        </p:nvCxnSpPr>
        <p:spPr>
          <a:xfrm flipH="1">
            <a:off x="4312313"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mit Pfeil 103">
            <a:extLst>
              <a:ext uri="{FF2B5EF4-FFF2-40B4-BE49-F238E27FC236}">
                <a16:creationId xmlns:a16="http://schemas.microsoft.com/office/drawing/2014/main" id="{0A582625-F9BE-463F-BD3E-0A09B0FF351C}"/>
              </a:ext>
            </a:extLst>
          </p:cNvPr>
          <p:cNvCxnSpPr>
            <a:cxnSpLocks/>
            <a:stCxn id="102" idx="4"/>
          </p:cNvCxnSpPr>
          <p:nvPr/>
        </p:nvCxnSpPr>
        <p:spPr>
          <a:xfrm>
            <a:off x="4609122"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Gerade Verbindung mit Pfeil 104">
            <a:extLst>
              <a:ext uri="{FF2B5EF4-FFF2-40B4-BE49-F238E27FC236}">
                <a16:creationId xmlns:a16="http://schemas.microsoft.com/office/drawing/2014/main" id="{75F9B334-382A-40CA-9C2A-3E60127CF64F}"/>
              </a:ext>
            </a:extLst>
          </p:cNvPr>
          <p:cNvCxnSpPr>
            <a:cxnSpLocks/>
            <a:stCxn id="102" idx="5"/>
          </p:cNvCxnSpPr>
          <p:nvPr/>
        </p:nvCxnSpPr>
        <p:spPr>
          <a:xfrm>
            <a:off x="4833138"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629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434965" y="1212162"/>
            <a:ext cx="5490335" cy="646331"/>
          </a:xfrm>
          <a:prstGeom prst="rect">
            <a:avLst/>
          </a:prstGeom>
          <a:noFill/>
        </p:spPr>
        <p:txBody>
          <a:bodyPr wrap="square" rtlCol="0">
            <a:spAutoFit/>
          </a:bodyPr>
          <a:lstStyle/>
          <a:p>
            <a:r>
              <a:rPr lang="de-DE" dirty="0">
                <a:solidFill>
                  <a:schemeClr val="bg1"/>
                </a:solidFill>
              </a:rPr>
              <a:t>- Multiple </a:t>
            </a:r>
            <a:r>
              <a:rPr lang="de-DE" dirty="0" err="1">
                <a:solidFill>
                  <a:schemeClr val="bg1"/>
                </a:solidFill>
              </a:rPr>
              <a:t>new</a:t>
            </a:r>
            <a:r>
              <a:rPr lang="de-DE" dirty="0">
                <a:solidFill>
                  <a:schemeClr val="bg1"/>
                </a:solidFill>
              </a:rPr>
              <a:t> </a:t>
            </a:r>
            <a:r>
              <a:rPr lang="de-DE" dirty="0" err="1">
                <a:solidFill>
                  <a:schemeClr val="bg1"/>
                </a:solidFill>
              </a:rPr>
              <a:t>developments</a:t>
            </a:r>
            <a:r>
              <a:rPr lang="de-DE" dirty="0">
                <a:solidFill>
                  <a:schemeClr val="bg1"/>
                </a:solidFill>
              </a:rPr>
              <a:t> &amp; </a:t>
            </a:r>
            <a:r>
              <a:rPr lang="de-DE" dirty="0" err="1">
                <a:solidFill>
                  <a:schemeClr val="bg1"/>
                </a:solidFill>
              </a:rPr>
              <a:t>revisions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epistemic</a:t>
            </a:r>
            <a:r>
              <a:rPr lang="de-DE" dirty="0">
                <a:solidFill>
                  <a:schemeClr val="bg1"/>
                </a:solidFill>
              </a:rPr>
              <a:t> belief </a:t>
            </a:r>
            <a:r>
              <a:rPr lang="de-DE" dirty="0" err="1">
                <a:solidFill>
                  <a:schemeClr val="bg1"/>
                </a:solidFill>
              </a:rPr>
              <a:t>questionnaires</a:t>
            </a:r>
            <a:r>
              <a:rPr lang="de-DE" dirty="0">
                <a:solidFill>
                  <a:schemeClr val="bg1"/>
                </a:solidFill>
              </a:rPr>
              <a:t> (Greene et al., 2010)</a:t>
            </a: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90s – 2000s: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The </a:t>
            </a:r>
            <a:r>
              <a:rPr lang="en-US" b="1" dirty="0">
                <a:solidFill>
                  <a:prstClr val="white"/>
                </a:solidFill>
              </a:rPr>
              <a:t>rise</a:t>
            </a:r>
            <a:r>
              <a:rPr lang="en-US" dirty="0">
                <a:solidFill>
                  <a:prstClr val="white"/>
                </a:solidFill>
              </a:rPr>
              <a:t> of epistemic beliefs</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75" name="Textfeld 74">
            <a:extLst>
              <a:ext uri="{FF2B5EF4-FFF2-40B4-BE49-F238E27FC236}">
                <a16:creationId xmlns:a16="http://schemas.microsoft.com/office/drawing/2014/main" id="{17D03F38-118B-49CF-80AE-5322B1BC425A}"/>
              </a:ext>
            </a:extLst>
          </p:cNvPr>
          <p:cNvSpPr txBox="1"/>
          <p:nvPr/>
        </p:nvSpPr>
        <p:spPr>
          <a:xfrm>
            <a:off x="1546877" y="807680"/>
            <a:ext cx="3379051" cy="369332"/>
          </a:xfrm>
          <a:prstGeom prst="rect">
            <a:avLst/>
          </a:prstGeom>
          <a:noFill/>
        </p:spPr>
        <p:txBody>
          <a:bodyPr wrap="square" rtlCol="0">
            <a:spAutoFit/>
          </a:bodyPr>
          <a:lstStyle/>
          <a:p>
            <a:r>
              <a:rPr lang="de-DE" dirty="0">
                <a:solidFill>
                  <a:schemeClr val="bg1"/>
                </a:solidFill>
              </a:rPr>
              <a:t>Schommer (1990, 1993; 1994)</a:t>
            </a:r>
          </a:p>
        </p:txBody>
      </p:sp>
      <p:sp>
        <p:nvSpPr>
          <p:cNvPr id="7" name="Rechteck 6">
            <a:extLst>
              <a:ext uri="{FF2B5EF4-FFF2-40B4-BE49-F238E27FC236}">
                <a16:creationId xmlns:a16="http://schemas.microsoft.com/office/drawing/2014/main" id="{2EFEF967-DC8E-490B-967F-84FA483C4C67}"/>
              </a:ext>
            </a:extLst>
          </p:cNvPr>
          <p:cNvSpPr/>
          <p:nvPr/>
        </p:nvSpPr>
        <p:spPr>
          <a:xfrm>
            <a:off x="1459516" y="5680988"/>
            <a:ext cx="4198585" cy="369332"/>
          </a:xfrm>
          <a:prstGeom prst="rect">
            <a:avLst/>
          </a:prstGeom>
        </p:spPr>
        <p:txBody>
          <a:bodyPr wrap="none">
            <a:spAutoFit/>
          </a:bodyPr>
          <a:lstStyle/>
          <a:p>
            <a:r>
              <a:rPr lang="en-US" dirty="0"/>
              <a:t>Scientists can ultimately get to the truth</a:t>
            </a:r>
            <a:endParaRPr lang="de-DE" dirty="0"/>
          </a:p>
        </p:txBody>
      </p:sp>
      <p:sp>
        <p:nvSpPr>
          <p:cNvPr id="80" name="Textfeld 79">
            <a:extLst>
              <a:ext uri="{FF2B5EF4-FFF2-40B4-BE49-F238E27FC236}">
                <a16:creationId xmlns:a16="http://schemas.microsoft.com/office/drawing/2014/main" id="{7457B9E4-1A10-477C-8F4B-01748F3A9827}"/>
              </a:ext>
            </a:extLst>
          </p:cNvPr>
          <p:cNvSpPr txBox="1"/>
          <p:nvPr/>
        </p:nvSpPr>
        <p:spPr>
          <a:xfrm>
            <a:off x="648402" y="4404620"/>
            <a:ext cx="5786563" cy="1477328"/>
          </a:xfrm>
          <a:prstGeom prst="rect">
            <a:avLst/>
          </a:prstGeom>
          <a:noFill/>
        </p:spPr>
        <p:txBody>
          <a:bodyPr wrap="square" rtlCol="0">
            <a:spAutoFit/>
          </a:bodyPr>
          <a:lstStyle/>
          <a:p>
            <a:r>
              <a:rPr lang="en-US" i="1" dirty="0">
                <a:solidFill>
                  <a:schemeClr val="bg1"/>
                </a:solidFill>
              </a:rPr>
              <a:t>Source</a:t>
            </a:r>
            <a:r>
              <a:rPr lang="en-US" dirty="0">
                <a:solidFill>
                  <a:schemeClr val="bg1"/>
                </a:solidFill>
              </a:rPr>
              <a:t>: Omniscient authority &lt;-&gt; reasoned out </a:t>
            </a:r>
            <a:r>
              <a:rPr lang="en-US" i="1" dirty="0">
                <a:solidFill>
                  <a:schemeClr val="bg1"/>
                </a:solidFill>
              </a:rPr>
              <a:t>Certainty</a:t>
            </a:r>
            <a:r>
              <a:rPr lang="en-US" dirty="0">
                <a:solidFill>
                  <a:schemeClr val="bg1"/>
                </a:solidFill>
              </a:rPr>
              <a:t>: Absolute &lt;-&gt; evolving.</a:t>
            </a:r>
          </a:p>
          <a:p>
            <a:r>
              <a:rPr lang="en-US" i="1" dirty="0">
                <a:solidFill>
                  <a:schemeClr val="bg1"/>
                </a:solidFill>
              </a:rPr>
              <a:t>Organization</a:t>
            </a:r>
            <a:r>
              <a:rPr lang="en-US" dirty="0">
                <a:solidFill>
                  <a:schemeClr val="bg1"/>
                </a:solidFill>
              </a:rPr>
              <a:t>: Compartmentalized &lt;-&gt; integrated</a:t>
            </a:r>
          </a:p>
          <a:p>
            <a:r>
              <a:rPr lang="en-US" i="1" dirty="0">
                <a:solidFill>
                  <a:schemeClr val="bg1"/>
                </a:solidFill>
              </a:rPr>
              <a:t>Control</a:t>
            </a:r>
            <a:r>
              <a:rPr lang="en-US" dirty="0">
                <a:solidFill>
                  <a:schemeClr val="bg1"/>
                </a:solidFill>
              </a:rPr>
              <a:t>: determined &lt;-&gt; acquired</a:t>
            </a:r>
          </a:p>
          <a:p>
            <a:r>
              <a:rPr lang="en-US" i="1" dirty="0">
                <a:solidFill>
                  <a:schemeClr val="bg1"/>
                </a:solidFill>
              </a:rPr>
              <a:t>Speed</a:t>
            </a:r>
            <a:r>
              <a:rPr lang="en-US" dirty="0">
                <a:solidFill>
                  <a:schemeClr val="bg1"/>
                </a:solidFill>
              </a:rPr>
              <a:t>: quick &lt;-&gt; gradual</a:t>
            </a: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82" name="Ellipse 81">
            <a:extLst>
              <a:ext uri="{FF2B5EF4-FFF2-40B4-BE49-F238E27FC236}">
                <a16:creationId xmlns:a16="http://schemas.microsoft.com/office/drawing/2014/main" id="{B9D76769-2935-4F87-971D-6C377464E7DF}"/>
              </a:ext>
            </a:extLst>
          </p:cNvPr>
          <p:cNvSpPr/>
          <p:nvPr/>
        </p:nvSpPr>
        <p:spPr>
          <a:xfrm>
            <a:off x="1301491" y="3809273"/>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7" name="Gerade Verbindung mit Pfeil 86">
            <a:extLst>
              <a:ext uri="{FF2B5EF4-FFF2-40B4-BE49-F238E27FC236}">
                <a16:creationId xmlns:a16="http://schemas.microsoft.com/office/drawing/2014/main" id="{51874B68-5960-42B9-A6FF-3BB5C7F998E7}"/>
              </a:ext>
            </a:extLst>
          </p:cNvPr>
          <p:cNvCxnSpPr>
            <a:cxnSpLocks/>
            <a:stCxn id="82" idx="3"/>
          </p:cNvCxnSpPr>
          <p:nvPr/>
        </p:nvCxnSpPr>
        <p:spPr>
          <a:xfrm flipH="1">
            <a:off x="1321488" y="4090935"/>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 Verbindung mit Pfeil 87">
            <a:extLst>
              <a:ext uri="{FF2B5EF4-FFF2-40B4-BE49-F238E27FC236}">
                <a16:creationId xmlns:a16="http://schemas.microsoft.com/office/drawing/2014/main" id="{56D37689-A7FF-4A24-880A-70ED21458C4D}"/>
              </a:ext>
            </a:extLst>
          </p:cNvPr>
          <p:cNvCxnSpPr>
            <a:cxnSpLocks/>
            <a:stCxn id="82" idx="4"/>
          </p:cNvCxnSpPr>
          <p:nvPr/>
        </p:nvCxnSpPr>
        <p:spPr>
          <a:xfrm>
            <a:off x="1618297" y="4139260"/>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Gerade Verbindung mit Pfeil 88">
            <a:extLst>
              <a:ext uri="{FF2B5EF4-FFF2-40B4-BE49-F238E27FC236}">
                <a16:creationId xmlns:a16="http://schemas.microsoft.com/office/drawing/2014/main" id="{C3A39199-2D99-4CD3-BB3F-9F9CF951150F}"/>
              </a:ext>
            </a:extLst>
          </p:cNvPr>
          <p:cNvCxnSpPr>
            <a:cxnSpLocks/>
            <a:stCxn id="82" idx="5"/>
          </p:cNvCxnSpPr>
          <p:nvPr/>
        </p:nvCxnSpPr>
        <p:spPr>
          <a:xfrm>
            <a:off x="1842313" y="4090935"/>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E4132143-E4C5-4BE2-B982-27B9890DB8ED}"/>
              </a:ext>
            </a:extLst>
          </p:cNvPr>
          <p:cNvSpPr/>
          <p:nvPr/>
        </p:nvSpPr>
        <p:spPr>
          <a:xfrm>
            <a:off x="2035081"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1" name="Gerade Verbindung mit Pfeil 90">
            <a:extLst>
              <a:ext uri="{FF2B5EF4-FFF2-40B4-BE49-F238E27FC236}">
                <a16:creationId xmlns:a16="http://schemas.microsoft.com/office/drawing/2014/main" id="{11868598-D9D1-49F8-A00E-62F84C11AB5A}"/>
              </a:ext>
            </a:extLst>
          </p:cNvPr>
          <p:cNvCxnSpPr>
            <a:cxnSpLocks/>
            <a:stCxn id="90" idx="3"/>
          </p:cNvCxnSpPr>
          <p:nvPr/>
        </p:nvCxnSpPr>
        <p:spPr>
          <a:xfrm flipH="1">
            <a:off x="2055078"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Gerade Verbindung mit Pfeil 91">
            <a:extLst>
              <a:ext uri="{FF2B5EF4-FFF2-40B4-BE49-F238E27FC236}">
                <a16:creationId xmlns:a16="http://schemas.microsoft.com/office/drawing/2014/main" id="{AC1B0F17-0801-4861-95D0-6CD2D9E07CCD}"/>
              </a:ext>
            </a:extLst>
          </p:cNvPr>
          <p:cNvCxnSpPr>
            <a:cxnSpLocks/>
            <a:stCxn id="90" idx="4"/>
          </p:cNvCxnSpPr>
          <p:nvPr/>
        </p:nvCxnSpPr>
        <p:spPr>
          <a:xfrm>
            <a:off x="2351887"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09B4402A-195B-4F06-B6D7-EDDDB3AAF41D}"/>
              </a:ext>
            </a:extLst>
          </p:cNvPr>
          <p:cNvCxnSpPr>
            <a:cxnSpLocks/>
            <a:stCxn id="90" idx="5"/>
          </p:cNvCxnSpPr>
          <p:nvPr/>
        </p:nvCxnSpPr>
        <p:spPr>
          <a:xfrm>
            <a:off x="2575903"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4" name="Ellipse 93">
            <a:extLst>
              <a:ext uri="{FF2B5EF4-FFF2-40B4-BE49-F238E27FC236}">
                <a16:creationId xmlns:a16="http://schemas.microsoft.com/office/drawing/2014/main" id="{B6F78651-CE94-4B1E-AFDB-AA542C41D728}"/>
              </a:ext>
            </a:extLst>
          </p:cNvPr>
          <p:cNvSpPr/>
          <p:nvPr/>
        </p:nvSpPr>
        <p:spPr>
          <a:xfrm>
            <a:off x="2806631" y="3827056"/>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5" name="Gerade Verbindung mit Pfeil 94">
            <a:extLst>
              <a:ext uri="{FF2B5EF4-FFF2-40B4-BE49-F238E27FC236}">
                <a16:creationId xmlns:a16="http://schemas.microsoft.com/office/drawing/2014/main" id="{3D16043F-C816-4C5C-8BBA-DCC54134F272}"/>
              </a:ext>
            </a:extLst>
          </p:cNvPr>
          <p:cNvCxnSpPr>
            <a:cxnSpLocks/>
            <a:stCxn id="94" idx="3"/>
          </p:cNvCxnSpPr>
          <p:nvPr/>
        </p:nvCxnSpPr>
        <p:spPr>
          <a:xfrm flipH="1">
            <a:off x="2826628" y="4108718"/>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Gerade Verbindung mit Pfeil 95">
            <a:extLst>
              <a:ext uri="{FF2B5EF4-FFF2-40B4-BE49-F238E27FC236}">
                <a16:creationId xmlns:a16="http://schemas.microsoft.com/office/drawing/2014/main" id="{E466C1F7-EEFF-4E17-8E6E-AB1CA9BEA942}"/>
              </a:ext>
            </a:extLst>
          </p:cNvPr>
          <p:cNvCxnSpPr>
            <a:cxnSpLocks/>
            <a:stCxn id="94" idx="4"/>
          </p:cNvCxnSpPr>
          <p:nvPr/>
        </p:nvCxnSpPr>
        <p:spPr>
          <a:xfrm>
            <a:off x="3123437" y="4157043"/>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99C25EFA-421A-4C70-B517-49F9B46EABEB}"/>
              </a:ext>
            </a:extLst>
          </p:cNvPr>
          <p:cNvCxnSpPr>
            <a:cxnSpLocks/>
            <a:stCxn id="94" idx="5"/>
          </p:cNvCxnSpPr>
          <p:nvPr/>
        </p:nvCxnSpPr>
        <p:spPr>
          <a:xfrm>
            <a:off x="3347453" y="4108718"/>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8" name="Ellipse 97">
            <a:extLst>
              <a:ext uri="{FF2B5EF4-FFF2-40B4-BE49-F238E27FC236}">
                <a16:creationId xmlns:a16="http://schemas.microsoft.com/office/drawing/2014/main" id="{D9F3F852-BD04-485B-B8CF-2294E2E1496C}"/>
              </a:ext>
            </a:extLst>
          </p:cNvPr>
          <p:cNvSpPr/>
          <p:nvPr/>
        </p:nvSpPr>
        <p:spPr>
          <a:xfrm>
            <a:off x="3541684"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99" name="Gerade Verbindung mit Pfeil 98">
            <a:extLst>
              <a:ext uri="{FF2B5EF4-FFF2-40B4-BE49-F238E27FC236}">
                <a16:creationId xmlns:a16="http://schemas.microsoft.com/office/drawing/2014/main" id="{7B16E084-4F44-4A1F-A347-C5A9103DABA0}"/>
              </a:ext>
            </a:extLst>
          </p:cNvPr>
          <p:cNvCxnSpPr>
            <a:cxnSpLocks/>
            <a:stCxn id="98" idx="3"/>
          </p:cNvCxnSpPr>
          <p:nvPr/>
        </p:nvCxnSpPr>
        <p:spPr>
          <a:xfrm flipH="1">
            <a:off x="3561681"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104DA6AA-C151-4E51-900D-E070636E8CF2}"/>
              </a:ext>
            </a:extLst>
          </p:cNvPr>
          <p:cNvCxnSpPr>
            <a:cxnSpLocks/>
            <a:stCxn id="98" idx="4"/>
          </p:cNvCxnSpPr>
          <p:nvPr/>
        </p:nvCxnSpPr>
        <p:spPr>
          <a:xfrm>
            <a:off x="3858490"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FF45FE3E-D970-4865-8481-49D35CB17737}"/>
              </a:ext>
            </a:extLst>
          </p:cNvPr>
          <p:cNvCxnSpPr>
            <a:cxnSpLocks/>
            <a:stCxn id="98" idx="5"/>
          </p:cNvCxnSpPr>
          <p:nvPr/>
        </p:nvCxnSpPr>
        <p:spPr>
          <a:xfrm>
            <a:off x="4082506"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2" name="Ellipse 101">
            <a:extLst>
              <a:ext uri="{FF2B5EF4-FFF2-40B4-BE49-F238E27FC236}">
                <a16:creationId xmlns:a16="http://schemas.microsoft.com/office/drawing/2014/main" id="{D321E990-BA08-426A-8700-0EF3A61BD081}"/>
              </a:ext>
            </a:extLst>
          </p:cNvPr>
          <p:cNvSpPr/>
          <p:nvPr/>
        </p:nvSpPr>
        <p:spPr>
          <a:xfrm>
            <a:off x="4292316" y="3824921"/>
            <a:ext cx="633612" cy="329987"/>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3" name="Gerade Verbindung mit Pfeil 102">
            <a:extLst>
              <a:ext uri="{FF2B5EF4-FFF2-40B4-BE49-F238E27FC236}">
                <a16:creationId xmlns:a16="http://schemas.microsoft.com/office/drawing/2014/main" id="{E6AE74B4-D3F6-405A-A976-818EEEFF7688}"/>
              </a:ext>
            </a:extLst>
          </p:cNvPr>
          <p:cNvCxnSpPr>
            <a:cxnSpLocks/>
            <a:stCxn id="102" idx="3"/>
          </p:cNvCxnSpPr>
          <p:nvPr/>
        </p:nvCxnSpPr>
        <p:spPr>
          <a:xfrm flipH="1">
            <a:off x="4312313" y="4106583"/>
            <a:ext cx="72793" cy="2334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mit Pfeil 103">
            <a:extLst>
              <a:ext uri="{FF2B5EF4-FFF2-40B4-BE49-F238E27FC236}">
                <a16:creationId xmlns:a16="http://schemas.microsoft.com/office/drawing/2014/main" id="{0A582625-F9BE-463F-BD3E-0A09B0FF351C}"/>
              </a:ext>
            </a:extLst>
          </p:cNvPr>
          <p:cNvCxnSpPr>
            <a:cxnSpLocks/>
            <a:stCxn id="102" idx="4"/>
          </p:cNvCxnSpPr>
          <p:nvPr/>
        </p:nvCxnSpPr>
        <p:spPr>
          <a:xfrm>
            <a:off x="4609122" y="4154908"/>
            <a:ext cx="12920" cy="2032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Gerade Verbindung mit Pfeil 104">
            <a:extLst>
              <a:ext uri="{FF2B5EF4-FFF2-40B4-BE49-F238E27FC236}">
                <a16:creationId xmlns:a16="http://schemas.microsoft.com/office/drawing/2014/main" id="{75F9B334-382A-40CA-9C2A-3E60127CF64F}"/>
              </a:ext>
            </a:extLst>
          </p:cNvPr>
          <p:cNvCxnSpPr>
            <a:cxnSpLocks/>
            <a:stCxn id="102" idx="5"/>
          </p:cNvCxnSpPr>
          <p:nvPr/>
        </p:nvCxnSpPr>
        <p:spPr>
          <a:xfrm>
            <a:off x="4833138" y="4106583"/>
            <a:ext cx="49380" cy="25154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BA485CB2-5874-4230-9855-9E488DBD37B4}"/>
              </a:ext>
            </a:extLst>
          </p:cNvPr>
          <p:cNvSpPr txBox="1"/>
          <p:nvPr/>
        </p:nvSpPr>
        <p:spPr>
          <a:xfrm>
            <a:off x="6405611" y="1898166"/>
            <a:ext cx="5490335" cy="923330"/>
          </a:xfrm>
          <a:prstGeom prst="rect">
            <a:avLst/>
          </a:prstGeom>
          <a:noFill/>
        </p:spPr>
        <p:txBody>
          <a:bodyPr wrap="square" rtlCol="0">
            <a:spAutoFit/>
          </a:bodyPr>
          <a:lstStyle/>
          <a:p>
            <a:r>
              <a:rPr lang="de-DE" dirty="0">
                <a:solidFill>
                  <a:schemeClr val="bg1"/>
                </a:solidFill>
              </a:rPr>
              <a:t>- </a:t>
            </a:r>
            <a:r>
              <a:rPr lang="de-DE" dirty="0" err="1">
                <a:solidFill>
                  <a:schemeClr val="bg1"/>
                </a:solidFill>
              </a:rPr>
              <a:t>Refinement</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postulated</a:t>
            </a:r>
            <a:r>
              <a:rPr lang="de-DE" dirty="0">
                <a:solidFill>
                  <a:schemeClr val="bg1"/>
                </a:solidFill>
              </a:rPr>
              <a:t> </a:t>
            </a:r>
            <a:r>
              <a:rPr lang="de-DE" dirty="0" err="1">
                <a:solidFill>
                  <a:schemeClr val="bg1"/>
                </a:solidFill>
              </a:rPr>
              <a:t>dimensions</a:t>
            </a:r>
            <a:r>
              <a:rPr lang="de-DE" dirty="0">
                <a:solidFill>
                  <a:schemeClr val="bg1"/>
                </a:solidFill>
              </a:rPr>
              <a:t> and </a:t>
            </a:r>
            <a:r>
              <a:rPr lang="de-DE" dirty="0" err="1">
                <a:solidFill>
                  <a:schemeClr val="bg1"/>
                </a:solidFill>
              </a:rPr>
              <a:t>items</a:t>
            </a:r>
            <a:r>
              <a:rPr lang="de-DE" dirty="0">
                <a:solidFill>
                  <a:schemeClr val="bg1"/>
                </a:solidFill>
              </a:rPr>
              <a:t> (e.g., Chan &amp; Elliott, 2004; Chai et al., 2006; </a:t>
            </a:r>
            <a:r>
              <a:rPr lang="de-DE" dirty="0" err="1">
                <a:solidFill>
                  <a:schemeClr val="bg1"/>
                </a:solidFill>
              </a:rPr>
              <a:t>Conley</a:t>
            </a:r>
            <a:r>
              <a:rPr lang="de-DE" dirty="0">
                <a:solidFill>
                  <a:schemeClr val="bg1"/>
                </a:solidFill>
              </a:rPr>
              <a:t> et al., 2004; Schiefer et al., 2022)</a:t>
            </a:r>
          </a:p>
        </p:txBody>
      </p:sp>
      <p:cxnSp>
        <p:nvCxnSpPr>
          <p:cNvPr id="4" name="Gerade Verbindung mit Pfeil 3">
            <a:extLst>
              <a:ext uri="{FF2B5EF4-FFF2-40B4-BE49-F238E27FC236}">
                <a16:creationId xmlns:a16="http://schemas.microsoft.com/office/drawing/2014/main" id="{CEDDB579-7606-4072-AC07-48F5883D6543}"/>
              </a:ext>
            </a:extLst>
          </p:cNvPr>
          <p:cNvCxnSpPr>
            <a:cxnSpLocks/>
          </p:cNvCxnSpPr>
          <p:nvPr/>
        </p:nvCxnSpPr>
        <p:spPr>
          <a:xfrm flipV="1">
            <a:off x="6833952" y="2952172"/>
            <a:ext cx="755431" cy="97421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59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4" name="Ellipse 33">
            <a:extLst>
              <a:ext uri="{FF2B5EF4-FFF2-40B4-BE49-F238E27FC236}">
                <a16:creationId xmlns:a16="http://schemas.microsoft.com/office/drawing/2014/main" id="{D1FC164A-5A0A-40DB-B86A-F5B1BBEBFD06}"/>
              </a:ext>
            </a:extLst>
          </p:cNvPr>
          <p:cNvSpPr/>
          <p:nvPr/>
        </p:nvSpPr>
        <p:spPr>
          <a:xfrm>
            <a:off x="2301148" y="1334270"/>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Simple</a:t>
            </a:r>
          </a:p>
        </p:txBody>
      </p:sp>
      <p:cxnSp>
        <p:nvCxnSpPr>
          <p:cNvPr id="35" name="Gerade Verbindung mit Pfeil 34">
            <a:extLst>
              <a:ext uri="{FF2B5EF4-FFF2-40B4-BE49-F238E27FC236}">
                <a16:creationId xmlns:a16="http://schemas.microsoft.com/office/drawing/2014/main" id="{D99323A7-98E6-429D-9914-17C83E267A9F}"/>
              </a:ext>
            </a:extLst>
          </p:cNvPr>
          <p:cNvCxnSpPr>
            <a:stCxn id="34" idx="3"/>
          </p:cNvCxnSpPr>
          <p:nvPr/>
        </p:nvCxnSpPr>
        <p:spPr>
          <a:xfrm flipH="1">
            <a:off x="1472475" y="1897592"/>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7E2C0D-184A-403E-8416-9F8AE0B3F974}"/>
              </a:ext>
            </a:extLst>
          </p:cNvPr>
          <p:cNvCxnSpPr>
            <a:cxnSpLocks/>
            <a:stCxn id="34" idx="4"/>
          </p:cNvCxnSpPr>
          <p:nvPr/>
        </p:nvCxnSpPr>
        <p:spPr>
          <a:xfrm flipH="1">
            <a:off x="2929978" y="1994243"/>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A3CBE41A-A592-455D-B604-7BD9F791BB1C}"/>
              </a:ext>
            </a:extLst>
          </p:cNvPr>
          <p:cNvCxnSpPr>
            <a:cxnSpLocks/>
            <a:stCxn id="34" idx="5"/>
          </p:cNvCxnSpPr>
          <p:nvPr/>
        </p:nvCxnSpPr>
        <p:spPr>
          <a:xfrm>
            <a:off x="3374629" y="1897592"/>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Textfeld 63">
            <a:extLst>
              <a:ext uri="{FF2B5EF4-FFF2-40B4-BE49-F238E27FC236}">
                <a16:creationId xmlns:a16="http://schemas.microsoft.com/office/drawing/2014/main" id="{4A26715B-9B1F-450E-A4D8-168F35CF37BC}"/>
              </a:ext>
            </a:extLst>
          </p:cNvPr>
          <p:cNvSpPr txBox="1"/>
          <p:nvPr/>
        </p:nvSpPr>
        <p:spPr>
          <a:xfrm>
            <a:off x="6405611" y="930434"/>
            <a:ext cx="5740356" cy="1477328"/>
          </a:xfrm>
          <a:prstGeom prst="rect">
            <a:avLst/>
          </a:prstGeom>
          <a:noFill/>
        </p:spPr>
        <p:txBody>
          <a:bodyPr wrap="square" rtlCol="0">
            <a:spAutoFit/>
          </a:bodyPr>
          <a:lstStyle/>
          <a:p>
            <a:r>
              <a:rPr lang="de-DE" dirty="0">
                <a:solidFill>
                  <a:schemeClr val="bg1"/>
                </a:solidFill>
              </a:rPr>
              <a:t>- </a:t>
            </a:r>
            <a:r>
              <a:rPr lang="de-DE" dirty="0" err="1">
                <a:solidFill>
                  <a:schemeClr val="bg1"/>
                </a:solidFill>
              </a:rPr>
              <a:t>Criticisms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instable</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structures</a:t>
            </a:r>
            <a:r>
              <a:rPr lang="de-DE"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samples</a:t>
            </a:r>
            <a:r>
              <a:rPr lang="de-DE" dirty="0">
                <a:solidFill>
                  <a:schemeClr val="bg1"/>
                </a:solidFill>
              </a:rPr>
              <a:t>, </a:t>
            </a:r>
            <a:r>
              <a:rPr lang="de-DE" dirty="0" err="1">
                <a:solidFill>
                  <a:schemeClr val="bg1"/>
                </a:solidFill>
              </a:rPr>
              <a:t>low</a:t>
            </a:r>
            <a:r>
              <a:rPr lang="de-DE" dirty="0">
                <a:solidFill>
                  <a:schemeClr val="bg1"/>
                </a:solidFill>
              </a:rPr>
              <a:t> internal </a:t>
            </a:r>
            <a:r>
              <a:rPr lang="de-DE" dirty="0" err="1">
                <a:solidFill>
                  <a:schemeClr val="bg1"/>
                </a:solidFill>
              </a:rPr>
              <a:t>consistencies</a:t>
            </a:r>
            <a:r>
              <a:rPr lang="de-DE" dirty="0">
                <a:solidFill>
                  <a:schemeClr val="bg1"/>
                </a:solidFill>
              </a:rPr>
              <a:t> (</a:t>
            </a:r>
            <a:r>
              <a:rPr lang="de-DE" dirty="0" err="1">
                <a:solidFill>
                  <a:schemeClr val="bg1"/>
                </a:solidFill>
              </a:rPr>
              <a:t>Cronbach`s</a:t>
            </a:r>
            <a:r>
              <a:rPr lang="de-DE" dirty="0">
                <a:solidFill>
                  <a:schemeClr val="bg1"/>
                </a:solidFill>
              </a:rPr>
              <a:t> Alpha; </a:t>
            </a:r>
            <a:r>
              <a:rPr lang="de-DE" dirty="0" err="1">
                <a:solidFill>
                  <a:schemeClr val="bg1"/>
                </a:solidFill>
              </a:rPr>
              <a:t>DeBacker</a:t>
            </a:r>
            <a:r>
              <a:rPr lang="de-DE" dirty="0">
                <a:solidFill>
                  <a:schemeClr val="bg1"/>
                </a:solidFill>
              </a:rPr>
              <a:t> et al., 2008), </a:t>
            </a:r>
            <a:r>
              <a:rPr lang="de-DE" dirty="0" err="1">
                <a:solidFill>
                  <a:schemeClr val="bg1"/>
                </a:solidFill>
              </a:rPr>
              <a:t>contextual</a:t>
            </a:r>
            <a:r>
              <a:rPr lang="de-DE" dirty="0">
                <a:solidFill>
                  <a:schemeClr val="bg1"/>
                </a:solidFill>
              </a:rPr>
              <a:t> </a:t>
            </a:r>
            <a:r>
              <a:rPr lang="de-DE" dirty="0" err="1">
                <a:solidFill>
                  <a:schemeClr val="bg1"/>
                </a:solidFill>
              </a:rPr>
              <a:t>dependence</a:t>
            </a:r>
            <a:r>
              <a:rPr lang="de-DE" dirty="0">
                <a:solidFill>
                  <a:schemeClr val="bg1"/>
                </a:solidFill>
              </a:rPr>
              <a:t> (Merk et al., 2018), </a:t>
            </a:r>
            <a:r>
              <a:rPr lang="de-DE" dirty="0" err="1">
                <a:solidFill>
                  <a:schemeClr val="bg1"/>
                </a:solidFill>
              </a:rPr>
              <a:t>interpretational</a:t>
            </a:r>
            <a:r>
              <a:rPr lang="de-DE" dirty="0">
                <a:solidFill>
                  <a:schemeClr val="bg1"/>
                </a:solidFill>
              </a:rPr>
              <a:t> </a:t>
            </a:r>
            <a:r>
              <a:rPr lang="de-DE" dirty="0" err="1">
                <a:solidFill>
                  <a:schemeClr val="bg1"/>
                </a:solidFill>
              </a:rPr>
              <a:t>multiplicity</a:t>
            </a:r>
            <a:r>
              <a:rPr lang="de-DE" dirty="0">
                <a:solidFill>
                  <a:schemeClr val="bg1"/>
                </a:solidFill>
              </a:rPr>
              <a:t> (Greene &amp; </a:t>
            </a:r>
            <a:r>
              <a:rPr lang="de-DE" dirty="0" err="1">
                <a:solidFill>
                  <a:schemeClr val="bg1"/>
                </a:solidFill>
              </a:rPr>
              <a:t>Seung</a:t>
            </a:r>
            <a:r>
              <a:rPr lang="de-DE" dirty="0">
                <a:solidFill>
                  <a:schemeClr val="bg1"/>
                </a:solidFill>
              </a:rPr>
              <a:t>, 2014)</a:t>
            </a:r>
          </a:p>
        </p:txBody>
      </p:sp>
      <p:sp>
        <p:nvSpPr>
          <p:cNvPr id="65" name="Titel 1">
            <a:extLst>
              <a:ext uri="{FF2B5EF4-FFF2-40B4-BE49-F238E27FC236}">
                <a16:creationId xmlns:a16="http://schemas.microsoft.com/office/drawing/2014/main" id="{63017DAC-C280-43EC-9623-98CB6B10010E}"/>
              </a:ext>
            </a:extLst>
          </p:cNvPr>
          <p:cNvSpPr txBox="1">
            <a:spLocks/>
          </p:cNvSpPr>
          <p:nvPr/>
        </p:nvSpPr>
        <p:spPr>
          <a:xfrm>
            <a:off x="7089717" y="2865773"/>
            <a:ext cx="3948213" cy="12652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2010s:</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dirty="0">
                <a:solidFill>
                  <a:prstClr val="white"/>
                </a:solidFill>
              </a:rPr>
              <a:t>The </a:t>
            </a:r>
            <a:r>
              <a:rPr lang="en-US" b="1" dirty="0">
                <a:solidFill>
                  <a:prstClr val="white"/>
                </a:solidFill>
              </a:rPr>
              <a:t>downfall</a:t>
            </a:r>
            <a:r>
              <a:rPr lang="en-US" dirty="0">
                <a:solidFill>
                  <a:prstClr val="white"/>
                </a:solidFill>
              </a:rPr>
              <a:t> of epistemic beliefs</a:t>
            </a:r>
            <a:endParaRPr kumimoji="0" lang="en-US" sz="6000" b="0" i="1"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3" name="Textfeld 72">
            <a:extLst>
              <a:ext uri="{FF2B5EF4-FFF2-40B4-BE49-F238E27FC236}">
                <a16:creationId xmlns:a16="http://schemas.microsoft.com/office/drawing/2014/main" id="{537C8889-4245-4873-B068-12E272FBFC15}"/>
              </a:ext>
            </a:extLst>
          </p:cNvPr>
          <p:cNvSpPr txBox="1"/>
          <p:nvPr/>
        </p:nvSpPr>
        <p:spPr>
          <a:xfrm>
            <a:off x="6691596" y="4133709"/>
            <a:ext cx="5315181" cy="2308324"/>
          </a:xfrm>
          <a:prstGeom prst="rect">
            <a:avLst/>
          </a:prstGeom>
          <a:noFill/>
        </p:spPr>
        <p:txBody>
          <a:bodyPr wrap="square" rtlCol="0">
            <a:spAutoFit/>
          </a:bodyPr>
          <a:lstStyle/>
          <a:p>
            <a:r>
              <a:rPr lang="de-DE" dirty="0">
                <a:solidFill>
                  <a:schemeClr val="bg1"/>
                </a:solidFill>
              </a:rPr>
              <a:t>(1) </a:t>
            </a:r>
            <a:r>
              <a:rPr lang="de-DE" dirty="0" err="1">
                <a:solidFill>
                  <a:schemeClr val="bg1"/>
                </a:solidFill>
              </a:rPr>
              <a:t>Develop</a:t>
            </a:r>
            <a:r>
              <a:rPr lang="de-DE" dirty="0">
                <a:solidFill>
                  <a:schemeClr val="bg1"/>
                </a:solidFill>
              </a:rPr>
              <a:t> (</a:t>
            </a:r>
            <a:r>
              <a:rPr lang="de-DE" dirty="0" err="1">
                <a:solidFill>
                  <a:schemeClr val="bg1"/>
                </a:solidFill>
              </a:rPr>
              <a:t>many</a:t>
            </a:r>
            <a:r>
              <a:rPr lang="de-DE" dirty="0">
                <a:solidFill>
                  <a:schemeClr val="bg1"/>
                </a:solidFill>
              </a:rPr>
              <a:t>) </a:t>
            </a:r>
            <a:r>
              <a:rPr lang="de-DE" dirty="0" err="1">
                <a:solidFill>
                  <a:schemeClr val="bg1"/>
                </a:solidFill>
              </a:rPr>
              <a:t>items</a:t>
            </a:r>
            <a:endParaRPr lang="de-DE" dirty="0">
              <a:solidFill>
                <a:schemeClr val="bg1"/>
              </a:solidFill>
            </a:endParaRPr>
          </a:p>
          <a:p>
            <a:endParaRPr lang="de-DE" dirty="0">
              <a:solidFill>
                <a:schemeClr val="bg1"/>
              </a:solidFill>
            </a:endParaRPr>
          </a:p>
          <a:p>
            <a:r>
              <a:rPr lang="de-DE" dirty="0">
                <a:solidFill>
                  <a:schemeClr val="bg1"/>
                </a:solidFill>
              </a:rPr>
              <a:t>(2) Fit a (</a:t>
            </a:r>
            <a:r>
              <a:rPr lang="de-DE" dirty="0" err="1">
                <a:solidFill>
                  <a:schemeClr val="bg1"/>
                </a:solidFill>
              </a:rPr>
              <a:t>exploratory</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confirmatory</a:t>
            </a:r>
            <a:r>
              <a:rPr lang="de-DE" dirty="0">
                <a:solidFill>
                  <a:schemeClr val="bg1"/>
                </a:solidFill>
              </a:rPr>
              <a:t>) </a:t>
            </a:r>
            <a:r>
              <a:rPr lang="de-DE" dirty="0" err="1">
                <a:solidFill>
                  <a:schemeClr val="bg1"/>
                </a:solidFill>
              </a:rPr>
              <a:t>factor</a:t>
            </a:r>
            <a:r>
              <a:rPr lang="de-DE" dirty="0">
                <a:solidFill>
                  <a:schemeClr val="bg1"/>
                </a:solidFill>
              </a:rPr>
              <a:t> </a:t>
            </a:r>
            <a:r>
              <a:rPr lang="de-DE" dirty="0" err="1">
                <a:solidFill>
                  <a:schemeClr val="bg1"/>
                </a:solidFill>
              </a:rPr>
              <a:t>analysis</a:t>
            </a:r>
            <a:r>
              <a:rPr lang="de-DE" dirty="0">
                <a:solidFill>
                  <a:schemeClr val="bg1"/>
                </a:solidFill>
              </a:rPr>
              <a:t> </a:t>
            </a:r>
            <a:r>
              <a:rPr lang="de-DE" dirty="0" err="1">
                <a:solidFill>
                  <a:schemeClr val="bg1"/>
                </a:solidFill>
              </a:rPr>
              <a:t>model</a:t>
            </a:r>
            <a:endParaRPr lang="de-DE" dirty="0">
              <a:solidFill>
                <a:schemeClr val="bg1"/>
              </a:solidFill>
            </a:endParaRPr>
          </a:p>
          <a:p>
            <a:endParaRPr lang="de-DE" dirty="0">
              <a:solidFill>
                <a:schemeClr val="bg1"/>
              </a:solidFill>
            </a:endParaRPr>
          </a:p>
          <a:p>
            <a:r>
              <a:rPr lang="de-DE" dirty="0">
                <a:solidFill>
                  <a:schemeClr val="bg1"/>
                </a:solidFill>
              </a:rPr>
              <a:t>(3) </a:t>
            </a:r>
            <a:r>
              <a:rPr lang="de-DE" dirty="0" err="1">
                <a:solidFill>
                  <a:schemeClr val="bg1"/>
                </a:solidFill>
              </a:rPr>
              <a:t>Compare</a:t>
            </a:r>
            <a:r>
              <a:rPr lang="de-DE" dirty="0">
                <a:solidFill>
                  <a:schemeClr val="bg1"/>
                </a:solidFill>
              </a:rPr>
              <a:t> </a:t>
            </a:r>
            <a:r>
              <a:rPr lang="de-DE" dirty="0" err="1">
                <a:solidFill>
                  <a:schemeClr val="bg1"/>
                </a:solidFill>
              </a:rPr>
              <a:t>results</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theory</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(4) Remove </a:t>
            </a:r>
            <a:r>
              <a:rPr lang="de-DE" dirty="0" err="1">
                <a:solidFill>
                  <a:schemeClr val="bg1"/>
                </a:solidFill>
              </a:rPr>
              <a:t>items</a:t>
            </a:r>
            <a:r>
              <a:rPr lang="de-DE" dirty="0">
                <a:solidFill>
                  <a:schemeClr val="bg1"/>
                </a:solidFill>
              </a:rPr>
              <a:t> </a:t>
            </a:r>
            <a:r>
              <a:rPr lang="de-DE" dirty="0" err="1">
                <a:solidFill>
                  <a:schemeClr val="bg1"/>
                </a:solidFill>
              </a:rPr>
              <a:t>that</a:t>
            </a:r>
            <a:r>
              <a:rPr lang="de-DE" dirty="0">
                <a:solidFill>
                  <a:schemeClr val="bg1"/>
                </a:solidFill>
              </a:rPr>
              <a:t> do not fit </a:t>
            </a:r>
            <a:r>
              <a:rPr lang="de-DE" dirty="0" err="1">
                <a:solidFill>
                  <a:schemeClr val="bg1"/>
                </a:solidFill>
              </a:rPr>
              <a:t>model</a:t>
            </a:r>
            <a:endParaRPr lang="de-DE" dirty="0">
              <a:solidFill>
                <a:schemeClr val="bg1"/>
              </a:solidFill>
            </a:endParaRPr>
          </a:p>
        </p:txBody>
      </p:sp>
      <p:sp>
        <p:nvSpPr>
          <p:cNvPr id="6" name="Textfeld 5">
            <a:extLst>
              <a:ext uri="{FF2B5EF4-FFF2-40B4-BE49-F238E27FC236}">
                <a16:creationId xmlns:a16="http://schemas.microsoft.com/office/drawing/2014/main" id="{901C2461-CC39-41B2-B6D7-1429CBCFA22D}"/>
              </a:ext>
            </a:extLst>
          </p:cNvPr>
          <p:cNvSpPr txBox="1"/>
          <p:nvPr/>
        </p:nvSpPr>
        <p:spPr>
          <a:xfrm>
            <a:off x="528149" y="2789279"/>
            <a:ext cx="1765058" cy="461665"/>
          </a:xfrm>
          <a:prstGeom prst="rect">
            <a:avLst/>
          </a:prstGeom>
          <a:noFill/>
        </p:spPr>
        <p:txBody>
          <a:bodyPr wrap="square" rtlCol="0">
            <a:spAutoFit/>
          </a:bodyPr>
          <a:lstStyle/>
          <a:p>
            <a:r>
              <a:rPr lang="de-DE" sz="1200" i="1" dirty="0">
                <a:solidFill>
                  <a:schemeClr val="bg1"/>
                </a:solidFill>
              </a:rPr>
              <a:t>Most </a:t>
            </a:r>
            <a:r>
              <a:rPr lang="de-DE" sz="1200" i="1" dirty="0" err="1">
                <a:solidFill>
                  <a:schemeClr val="bg1"/>
                </a:solidFill>
              </a:rPr>
              <a:t>words</a:t>
            </a:r>
            <a:r>
              <a:rPr lang="de-DE" sz="1200" i="1" dirty="0">
                <a:solidFill>
                  <a:schemeClr val="bg1"/>
                </a:solidFill>
              </a:rPr>
              <a:t> </a:t>
            </a:r>
            <a:r>
              <a:rPr lang="de-DE" sz="1200" i="1" dirty="0" err="1">
                <a:solidFill>
                  <a:schemeClr val="bg1"/>
                </a:solidFill>
              </a:rPr>
              <a:t>have</a:t>
            </a:r>
            <a:r>
              <a:rPr lang="de-DE" sz="1200" i="1" dirty="0">
                <a:solidFill>
                  <a:schemeClr val="bg1"/>
                </a:solidFill>
              </a:rPr>
              <a:t> </a:t>
            </a:r>
            <a:r>
              <a:rPr lang="de-DE" sz="1200" i="1" dirty="0" err="1">
                <a:solidFill>
                  <a:schemeClr val="bg1"/>
                </a:solidFill>
              </a:rPr>
              <a:t>one</a:t>
            </a:r>
            <a:r>
              <a:rPr lang="de-DE" sz="1200" i="1" dirty="0">
                <a:solidFill>
                  <a:schemeClr val="bg1"/>
                </a:solidFill>
              </a:rPr>
              <a:t> </a:t>
            </a:r>
            <a:r>
              <a:rPr lang="de-DE" sz="1200" i="1" dirty="0" err="1">
                <a:solidFill>
                  <a:schemeClr val="bg1"/>
                </a:solidFill>
              </a:rPr>
              <a:t>clear</a:t>
            </a:r>
            <a:r>
              <a:rPr lang="de-DE" sz="1200" i="1" dirty="0">
                <a:solidFill>
                  <a:schemeClr val="bg1"/>
                </a:solidFill>
              </a:rPr>
              <a:t> </a:t>
            </a:r>
            <a:r>
              <a:rPr lang="de-DE" sz="1200" i="1" dirty="0" err="1">
                <a:solidFill>
                  <a:schemeClr val="bg1"/>
                </a:solidFill>
              </a:rPr>
              <a:t>meaning</a:t>
            </a:r>
            <a:endParaRPr lang="de-DE" sz="1200" i="1" dirty="0">
              <a:solidFill>
                <a:schemeClr val="bg1"/>
              </a:solidFill>
            </a:endParaRPr>
          </a:p>
        </p:txBody>
      </p:sp>
      <p:sp>
        <p:nvSpPr>
          <p:cNvPr id="74" name="Textfeld 73">
            <a:extLst>
              <a:ext uri="{FF2B5EF4-FFF2-40B4-BE49-F238E27FC236}">
                <a16:creationId xmlns:a16="http://schemas.microsoft.com/office/drawing/2014/main" id="{34565F71-03D8-4FA1-A78D-C33DAFF587FD}"/>
              </a:ext>
            </a:extLst>
          </p:cNvPr>
          <p:cNvSpPr txBox="1"/>
          <p:nvPr/>
        </p:nvSpPr>
        <p:spPr>
          <a:xfrm>
            <a:off x="2159022" y="2752275"/>
            <a:ext cx="1838353" cy="646331"/>
          </a:xfrm>
          <a:prstGeom prst="rect">
            <a:avLst/>
          </a:prstGeom>
          <a:noFill/>
        </p:spPr>
        <p:txBody>
          <a:bodyPr wrap="square" rtlCol="0">
            <a:spAutoFit/>
          </a:bodyPr>
          <a:lstStyle/>
          <a:p>
            <a:r>
              <a:rPr lang="en-US" sz="1200" i="1" dirty="0">
                <a:solidFill>
                  <a:schemeClr val="bg1"/>
                </a:solidFill>
              </a:rPr>
              <a:t>Being a good student generally involves </a:t>
            </a:r>
            <a:r>
              <a:rPr lang="en-US" sz="1200" i="1" dirty="0" err="1">
                <a:solidFill>
                  <a:schemeClr val="bg1"/>
                </a:solidFill>
              </a:rPr>
              <a:t>memorising</a:t>
            </a:r>
            <a:r>
              <a:rPr lang="en-US" sz="1200" i="1" dirty="0">
                <a:solidFill>
                  <a:schemeClr val="bg1"/>
                </a:solidFill>
              </a:rPr>
              <a:t> facts</a:t>
            </a:r>
            <a:endParaRPr lang="de-DE" sz="1200" i="1" dirty="0">
              <a:solidFill>
                <a:schemeClr val="bg1"/>
              </a:solidFill>
            </a:endParaRPr>
          </a:p>
        </p:txBody>
      </p:sp>
      <p:sp>
        <p:nvSpPr>
          <p:cNvPr id="8" name="Rechteck 7">
            <a:extLst>
              <a:ext uri="{FF2B5EF4-FFF2-40B4-BE49-F238E27FC236}">
                <a16:creationId xmlns:a16="http://schemas.microsoft.com/office/drawing/2014/main" id="{98CF6C6C-7CD2-4FCD-BD2C-5A4ABE7E9BED}"/>
              </a:ext>
            </a:extLst>
          </p:cNvPr>
          <p:cNvSpPr/>
          <p:nvPr/>
        </p:nvSpPr>
        <p:spPr>
          <a:xfrm>
            <a:off x="3787444" y="2752275"/>
            <a:ext cx="2282065" cy="646331"/>
          </a:xfrm>
          <a:prstGeom prst="rect">
            <a:avLst/>
          </a:prstGeom>
        </p:spPr>
        <p:txBody>
          <a:bodyPr wrap="square">
            <a:spAutoFit/>
          </a:bodyPr>
          <a:lstStyle/>
          <a:p>
            <a:r>
              <a:rPr lang="en-US" sz="1200" dirty="0">
                <a:solidFill>
                  <a:schemeClr val="bg1"/>
                </a:solidFill>
              </a:rPr>
              <a:t>Almost all information you can learn from a textbook you will get during the first reading</a:t>
            </a:r>
            <a:endParaRPr lang="de-DE" sz="1200" dirty="0">
              <a:solidFill>
                <a:schemeClr val="bg1"/>
              </a:solidFill>
            </a:endParaRPr>
          </a:p>
        </p:txBody>
      </p:sp>
      <p:sp>
        <p:nvSpPr>
          <p:cNvPr id="43" name="Textfeld 42">
            <a:extLst>
              <a:ext uri="{FF2B5EF4-FFF2-40B4-BE49-F238E27FC236}">
                <a16:creationId xmlns:a16="http://schemas.microsoft.com/office/drawing/2014/main" id="{BA485CB2-5874-4230-9855-9E488DBD37B4}"/>
              </a:ext>
            </a:extLst>
          </p:cNvPr>
          <p:cNvSpPr txBox="1"/>
          <p:nvPr/>
        </p:nvSpPr>
        <p:spPr>
          <a:xfrm>
            <a:off x="6351259" y="2361885"/>
            <a:ext cx="5655518" cy="646331"/>
          </a:xfrm>
          <a:prstGeom prst="rect">
            <a:avLst/>
          </a:prstGeom>
          <a:noFill/>
        </p:spPr>
        <p:txBody>
          <a:bodyPr wrap="square" rtlCol="0">
            <a:spAutoFit/>
          </a:bodyPr>
          <a:lstStyle/>
          <a:p>
            <a:r>
              <a:rPr lang="de-DE" dirty="0">
                <a:solidFill>
                  <a:schemeClr val="bg1"/>
                </a:solidFill>
              </a:rPr>
              <a:t>- Handbook </a:t>
            </a:r>
            <a:r>
              <a:rPr lang="de-DE" dirty="0" err="1">
                <a:solidFill>
                  <a:schemeClr val="bg1"/>
                </a:solidFill>
              </a:rPr>
              <a:t>of</a:t>
            </a:r>
            <a:r>
              <a:rPr lang="de-DE" dirty="0">
                <a:solidFill>
                  <a:schemeClr val="bg1"/>
                </a:solidFill>
              </a:rPr>
              <a:t> </a:t>
            </a:r>
            <a:r>
              <a:rPr lang="de-DE" dirty="0" err="1">
                <a:solidFill>
                  <a:schemeClr val="bg1"/>
                </a:solidFill>
              </a:rPr>
              <a:t>Epistemic</a:t>
            </a:r>
            <a:r>
              <a:rPr lang="de-DE" dirty="0">
                <a:solidFill>
                  <a:schemeClr val="bg1"/>
                </a:solidFill>
              </a:rPr>
              <a:t> </a:t>
            </a:r>
            <a:r>
              <a:rPr lang="de-DE" dirty="0" err="1">
                <a:solidFill>
                  <a:schemeClr val="bg1"/>
                </a:solidFill>
              </a:rPr>
              <a:t>Cognition</a:t>
            </a:r>
            <a:r>
              <a:rPr lang="de-DE" dirty="0">
                <a:solidFill>
                  <a:schemeClr val="bg1"/>
                </a:solidFill>
              </a:rPr>
              <a:t>: </a:t>
            </a:r>
            <a:r>
              <a:rPr lang="de-DE" b="1" dirty="0">
                <a:solidFill>
                  <a:schemeClr val="bg1"/>
                </a:solidFill>
              </a:rPr>
              <a:t>Nail in </a:t>
            </a:r>
            <a:r>
              <a:rPr lang="de-DE" b="1" dirty="0" err="1">
                <a:solidFill>
                  <a:schemeClr val="bg1"/>
                </a:solidFill>
              </a:rPr>
              <a:t>the</a:t>
            </a:r>
            <a:r>
              <a:rPr lang="de-DE" b="1" dirty="0">
                <a:solidFill>
                  <a:schemeClr val="bg1"/>
                </a:solidFill>
              </a:rPr>
              <a:t> </a:t>
            </a:r>
            <a:r>
              <a:rPr lang="de-DE" b="1" dirty="0" err="1">
                <a:solidFill>
                  <a:schemeClr val="bg1"/>
                </a:solidFill>
              </a:rPr>
              <a:t>coffin</a:t>
            </a:r>
            <a:r>
              <a:rPr lang="de-DE" b="1" dirty="0">
                <a:solidFill>
                  <a:schemeClr val="bg1"/>
                </a:solidFill>
              </a:rPr>
              <a:t> </a:t>
            </a:r>
            <a:r>
              <a:rPr lang="de-DE" b="1" dirty="0" err="1">
                <a:solidFill>
                  <a:schemeClr val="bg1"/>
                </a:solidFill>
              </a:rPr>
              <a:t>of</a:t>
            </a:r>
            <a:r>
              <a:rPr lang="de-DE" b="1" dirty="0">
                <a:solidFill>
                  <a:schemeClr val="bg1"/>
                </a:solidFill>
              </a:rPr>
              <a:t> </a:t>
            </a:r>
            <a:r>
              <a:rPr lang="de-DE" b="1" dirty="0" err="1">
                <a:solidFill>
                  <a:schemeClr val="bg1"/>
                </a:solidFill>
              </a:rPr>
              <a:t>epistemic</a:t>
            </a:r>
            <a:r>
              <a:rPr lang="de-DE" b="1" dirty="0">
                <a:solidFill>
                  <a:schemeClr val="bg1"/>
                </a:solidFill>
              </a:rPr>
              <a:t> beliefs </a:t>
            </a:r>
            <a:r>
              <a:rPr lang="de-DE" b="1" dirty="0" err="1">
                <a:solidFill>
                  <a:schemeClr val="bg1"/>
                </a:solidFill>
              </a:rPr>
              <a:t>research</a:t>
            </a:r>
            <a:r>
              <a:rPr lang="de-DE" dirty="0">
                <a:solidFill>
                  <a:schemeClr val="bg1"/>
                </a:solidFill>
              </a:rPr>
              <a:t> (e.g., Mason, 2016)</a:t>
            </a:r>
          </a:p>
        </p:txBody>
      </p:sp>
      <p:cxnSp>
        <p:nvCxnSpPr>
          <p:cNvPr id="4" name="Gerade Verbindung mit Pfeil 3">
            <a:extLst>
              <a:ext uri="{FF2B5EF4-FFF2-40B4-BE49-F238E27FC236}">
                <a16:creationId xmlns:a16="http://schemas.microsoft.com/office/drawing/2014/main" id="{CEDDB579-7606-4072-AC07-48F5883D6543}"/>
              </a:ext>
            </a:extLst>
          </p:cNvPr>
          <p:cNvCxnSpPr>
            <a:cxnSpLocks/>
          </p:cNvCxnSpPr>
          <p:nvPr/>
        </p:nvCxnSpPr>
        <p:spPr>
          <a:xfrm flipV="1">
            <a:off x="6833952" y="2952172"/>
            <a:ext cx="755431" cy="974216"/>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Gerade Verbindung mit Pfeil 44">
            <a:extLst>
              <a:ext uri="{FF2B5EF4-FFF2-40B4-BE49-F238E27FC236}">
                <a16:creationId xmlns:a16="http://schemas.microsoft.com/office/drawing/2014/main" id="{6A203493-49D8-4C76-B0CE-033BFE5D96E4}"/>
              </a:ext>
            </a:extLst>
          </p:cNvPr>
          <p:cNvCxnSpPr>
            <a:cxnSpLocks/>
          </p:cNvCxnSpPr>
          <p:nvPr/>
        </p:nvCxnSpPr>
        <p:spPr>
          <a:xfrm>
            <a:off x="10602702" y="2970508"/>
            <a:ext cx="919651" cy="8727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feld 47">
            <a:extLst>
              <a:ext uri="{FF2B5EF4-FFF2-40B4-BE49-F238E27FC236}">
                <a16:creationId xmlns:a16="http://schemas.microsoft.com/office/drawing/2014/main" id="{41951220-464E-409E-83BC-46B9E5CBB8E3}"/>
              </a:ext>
            </a:extLst>
          </p:cNvPr>
          <p:cNvSpPr txBox="1"/>
          <p:nvPr/>
        </p:nvSpPr>
        <p:spPr>
          <a:xfrm>
            <a:off x="504639" y="3463133"/>
            <a:ext cx="5655518" cy="646331"/>
          </a:xfrm>
          <a:prstGeom prst="rect">
            <a:avLst/>
          </a:prstGeom>
          <a:noFill/>
        </p:spPr>
        <p:txBody>
          <a:bodyPr wrap="square" rtlCol="0">
            <a:spAutoFit/>
          </a:bodyPr>
          <a:lstStyle/>
          <a:p>
            <a:r>
              <a:rPr lang="de-DE" dirty="0">
                <a:solidFill>
                  <a:schemeClr val="bg1"/>
                </a:solidFill>
              </a:rPr>
              <a:t>- Move </a:t>
            </a:r>
            <a:r>
              <a:rPr lang="de-DE" dirty="0" err="1">
                <a:solidFill>
                  <a:schemeClr val="bg1"/>
                </a:solidFill>
              </a:rPr>
              <a:t>towards</a:t>
            </a:r>
            <a:r>
              <a:rPr lang="de-DE" dirty="0">
                <a:solidFill>
                  <a:schemeClr val="bg1"/>
                </a:solidFill>
              </a:rPr>
              <a:t> </a:t>
            </a:r>
            <a:r>
              <a:rPr lang="de-DE" b="1" dirty="0" err="1">
                <a:solidFill>
                  <a:schemeClr val="bg1"/>
                </a:solidFill>
              </a:rPr>
              <a:t>epistemic</a:t>
            </a:r>
            <a:r>
              <a:rPr lang="de-DE" b="1" dirty="0">
                <a:solidFill>
                  <a:schemeClr val="bg1"/>
                </a:solidFill>
              </a:rPr>
              <a:t> </a:t>
            </a:r>
            <a:r>
              <a:rPr lang="de-DE" b="1" dirty="0" err="1">
                <a:solidFill>
                  <a:schemeClr val="bg1"/>
                </a:solidFill>
              </a:rPr>
              <a:t>cognition</a:t>
            </a:r>
            <a:r>
              <a:rPr lang="de-DE" b="1" dirty="0">
                <a:solidFill>
                  <a:schemeClr val="bg1"/>
                </a:solidFill>
              </a:rPr>
              <a:t> in </a:t>
            </a:r>
            <a:r>
              <a:rPr lang="de-DE" b="1" dirty="0" err="1">
                <a:solidFill>
                  <a:schemeClr val="bg1"/>
                </a:solidFill>
              </a:rPr>
              <a:t>action</a:t>
            </a:r>
            <a:r>
              <a:rPr lang="de-DE" dirty="0">
                <a:solidFill>
                  <a:schemeClr val="bg1"/>
                </a:solidFill>
              </a:rPr>
              <a:t> </a:t>
            </a:r>
            <a:r>
              <a:rPr lang="de-DE" dirty="0" err="1">
                <a:solidFill>
                  <a:schemeClr val="bg1"/>
                </a:solidFill>
              </a:rPr>
              <a:t>because</a:t>
            </a:r>
            <a:r>
              <a:rPr lang="de-DE" dirty="0">
                <a:solidFill>
                  <a:schemeClr val="bg1"/>
                </a:solidFill>
              </a:rPr>
              <a:t> </a:t>
            </a:r>
            <a:r>
              <a:rPr lang="de-DE" i="1" dirty="0" err="1">
                <a:solidFill>
                  <a:schemeClr val="bg1"/>
                </a:solidFill>
              </a:rPr>
              <a:t>you</a:t>
            </a:r>
            <a:r>
              <a:rPr lang="de-DE" i="1" dirty="0">
                <a:solidFill>
                  <a:schemeClr val="bg1"/>
                </a:solidFill>
              </a:rPr>
              <a:t> </a:t>
            </a:r>
            <a:r>
              <a:rPr lang="de-DE" i="1" dirty="0" err="1">
                <a:solidFill>
                  <a:schemeClr val="bg1"/>
                </a:solidFill>
              </a:rPr>
              <a:t>cannot</a:t>
            </a:r>
            <a:r>
              <a:rPr lang="de-DE" i="1" dirty="0">
                <a:solidFill>
                  <a:schemeClr val="bg1"/>
                </a:solidFill>
              </a:rPr>
              <a:t> </a:t>
            </a:r>
            <a:r>
              <a:rPr lang="de-DE" i="1" dirty="0" err="1">
                <a:solidFill>
                  <a:schemeClr val="bg1"/>
                </a:solidFill>
              </a:rPr>
              <a:t>measure</a:t>
            </a:r>
            <a:r>
              <a:rPr lang="de-DE" i="1" dirty="0">
                <a:solidFill>
                  <a:schemeClr val="bg1"/>
                </a:solidFill>
              </a:rPr>
              <a:t> </a:t>
            </a:r>
            <a:r>
              <a:rPr lang="de-DE" i="1" dirty="0" err="1">
                <a:solidFill>
                  <a:schemeClr val="bg1"/>
                </a:solidFill>
              </a:rPr>
              <a:t>what</a:t>
            </a:r>
            <a:r>
              <a:rPr lang="de-DE" i="1" dirty="0">
                <a:solidFill>
                  <a:schemeClr val="bg1"/>
                </a:solidFill>
              </a:rPr>
              <a:t> </a:t>
            </a:r>
            <a:r>
              <a:rPr lang="de-DE" i="1" dirty="0" err="1">
                <a:solidFill>
                  <a:schemeClr val="bg1"/>
                </a:solidFill>
              </a:rPr>
              <a:t>is</a:t>
            </a:r>
            <a:r>
              <a:rPr lang="de-DE" i="1" dirty="0">
                <a:solidFill>
                  <a:schemeClr val="bg1"/>
                </a:solidFill>
              </a:rPr>
              <a:t> not </a:t>
            </a:r>
            <a:r>
              <a:rPr lang="de-DE" i="1" dirty="0" err="1">
                <a:solidFill>
                  <a:schemeClr val="bg1"/>
                </a:solidFill>
              </a:rPr>
              <a:t>stable</a:t>
            </a:r>
            <a:endParaRPr lang="de-DE" i="1" dirty="0">
              <a:solidFill>
                <a:schemeClr val="bg1"/>
              </a:solidFill>
            </a:endParaRPr>
          </a:p>
        </p:txBody>
      </p:sp>
      <p:sp>
        <p:nvSpPr>
          <p:cNvPr id="49" name="Rechteck 48">
            <a:extLst>
              <a:ext uri="{FF2B5EF4-FFF2-40B4-BE49-F238E27FC236}">
                <a16:creationId xmlns:a16="http://schemas.microsoft.com/office/drawing/2014/main" id="{21194028-7610-4B61-8AAA-65116F09523D}"/>
              </a:ext>
            </a:extLst>
          </p:cNvPr>
          <p:cNvSpPr/>
          <p:nvPr/>
        </p:nvSpPr>
        <p:spPr>
          <a:xfrm>
            <a:off x="962914" y="512154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50" name="Rechteck 49">
            <a:extLst>
              <a:ext uri="{FF2B5EF4-FFF2-40B4-BE49-F238E27FC236}">
                <a16:creationId xmlns:a16="http://schemas.microsoft.com/office/drawing/2014/main" id="{753035FD-E4CA-40D6-9087-FADB662B3BD5}"/>
              </a:ext>
            </a:extLst>
          </p:cNvPr>
          <p:cNvSpPr/>
          <p:nvPr/>
        </p:nvSpPr>
        <p:spPr>
          <a:xfrm>
            <a:off x="2420417" y="512154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51" name="Rechteck 50">
            <a:extLst>
              <a:ext uri="{FF2B5EF4-FFF2-40B4-BE49-F238E27FC236}">
                <a16:creationId xmlns:a16="http://schemas.microsoft.com/office/drawing/2014/main" id="{AE9FB1F8-EE94-480E-859E-AFEE21A92081}"/>
              </a:ext>
            </a:extLst>
          </p:cNvPr>
          <p:cNvSpPr/>
          <p:nvPr/>
        </p:nvSpPr>
        <p:spPr>
          <a:xfrm>
            <a:off x="3824364" y="5121547"/>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52" name="Verbinder: gekrümmt 51">
            <a:extLst>
              <a:ext uri="{FF2B5EF4-FFF2-40B4-BE49-F238E27FC236}">
                <a16:creationId xmlns:a16="http://schemas.microsoft.com/office/drawing/2014/main" id="{F1FC73C2-2502-4F3F-92E2-D0B5B00ED57D}"/>
              </a:ext>
            </a:extLst>
          </p:cNvPr>
          <p:cNvCxnSpPr>
            <a:cxnSpLocks/>
            <a:stCxn id="49" idx="2"/>
            <a:endCxn id="50" idx="2"/>
          </p:cNvCxnSpPr>
          <p:nvPr/>
        </p:nvCxnSpPr>
        <p:spPr>
          <a:xfrm rot="16200000" flipH="1">
            <a:off x="2266939" y="5028063"/>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Verbinder: gekrümmt 52">
            <a:extLst>
              <a:ext uri="{FF2B5EF4-FFF2-40B4-BE49-F238E27FC236}">
                <a16:creationId xmlns:a16="http://schemas.microsoft.com/office/drawing/2014/main" id="{14FB6E5B-E858-4ECA-888D-723F909CBACC}"/>
              </a:ext>
            </a:extLst>
          </p:cNvPr>
          <p:cNvCxnSpPr>
            <a:cxnSpLocks/>
            <a:stCxn id="50" idx="2"/>
            <a:endCxn id="51" idx="2"/>
          </p:cNvCxnSpPr>
          <p:nvPr/>
        </p:nvCxnSpPr>
        <p:spPr>
          <a:xfrm rot="5400000" flipH="1" flipV="1">
            <a:off x="3697663" y="5054841"/>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Verbinder: gekrümmt 53">
            <a:extLst>
              <a:ext uri="{FF2B5EF4-FFF2-40B4-BE49-F238E27FC236}">
                <a16:creationId xmlns:a16="http://schemas.microsoft.com/office/drawing/2014/main" id="{16FBA90E-DD60-48AE-8785-4E591710FA31}"/>
              </a:ext>
            </a:extLst>
          </p:cNvPr>
          <p:cNvCxnSpPr>
            <a:cxnSpLocks/>
            <a:stCxn id="49" idx="2"/>
            <a:endCxn id="51" idx="2"/>
          </p:cNvCxnSpPr>
          <p:nvPr/>
        </p:nvCxnSpPr>
        <p:spPr>
          <a:xfrm rot="5400000" flipH="1" flipV="1">
            <a:off x="2968912" y="4326090"/>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Textfeld 54">
            <a:extLst>
              <a:ext uri="{FF2B5EF4-FFF2-40B4-BE49-F238E27FC236}">
                <a16:creationId xmlns:a16="http://schemas.microsoft.com/office/drawing/2014/main" id="{966E6940-1C65-4462-9FAD-A122FFC5C3E7}"/>
              </a:ext>
            </a:extLst>
          </p:cNvPr>
          <p:cNvSpPr txBox="1"/>
          <p:nvPr/>
        </p:nvSpPr>
        <p:spPr>
          <a:xfrm>
            <a:off x="504639" y="4210316"/>
            <a:ext cx="5655518" cy="646331"/>
          </a:xfrm>
          <a:prstGeom prst="rect">
            <a:avLst/>
          </a:prstGeom>
          <a:noFill/>
        </p:spPr>
        <p:txBody>
          <a:bodyPr wrap="square" rtlCol="0">
            <a:spAutoFit/>
          </a:bodyPr>
          <a:lstStyle/>
          <a:p>
            <a:r>
              <a:rPr lang="de-DE" dirty="0">
                <a:solidFill>
                  <a:schemeClr val="bg1"/>
                </a:solidFill>
              </a:rPr>
              <a:t>- </a:t>
            </a:r>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spTree>
    <p:extLst>
      <p:ext uri="{BB962C8B-B14F-4D97-AF65-F5344CB8AC3E}">
        <p14:creationId xmlns:p14="http://schemas.microsoft.com/office/powerpoint/2010/main" val="909156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Titel 1">
            <a:extLst>
              <a:ext uri="{FF2B5EF4-FFF2-40B4-BE49-F238E27FC236}">
                <a16:creationId xmlns:a16="http://schemas.microsoft.com/office/drawing/2014/main" id="{575F8B74-DBC9-4952-96FA-64E6E5E0526A}"/>
              </a:ext>
            </a:extLst>
          </p:cNvPr>
          <p:cNvSpPr>
            <a:spLocks noGrp="1"/>
          </p:cNvSpPr>
          <p:nvPr>
            <p:ph type="ctrTitle"/>
          </p:nvPr>
        </p:nvSpPr>
        <p:spPr>
          <a:xfrm>
            <a:off x="-148597" y="1349640"/>
            <a:ext cx="2970411" cy="1265237"/>
          </a:xfrm>
        </p:spPr>
        <p:txBody>
          <a:bodyPr>
            <a:normAutofit/>
          </a:bodyPr>
          <a:lstStyle/>
          <a:p>
            <a:r>
              <a:rPr lang="en-US" dirty="0">
                <a:solidFill>
                  <a:schemeClr val="tx1">
                    <a:lumMod val="75000"/>
                    <a:lumOff val="25000"/>
                  </a:schemeClr>
                </a:solidFill>
              </a:rPr>
              <a:t>Part I</a:t>
            </a:r>
          </a:p>
        </p:txBody>
      </p:sp>
      <p:cxnSp>
        <p:nvCxnSpPr>
          <p:cNvPr id="3" name="Gerade Verbindung mit Pfeil 2">
            <a:extLst>
              <a:ext uri="{FF2B5EF4-FFF2-40B4-BE49-F238E27FC236}">
                <a16:creationId xmlns:a16="http://schemas.microsoft.com/office/drawing/2014/main" id="{085F92AE-E80A-4C0A-ABD6-DDE43AF56CA7}"/>
              </a:ext>
            </a:extLst>
          </p:cNvPr>
          <p:cNvCxnSpPr/>
          <p:nvPr/>
        </p:nvCxnSpPr>
        <p:spPr>
          <a:xfrm>
            <a:off x="2762451" y="2136808"/>
            <a:ext cx="4263991" cy="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itel 1">
            <a:extLst>
              <a:ext uri="{FF2B5EF4-FFF2-40B4-BE49-F238E27FC236}">
                <a16:creationId xmlns:a16="http://schemas.microsoft.com/office/drawing/2014/main" id="{CB1487FC-07E0-447C-A35D-2AA4368608AD}"/>
              </a:ext>
            </a:extLst>
          </p:cNvPr>
          <p:cNvSpPr txBox="1">
            <a:spLocks/>
          </p:cNvSpPr>
          <p:nvPr/>
        </p:nvSpPr>
        <p:spPr>
          <a:xfrm>
            <a:off x="7591275" y="290732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Part II</a:t>
            </a:r>
          </a:p>
        </p:txBody>
      </p:sp>
      <p:cxnSp>
        <p:nvCxnSpPr>
          <p:cNvPr id="21" name="Gerade Verbindung mit Pfeil 20">
            <a:extLst>
              <a:ext uri="{FF2B5EF4-FFF2-40B4-BE49-F238E27FC236}">
                <a16:creationId xmlns:a16="http://schemas.microsoft.com/office/drawing/2014/main" id="{01FEBDB1-27C4-42E3-9FFF-9D28EC706D0F}"/>
              </a:ext>
            </a:extLst>
          </p:cNvPr>
          <p:cNvCxnSpPr>
            <a:cxnSpLocks/>
          </p:cNvCxnSpPr>
          <p:nvPr/>
        </p:nvCxnSpPr>
        <p:spPr>
          <a:xfrm flipH="1" flipV="1">
            <a:off x="3690690" y="3794865"/>
            <a:ext cx="4082754" cy="1"/>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itel 1">
            <a:extLst>
              <a:ext uri="{FF2B5EF4-FFF2-40B4-BE49-F238E27FC236}">
                <a16:creationId xmlns:a16="http://schemas.microsoft.com/office/drawing/2014/main" id="{C171FED3-FFB1-4870-8D64-3BB5989E9AB9}"/>
              </a:ext>
            </a:extLst>
          </p:cNvPr>
          <p:cNvSpPr txBox="1">
            <a:spLocks/>
          </p:cNvSpPr>
          <p:nvPr/>
        </p:nvSpPr>
        <p:spPr>
          <a:xfrm>
            <a:off x="4610991" y="3989898"/>
            <a:ext cx="2970411"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Part III</a:t>
            </a:r>
          </a:p>
        </p:txBody>
      </p:sp>
      <p:cxnSp>
        <p:nvCxnSpPr>
          <p:cNvPr id="27" name="Gerade Verbindung mit Pfeil 26">
            <a:extLst>
              <a:ext uri="{FF2B5EF4-FFF2-40B4-BE49-F238E27FC236}">
                <a16:creationId xmlns:a16="http://schemas.microsoft.com/office/drawing/2014/main" id="{CB45F3CF-C4F2-413B-9E96-C4142164771E}"/>
              </a:ext>
            </a:extLst>
          </p:cNvPr>
          <p:cNvCxnSpPr>
            <a:cxnSpLocks/>
          </p:cNvCxnSpPr>
          <p:nvPr/>
        </p:nvCxnSpPr>
        <p:spPr>
          <a:xfrm flipH="1" flipV="1">
            <a:off x="5218967" y="5425375"/>
            <a:ext cx="1727735" cy="27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B468EB5F-89F6-43D8-9B15-4770EC50E009}"/>
              </a:ext>
            </a:extLst>
          </p:cNvPr>
          <p:cNvCxnSpPr>
            <a:cxnSpLocks/>
          </p:cNvCxnSpPr>
          <p:nvPr/>
        </p:nvCxnSpPr>
        <p:spPr>
          <a:xfrm>
            <a:off x="5257467" y="5210199"/>
            <a:ext cx="165073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214E61FD-E687-4184-8E8C-06EA5D474C41}"/>
              </a:ext>
            </a:extLst>
          </p:cNvPr>
          <p:cNvSpPr txBox="1">
            <a:spLocks/>
          </p:cNvSpPr>
          <p:nvPr/>
        </p:nvSpPr>
        <p:spPr>
          <a:xfrm>
            <a:off x="7026442" y="1253088"/>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Theory integration in statistical models</a:t>
            </a:r>
          </a:p>
        </p:txBody>
      </p:sp>
      <p:sp>
        <p:nvSpPr>
          <p:cNvPr id="32" name="Titel 1">
            <a:extLst>
              <a:ext uri="{FF2B5EF4-FFF2-40B4-BE49-F238E27FC236}">
                <a16:creationId xmlns:a16="http://schemas.microsoft.com/office/drawing/2014/main" id="{59807CD0-68B9-4483-913E-AD9A588A9FDB}"/>
              </a:ext>
            </a:extLst>
          </p:cNvPr>
          <p:cNvSpPr txBox="1">
            <a:spLocks/>
          </p:cNvSpPr>
          <p:nvPr/>
        </p:nvSpPr>
        <p:spPr>
          <a:xfrm>
            <a:off x="980183" y="3052722"/>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j-ea"/>
                <a:cs typeface="Arial" panose="020B0604020202020204" pitchFamily="34" charset="0"/>
              </a:rPr>
              <a:t>Model integration into educational research</a:t>
            </a:r>
          </a:p>
        </p:txBody>
      </p:sp>
      <p:sp>
        <p:nvSpPr>
          <p:cNvPr id="37" name="Titel 1">
            <a:extLst>
              <a:ext uri="{FF2B5EF4-FFF2-40B4-BE49-F238E27FC236}">
                <a16:creationId xmlns:a16="http://schemas.microsoft.com/office/drawing/2014/main" id="{D7243799-257B-444E-834D-5C86F1B947C4}"/>
              </a:ext>
            </a:extLst>
          </p:cNvPr>
          <p:cNvSpPr txBox="1">
            <a:spLocks/>
          </p:cNvSpPr>
          <p:nvPr/>
        </p:nvSpPr>
        <p:spPr>
          <a:xfrm>
            <a:off x="4671928" y="5232457"/>
            <a:ext cx="2970411" cy="1265237"/>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Beyond traditional theory-model ontologies</a:t>
            </a:r>
          </a:p>
        </p:txBody>
      </p:sp>
    </p:spTree>
    <p:extLst>
      <p:ext uri="{BB962C8B-B14F-4D97-AF65-F5344CB8AC3E}">
        <p14:creationId xmlns:p14="http://schemas.microsoft.com/office/powerpoint/2010/main" val="757318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599478" y="3460985"/>
            <a:ext cx="5222202" cy="2431435"/>
          </a:xfrm>
          <a:prstGeom prst="rect">
            <a:avLst/>
          </a:prstGeom>
          <a:noFill/>
        </p:spPr>
        <p:txBody>
          <a:bodyPr wrap="square" rtlCol="0">
            <a:spAutoFit/>
          </a:bodyPr>
          <a:lstStyle/>
          <a:p>
            <a:r>
              <a:rPr lang="de-CH" sz="3200" dirty="0" err="1">
                <a:solidFill>
                  <a:schemeClr val="bg1"/>
                </a:solidFill>
                <a:latin typeface="Arial" panose="020B0604020202020204" pitchFamily="34" charset="0"/>
                <a:cs typeface="Arial" panose="020B0604020202020204" pitchFamily="34" charset="0"/>
              </a:rPr>
              <a:t>Since</a:t>
            </a:r>
            <a:r>
              <a:rPr lang="de-CH" sz="3200" dirty="0">
                <a:solidFill>
                  <a:schemeClr val="bg1"/>
                </a:solidFill>
                <a:latin typeface="Arial" panose="020B0604020202020204" pitchFamily="34" charset="0"/>
                <a:cs typeface="Arial" panose="020B0604020202020204" pitchFamily="34" charset="0"/>
              </a:rPr>
              <a:t> 1990s:</a:t>
            </a:r>
          </a:p>
          <a:p>
            <a:r>
              <a:rPr lang="de-CH" sz="2000" dirty="0">
                <a:solidFill>
                  <a:schemeClr val="bg1"/>
                </a:solidFill>
                <a:latin typeface="Arial" panose="020B0604020202020204" pitchFamily="34" charset="0"/>
                <a:cs typeface="Arial" panose="020B0604020202020204" pitchFamily="34" charset="0"/>
              </a:rPr>
              <a:t>The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structure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loadings</a:t>
            </a:r>
            <a:r>
              <a:rPr lang="de-CH" sz="2000" dirty="0">
                <a:solidFill>
                  <a:schemeClr val="bg1"/>
                </a:solidFill>
                <a:latin typeface="Arial" panose="020B0604020202020204" pitchFamily="34" charset="0"/>
                <a:cs typeface="Arial" panose="020B0604020202020204" pitchFamily="34" charset="0"/>
              </a:rPr>
              <a:t> etc.) must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the</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across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samples</a:t>
            </a:r>
            <a:r>
              <a:rPr lang="de-CH" sz="2000" dirty="0">
                <a:solidFill>
                  <a:schemeClr val="bg1"/>
                </a:solidFill>
                <a:latin typeface="Arial" panose="020B0604020202020204" pitchFamily="34" charset="0"/>
                <a:cs typeface="Arial" panose="020B0604020202020204" pitchFamily="34" charset="0"/>
              </a:rPr>
              <a:t>/ time </a:t>
            </a:r>
            <a:r>
              <a:rPr lang="de-CH" sz="2000" dirty="0" err="1">
                <a:solidFill>
                  <a:schemeClr val="bg1"/>
                </a:solidFill>
                <a:latin typeface="Arial" panose="020B0604020202020204" pitchFamily="34" charset="0"/>
                <a:cs typeface="Arial" panose="020B0604020202020204" pitchFamily="34" charset="0"/>
              </a:rPr>
              <a:t>points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able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compare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correlations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predictive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strength</a:t>
            </a:r>
            <a:r>
              <a:rPr lang="de-CH" sz="20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(Meredith, 1993)</a:t>
            </a:r>
          </a:p>
          <a:p>
            <a:endParaRPr lang="de-CH" sz="2000" dirty="0">
              <a:solidFill>
                <a:schemeClr val="bg1"/>
              </a:solidFill>
              <a:latin typeface="Arial" panose="020B0604020202020204" pitchFamily="34" charset="0"/>
              <a:cs typeface="Arial" panose="020B0604020202020204" pitchFamily="34" charset="0"/>
            </a:endParaRPr>
          </a:p>
          <a:p>
            <a:r>
              <a:rPr lang="de-CH" sz="2000" b="1" dirty="0">
                <a:solidFill>
                  <a:schemeClr val="bg1"/>
                </a:solidFill>
                <a:latin typeface="Arial" panose="020B0604020202020204" pitchFamily="34" charset="0"/>
                <a:cs typeface="Arial" panose="020B0604020202020204" pitchFamily="34" charset="0"/>
              </a:rPr>
              <a:t>Measurement </a:t>
            </a:r>
            <a:r>
              <a:rPr lang="de-CH" sz="2000" b="1" dirty="0" err="1">
                <a:solidFill>
                  <a:schemeClr val="bg1"/>
                </a:solidFill>
                <a:latin typeface="Arial" panose="020B0604020202020204" pitchFamily="34" charset="0"/>
                <a:cs typeface="Arial" panose="020B0604020202020204" pitchFamily="34" charset="0"/>
              </a:rPr>
              <a:t>invariance</a:t>
            </a:r>
            <a:endParaRPr lang="de-CH" sz="2000" b="1" dirty="0">
              <a:solidFill>
                <a:schemeClr val="bg1"/>
              </a:solidFill>
              <a:latin typeface="Arial" panose="020B0604020202020204" pitchFamily="34" charset="0"/>
              <a:cs typeface="Arial" panose="020B0604020202020204" pitchFamily="34" charset="0"/>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2</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3</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6536235" y="1075252"/>
            <a:ext cx="5806439" cy="4154984"/>
          </a:xfrm>
          <a:prstGeom prst="rect">
            <a:avLst/>
          </a:prstGeom>
          <a:noFill/>
        </p:spPr>
        <p:txBody>
          <a:bodyPr wrap="square">
            <a:spAutoFit/>
          </a:bodyPr>
          <a:lstStyle/>
          <a:p>
            <a:r>
              <a:rPr lang="de-CH" sz="2400" b="1" dirty="0" err="1">
                <a:solidFill>
                  <a:schemeClr val="bg1"/>
                </a:solidFill>
                <a:latin typeface="Arial" panose="020B0604020202020204" pitchFamily="34" charset="0"/>
                <a:cs typeface="Arial" panose="020B0604020202020204" pitchFamily="34" charset="0"/>
              </a:rPr>
              <a:t>Since</a:t>
            </a:r>
            <a:r>
              <a:rPr lang="de-CH" sz="2400" b="1" dirty="0">
                <a:solidFill>
                  <a:schemeClr val="bg1"/>
                </a:solidFill>
                <a:latin typeface="Arial" panose="020B0604020202020204" pitchFamily="34" charset="0"/>
                <a:cs typeface="Arial" panose="020B0604020202020204" pitchFamily="34" charset="0"/>
              </a:rPr>
              <a:t> 2010s</a:t>
            </a:r>
          </a:p>
          <a:p>
            <a:endParaRPr lang="de-CH" sz="2400" dirty="0">
              <a:solidFill>
                <a:schemeClr val="bg1"/>
              </a:solidFill>
              <a:latin typeface="Arial" panose="020B0604020202020204" pitchFamily="34" charset="0"/>
              <a:cs typeface="Arial" panose="020B0604020202020204" pitchFamily="34" charset="0"/>
            </a:endParaRPr>
          </a:p>
          <a:p>
            <a:r>
              <a:rPr lang="de-CH" sz="2400" dirty="0" err="1">
                <a:solidFill>
                  <a:schemeClr val="bg1"/>
                </a:solidFill>
                <a:latin typeface="Arial" panose="020B0604020202020204" pitchFamily="34" charset="0"/>
                <a:cs typeface="Arial" panose="020B0604020202020204" pitchFamily="34" charset="0"/>
              </a:rPr>
              <a:t>Questionnaire</a:t>
            </a:r>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test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data</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often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thrown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away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if</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this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statistical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assumption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not </a:t>
            </a:r>
            <a:r>
              <a:rPr lang="de-CH" sz="2400" dirty="0" err="1">
                <a:solidFill>
                  <a:schemeClr val="bg1"/>
                </a:solidFill>
                <a:latin typeface="Arial" panose="020B0604020202020204" pitchFamily="34" charset="0"/>
                <a:cs typeface="Arial" panose="020B0604020202020204" pitchFamily="34" charset="0"/>
              </a:rPr>
              <a:t>given</a:t>
            </a:r>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Extreme </a:t>
            </a:r>
            <a:r>
              <a:rPr lang="de-CH" sz="2400" dirty="0" err="1">
                <a:solidFill>
                  <a:schemeClr val="bg1"/>
                </a:solidFill>
                <a:latin typeface="Arial" panose="020B0604020202020204" pitchFamily="34" charset="0"/>
                <a:cs typeface="Arial" panose="020B0604020202020204" pitchFamily="34" charset="0"/>
              </a:rPr>
              <a:t>case</a:t>
            </a:r>
            <a:r>
              <a:rPr lang="de-CH" sz="2400" dirty="0">
                <a:solidFill>
                  <a:schemeClr val="bg1"/>
                </a:solidFill>
                <a:latin typeface="Arial" panose="020B0604020202020204" pitchFamily="34" charset="0"/>
                <a:cs typeface="Arial" panose="020B0604020202020204" pitchFamily="34" charset="0"/>
              </a:rPr>
              <a:t>:</a:t>
            </a:r>
          </a:p>
          <a:p>
            <a:r>
              <a:rPr lang="de-CH" sz="2400" dirty="0" err="1">
                <a:solidFill>
                  <a:schemeClr val="bg1"/>
                </a:solidFill>
                <a:latin typeface="Arial" panose="020B0604020202020204" pitchFamily="34" charset="0"/>
                <a:cs typeface="Arial" panose="020B0604020202020204" pitchFamily="34" charset="0"/>
              </a:rPr>
              <a:t>Epistemic</a:t>
            </a:r>
            <a:r>
              <a:rPr lang="de-CH" sz="2400" dirty="0">
                <a:solidFill>
                  <a:schemeClr val="bg1"/>
                </a:solidFill>
                <a:latin typeface="Arial" panose="020B0604020202020204" pitchFamily="34" charset="0"/>
                <a:cs typeface="Arial" panose="020B0604020202020204" pitchFamily="34" charset="0"/>
              </a:rPr>
              <a:t> beliefs (</a:t>
            </a:r>
            <a:r>
              <a:rPr lang="de-CH" sz="2400" dirty="0" err="1">
                <a:solidFill>
                  <a:schemeClr val="bg1"/>
                </a:solidFill>
                <a:latin typeface="Arial" panose="020B0604020202020204" pitchFamily="34" charset="0"/>
                <a:cs typeface="Arial" panose="020B0604020202020204" pitchFamily="34" charset="0"/>
              </a:rPr>
              <a:t>construct</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Wide-</a:t>
            </a:r>
            <a:r>
              <a:rPr lang="de-CH" sz="2400" dirty="0" err="1">
                <a:solidFill>
                  <a:schemeClr val="bg1"/>
                </a:solidFill>
                <a:latin typeface="Arial" panose="020B0604020202020204" pitchFamily="34" charset="0"/>
                <a:cs typeface="Arial" panose="020B0604020202020204" pitchFamily="34" charset="0"/>
              </a:rPr>
              <a:t>spread</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criticism</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studies</a:t>
            </a:r>
            <a:r>
              <a:rPr lang="de-CH" sz="2400" dirty="0">
                <a:solidFill>
                  <a:schemeClr val="bg1"/>
                </a:solidFill>
                <a:latin typeface="Arial" panose="020B0604020202020204" pitchFamily="34" charset="0"/>
                <a:cs typeface="Arial" panose="020B0604020202020204" pitchFamily="34" charset="0"/>
              </a:rPr>
              <a:t> not </a:t>
            </a:r>
            <a:r>
              <a:rPr lang="de-CH" sz="2400" dirty="0" err="1">
                <a:solidFill>
                  <a:schemeClr val="bg1"/>
                </a:solidFill>
                <a:latin typeface="Arial" panose="020B0604020202020204" pitchFamily="34" charset="0"/>
                <a:cs typeface="Arial" panose="020B0604020202020204" pitchFamily="34" charset="0"/>
              </a:rPr>
              <a:t>investigating</a:t>
            </a:r>
            <a:r>
              <a:rPr lang="de-CH" sz="2400" dirty="0">
                <a:solidFill>
                  <a:schemeClr val="bg1"/>
                </a:solidFill>
                <a:latin typeface="Arial" panose="020B0604020202020204" pitchFamily="34" charset="0"/>
                <a:cs typeface="Arial" panose="020B0604020202020204" pitchFamily="34" charset="0"/>
              </a:rPr>
              <a:t> MI </a:t>
            </a:r>
            <a:r>
              <a:rPr lang="de-CH" sz="1200" dirty="0">
                <a:solidFill>
                  <a:schemeClr val="bg1"/>
                </a:solidFill>
                <a:latin typeface="Arial" panose="020B0604020202020204" pitchFamily="34" charset="0"/>
                <a:cs typeface="Arial" panose="020B0604020202020204" pitchFamily="34" charset="0"/>
              </a:rPr>
              <a:t>(Maassen et al., 2025)</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756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599478" y="3460985"/>
            <a:ext cx="5222202" cy="2431435"/>
          </a:xfrm>
          <a:prstGeom prst="rect">
            <a:avLst/>
          </a:prstGeom>
          <a:noFill/>
        </p:spPr>
        <p:txBody>
          <a:bodyPr wrap="square" rtlCol="0">
            <a:spAutoFit/>
          </a:bodyPr>
          <a:lstStyle/>
          <a:p>
            <a:r>
              <a:rPr lang="de-CH" sz="3200" dirty="0" err="1">
                <a:solidFill>
                  <a:schemeClr val="bg1"/>
                </a:solidFill>
                <a:latin typeface="Arial" panose="020B0604020202020204" pitchFamily="34" charset="0"/>
                <a:cs typeface="Arial" panose="020B0604020202020204" pitchFamily="34" charset="0"/>
              </a:rPr>
              <a:t>Since</a:t>
            </a:r>
            <a:r>
              <a:rPr lang="de-CH" sz="3200" dirty="0">
                <a:solidFill>
                  <a:schemeClr val="bg1"/>
                </a:solidFill>
                <a:latin typeface="Arial" panose="020B0604020202020204" pitchFamily="34" charset="0"/>
                <a:cs typeface="Arial" panose="020B0604020202020204" pitchFamily="34" charset="0"/>
              </a:rPr>
              <a:t> 1990s:</a:t>
            </a:r>
          </a:p>
          <a:p>
            <a:r>
              <a:rPr lang="de-CH" sz="2000" dirty="0">
                <a:solidFill>
                  <a:schemeClr val="bg1"/>
                </a:solidFill>
                <a:latin typeface="Arial" panose="020B0604020202020204" pitchFamily="34" charset="0"/>
                <a:cs typeface="Arial" panose="020B0604020202020204" pitchFamily="34" charset="0"/>
              </a:rPr>
              <a:t>The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structure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factor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loadings</a:t>
            </a:r>
            <a:r>
              <a:rPr lang="de-CH" sz="2000" dirty="0">
                <a:solidFill>
                  <a:schemeClr val="bg1"/>
                </a:solidFill>
                <a:latin typeface="Arial" panose="020B0604020202020204" pitchFamily="34" charset="0"/>
                <a:cs typeface="Arial" panose="020B0604020202020204" pitchFamily="34" charset="0"/>
              </a:rPr>
              <a:t> etc.) must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the</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across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samples</a:t>
            </a:r>
            <a:r>
              <a:rPr lang="de-CH" sz="2000" dirty="0">
                <a:solidFill>
                  <a:schemeClr val="bg1"/>
                </a:solidFill>
                <a:latin typeface="Arial" panose="020B0604020202020204" pitchFamily="34" charset="0"/>
                <a:cs typeface="Arial" panose="020B0604020202020204" pitchFamily="34" charset="0"/>
              </a:rPr>
              <a:t>/ time </a:t>
            </a:r>
            <a:r>
              <a:rPr lang="de-CH" sz="2000" dirty="0" err="1">
                <a:solidFill>
                  <a:schemeClr val="bg1"/>
                </a:solidFill>
                <a:latin typeface="Arial" panose="020B0604020202020204" pitchFamily="34" charset="0"/>
                <a:cs typeface="Arial" panose="020B0604020202020204" pitchFamily="34" charset="0"/>
              </a:rPr>
              <a:t>points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able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to</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compare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correlations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predictive</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strength</a:t>
            </a:r>
            <a:r>
              <a:rPr lang="de-CH" sz="20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(Meredith, 1993)</a:t>
            </a:r>
          </a:p>
          <a:p>
            <a:endParaRPr lang="de-CH" sz="2000" dirty="0">
              <a:solidFill>
                <a:schemeClr val="bg1"/>
              </a:solidFill>
              <a:latin typeface="Arial" panose="020B0604020202020204" pitchFamily="34" charset="0"/>
              <a:cs typeface="Arial" panose="020B0604020202020204" pitchFamily="34" charset="0"/>
            </a:endParaRPr>
          </a:p>
          <a:p>
            <a:r>
              <a:rPr lang="de-CH" sz="2000" b="1" dirty="0">
                <a:solidFill>
                  <a:schemeClr val="bg1"/>
                </a:solidFill>
                <a:latin typeface="Arial" panose="020B0604020202020204" pitchFamily="34" charset="0"/>
                <a:cs typeface="Arial" panose="020B0604020202020204" pitchFamily="34" charset="0"/>
              </a:rPr>
              <a:t>Measurement </a:t>
            </a:r>
            <a:r>
              <a:rPr lang="de-CH" sz="2000" b="1" dirty="0" err="1">
                <a:solidFill>
                  <a:schemeClr val="bg1"/>
                </a:solidFill>
                <a:latin typeface="Arial" panose="020B0604020202020204" pitchFamily="34" charset="0"/>
                <a:cs typeface="Arial" panose="020B0604020202020204" pitchFamily="34" charset="0"/>
              </a:rPr>
              <a:t>invariance</a:t>
            </a:r>
            <a:endParaRPr lang="de-CH" sz="2000" b="1" dirty="0">
              <a:solidFill>
                <a:schemeClr val="bg1"/>
              </a:solidFill>
              <a:latin typeface="Arial" panose="020B0604020202020204" pitchFamily="34" charset="0"/>
              <a:cs typeface="Arial" panose="020B0604020202020204" pitchFamily="34" charset="0"/>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2</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3</a:t>
            </a:r>
          </a:p>
        </p:txBody>
      </p:sp>
      <p:sp>
        <p:nvSpPr>
          <p:cNvPr id="19" name="Textfeld 18">
            <a:extLst>
              <a:ext uri="{FF2B5EF4-FFF2-40B4-BE49-F238E27FC236}">
                <a16:creationId xmlns:a16="http://schemas.microsoft.com/office/drawing/2014/main" id="{A62CA53A-1B58-4CCC-A8C4-8E3E2D8779B7}"/>
              </a:ext>
            </a:extLst>
          </p:cNvPr>
          <p:cNvSpPr txBox="1"/>
          <p:nvPr/>
        </p:nvSpPr>
        <p:spPr>
          <a:xfrm>
            <a:off x="6455487" y="1006219"/>
            <a:ext cx="5806439" cy="5539978"/>
          </a:xfrm>
          <a:prstGeom prst="rect">
            <a:avLst/>
          </a:prstGeom>
          <a:noFill/>
        </p:spPr>
        <p:txBody>
          <a:bodyPr wrap="square">
            <a:spAutoFit/>
          </a:bodyPr>
          <a:lstStyle/>
          <a:p>
            <a:r>
              <a:rPr lang="de-CH" sz="2400" b="1" dirty="0">
                <a:solidFill>
                  <a:schemeClr val="bg1"/>
                </a:solidFill>
                <a:latin typeface="Arial" panose="020B0604020202020204" pitchFamily="34" charset="0"/>
                <a:cs typeface="Arial" panose="020B0604020202020204" pitchFamily="34" charset="0"/>
              </a:rPr>
              <a:t>Alternative </a:t>
            </a:r>
            <a:r>
              <a:rPr lang="de-CH" sz="2400" b="1" dirty="0" err="1">
                <a:solidFill>
                  <a:schemeClr val="bg1"/>
                </a:solidFill>
                <a:latin typeface="Arial" panose="020B0604020202020204" pitchFamily="34" charset="0"/>
                <a:cs typeface="Arial" panose="020B0604020202020204" pitchFamily="34" charset="0"/>
              </a:rPr>
              <a:t>view</a:t>
            </a:r>
            <a:endParaRPr lang="de-CH" sz="2400" b="1"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MI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a:t>
            </a:r>
            <a:r>
              <a:rPr lang="de-CH" sz="2400" b="1" dirty="0">
                <a:solidFill>
                  <a:schemeClr val="bg1"/>
                </a:solidFill>
                <a:latin typeface="Arial" panose="020B0604020202020204" pitchFamily="34" charset="0"/>
                <a:cs typeface="Arial" panose="020B0604020202020204" pitchFamily="34" charset="0"/>
              </a:rPr>
              <a:t>not a </a:t>
            </a:r>
            <a:r>
              <a:rPr lang="de-CH" sz="2400" b="1" dirty="0" err="1">
                <a:solidFill>
                  <a:schemeClr val="bg1"/>
                </a:solidFill>
                <a:latin typeface="Arial" panose="020B0604020202020204" pitchFamily="34" charset="0"/>
                <a:cs typeface="Arial" panose="020B0604020202020204" pitchFamily="34" charset="0"/>
              </a:rPr>
              <a:t>prerequisite</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for</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any</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comparisons</a:t>
            </a:r>
            <a:r>
              <a:rPr lang="de-CH" sz="2400" b="1"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 </a:t>
            </a:r>
            <a:r>
              <a:rPr lang="de-CH" dirty="0" err="1">
                <a:solidFill>
                  <a:schemeClr val="bg1"/>
                </a:solidFill>
                <a:latin typeface="Arial" panose="020B0604020202020204" pitchFamily="34" charset="0"/>
                <a:cs typeface="Arial" panose="020B0604020202020204" pitchFamily="34" charset="0"/>
              </a:rPr>
              <a:t>because</a:t>
            </a:r>
            <a:r>
              <a:rPr lang="de-CH" dirty="0">
                <a:solidFill>
                  <a:schemeClr val="bg1"/>
                </a:solidFill>
                <a:latin typeface="Arial" panose="020B0604020202020204" pitchFamily="34" charset="0"/>
                <a:cs typeface="Arial" panose="020B0604020202020204" pitchFamily="34" charset="0"/>
              </a:rPr>
              <a:t>…</a:t>
            </a: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modeling</a:t>
            </a:r>
            <a:r>
              <a:rPr lang="de-CH"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decisions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are</a:t>
            </a:r>
            <a:r>
              <a:rPr lang="de-CH"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arbitrary</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a:t>
            </a: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b="1" dirty="0" err="1">
                <a:solidFill>
                  <a:schemeClr val="bg1"/>
                </a:solidFill>
                <a:latin typeface="Arial" panose="020B0604020202020204" pitchFamily="34" charset="0"/>
                <a:cs typeface="Arial" panose="020B0604020202020204" pitchFamily="34" charset="0"/>
              </a:rPr>
              <a:t>models</a:t>
            </a:r>
            <a:r>
              <a:rPr lang="de-CH" b="1"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error</a:t>
            </a:r>
            <a:r>
              <a:rPr lang="de-CH" b="1"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that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we</a:t>
            </a:r>
            <a:r>
              <a:rPr lang="de-CH" dirty="0">
                <a:solidFill>
                  <a:schemeClr val="bg1"/>
                </a:solidFill>
                <a:latin typeface="Arial" panose="020B0604020202020204" pitchFamily="34" charset="0"/>
                <a:cs typeface="Arial" panose="020B0604020202020204" pitchFamily="34" charset="0"/>
              </a:rPr>
              <a:t> do not </a:t>
            </a:r>
            <a:r>
              <a:rPr lang="de-CH" dirty="0" err="1">
                <a:solidFill>
                  <a:schemeClr val="bg1"/>
                </a:solidFill>
                <a:latin typeface="Arial" panose="020B0604020202020204" pitchFamily="34" charset="0"/>
                <a:cs typeface="Arial" panose="020B0604020202020204" pitchFamily="34" charset="0"/>
              </a:rPr>
              <a:t>want</a:t>
            </a:r>
            <a:r>
              <a:rPr lang="de-CH" dirty="0">
                <a:solidFill>
                  <a:schemeClr val="bg1"/>
                </a:solidFill>
                <a:latin typeface="Arial" panose="020B0604020202020204" pitchFamily="34" charset="0"/>
                <a:cs typeface="Arial" panose="020B0604020202020204" pitchFamily="34" charset="0"/>
              </a:rPr>
              <a:t> in </a:t>
            </a:r>
            <a:r>
              <a:rPr lang="de-CH" dirty="0" err="1">
                <a:solidFill>
                  <a:schemeClr val="bg1"/>
                </a:solidFill>
                <a:latin typeface="Arial" panose="020B0604020202020204" pitchFamily="34" charset="0"/>
                <a:cs typeface="Arial" panose="020B0604020202020204" pitchFamily="34" charset="0"/>
              </a:rPr>
              <a:t>our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(cf. Boone &amp; </a:t>
            </a:r>
            <a:r>
              <a:rPr lang="de-CH" sz="1200" dirty="0" err="1">
                <a:solidFill>
                  <a:schemeClr val="bg1"/>
                </a:solidFill>
                <a:latin typeface="Arial" panose="020B0604020202020204" pitchFamily="34" charset="0"/>
                <a:cs typeface="Arial" panose="020B0604020202020204" pitchFamily="34" charset="0"/>
              </a:rPr>
              <a:t>Staver</a:t>
            </a:r>
            <a:r>
              <a:rPr lang="de-CH" sz="1200" dirty="0">
                <a:solidFill>
                  <a:schemeClr val="bg1"/>
                </a:solidFill>
                <a:latin typeface="Arial" panose="020B0604020202020204" pitchFamily="34" charset="0"/>
                <a:cs typeface="Arial" panose="020B0604020202020204" pitchFamily="34" charset="0"/>
              </a:rPr>
              <a:t>, 2020)</a:t>
            </a:r>
          </a:p>
          <a:p>
            <a:pPr marL="171450" indent="-171450">
              <a:buFontTx/>
              <a:buChar char="-"/>
            </a:pP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err="1">
                <a:solidFill>
                  <a:schemeClr val="bg1"/>
                </a:solidFill>
                <a:latin typeface="Arial" panose="020B0604020202020204" pitchFamily="34" charset="0"/>
                <a:cs typeface="Arial" panose="020B0604020202020204" pitchFamily="34" charset="0"/>
              </a:rPr>
              <a:t>Analogy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to</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moderation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causal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inference</a:t>
            </a:r>
            <a:r>
              <a:rPr lang="de-CH" dirty="0">
                <a:solidFill>
                  <a:schemeClr val="bg1"/>
                </a:solidFill>
                <a:latin typeface="Arial" panose="020B0604020202020204" pitchFamily="34" charset="0"/>
                <a:cs typeface="Arial" panose="020B0604020202020204" pitchFamily="34" charset="0"/>
              </a:rPr>
              <a:t> A </a:t>
            </a:r>
            <a:r>
              <a:rPr lang="de-CH" dirty="0" err="1">
                <a:solidFill>
                  <a:schemeClr val="bg1"/>
                </a:solidFill>
                <a:latin typeface="Arial" panose="020B0604020202020204" pitchFamily="34" charset="0"/>
                <a:cs typeface="Arial" panose="020B0604020202020204" pitchFamily="34" charset="0"/>
              </a:rPr>
              <a:t>measurement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across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groups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 </a:t>
            </a:r>
            <a:r>
              <a:rPr lang="de-CH" b="1" dirty="0">
                <a:solidFill>
                  <a:schemeClr val="bg1"/>
                </a:solidFill>
                <a:latin typeface="Arial" panose="020B0604020202020204" pitchFamily="34" charset="0"/>
                <a:cs typeface="Arial" panose="020B0604020202020204" pitchFamily="34" charset="0"/>
              </a:rPr>
              <a:t>marginal/</a:t>
            </a:r>
            <a:r>
              <a:rPr lang="de-CH" b="1" dirty="0" err="1">
                <a:solidFill>
                  <a:schemeClr val="bg1"/>
                </a:solidFill>
                <a:latin typeface="Arial" panose="020B0604020202020204" pitchFamily="34" charset="0"/>
                <a:cs typeface="Arial" panose="020B0604020202020204" pitchFamily="34" charset="0"/>
              </a:rPr>
              <a:t>average</a:t>
            </a:r>
            <a:r>
              <a:rPr lang="de-CH" b="1"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endParaRPr lang="de-CH"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«Violation»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MI </a:t>
            </a:r>
            <a:r>
              <a:rPr lang="de-CH" sz="2400" dirty="0" err="1">
                <a:solidFill>
                  <a:schemeClr val="bg1"/>
                </a:solidFill>
                <a:latin typeface="Arial" panose="020B0604020202020204" pitchFamily="34" charset="0"/>
                <a:cs typeface="Arial" panose="020B0604020202020204" pitchFamily="34" charset="0"/>
              </a:rPr>
              <a:t>can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be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Expected</a:t>
            </a:r>
            <a:r>
              <a:rPr lang="de-CH" sz="2400" dirty="0">
                <a:solidFill>
                  <a:schemeClr val="bg1"/>
                </a:solidFill>
                <a:latin typeface="Arial" panose="020B0604020202020204" pitchFamily="34" charset="0"/>
                <a:cs typeface="Arial" panose="020B0604020202020204" pitchFamily="34" charset="0"/>
              </a:rPr>
              <a:t> (cf. </a:t>
            </a:r>
            <a:r>
              <a:rPr lang="de-CH" sz="2400" dirty="0" err="1">
                <a:solidFill>
                  <a:schemeClr val="bg1"/>
                </a:solidFill>
                <a:latin typeface="Arial" panose="020B0604020202020204" pitchFamily="34" charset="0"/>
                <a:cs typeface="Arial" panose="020B0604020202020204" pitchFamily="34" charset="0"/>
              </a:rPr>
              <a:t>Conceptual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change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Interesting</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5587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223521" y="3460985"/>
            <a:ext cx="5754120" cy="2739211"/>
          </a:xfrm>
          <a:prstGeom prst="rect">
            <a:avLst/>
          </a:prstGeom>
          <a:noFill/>
        </p:spPr>
        <p:txBody>
          <a:bodyPr wrap="square" rtlCol="0">
            <a:spAutoFit/>
          </a:bodyPr>
          <a:lstStyle/>
          <a:p>
            <a:r>
              <a:rPr lang="de-CH" sz="3200" dirty="0">
                <a:solidFill>
                  <a:schemeClr val="bg1"/>
                </a:solidFill>
                <a:latin typeface="Arial" panose="020B0604020202020204" pitchFamily="34" charset="0"/>
                <a:cs typeface="Arial" panose="020B0604020202020204" pitchFamily="34" charset="0"/>
              </a:rPr>
              <a:t>Example: </a:t>
            </a:r>
            <a:r>
              <a:rPr lang="de-CH" sz="3200" dirty="0" err="1">
                <a:solidFill>
                  <a:schemeClr val="bg1"/>
                </a:solidFill>
                <a:latin typeface="Arial" panose="020B0604020202020204" pitchFamily="34" charset="0"/>
                <a:cs typeface="Arial" panose="020B0604020202020204" pitchFamily="34" charset="0"/>
              </a:rPr>
              <a:t>Kleickmann</a:t>
            </a:r>
            <a:r>
              <a:rPr lang="de-CH" sz="3200" dirty="0">
                <a:solidFill>
                  <a:schemeClr val="bg1"/>
                </a:solidFill>
                <a:latin typeface="Arial" panose="020B0604020202020204" pitchFamily="34" charset="0"/>
                <a:cs typeface="Arial" panose="020B0604020202020204" pitchFamily="34" charset="0"/>
              </a:rPr>
              <a:t> (2011)</a:t>
            </a:r>
          </a:p>
          <a:p>
            <a:r>
              <a:rPr lang="de-CH" sz="2000" b="1" dirty="0" err="1">
                <a:solidFill>
                  <a:schemeClr val="bg1"/>
                </a:solidFill>
                <a:latin typeface="Arial" panose="020B0604020202020204" pitchFamily="34" charset="0"/>
                <a:cs typeface="Arial" panose="020B0604020202020204" pitchFamily="34" charset="0"/>
              </a:rPr>
              <a:t>Factor-mixture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modeling</a:t>
            </a:r>
            <a:endParaRPr lang="de-CH" sz="2000" b="1"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Violation </a:t>
            </a:r>
            <a:r>
              <a:rPr lang="de-CH" sz="2000" dirty="0" err="1">
                <a:solidFill>
                  <a:schemeClr val="bg1"/>
                </a:solidFill>
                <a:latin typeface="Arial" panose="020B0604020202020204" pitchFamily="34" charset="0"/>
                <a:cs typeface="Arial" panose="020B0604020202020204" pitchFamily="34" charset="0"/>
              </a:rPr>
              <a:t>of</a:t>
            </a:r>
            <a:r>
              <a:rPr lang="de-CH" sz="2000" dirty="0">
                <a:solidFill>
                  <a:schemeClr val="bg1"/>
                </a:solidFill>
                <a:latin typeface="Arial" panose="020B0604020202020204" pitchFamily="34" charset="0"/>
                <a:cs typeface="Arial" panose="020B0604020202020204" pitchFamily="34" charset="0"/>
              </a:rPr>
              <a:t> MI </a:t>
            </a:r>
            <a:r>
              <a:rPr lang="de-CH" sz="2000" dirty="0" err="1">
                <a:solidFill>
                  <a:schemeClr val="bg1"/>
                </a:solidFill>
                <a:latin typeface="Arial" panose="020B0604020202020204" pitchFamily="34" charset="0"/>
                <a:cs typeface="Arial" panose="020B0604020202020204" pitchFamily="34" charset="0"/>
              </a:rPr>
              <a:t>becomes</a:t>
            </a:r>
            <a:r>
              <a:rPr lang="de-CH" sz="2000" dirty="0">
                <a:solidFill>
                  <a:schemeClr val="bg1"/>
                </a:solidFill>
                <a:latin typeface="Arial" panose="020B0604020202020204" pitchFamily="34" charset="0"/>
                <a:cs typeface="Arial" panose="020B0604020202020204" pitchFamily="34" charset="0"/>
              </a:rPr>
              <a:t> a </a:t>
            </a:r>
            <a:r>
              <a:rPr lang="de-CH" sz="2000" b="1" dirty="0">
                <a:solidFill>
                  <a:schemeClr val="bg1"/>
                </a:solidFill>
                <a:latin typeface="Arial" panose="020B0604020202020204" pitchFamily="34" charset="0"/>
                <a:cs typeface="Arial" panose="020B0604020202020204" pitchFamily="34" charset="0"/>
              </a:rPr>
              <a:t>feature</a:t>
            </a: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Groups </a:t>
            </a:r>
            <a:r>
              <a:rPr lang="de-CH" sz="2000" dirty="0" err="1">
                <a:solidFill>
                  <a:schemeClr val="bg1"/>
                </a:solidFill>
                <a:latin typeface="Arial" panose="020B0604020202020204" pitchFamily="34" charset="0"/>
                <a:cs typeface="Arial" panose="020B0604020202020204" pitchFamily="34" charset="0"/>
              </a:rPr>
              <a:t>with</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measurement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differences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represent</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knowledge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restructuring</a:t>
            </a:r>
            <a:endParaRPr lang="de-CH" sz="2000" b="1"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Children </a:t>
            </a:r>
            <a:r>
              <a:rPr lang="de-CH" sz="2000" dirty="0" err="1">
                <a:solidFill>
                  <a:schemeClr val="bg1"/>
                </a:solidFill>
                <a:latin typeface="Arial" panose="020B0604020202020204" pitchFamily="34" charset="0"/>
                <a:cs typeface="Arial" panose="020B0604020202020204" pitchFamily="34" charset="0"/>
              </a:rPr>
              <a:t>with</a:t>
            </a:r>
            <a:r>
              <a:rPr lang="de-CH" sz="2000" dirty="0">
                <a:solidFill>
                  <a:schemeClr val="bg1"/>
                </a:solidFill>
                <a:latin typeface="Arial" panose="020B0604020202020204" pitchFamily="34" charset="0"/>
                <a:cs typeface="Arial" panose="020B0604020202020204" pitchFamily="34" charset="0"/>
              </a:rPr>
              <a:t> same </a:t>
            </a:r>
            <a:r>
              <a:rPr lang="de-CH" sz="2000" dirty="0" err="1">
                <a:solidFill>
                  <a:schemeClr val="bg1"/>
                </a:solidFill>
                <a:latin typeface="Arial" panose="020B0604020202020204" pitchFamily="34" charset="0"/>
                <a:cs typeface="Arial" panose="020B0604020202020204" pitchFamily="34" charset="0"/>
              </a:rPr>
              <a:t>measurement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properties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regarding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density</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condensation</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evaporation</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differ</a:t>
            </a:r>
            <a:r>
              <a:rPr lang="de-CH" sz="2000" b="1" dirty="0">
                <a:solidFill>
                  <a:schemeClr val="bg1"/>
                </a:solidFill>
                <a:latin typeface="Arial" panose="020B0604020202020204" pitchFamily="34" charset="0"/>
                <a:cs typeface="Arial" panose="020B0604020202020204" pitchFamily="34" charset="0"/>
              </a:rPr>
              <a:t> in </a:t>
            </a:r>
            <a:r>
              <a:rPr lang="de-CH" sz="2000" b="1" dirty="0" err="1">
                <a:solidFill>
                  <a:schemeClr val="bg1"/>
                </a:solidFill>
                <a:latin typeface="Arial" panose="020B0604020202020204" pitchFamily="34" charset="0"/>
                <a:cs typeface="Arial" panose="020B0604020202020204" pitchFamily="34" charset="0"/>
              </a:rPr>
              <a:t>displamement</a:t>
            </a:r>
            <a:r>
              <a:rPr lang="de-CH" sz="2000" b="1" dirty="0">
                <a:solidFill>
                  <a:schemeClr val="bg1"/>
                </a:solidFill>
                <a:latin typeface="Arial" panose="020B0604020202020204" pitchFamily="34" charset="0"/>
                <a:cs typeface="Arial" panose="020B0604020202020204" pitchFamily="34" charset="0"/>
              </a:rPr>
              <a:t> </a:t>
            </a:r>
            <a:r>
              <a:rPr lang="de-CH" sz="2000" dirty="0">
                <a:solidFill>
                  <a:schemeClr val="bg1"/>
                </a:solidFill>
                <a:latin typeface="Arial" panose="020B0604020202020204" pitchFamily="34" charset="0"/>
                <a:cs typeface="Arial" panose="020B0604020202020204" pitchFamily="34" charset="0"/>
              </a:rPr>
              <a:t>(cf. Wilson, 1993)</a:t>
            </a:r>
          </a:p>
        </p:txBody>
      </p:sp>
      <p:pic>
        <p:nvPicPr>
          <p:cNvPr id="2" name="Grafik 1">
            <a:extLst>
              <a:ext uri="{FF2B5EF4-FFF2-40B4-BE49-F238E27FC236}">
                <a16:creationId xmlns:a16="http://schemas.microsoft.com/office/drawing/2014/main" id="{7C21134E-8B15-4DDF-BB38-31B40036DA9D}"/>
              </a:ext>
            </a:extLst>
          </p:cNvPr>
          <p:cNvPicPr>
            <a:picLocks noChangeAspect="1"/>
          </p:cNvPicPr>
          <p:nvPr/>
        </p:nvPicPr>
        <p:blipFill>
          <a:blip r:embed="rId3"/>
          <a:stretch>
            <a:fillRect/>
          </a:stretch>
        </p:blipFill>
        <p:spPr>
          <a:xfrm>
            <a:off x="710565" y="1258766"/>
            <a:ext cx="2164715" cy="1753645"/>
          </a:xfrm>
          <a:prstGeom prst="rect">
            <a:avLst/>
          </a:prstGeom>
        </p:spPr>
      </p:pic>
      <p:pic>
        <p:nvPicPr>
          <p:cNvPr id="3" name="Grafik 2">
            <a:extLst>
              <a:ext uri="{FF2B5EF4-FFF2-40B4-BE49-F238E27FC236}">
                <a16:creationId xmlns:a16="http://schemas.microsoft.com/office/drawing/2014/main" id="{AED403C3-96F8-4668-9670-C00DE3BEC36F}"/>
              </a:ext>
            </a:extLst>
          </p:cNvPr>
          <p:cNvPicPr>
            <a:picLocks noChangeAspect="1"/>
          </p:cNvPicPr>
          <p:nvPr/>
        </p:nvPicPr>
        <p:blipFill>
          <a:blip r:embed="rId4"/>
          <a:stretch>
            <a:fillRect/>
          </a:stretch>
        </p:blipFill>
        <p:spPr>
          <a:xfrm>
            <a:off x="2987629" y="1272524"/>
            <a:ext cx="2783840" cy="1726128"/>
          </a:xfrm>
          <a:prstGeom prst="rect">
            <a:avLst/>
          </a:prstGeom>
        </p:spPr>
      </p:pic>
      <p:sp>
        <p:nvSpPr>
          <p:cNvPr id="11" name="Textfeld 10">
            <a:extLst>
              <a:ext uri="{FF2B5EF4-FFF2-40B4-BE49-F238E27FC236}">
                <a16:creationId xmlns:a16="http://schemas.microsoft.com/office/drawing/2014/main" id="{46593321-2C1F-4862-B11D-4413A1EF2D1B}"/>
              </a:ext>
            </a:extLst>
          </p:cNvPr>
          <p:cNvSpPr txBox="1"/>
          <p:nvPr/>
        </p:nvSpPr>
        <p:spPr>
          <a:xfrm>
            <a:off x="6455487" y="1006219"/>
            <a:ext cx="5806439" cy="5539978"/>
          </a:xfrm>
          <a:prstGeom prst="rect">
            <a:avLst/>
          </a:prstGeom>
          <a:noFill/>
        </p:spPr>
        <p:txBody>
          <a:bodyPr wrap="square">
            <a:spAutoFit/>
          </a:bodyPr>
          <a:lstStyle/>
          <a:p>
            <a:r>
              <a:rPr lang="de-CH" sz="2400" b="1" dirty="0">
                <a:solidFill>
                  <a:schemeClr val="bg1"/>
                </a:solidFill>
                <a:latin typeface="Arial" panose="020B0604020202020204" pitchFamily="34" charset="0"/>
                <a:cs typeface="Arial" panose="020B0604020202020204" pitchFamily="34" charset="0"/>
              </a:rPr>
              <a:t>Alternative </a:t>
            </a:r>
            <a:r>
              <a:rPr lang="de-CH" sz="2400" b="1" dirty="0" err="1">
                <a:solidFill>
                  <a:schemeClr val="bg1"/>
                </a:solidFill>
                <a:latin typeface="Arial" panose="020B0604020202020204" pitchFamily="34" charset="0"/>
                <a:cs typeface="Arial" panose="020B0604020202020204" pitchFamily="34" charset="0"/>
              </a:rPr>
              <a:t>view</a:t>
            </a:r>
            <a:endParaRPr lang="de-CH" sz="2400" b="1"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MI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a:t>
            </a:r>
            <a:r>
              <a:rPr lang="de-CH" sz="2400" b="1" dirty="0">
                <a:solidFill>
                  <a:schemeClr val="bg1"/>
                </a:solidFill>
                <a:latin typeface="Arial" panose="020B0604020202020204" pitchFamily="34" charset="0"/>
                <a:cs typeface="Arial" panose="020B0604020202020204" pitchFamily="34" charset="0"/>
              </a:rPr>
              <a:t>not a </a:t>
            </a:r>
            <a:r>
              <a:rPr lang="de-CH" sz="2400" b="1" dirty="0" err="1">
                <a:solidFill>
                  <a:schemeClr val="bg1"/>
                </a:solidFill>
                <a:latin typeface="Arial" panose="020B0604020202020204" pitchFamily="34" charset="0"/>
                <a:cs typeface="Arial" panose="020B0604020202020204" pitchFamily="34" charset="0"/>
              </a:rPr>
              <a:t>prerequisite</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for</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any</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comparisons</a:t>
            </a:r>
            <a:r>
              <a:rPr lang="de-CH" sz="2400" b="1"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 </a:t>
            </a:r>
            <a:r>
              <a:rPr lang="de-CH" dirty="0" err="1">
                <a:solidFill>
                  <a:schemeClr val="bg1"/>
                </a:solidFill>
                <a:latin typeface="Arial" panose="020B0604020202020204" pitchFamily="34" charset="0"/>
                <a:cs typeface="Arial" panose="020B0604020202020204" pitchFamily="34" charset="0"/>
              </a:rPr>
              <a:t>because</a:t>
            </a:r>
            <a:r>
              <a:rPr lang="de-CH" dirty="0">
                <a:solidFill>
                  <a:schemeClr val="bg1"/>
                </a:solidFill>
                <a:latin typeface="Arial" panose="020B0604020202020204" pitchFamily="34" charset="0"/>
                <a:cs typeface="Arial" panose="020B0604020202020204" pitchFamily="34" charset="0"/>
              </a:rPr>
              <a:t>…</a:t>
            </a: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dirty="0" err="1">
                <a:solidFill>
                  <a:schemeClr val="bg1"/>
                </a:solidFill>
                <a:latin typeface="Arial" panose="020B0604020202020204" pitchFamily="34" charset="0"/>
                <a:cs typeface="Arial" panose="020B0604020202020204" pitchFamily="34" charset="0"/>
              </a:rPr>
              <a:t>modeling</a:t>
            </a:r>
            <a:r>
              <a:rPr lang="de-CH"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decisions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are</a:t>
            </a:r>
            <a:r>
              <a:rPr lang="de-CH"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arbitrary</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Robitzsch</a:t>
            </a:r>
            <a:r>
              <a:rPr lang="de-CH" sz="1200" dirty="0">
                <a:solidFill>
                  <a:schemeClr val="bg1"/>
                </a:solidFill>
                <a:latin typeface="Arial" panose="020B0604020202020204" pitchFamily="34" charset="0"/>
                <a:cs typeface="Arial" panose="020B0604020202020204" pitchFamily="34" charset="0"/>
              </a:rPr>
              <a:t> &amp; Lüdtke, 2023)</a:t>
            </a:r>
          </a:p>
          <a:p>
            <a:pPr marL="171450" indent="-171450">
              <a:buFontTx/>
              <a:buChar char="-"/>
            </a:pPr>
            <a:endParaRPr lang="de-CH"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a:solidFill>
                  <a:schemeClr val="bg1"/>
                </a:solidFill>
                <a:latin typeface="Arial" panose="020B0604020202020204" pitchFamily="34" charset="0"/>
                <a:cs typeface="Arial" panose="020B0604020202020204" pitchFamily="34" charset="0"/>
              </a:rPr>
              <a:t>MI </a:t>
            </a:r>
            <a:r>
              <a:rPr lang="de-CH" b="1" dirty="0" err="1">
                <a:solidFill>
                  <a:schemeClr val="bg1"/>
                </a:solidFill>
                <a:latin typeface="Arial" panose="020B0604020202020204" pitchFamily="34" charset="0"/>
                <a:cs typeface="Arial" panose="020B0604020202020204" pitchFamily="34" charset="0"/>
              </a:rPr>
              <a:t>models</a:t>
            </a:r>
            <a:r>
              <a:rPr lang="de-CH" b="1" dirty="0">
                <a:solidFill>
                  <a:schemeClr val="bg1"/>
                </a:solidFill>
                <a:latin typeface="Arial" panose="020B0604020202020204" pitchFamily="34" charset="0"/>
                <a:cs typeface="Arial" panose="020B0604020202020204" pitchFamily="34" charset="0"/>
              </a:rPr>
              <a:t> </a:t>
            </a:r>
            <a:r>
              <a:rPr lang="de-CH" b="1" dirty="0" err="1">
                <a:solidFill>
                  <a:schemeClr val="bg1"/>
                </a:solidFill>
                <a:latin typeface="Arial" panose="020B0604020202020204" pitchFamily="34" charset="0"/>
                <a:cs typeface="Arial" panose="020B0604020202020204" pitchFamily="34" charset="0"/>
              </a:rPr>
              <a:t>error</a:t>
            </a:r>
            <a:r>
              <a:rPr lang="de-CH" b="1"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that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we</a:t>
            </a:r>
            <a:r>
              <a:rPr lang="de-CH" dirty="0">
                <a:solidFill>
                  <a:schemeClr val="bg1"/>
                </a:solidFill>
                <a:latin typeface="Arial" panose="020B0604020202020204" pitchFamily="34" charset="0"/>
                <a:cs typeface="Arial" panose="020B0604020202020204" pitchFamily="34" charset="0"/>
              </a:rPr>
              <a:t> do not </a:t>
            </a:r>
            <a:r>
              <a:rPr lang="de-CH" dirty="0" err="1">
                <a:solidFill>
                  <a:schemeClr val="bg1"/>
                </a:solidFill>
                <a:latin typeface="Arial" panose="020B0604020202020204" pitchFamily="34" charset="0"/>
                <a:cs typeface="Arial" panose="020B0604020202020204" pitchFamily="34" charset="0"/>
              </a:rPr>
              <a:t>want</a:t>
            </a:r>
            <a:r>
              <a:rPr lang="de-CH" dirty="0">
                <a:solidFill>
                  <a:schemeClr val="bg1"/>
                </a:solidFill>
                <a:latin typeface="Arial" panose="020B0604020202020204" pitchFamily="34" charset="0"/>
                <a:cs typeface="Arial" panose="020B0604020202020204" pitchFamily="34" charset="0"/>
              </a:rPr>
              <a:t> in </a:t>
            </a:r>
            <a:r>
              <a:rPr lang="de-CH" dirty="0" err="1">
                <a:solidFill>
                  <a:schemeClr val="bg1"/>
                </a:solidFill>
                <a:latin typeface="Arial" panose="020B0604020202020204" pitchFamily="34" charset="0"/>
                <a:cs typeface="Arial" panose="020B0604020202020204" pitchFamily="34" charset="0"/>
              </a:rPr>
              <a:t>our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(cf. Boone &amp; </a:t>
            </a:r>
            <a:r>
              <a:rPr lang="de-CH" sz="1200" dirty="0" err="1">
                <a:solidFill>
                  <a:schemeClr val="bg1"/>
                </a:solidFill>
                <a:latin typeface="Arial" panose="020B0604020202020204" pitchFamily="34" charset="0"/>
                <a:cs typeface="Arial" panose="020B0604020202020204" pitchFamily="34" charset="0"/>
              </a:rPr>
              <a:t>Staver</a:t>
            </a:r>
            <a:r>
              <a:rPr lang="de-CH" sz="1200" dirty="0">
                <a:solidFill>
                  <a:schemeClr val="bg1"/>
                </a:solidFill>
                <a:latin typeface="Arial" panose="020B0604020202020204" pitchFamily="34" charset="0"/>
                <a:cs typeface="Arial" panose="020B0604020202020204" pitchFamily="34" charset="0"/>
              </a:rPr>
              <a:t>, 2020)</a:t>
            </a:r>
          </a:p>
          <a:p>
            <a:pPr marL="171450" indent="-171450">
              <a:buFontTx/>
              <a:buChar char="-"/>
            </a:pPr>
            <a:endParaRPr lang="de-CH" sz="1200" dirty="0">
              <a:solidFill>
                <a:schemeClr val="bg1"/>
              </a:solidFill>
              <a:latin typeface="Arial" panose="020B0604020202020204" pitchFamily="34" charset="0"/>
              <a:cs typeface="Arial" panose="020B0604020202020204" pitchFamily="34" charset="0"/>
            </a:endParaRPr>
          </a:p>
          <a:p>
            <a:pPr marL="171450" indent="-171450">
              <a:buFontTx/>
              <a:buChar char="-"/>
            </a:pPr>
            <a:r>
              <a:rPr lang="de-CH" dirty="0" err="1">
                <a:solidFill>
                  <a:schemeClr val="bg1"/>
                </a:solidFill>
                <a:latin typeface="Arial" panose="020B0604020202020204" pitchFamily="34" charset="0"/>
                <a:cs typeface="Arial" panose="020B0604020202020204" pitchFamily="34" charset="0"/>
              </a:rPr>
              <a:t>Analogy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to</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moderation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causal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inference</a:t>
            </a:r>
            <a:r>
              <a:rPr lang="de-CH" dirty="0">
                <a:solidFill>
                  <a:schemeClr val="bg1"/>
                </a:solidFill>
                <a:latin typeface="Arial" panose="020B0604020202020204" pitchFamily="34" charset="0"/>
                <a:cs typeface="Arial" panose="020B0604020202020204" pitchFamily="34" charset="0"/>
              </a:rPr>
              <a:t> A </a:t>
            </a:r>
            <a:r>
              <a:rPr lang="de-CH" dirty="0" err="1">
                <a:solidFill>
                  <a:schemeClr val="bg1"/>
                </a:solidFill>
                <a:latin typeface="Arial" panose="020B0604020202020204" pitchFamily="34" charset="0"/>
                <a:cs typeface="Arial" panose="020B0604020202020204" pitchFamily="34" charset="0"/>
              </a:rPr>
              <a:t>measurement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across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groups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 </a:t>
            </a:r>
            <a:r>
              <a:rPr lang="de-CH" b="1" dirty="0">
                <a:solidFill>
                  <a:schemeClr val="bg1"/>
                </a:solidFill>
                <a:latin typeface="Arial" panose="020B0604020202020204" pitchFamily="34" charset="0"/>
                <a:cs typeface="Arial" panose="020B0604020202020204" pitchFamily="34" charset="0"/>
              </a:rPr>
              <a:t>marginal/</a:t>
            </a:r>
            <a:r>
              <a:rPr lang="de-CH" b="1" dirty="0" err="1">
                <a:solidFill>
                  <a:schemeClr val="bg1"/>
                </a:solidFill>
                <a:latin typeface="Arial" panose="020B0604020202020204" pitchFamily="34" charset="0"/>
                <a:cs typeface="Arial" panose="020B0604020202020204" pitchFamily="34" charset="0"/>
              </a:rPr>
              <a:t>average</a:t>
            </a:r>
            <a:r>
              <a:rPr lang="de-CH" b="1"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model</a:t>
            </a:r>
            <a:endParaRPr lang="de-CH"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«Violation»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MI </a:t>
            </a:r>
            <a:r>
              <a:rPr lang="de-CH" sz="2400" dirty="0" err="1">
                <a:solidFill>
                  <a:schemeClr val="bg1"/>
                </a:solidFill>
                <a:latin typeface="Arial" panose="020B0604020202020204" pitchFamily="34" charset="0"/>
                <a:cs typeface="Arial" panose="020B0604020202020204" pitchFamily="34" charset="0"/>
              </a:rPr>
              <a:t>can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be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Expected</a:t>
            </a:r>
            <a:r>
              <a:rPr lang="de-CH" sz="2400" dirty="0">
                <a:solidFill>
                  <a:schemeClr val="bg1"/>
                </a:solidFill>
                <a:latin typeface="Arial" panose="020B0604020202020204" pitchFamily="34" charset="0"/>
                <a:cs typeface="Arial" panose="020B0604020202020204" pitchFamily="34" charset="0"/>
              </a:rPr>
              <a:t> (cf. </a:t>
            </a:r>
            <a:r>
              <a:rPr lang="de-CH" sz="2400" dirty="0" err="1">
                <a:solidFill>
                  <a:schemeClr val="bg1"/>
                </a:solidFill>
                <a:latin typeface="Arial" panose="020B0604020202020204" pitchFamily="34" charset="0"/>
                <a:cs typeface="Arial" panose="020B0604020202020204" pitchFamily="34" charset="0"/>
              </a:rPr>
              <a:t>Conceptual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change</a:t>
            </a:r>
            <a:r>
              <a:rPr lang="de-CH" sz="2400" dirty="0">
                <a:solidFill>
                  <a:schemeClr val="bg1"/>
                </a:solidFill>
                <a:latin typeface="Arial" panose="020B0604020202020204" pitchFamily="34" charset="0"/>
                <a:cs typeface="Arial" panose="020B0604020202020204" pitchFamily="34" charset="0"/>
              </a:rPr>
              <a:t>)</a:t>
            </a: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Interesting</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361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02372" y="349000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55" name="Textfeld 54">
            <a:extLst>
              <a:ext uri="{FF2B5EF4-FFF2-40B4-BE49-F238E27FC236}">
                <a16:creationId xmlns:a16="http://schemas.microsoft.com/office/drawing/2014/main" id="{966E6940-1C65-4462-9FAD-A122FFC5C3E7}"/>
              </a:ext>
            </a:extLst>
          </p:cNvPr>
          <p:cNvSpPr txBox="1"/>
          <p:nvPr/>
        </p:nvSpPr>
        <p:spPr>
          <a:xfrm>
            <a:off x="511959" y="4465634"/>
            <a:ext cx="5655518" cy="369332"/>
          </a:xfrm>
          <a:prstGeom prst="rect">
            <a:avLst/>
          </a:prstGeom>
          <a:noFill/>
        </p:spPr>
        <p:txBody>
          <a:bodyPr wrap="square" rtlCol="0">
            <a:spAutoFit/>
          </a:bodyPr>
          <a:lstStyle/>
          <a:p>
            <a:r>
              <a:rPr lang="de-DE" dirty="0">
                <a:solidFill>
                  <a:schemeClr val="bg1"/>
                </a:solidFill>
              </a:rPr>
              <a:t>- All </a:t>
            </a:r>
            <a:r>
              <a:rPr lang="de-DE" dirty="0" err="1">
                <a:solidFill>
                  <a:schemeClr val="bg1"/>
                </a:solidFill>
              </a:rPr>
              <a:t>items</a:t>
            </a:r>
            <a:r>
              <a:rPr lang="de-DE" dirty="0">
                <a:solidFill>
                  <a:schemeClr val="bg1"/>
                </a:solidFill>
              </a:rPr>
              <a:t> </a:t>
            </a:r>
            <a:r>
              <a:rPr lang="de-DE" dirty="0" err="1">
                <a:solidFill>
                  <a:schemeClr val="bg1"/>
                </a:solidFill>
              </a:rPr>
              <a:t>are</a:t>
            </a:r>
            <a:r>
              <a:rPr lang="de-DE" dirty="0">
                <a:solidFill>
                  <a:schemeClr val="bg1"/>
                </a:solidFill>
              </a:rPr>
              <a:t> </a:t>
            </a:r>
            <a:r>
              <a:rPr lang="de-DE" i="1" dirty="0" err="1">
                <a:solidFill>
                  <a:schemeClr val="accent1"/>
                </a:solidFill>
              </a:rPr>
              <a:t>equally</a:t>
            </a:r>
            <a:r>
              <a:rPr lang="de-DE" i="1" dirty="0">
                <a:solidFill>
                  <a:schemeClr val="accent1"/>
                </a:solidFill>
              </a:rPr>
              <a:t> </a:t>
            </a:r>
            <a:r>
              <a:rPr lang="de-DE" i="1" dirty="0" err="1">
                <a:solidFill>
                  <a:schemeClr val="accent1"/>
                </a:solidFill>
              </a:rPr>
              <a:t>weighted</a:t>
            </a:r>
            <a:endParaRPr lang="de-DE" b="1" i="1" dirty="0">
              <a:solidFill>
                <a:schemeClr val="accent1"/>
              </a:solidFill>
            </a:endParaRPr>
          </a:p>
        </p:txBody>
      </p:sp>
      <p:sp>
        <p:nvSpPr>
          <p:cNvPr id="33" name="Textfeld 32">
            <a:extLst>
              <a:ext uri="{FF2B5EF4-FFF2-40B4-BE49-F238E27FC236}">
                <a16:creationId xmlns:a16="http://schemas.microsoft.com/office/drawing/2014/main" id="{5572BDC4-42BE-4216-B424-C4EFA1490E2E}"/>
              </a:ext>
            </a:extLst>
          </p:cNvPr>
          <p:cNvSpPr txBox="1"/>
          <p:nvPr/>
        </p:nvSpPr>
        <p:spPr>
          <a:xfrm>
            <a:off x="613877" y="3499207"/>
            <a:ext cx="4180950" cy="830997"/>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The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 score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 </a:t>
            </a:r>
            <a:r>
              <a:rPr lang="de-CH" i="1" dirty="0" err="1">
                <a:solidFill>
                  <a:schemeClr val="accent1"/>
                </a:solidFill>
                <a:latin typeface="Arial" panose="020B0604020202020204" pitchFamily="34" charset="0"/>
                <a:cs typeface="Arial" panose="020B0604020202020204" pitchFamily="34" charset="0"/>
              </a:rPr>
              <a:t>constrained</a:t>
            </a:r>
            <a:r>
              <a:rPr lang="de-CH" i="1" dirty="0">
                <a:solidFill>
                  <a:schemeClr val="accent1"/>
                </a:solidFill>
                <a:latin typeface="Arial" panose="020B0604020202020204" pitchFamily="34" charset="0"/>
                <a:cs typeface="Arial" panose="020B0604020202020204" pitchFamily="34" charset="0"/>
              </a:rPr>
              <a:t> </a:t>
            </a:r>
            <a:r>
              <a:rPr lang="de-CH" i="1" dirty="0" err="1">
                <a:solidFill>
                  <a:schemeClr val="accent1"/>
                </a:solidFill>
                <a:latin typeface="Arial" panose="020B0604020202020204" pitchFamily="34" charset="0"/>
                <a:cs typeface="Arial" panose="020B0604020202020204" pitchFamily="34" charset="0"/>
              </a:rPr>
              <a:t>version</a:t>
            </a:r>
            <a:r>
              <a:rPr lang="de-CH" i="1" dirty="0">
                <a:solidFill>
                  <a:schemeClr val="accent1"/>
                </a:solidFill>
                <a:latin typeface="Arial" panose="020B0604020202020204" pitchFamily="34" charset="0"/>
                <a:cs typeface="Arial" panose="020B0604020202020204" pitchFamily="34" charset="0"/>
              </a:rPr>
              <a:t> </a:t>
            </a:r>
            <a:r>
              <a:rPr lang="de-CH" dirty="0">
                <a:solidFill>
                  <a:schemeClr val="bg1"/>
                </a:solidFill>
                <a:latin typeface="Arial" panose="020B0604020202020204" pitchFamily="34" charset="0"/>
                <a:cs typeface="Arial" panose="020B0604020202020204" pitchFamily="34" charset="0"/>
              </a:rPr>
              <a:t>of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endParaRPr lang="de-CH" dirty="0">
              <a:solidFill>
                <a:schemeClr val="bg1"/>
              </a:solidFill>
              <a:latin typeface="Arial" panose="020B0604020202020204" pitchFamily="34" charset="0"/>
              <a:cs typeface="Arial" panose="020B0604020202020204" pitchFamily="34" charset="0"/>
            </a:endParaRPr>
          </a:p>
          <a:p>
            <a:r>
              <a:rPr lang="de-CH" sz="1200" dirty="0">
                <a:solidFill>
                  <a:schemeClr val="bg1"/>
                </a:solidFill>
                <a:latin typeface="Arial" panose="020B0604020202020204" pitchFamily="34" charset="0"/>
                <a:cs typeface="Arial" panose="020B0604020202020204" pitchFamily="34" charset="0"/>
              </a:rPr>
              <a:t>(McNeish &amp; Wolf, 2020)</a:t>
            </a: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66" name="Verbinder: gekrümmt 65">
            <a:extLst>
              <a:ext uri="{FF2B5EF4-FFF2-40B4-BE49-F238E27FC236}">
                <a16:creationId xmlns:a16="http://schemas.microsoft.com/office/drawing/2014/main" id="{C56CB6BD-66C6-4763-A23F-6EA54B6E5D3C}"/>
              </a:ext>
            </a:extLst>
          </p:cNvPr>
          <p:cNvCxnSpPr>
            <a:cxnSpLocks/>
            <a:stCxn id="61" idx="2"/>
            <a:endCxn id="62"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Verbinder: gekrümmt 66">
            <a:extLst>
              <a:ext uri="{FF2B5EF4-FFF2-40B4-BE49-F238E27FC236}">
                <a16:creationId xmlns:a16="http://schemas.microsoft.com/office/drawing/2014/main" id="{3C7A0CF0-E2CA-4BE0-A4AE-CC34CECA5809}"/>
              </a:ext>
            </a:extLst>
          </p:cNvPr>
          <p:cNvCxnSpPr>
            <a:cxnSpLocks/>
            <a:stCxn id="62" idx="2"/>
            <a:endCxn id="63"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Verbinder: gekrümmt 67">
            <a:extLst>
              <a:ext uri="{FF2B5EF4-FFF2-40B4-BE49-F238E27FC236}">
                <a16:creationId xmlns:a16="http://schemas.microsoft.com/office/drawing/2014/main" id="{78270741-5A0A-46C9-887E-48E7C2638F7A}"/>
              </a:ext>
            </a:extLst>
          </p:cNvPr>
          <p:cNvCxnSpPr>
            <a:cxnSpLocks/>
            <a:stCxn id="61" idx="2"/>
            <a:endCxn id="63"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8" name="Textfeld 77">
            <a:extLst>
              <a:ext uri="{FF2B5EF4-FFF2-40B4-BE49-F238E27FC236}">
                <a16:creationId xmlns:a16="http://schemas.microsoft.com/office/drawing/2014/main" id="{C9536EB8-6C6F-491D-98E0-FD0C044EF104}"/>
              </a:ext>
            </a:extLst>
          </p:cNvPr>
          <p:cNvSpPr txBox="1"/>
          <p:nvPr/>
        </p:nvSpPr>
        <p:spPr>
          <a:xfrm>
            <a:off x="487726" y="4970397"/>
            <a:ext cx="5655518" cy="646331"/>
          </a:xfrm>
          <a:prstGeom prst="rect">
            <a:avLst/>
          </a:prstGeom>
          <a:noFill/>
        </p:spPr>
        <p:txBody>
          <a:bodyPr wrap="square" rtlCol="0">
            <a:spAutoFit/>
          </a:bodyPr>
          <a:lstStyle/>
          <a:p>
            <a:r>
              <a:rPr lang="de-DE" dirty="0">
                <a:solidFill>
                  <a:schemeClr val="bg1"/>
                </a:solidFill>
              </a:rPr>
              <a:t>- </a:t>
            </a:r>
            <a:r>
              <a:rPr lang="de-DE" dirty="0" err="1">
                <a:solidFill>
                  <a:schemeClr val="bg1"/>
                </a:solidFill>
              </a:rPr>
              <a:t>Represents</a:t>
            </a:r>
            <a:r>
              <a:rPr lang="de-DE" dirty="0">
                <a:solidFill>
                  <a:schemeClr val="bg1"/>
                </a:solidFill>
              </a:rPr>
              <a:t> </a:t>
            </a:r>
            <a:r>
              <a:rPr lang="de-DE" dirty="0" err="1">
                <a:solidFill>
                  <a:schemeClr val="bg1"/>
                </a:solidFill>
              </a:rPr>
              <a:t>the</a:t>
            </a:r>
            <a:r>
              <a:rPr lang="de-DE" dirty="0">
                <a:solidFill>
                  <a:schemeClr val="bg1"/>
                </a:solidFill>
              </a:rPr>
              <a:t> </a:t>
            </a:r>
            <a:r>
              <a:rPr lang="de-DE" dirty="0" err="1">
                <a:solidFill>
                  <a:schemeClr val="bg1"/>
                </a:solidFill>
              </a:rPr>
              <a:t>implicit</a:t>
            </a:r>
            <a:r>
              <a:rPr lang="de-DE" dirty="0">
                <a:solidFill>
                  <a:schemeClr val="bg1"/>
                </a:solidFill>
              </a:rPr>
              <a:t> </a:t>
            </a:r>
            <a:r>
              <a:rPr lang="de-DE" dirty="0" err="1">
                <a:solidFill>
                  <a:schemeClr val="bg1"/>
                </a:solidFill>
              </a:rPr>
              <a:t>assumption</a:t>
            </a:r>
            <a:r>
              <a:rPr lang="de-DE" dirty="0">
                <a:solidFill>
                  <a:schemeClr val="bg1"/>
                </a:solidFill>
              </a:rPr>
              <a:t> </a:t>
            </a:r>
            <a:r>
              <a:rPr lang="de-DE" dirty="0" err="1">
                <a:solidFill>
                  <a:schemeClr val="bg1"/>
                </a:solidFill>
              </a:rPr>
              <a:t>of</a:t>
            </a:r>
            <a:r>
              <a:rPr lang="de-DE" dirty="0">
                <a:solidFill>
                  <a:schemeClr val="bg1"/>
                </a:solidFill>
              </a:rPr>
              <a:t> </a:t>
            </a:r>
            <a:r>
              <a:rPr lang="de-DE" i="1" dirty="0" err="1">
                <a:solidFill>
                  <a:schemeClr val="accent1"/>
                </a:solidFill>
              </a:rPr>
              <a:t>equal</a:t>
            </a:r>
            <a:r>
              <a:rPr lang="de-DE" i="1" dirty="0">
                <a:solidFill>
                  <a:schemeClr val="accent1"/>
                </a:solidFill>
              </a:rPr>
              <a:t> </a:t>
            </a:r>
            <a:r>
              <a:rPr lang="de-DE" i="1" dirty="0" err="1">
                <a:solidFill>
                  <a:schemeClr val="accent1"/>
                </a:solidFill>
              </a:rPr>
              <a:t>factor</a:t>
            </a:r>
            <a:r>
              <a:rPr lang="de-DE" i="1" dirty="0">
                <a:solidFill>
                  <a:schemeClr val="accent1"/>
                </a:solidFill>
              </a:rPr>
              <a:t> </a:t>
            </a:r>
            <a:r>
              <a:rPr lang="de-DE" i="1" dirty="0" err="1">
                <a:solidFill>
                  <a:schemeClr val="accent1"/>
                </a:solidFill>
              </a:rPr>
              <a:t>loardings</a:t>
            </a:r>
            <a:endParaRPr lang="de-DE" b="1" i="1" dirty="0">
              <a:solidFill>
                <a:schemeClr val="accent1"/>
              </a:solidFill>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1. This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testable</a:t>
            </a:r>
            <a:r>
              <a:rPr lang="de-CH" dirty="0">
                <a:solidFill>
                  <a:schemeClr val="bg1"/>
                </a:solidFill>
                <a:latin typeface="Arial" panose="020B0604020202020204" pitchFamily="34" charset="0"/>
                <a:cs typeface="Arial" panose="020B0604020202020204" pitchFamily="34" charset="0"/>
              </a:rPr>
              <a:t> via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analysis</a:t>
            </a:r>
            <a:endParaRPr lang="de-CH" dirty="0">
              <a:solidFill>
                <a:schemeClr val="bg1"/>
              </a:solidFill>
              <a:latin typeface="Arial" panose="020B0604020202020204" pitchFamily="34" charset="0"/>
              <a:cs typeface="Arial" panose="020B0604020202020204" pitchFamily="34" charset="0"/>
            </a:endParaRPr>
          </a:p>
          <a:p>
            <a:endParaRPr lang="de-CH" i="1" dirty="0">
              <a:solidFill>
                <a:schemeClr val="accent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2. </a:t>
            </a:r>
            <a:r>
              <a:rPr lang="de-CH" dirty="0" err="1">
                <a:solidFill>
                  <a:schemeClr val="bg1"/>
                </a:solidFill>
                <a:latin typeface="Arial" panose="020B0604020202020204" pitchFamily="34" charset="0"/>
                <a:cs typeface="Arial" panose="020B0604020202020204" pitchFamily="34" charset="0"/>
              </a:rPr>
              <a:t>Empirically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this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rarely</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holds</a:t>
            </a:r>
            <a:endParaRPr lang="de-CH" dirty="0">
              <a:solidFill>
                <a:schemeClr val="bg1"/>
              </a:solidFill>
              <a:latin typeface="Arial" panose="020B0604020202020204" pitchFamily="34" charset="0"/>
              <a:cs typeface="Arial" panose="020B0604020202020204" pitchFamily="34" charset="0"/>
            </a:endParaRPr>
          </a:p>
          <a:p>
            <a:endParaRPr lang="de-CH" i="1" dirty="0">
              <a:solidFill>
                <a:schemeClr val="accent1"/>
              </a:solidFill>
              <a:latin typeface="Arial" panose="020B0604020202020204" pitchFamily="34" charset="0"/>
              <a:cs typeface="Arial" panose="020B0604020202020204" pitchFamily="34" charset="0"/>
            </a:endParaRPr>
          </a:p>
          <a:p>
            <a:r>
              <a:rPr lang="de-CH" dirty="0">
                <a:solidFill>
                  <a:schemeClr val="bg1"/>
                </a:solidFill>
                <a:latin typeface="Arial" panose="020B0604020202020204" pitchFamily="34" charset="0"/>
                <a:cs typeface="Arial" panose="020B0604020202020204" pitchFamily="34" charset="0"/>
              </a:rPr>
              <a:t>3. </a:t>
            </a:r>
            <a:r>
              <a:rPr lang="de-CH" dirty="0" err="1">
                <a:solidFill>
                  <a:schemeClr val="bg1"/>
                </a:solidFill>
                <a:latin typeface="Arial" panose="020B0604020202020204" pitchFamily="34" charset="0"/>
                <a:cs typeface="Arial" panose="020B0604020202020204" pitchFamily="34" charset="0"/>
              </a:rPr>
              <a:t>Conclusion</a:t>
            </a:r>
            <a:r>
              <a:rPr lang="de-CH" dirty="0">
                <a:solidFill>
                  <a:schemeClr val="bg1"/>
                </a:solidFill>
                <a:latin typeface="Arial" panose="020B0604020202020204" pitchFamily="34" charset="0"/>
                <a:cs typeface="Arial" panose="020B0604020202020204" pitchFamily="34" charset="0"/>
              </a:rPr>
              <a:t>:</a:t>
            </a:r>
          </a:p>
          <a:p>
            <a:r>
              <a:rPr lang="de-CH" i="1" dirty="0" err="1">
                <a:solidFill>
                  <a:schemeClr val="bg1"/>
                </a:solidFill>
                <a:latin typeface="Arial" panose="020B0604020202020204" pitchFamily="34" charset="0"/>
                <a:cs typeface="Arial" panose="020B0604020202020204" pitchFamily="34" charset="0"/>
              </a:rPr>
              <a:t>We</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should</a:t>
            </a:r>
            <a:r>
              <a:rPr lang="de-CH" i="1" dirty="0">
                <a:solidFill>
                  <a:schemeClr val="bg1"/>
                </a:solidFill>
                <a:latin typeface="Arial" panose="020B0604020202020204" pitchFamily="34" charset="0"/>
                <a:cs typeface="Arial" panose="020B0604020202020204" pitchFamily="34" charset="0"/>
              </a:rPr>
              <a:t> not </a:t>
            </a:r>
            <a:r>
              <a:rPr lang="de-CH" i="1" dirty="0" err="1">
                <a:solidFill>
                  <a:schemeClr val="bg1"/>
                </a:solidFill>
                <a:latin typeface="Arial" panose="020B0604020202020204" pitchFamily="34" charset="0"/>
                <a:cs typeface="Arial" panose="020B0604020202020204" pitchFamily="34" charset="0"/>
              </a:rPr>
              <a:t>use</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sum</a:t>
            </a:r>
            <a:r>
              <a:rPr lang="de-CH" i="1" dirty="0">
                <a:solidFill>
                  <a:schemeClr val="bg1"/>
                </a:solidFill>
                <a:latin typeface="Arial" panose="020B0604020202020204" pitchFamily="34" charset="0"/>
                <a:cs typeface="Arial" panose="020B0604020202020204" pitchFamily="34" charset="0"/>
              </a:rPr>
              <a:t> </a:t>
            </a:r>
            <a:r>
              <a:rPr lang="de-CH" i="1" dirty="0" err="1">
                <a:solidFill>
                  <a:schemeClr val="bg1"/>
                </a:solidFill>
                <a:latin typeface="Arial" panose="020B0604020202020204" pitchFamily="34" charset="0"/>
                <a:cs typeface="Arial" panose="020B0604020202020204" pitchFamily="34" charset="0"/>
              </a:rPr>
              <a:t>scores</a:t>
            </a:r>
            <a:r>
              <a:rPr lang="de-CH" i="1" dirty="0">
                <a:solidFill>
                  <a:schemeClr val="bg1"/>
                </a:solidFill>
                <a:latin typeface="Arial" panose="020B0604020202020204" pitchFamily="34" charset="0"/>
                <a:cs typeface="Arial" panose="020B0604020202020204" pitchFamily="34" charset="0"/>
              </a:rPr>
              <a:t>/</a:t>
            </a:r>
            <a:r>
              <a:rPr lang="de-CH" i="1" dirty="0" err="1">
                <a:solidFill>
                  <a:schemeClr val="bg1"/>
                </a:solidFill>
                <a:latin typeface="Arial" panose="020B0604020202020204" pitchFamily="34" charset="0"/>
                <a:cs typeface="Arial" panose="020B0604020202020204" pitchFamily="34" charset="0"/>
              </a:rPr>
              <a:t>means</a:t>
            </a:r>
            <a:r>
              <a:rPr lang="de-CH" i="1" dirty="0">
                <a:solidFill>
                  <a:schemeClr val="bg1"/>
                </a:solidFill>
                <a:latin typeface="Arial" panose="020B0604020202020204" pitchFamily="34" charset="0"/>
                <a:cs typeface="Arial" panose="020B0604020202020204" pitchFamily="34" charset="0"/>
              </a:rPr>
              <a:t> at all</a:t>
            </a:r>
          </a:p>
        </p:txBody>
      </p:sp>
      <p:cxnSp>
        <p:nvCxnSpPr>
          <p:cNvPr id="80" name="Gerade Verbindung mit Pfeil 79">
            <a:extLst>
              <a:ext uri="{FF2B5EF4-FFF2-40B4-BE49-F238E27FC236}">
                <a16:creationId xmlns:a16="http://schemas.microsoft.com/office/drawing/2014/main" id="{235D53BC-9873-4650-B1DA-3FFB1D23F344}"/>
              </a:ext>
            </a:extLst>
          </p:cNvPr>
          <p:cNvCxnSpPr>
            <a:cxnSpLocks/>
          </p:cNvCxnSpPr>
          <p:nvPr/>
        </p:nvCxnSpPr>
        <p:spPr>
          <a:xfrm>
            <a:off x="7611142" y="2411375"/>
            <a:ext cx="715574" cy="10654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1" name="Textfeld 80">
            <a:extLst>
              <a:ext uri="{FF2B5EF4-FFF2-40B4-BE49-F238E27FC236}">
                <a16:creationId xmlns:a16="http://schemas.microsoft.com/office/drawing/2014/main" id="{58E6BC9D-0A75-4922-B46C-FD59CC5E5DAD}"/>
              </a:ext>
            </a:extLst>
          </p:cNvPr>
          <p:cNvSpPr txBox="1"/>
          <p:nvPr/>
        </p:nvSpPr>
        <p:spPr>
          <a:xfrm>
            <a:off x="6533941" y="2191287"/>
            <a:ext cx="1368152" cy="369332"/>
          </a:xfrm>
          <a:prstGeom prst="rect">
            <a:avLst/>
          </a:prstGeom>
          <a:noFill/>
        </p:spPr>
        <p:txBody>
          <a:bodyPr wrap="square" rtlCol="0">
            <a:spAutoFit/>
          </a:bodyPr>
          <a:lstStyle/>
          <a:p>
            <a:r>
              <a:rPr lang="de-CH" dirty="0" err="1">
                <a:solidFill>
                  <a:schemeClr val="bg1"/>
                </a:solidFill>
                <a:latin typeface="Arial" panose="020B0604020202020204" pitchFamily="34" charset="0"/>
                <a:cs typeface="Arial" panose="020B0604020202020204" pitchFamily="34" charset="0"/>
              </a:rPr>
              <a:t>nope</a:t>
            </a:r>
            <a:r>
              <a:rPr lang="de-CH" dirty="0">
                <a:solidFill>
                  <a:schemeClr val="bg1"/>
                </a:solidFill>
                <a:latin typeface="Arial" panose="020B0604020202020204" pitchFamily="34" charset="0"/>
                <a:cs typeface="Arial" panose="020B0604020202020204" pitchFamily="34" charset="0"/>
              </a:rPr>
              <a:t>!</a:t>
            </a:r>
          </a:p>
        </p:txBody>
      </p:sp>
      <p:cxnSp>
        <p:nvCxnSpPr>
          <p:cNvPr id="82" name="Gerade Verbindung mit Pfeil 81">
            <a:extLst>
              <a:ext uri="{FF2B5EF4-FFF2-40B4-BE49-F238E27FC236}">
                <a16:creationId xmlns:a16="http://schemas.microsoft.com/office/drawing/2014/main" id="{A3AB1DF8-2339-4683-A42F-16C7DB6813C9}"/>
              </a:ext>
            </a:extLst>
          </p:cNvPr>
          <p:cNvCxnSpPr>
            <a:cxnSpLocks/>
          </p:cNvCxnSpPr>
          <p:nvPr/>
        </p:nvCxnSpPr>
        <p:spPr>
          <a:xfrm>
            <a:off x="7578057" y="4673151"/>
            <a:ext cx="776018" cy="1609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8CCBE13-71A8-433E-9988-B7FAA50F2124}"/>
              </a:ext>
            </a:extLst>
          </p:cNvPr>
          <p:cNvSpPr txBox="1"/>
          <p:nvPr/>
        </p:nvSpPr>
        <p:spPr>
          <a:xfrm>
            <a:off x="6533941" y="4411831"/>
            <a:ext cx="1368152" cy="369332"/>
          </a:xfrm>
          <a:prstGeom prst="rect">
            <a:avLst/>
          </a:prstGeom>
          <a:noFill/>
        </p:spPr>
        <p:txBody>
          <a:bodyPr wrap="square" rtlCol="0">
            <a:spAutoFit/>
          </a:bodyPr>
          <a:lstStyle/>
          <a:p>
            <a:r>
              <a:rPr lang="de-CH" dirty="0" err="1">
                <a:solidFill>
                  <a:schemeClr val="bg1"/>
                </a:solidFill>
                <a:latin typeface="Arial" panose="020B0604020202020204" pitchFamily="34" charset="0"/>
                <a:cs typeface="Arial" panose="020B0604020202020204" pitchFamily="34" charset="0"/>
              </a:rPr>
              <a:t>nope</a:t>
            </a:r>
            <a:r>
              <a:rPr lang="de-CH" dirty="0">
                <a:solidFill>
                  <a:schemeClr val="bg1"/>
                </a:solidFill>
                <a:latin typeface="Arial" panose="020B0604020202020204" pitchFamily="34" charset="0"/>
                <a:cs typeface="Arial" panose="020B0604020202020204" pitchFamily="34" charset="0"/>
              </a:rPr>
              <a:t>!</a:t>
            </a:r>
          </a:p>
        </p:txBody>
      </p:sp>
      <p:cxnSp>
        <p:nvCxnSpPr>
          <p:cNvPr id="84" name="Gerade Verbindung mit Pfeil 83">
            <a:extLst>
              <a:ext uri="{FF2B5EF4-FFF2-40B4-BE49-F238E27FC236}">
                <a16:creationId xmlns:a16="http://schemas.microsoft.com/office/drawing/2014/main" id="{0E6CEAF2-5B0C-407A-B064-297E159B3B42}"/>
              </a:ext>
            </a:extLst>
          </p:cNvPr>
          <p:cNvCxnSpPr>
            <a:cxnSpLocks/>
          </p:cNvCxnSpPr>
          <p:nvPr/>
        </p:nvCxnSpPr>
        <p:spPr>
          <a:xfrm>
            <a:off x="7584628" y="3316077"/>
            <a:ext cx="742088" cy="841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33B758F4-BA4A-4E1E-BDE8-29E79D3A182A}"/>
              </a:ext>
            </a:extLst>
          </p:cNvPr>
          <p:cNvSpPr txBox="1"/>
          <p:nvPr/>
        </p:nvSpPr>
        <p:spPr>
          <a:xfrm>
            <a:off x="6533941" y="3072497"/>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OFC!</a:t>
            </a:r>
          </a:p>
        </p:txBody>
      </p:sp>
      <p:cxnSp>
        <p:nvCxnSpPr>
          <p:cNvPr id="86" name="Gerade Verbindung mit Pfeil 85">
            <a:extLst>
              <a:ext uri="{FF2B5EF4-FFF2-40B4-BE49-F238E27FC236}">
                <a16:creationId xmlns:a16="http://schemas.microsoft.com/office/drawing/2014/main" id="{238C72B5-6557-40E0-AFEE-24C1BEEC4DCA}"/>
              </a:ext>
            </a:extLst>
          </p:cNvPr>
          <p:cNvCxnSpPr>
            <a:cxnSpLocks/>
          </p:cNvCxnSpPr>
          <p:nvPr/>
        </p:nvCxnSpPr>
        <p:spPr>
          <a:xfrm>
            <a:off x="7574152" y="4137986"/>
            <a:ext cx="801237" cy="13501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67C8C7BB-FD67-45AE-8E42-D1AA8B936199}"/>
              </a:ext>
            </a:extLst>
          </p:cNvPr>
          <p:cNvSpPr txBox="1"/>
          <p:nvPr/>
        </p:nvSpPr>
        <p:spPr>
          <a:xfrm>
            <a:off x="6530036" y="3876666"/>
            <a:ext cx="1368152" cy="369332"/>
          </a:xfrm>
          <a:prstGeom prst="rect">
            <a:avLst/>
          </a:prstGeom>
          <a:noFill/>
        </p:spPr>
        <p:txBody>
          <a:bodyPr wrap="square" rtlCol="0">
            <a:spAutoFit/>
          </a:bodyPr>
          <a:lstStyle/>
          <a:p>
            <a:r>
              <a:rPr lang="de-CH" dirty="0">
                <a:solidFill>
                  <a:schemeClr val="bg1"/>
                </a:solidFill>
                <a:latin typeface="Arial" panose="020B0604020202020204" pitchFamily="34" charset="0"/>
                <a:cs typeface="Arial" panose="020B0604020202020204" pitchFamily="34" charset="0"/>
              </a:rPr>
              <a:t>Yes!</a:t>
            </a:r>
          </a:p>
        </p:txBody>
      </p:sp>
      <p:cxnSp>
        <p:nvCxnSpPr>
          <p:cNvPr id="88" name="Verbinder: gekrümmt 87">
            <a:extLst>
              <a:ext uri="{FF2B5EF4-FFF2-40B4-BE49-F238E27FC236}">
                <a16:creationId xmlns:a16="http://schemas.microsoft.com/office/drawing/2014/main" id="{2027A60F-C993-492C-9DF6-2E05DB47E41A}"/>
              </a:ext>
            </a:extLst>
          </p:cNvPr>
          <p:cNvCxnSpPr>
            <a:stCxn id="83" idx="1"/>
            <a:endCxn id="81" idx="1"/>
          </p:cNvCxnSpPr>
          <p:nvPr/>
        </p:nvCxnSpPr>
        <p:spPr>
          <a:xfrm rot="10800000">
            <a:off x="6533941" y="2375953"/>
            <a:ext cx="12700" cy="2220544"/>
          </a:xfrm>
          <a:prstGeom prst="curvedConnector3">
            <a:avLst>
              <a:gd name="adj1" fmla="val 1800000"/>
            </a:avLst>
          </a:prstGeom>
          <a:ln>
            <a:solidFill>
              <a:schemeClr val="bg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9" name="Textfeld 88">
            <a:extLst>
              <a:ext uri="{FF2B5EF4-FFF2-40B4-BE49-F238E27FC236}">
                <a16:creationId xmlns:a16="http://schemas.microsoft.com/office/drawing/2014/main" id="{30E300B0-2037-415B-91D0-E9BD26C01222}"/>
              </a:ext>
            </a:extLst>
          </p:cNvPr>
          <p:cNvSpPr txBox="1"/>
          <p:nvPr/>
        </p:nvSpPr>
        <p:spPr>
          <a:xfrm>
            <a:off x="5284096" y="3365175"/>
            <a:ext cx="1368152" cy="369332"/>
          </a:xfrm>
          <a:prstGeom prst="rect">
            <a:avLst/>
          </a:prstGeom>
          <a:noFill/>
        </p:spPr>
        <p:txBody>
          <a:bodyPr wrap="square" rtlCol="0">
            <a:spAutoFit/>
          </a:bodyPr>
          <a:lstStyle/>
          <a:p>
            <a:r>
              <a:rPr lang="de-CH" i="1" dirty="0" err="1">
                <a:solidFill>
                  <a:schemeClr val="bg1"/>
                </a:solidFill>
                <a:latin typeface="Arial" panose="020B0604020202020204" pitchFamily="34" charset="0"/>
                <a:cs typeface="Arial" panose="020B0604020202020204" pitchFamily="34" charset="0"/>
              </a:rPr>
              <a:t>because</a:t>
            </a:r>
            <a:endParaRPr lang="de-CH"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92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1" grpId="0"/>
      <p:bldP spid="83" grpId="0"/>
      <p:bldP spid="85" grpId="0"/>
      <p:bldP spid="87" grpId="0"/>
      <p:bldP spid="89"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66" name="Verbinder: gekrümmt 65">
            <a:extLst>
              <a:ext uri="{FF2B5EF4-FFF2-40B4-BE49-F238E27FC236}">
                <a16:creationId xmlns:a16="http://schemas.microsoft.com/office/drawing/2014/main" id="{C56CB6BD-66C6-4763-A23F-6EA54B6E5D3C}"/>
              </a:ext>
            </a:extLst>
          </p:cNvPr>
          <p:cNvCxnSpPr>
            <a:cxnSpLocks/>
            <a:stCxn id="61" idx="2"/>
            <a:endCxn id="62" idx="2"/>
          </p:cNvCxnSpPr>
          <p:nvPr/>
        </p:nvCxnSpPr>
        <p:spPr>
          <a:xfrm rot="16200000" flipH="1">
            <a:off x="2266939" y="233252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Verbinder: gekrümmt 66">
            <a:extLst>
              <a:ext uri="{FF2B5EF4-FFF2-40B4-BE49-F238E27FC236}">
                <a16:creationId xmlns:a16="http://schemas.microsoft.com/office/drawing/2014/main" id="{3C7A0CF0-E2CA-4BE0-A4AE-CC34CECA5809}"/>
              </a:ext>
            </a:extLst>
          </p:cNvPr>
          <p:cNvCxnSpPr>
            <a:cxnSpLocks/>
            <a:stCxn id="62" idx="2"/>
            <a:endCxn id="63" idx="2"/>
          </p:cNvCxnSpPr>
          <p:nvPr/>
        </p:nvCxnSpPr>
        <p:spPr>
          <a:xfrm rot="5400000" flipH="1" flipV="1">
            <a:off x="3697663" y="235929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Verbinder: gekrümmt 67">
            <a:extLst>
              <a:ext uri="{FF2B5EF4-FFF2-40B4-BE49-F238E27FC236}">
                <a16:creationId xmlns:a16="http://schemas.microsoft.com/office/drawing/2014/main" id="{78270741-5A0A-46C9-887E-48E7C2638F7A}"/>
              </a:ext>
            </a:extLst>
          </p:cNvPr>
          <p:cNvCxnSpPr>
            <a:cxnSpLocks/>
            <a:stCxn id="61" idx="2"/>
            <a:endCxn id="63" idx="2"/>
          </p:cNvCxnSpPr>
          <p:nvPr/>
        </p:nvCxnSpPr>
        <p:spPr>
          <a:xfrm rot="5400000" flipH="1" flipV="1">
            <a:off x="2968912" y="163054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Tree>
    <p:extLst>
      <p:ext uri="{BB962C8B-B14F-4D97-AF65-F5344CB8AC3E}">
        <p14:creationId xmlns:p14="http://schemas.microsoft.com/office/powerpoint/2010/main" val="261967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
        <p:nvSpPr>
          <p:cNvPr id="21" name="Rechteck 20">
            <a:extLst>
              <a:ext uri="{FF2B5EF4-FFF2-40B4-BE49-F238E27FC236}">
                <a16:creationId xmlns:a16="http://schemas.microsoft.com/office/drawing/2014/main" id="{35C56245-C14F-476F-A2E8-8AB2FE6DFAC7}"/>
              </a:ext>
            </a:extLst>
          </p:cNvPr>
          <p:cNvSpPr/>
          <p:nvPr/>
        </p:nvSpPr>
        <p:spPr>
          <a:xfrm>
            <a:off x="962914"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2420417"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3824364" y="518533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66939" y="509185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flipV="1">
            <a:off x="3697663" y="511862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2968912" y="438987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6F194224-72BF-4339-8D2A-8131F1A2DCA0}"/>
              </a:ext>
            </a:extLst>
          </p:cNvPr>
          <p:cNvSpPr/>
          <p:nvPr/>
        </p:nvSpPr>
        <p:spPr>
          <a:xfrm>
            <a:off x="2366861" y="376554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2" name="Gerade Verbindung mit Pfeil 31">
            <a:extLst>
              <a:ext uri="{FF2B5EF4-FFF2-40B4-BE49-F238E27FC236}">
                <a16:creationId xmlns:a16="http://schemas.microsoft.com/office/drawing/2014/main" id="{C647EF46-730B-45A8-AE45-AB28AE8603A9}"/>
              </a:ext>
            </a:extLst>
          </p:cNvPr>
          <p:cNvCxnSpPr>
            <a:cxnSpLocks/>
            <a:stCxn id="21" idx="0"/>
            <a:endCxn id="29" idx="3"/>
          </p:cNvCxnSpPr>
          <p:nvPr/>
        </p:nvCxnSpPr>
        <p:spPr>
          <a:xfrm flipV="1">
            <a:off x="1538188" y="432887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6F0C6240-E95F-49F6-82FC-7CEA05458F4C}"/>
              </a:ext>
            </a:extLst>
          </p:cNvPr>
          <p:cNvCxnSpPr>
            <a:cxnSpLocks/>
            <a:stCxn id="22" idx="0"/>
            <a:endCxn id="29" idx="4"/>
          </p:cNvCxnSpPr>
          <p:nvPr/>
        </p:nvCxnSpPr>
        <p:spPr>
          <a:xfrm flipV="1">
            <a:off x="2995691" y="442552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6D0E08C9-CF4C-427D-B3BC-5020A7200D4C}"/>
              </a:ext>
            </a:extLst>
          </p:cNvPr>
          <p:cNvCxnSpPr>
            <a:cxnSpLocks/>
            <a:stCxn id="23" idx="0"/>
            <a:endCxn id="29" idx="5"/>
          </p:cNvCxnSpPr>
          <p:nvPr/>
        </p:nvCxnSpPr>
        <p:spPr>
          <a:xfrm flipH="1" flipV="1">
            <a:off x="3440342" y="432887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173FC4C1-45EA-4C77-9155-AD44DDCC4B9F}"/>
              </a:ext>
            </a:extLst>
          </p:cNvPr>
          <p:cNvSpPr txBox="1"/>
          <p:nvPr/>
        </p:nvSpPr>
        <p:spPr>
          <a:xfrm>
            <a:off x="1582105"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a:t>
            </a:r>
            <a:r>
              <a:rPr lang="de-CH" baseline="-25000" dirty="0">
                <a:solidFill>
                  <a:schemeClr val="accent1"/>
                </a:solidFill>
                <a:latin typeface="Arial" panose="020B0604020202020204" pitchFamily="34" charset="0"/>
                <a:cs typeface="Arial" panose="020B0604020202020204" pitchFamily="34" charset="0"/>
              </a:rPr>
              <a:t>1</a:t>
            </a:r>
          </a:p>
        </p:txBody>
      </p:sp>
      <p:sp>
        <p:nvSpPr>
          <p:cNvPr id="36" name="Textfeld 35">
            <a:extLst>
              <a:ext uri="{FF2B5EF4-FFF2-40B4-BE49-F238E27FC236}">
                <a16:creationId xmlns:a16="http://schemas.microsoft.com/office/drawing/2014/main" id="{96C51F6B-9954-46EA-9DB6-886B9A28DB3E}"/>
              </a:ext>
            </a:extLst>
          </p:cNvPr>
          <p:cNvSpPr txBox="1"/>
          <p:nvPr/>
        </p:nvSpPr>
        <p:spPr>
          <a:xfrm>
            <a:off x="2689954" y="453695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37" name="Textfeld 36">
            <a:extLst>
              <a:ext uri="{FF2B5EF4-FFF2-40B4-BE49-F238E27FC236}">
                <a16:creationId xmlns:a16="http://schemas.microsoft.com/office/drawing/2014/main" id="{E381CC6F-D930-454D-8C7D-E37E050FAD83}"/>
              </a:ext>
            </a:extLst>
          </p:cNvPr>
          <p:cNvSpPr txBox="1"/>
          <p:nvPr/>
        </p:nvSpPr>
        <p:spPr>
          <a:xfrm>
            <a:off x="3510268"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12" name="Textfeld 11">
            <a:extLst>
              <a:ext uri="{FF2B5EF4-FFF2-40B4-BE49-F238E27FC236}">
                <a16:creationId xmlns:a16="http://schemas.microsoft.com/office/drawing/2014/main" id="{54D76B26-36BA-4BAC-905F-7170AAC77013}"/>
              </a:ext>
            </a:extLst>
          </p:cNvPr>
          <p:cNvSpPr txBox="1"/>
          <p:nvPr/>
        </p:nvSpPr>
        <p:spPr>
          <a:xfrm>
            <a:off x="4222624" y="1037397"/>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factor</a:t>
            </a:r>
            <a:endParaRPr lang="de-DE" i="1"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859119" y="3929830"/>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sum</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its</a:t>
            </a:r>
            <a:r>
              <a:rPr lang="de-DE" i="1" dirty="0">
                <a:solidFill>
                  <a:schemeClr val="bg1"/>
                </a:solidFill>
              </a:rPr>
              <a:t> </a:t>
            </a:r>
            <a:r>
              <a:rPr lang="de-DE" i="1" dirty="0" err="1">
                <a:solidFill>
                  <a:schemeClr val="bg1"/>
                </a:solidFill>
              </a:rPr>
              <a:t>parts</a:t>
            </a:r>
            <a:endParaRPr lang="de-DE" i="1" dirty="0">
              <a:solidFill>
                <a:schemeClr val="bg1"/>
              </a:solidFill>
            </a:endParaRPr>
          </a:p>
        </p:txBody>
      </p:sp>
    </p:spTree>
    <p:extLst>
      <p:ext uri="{BB962C8B-B14F-4D97-AF65-F5344CB8AC3E}">
        <p14:creationId xmlns:p14="http://schemas.microsoft.com/office/powerpoint/2010/main" val="2692341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341632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1. This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testable</a:t>
            </a:r>
            <a:r>
              <a:rPr lang="de-CH" dirty="0">
                <a:solidFill>
                  <a:schemeClr val="tx1">
                    <a:lumMod val="75000"/>
                    <a:lumOff val="25000"/>
                  </a:schemeClr>
                </a:solidFill>
                <a:latin typeface="Arial" panose="020B0604020202020204" pitchFamily="34" charset="0"/>
                <a:cs typeface="Arial" panose="020B0604020202020204" pitchFamily="34" charset="0"/>
              </a:rPr>
              <a:t> via </a:t>
            </a:r>
            <a:r>
              <a:rPr lang="de-CH" dirty="0" err="1">
                <a:solidFill>
                  <a:schemeClr val="tx1">
                    <a:lumMod val="75000"/>
                    <a:lumOff val="25000"/>
                  </a:schemeClr>
                </a:solidFill>
                <a:latin typeface="Arial" panose="020B0604020202020204" pitchFamily="34" charset="0"/>
                <a:cs typeface="Arial" panose="020B0604020202020204" pitchFamily="34" charset="0"/>
              </a:rPr>
              <a:t>factor</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analysis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2. </a:t>
            </a:r>
            <a:r>
              <a:rPr lang="de-CH" dirty="0" err="1">
                <a:solidFill>
                  <a:schemeClr val="tx1">
                    <a:lumMod val="75000"/>
                    <a:lumOff val="25000"/>
                  </a:schemeClr>
                </a:solidFill>
                <a:latin typeface="Arial" panose="020B0604020202020204" pitchFamily="34" charset="0"/>
                <a:cs typeface="Arial" panose="020B0604020202020204" pitchFamily="34" charset="0"/>
              </a:rPr>
              <a:t>Empirically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this</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assumption</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rarely</a:t>
            </a:r>
            <a:r>
              <a:rPr lang="de-CH" dirty="0">
                <a:solidFill>
                  <a:schemeClr val="tx1">
                    <a:lumMod val="75000"/>
                    <a:lumOff val="25000"/>
                  </a:schemeClr>
                </a:solidFill>
                <a:latin typeface="Arial" panose="020B0604020202020204" pitchFamily="34" charset="0"/>
                <a:cs typeface="Arial" panose="020B0604020202020204" pitchFamily="34" charset="0"/>
              </a:rPr>
              <a:t> </a:t>
            </a:r>
            <a:r>
              <a:rPr lang="de-CH" dirty="0" err="1">
                <a:solidFill>
                  <a:schemeClr val="tx1">
                    <a:lumMod val="75000"/>
                    <a:lumOff val="25000"/>
                  </a:schemeClr>
                </a:solidFill>
                <a:latin typeface="Arial" panose="020B0604020202020204" pitchFamily="34" charset="0"/>
                <a:cs typeface="Arial" panose="020B0604020202020204" pitchFamily="34" charset="0"/>
              </a:rPr>
              <a:t>holds</a:t>
            </a:r>
            <a:endParaRPr lang="de-CH" dirty="0">
              <a:solidFill>
                <a:schemeClr val="tx1">
                  <a:lumMod val="75000"/>
                  <a:lumOff val="25000"/>
                </a:schemeClr>
              </a:solidFill>
              <a:latin typeface="Arial" panose="020B0604020202020204" pitchFamily="34" charset="0"/>
              <a:cs typeface="Arial" panose="020B0604020202020204" pitchFamily="34" charset="0"/>
            </a:endParaRPr>
          </a:p>
          <a:p>
            <a:endParaRPr lang="de-CH" i="1" dirty="0">
              <a:solidFill>
                <a:schemeClr val="tx1">
                  <a:lumMod val="75000"/>
                  <a:lumOff val="25000"/>
                </a:schemeClr>
              </a:solidFill>
              <a:latin typeface="Arial" panose="020B0604020202020204" pitchFamily="34" charset="0"/>
              <a:cs typeface="Arial" panose="020B0604020202020204" pitchFamily="34" charset="0"/>
            </a:endParaRPr>
          </a:p>
          <a:p>
            <a:r>
              <a:rPr lang="de-CH" dirty="0">
                <a:solidFill>
                  <a:schemeClr val="tx1">
                    <a:lumMod val="75000"/>
                    <a:lumOff val="25000"/>
                  </a:schemeClr>
                </a:solidFill>
                <a:latin typeface="Arial" panose="020B0604020202020204" pitchFamily="34" charset="0"/>
                <a:cs typeface="Arial" panose="020B0604020202020204" pitchFamily="34" charset="0"/>
              </a:rPr>
              <a:t>3. </a:t>
            </a:r>
            <a:r>
              <a:rPr lang="de-CH" dirty="0" err="1">
                <a:solidFill>
                  <a:schemeClr val="tx1">
                    <a:lumMod val="75000"/>
                    <a:lumOff val="25000"/>
                  </a:schemeClr>
                </a:solidFill>
                <a:latin typeface="Arial" panose="020B0604020202020204" pitchFamily="34" charset="0"/>
                <a:cs typeface="Arial" panose="020B0604020202020204" pitchFamily="34" charset="0"/>
              </a:rPr>
              <a:t>Conclusion</a:t>
            </a:r>
            <a:r>
              <a:rPr lang="de-CH" dirty="0">
                <a:solidFill>
                  <a:schemeClr val="tx1">
                    <a:lumMod val="75000"/>
                    <a:lumOff val="25000"/>
                  </a:schemeClr>
                </a:solidFill>
                <a:latin typeface="Arial" panose="020B0604020202020204" pitchFamily="34" charset="0"/>
                <a:cs typeface="Arial" panose="020B0604020202020204" pitchFamily="34" charset="0"/>
              </a:rPr>
              <a:t>:</a:t>
            </a:r>
          </a:p>
          <a:p>
            <a:r>
              <a:rPr lang="de-CH" i="1" dirty="0" err="1">
                <a:solidFill>
                  <a:schemeClr val="tx1">
                    <a:lumMod val="75000"/>
                    <a:lumOff val="25000"/>
                  </a:schemeClr>
                </a:solidFill>
                <a:latin typeface="Arial" panose="020B0604020202020204" pitchFamily="34" charset="0"/>
                <a:cs typeface="Arial" panose="020B0604020202020204" pitchFamily="34" charset="0"/>
              </a:rPr>
              <a:t>We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should</a:t>
            </a:r>
            <a:r>
              <a:rPr lang="de-CH" i="1" dirty="0">
                <a:solidFill>
                  <a:schemeClr val="tx1">
                    <a:lumMod val="75000"/>
                    <a:lumOff val="25000"/>
                  </a:schemeClr>
                </a:solidFill>
                <a:latin typeface="Arial" panose="020B0604020202020204" pitchFamily="34" charset="0"/>
                <a:cs typeface="Arial" panose="020B0604020202020204" pitchFamily="34" charset="0"/>
              </a:rPr>
              <a:t> not </a:t>
            </a:r>
            <a:r>
              <a:rPr lang="de-CH" i="1" dirty="0" err="1">
                <a:solidFill>
                  <a:schemeClr val="tx1">
                    <a:lumMod val="75000"/>
                    <a:lumOff val="25000"/>
                  </a:schemeClr>
                </a:solidFill>
                <a:latin typeface="Arial" panose="020B0604020202020204" pitchFamily="34" charset="0"/>
                <a:cs typeface="Arial" panose="020B0604020202020204" pitchFamily="34" charset="0"/>
              </a:rPr>
              <a:t>use</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sum</a:t>
            </a:r>
            <a:r>
              <a:rPr lang="de-CH" i="1" dirty="0">
                <a:solidFill>
                  <a:schemeClr val="tx1">
                    <a:lumMod val="75000"/>
                    <a:lumOff val="25000"/>
                  </a:schemeClr>
                </a:solidFill>
                <a:latin typeface="Arial" panose="020B0604020202020204" pitchFamily="34" charset="0"/>
                <a:cs typeface="Arial" panose="020B0604020202020204" pitchFamily="34" charset="0"/>
              </a:rPr>
              <a:t> </a:t>
            </a:r>
            <a:r>
              <a:rPr lang="de-CH" i="1" dirty="0" err="1">
                <a:solidFill>
                  <a:schemeClr val="tx1">
                    <a:lumMod val="75000"/>
                    <a:lumOff val="25000"/>
                  </a:schemeClr>
                </a:solidFill>
                <a:latin typeface="Arial" panose="020B0604020202020204" pitchFamily="34" charset="0"/>
                <a:cs typeface="Arial" panose="020B0604020202020204" pitchFamily="34" charset="0"/>
              </a:rPr>
              <a:t>scores</a:t>
            </a:r>
            <a:r>
              <a:rPr lang="de-CH" i="1" dirty="0">
                <a:solidFill>
                  <a:schemeClr val="tx1">
                    <a:lumMod val="75000"/>
                    <a:lumOff val="25000"/>
                  </a:schemeClr>
                </a:solidFill>
                <a:latin typeface="Arial" panose="020B0604020202020204" pitchFamily="34" charset="0"/>
                <a:cs typeface="Arial" panose="020B0604020202020204" pitchFamily="34" charset="0"/>
              </a:rPr>
              <a:t>/</a:t>
            </a:r>
            <a:r>
              <a:rPr lang="de-CH" i="1" dirty="0" err="1">
                <a:solidFill>
                  <a:schemeClr val="tx1">
                    <a:lumMod val="75000"/>
                    <a:lumOff val="25000"/>
                  </a:schemeClr>
                </a:solidFill>
                <a:latin typeface="Arial" panose="020B0604020202020204" pitchFamily="34" charset="0"/>
                <a:cs typeface="Arial" panose="020B0604020202020204" pitchFamily="34" charset="0"/>
              </a:rPr>
              <a:t>means</a:t>
            </a:r>
            <a:r>
              <a:rPr lang="de-CH" i="1" dirty="0">
                <a:solidFill>
                  <a:schemeClr val="tx1">
                    <a:lumMod val="75000"/>
                    <a:lumOff val="25000"/>
                  </a:schemeClr>
                </a:solidFill>
                <a:latin typeface="Arial" panose="020B0604020202020204" pitchFamily="34" charset="0"/>
                <a:cs typeface="Arial" panose="020B0604020202020204" pitchFamily="34" charset="0"/>
              </a:rPr>
              <a:t> at all</a:t>
            </a:r>
          </a:p>
        </p:txBody>
      </p:sp>
      <p:sp>
        <p:nvSpPr>
          <p:cNvPr id="21" name="Rechteck 20">
            <a:extLst>
              <a:ext uri="{FF2B5EF4-FFF2-40B4-BE49-F238E27FC236}">
                <a16:creationId xmlns:a16="http://schemas.microsoft.com/office/drawing/2014/main" id="{35C56245-C14F-476F-A2E8-8AB2FE6DFAC7}"/>
              </a:ext>
            </a:extLst>
          </p:cNvPr>
          <p:cNvSpPr/>
          <p:nvPr/>
        </p:nvSpPr>
        <p:spPr>
          <a:xfrm>
            <a:off x="962914"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2420417" y="518533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3824364" y="518533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66939" y="5091850"/>
            <a:ext cx="12700" cy="1457503"/>
          </a:xfrm>
          <a:prstGeom prst="curvedConnector3">
            <a:avLst>
              <a:gd name="adj1" fmla="val 18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flipV="1">
            <a:off x="3697663" y="5118628"/>
            <a:ext cx="1" cy="1403947"/>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2968912" y="4389877"/>
            <a:ext cx="1" cy="2861450"/>
          </a:xfrm>
          <a:prstGeom prst="curvedConnector3">
            <a:avLst>
              <a:gd name="adj1" fmla="val -22860000000"/>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6F194224-72BF-4339-8D2A-8131F1A2DCA0}"/>
              </a:ext>
            </a:extLst>
          </p:cNvPr>
          <p:cNvSpPr/>
          <p:nvPr/>
        </p:nvSpPr>
        <p:spPr>
          <a:xfrm>
            <a:off x="2366861" y="376554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32" name="Gerade Verbindung mit Pfeil 31">
            <a:extLst>
              <a:ext uri="{FF2B5EF4-FFF2-40B4-BE49-F238E27FC236}">
                <a16:creationId xmlns:a16="http://schemas.microsoft.com/office/drawing/2014/main" id="{C647EF46-730B-45A8-AE45-AB28AE8603A9}"/>
              </a:ext>
            </a:extLst>
          </p:cNvPr>
          <p:cNvCxnSpPr>
            <a:cxnSpLocks/>
            <a:stCxn id="21" idx="0"/>
            <a:endCxn id="29" idx="3"/>
          </p:cNvCxnSpPr>
          <p:nvPr/>
        </p:nvCxnSpPr>
        <p:spPr>
          <a:xfrm flipV="1">
            <a:off x="1538188" y="432887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6F0C6240-E95F-49F6-82FC-7CEA05458F4C}"/>
              </a:ext>
            </a:extLst>
          </p:cNvPr>
          <p:cNvCxnSpPr>
            <a:cxnSpLocks/>
            <a:stCxn id="22" idx="0"/>
            <a:endCxn id="29" idx="4"/>
          </p:cNvCxnSpPr>
          <p:nvPr/>
        </p:nvCxnSpPr>
        <p:spPr>
          <a:xfrm flipV="1">
            <a:off x="2995691" y="442552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6D0E08C9-CF4C-427D-B3BC-5020A7200D4C}"/>
              </a:ext>
            </a:extLst>
          </p:cNvPr>
          <p:cNvCxnSpPr>
            <a:cxnSpLocks/>
            <a:stCxn id="23" idx="0"/>
            <a:endCxn id="29" idx="5"/>
          </p:cNvCxnSpPr>
          <p:nvPr/>
        </p:nvCxnSpPr>
        <p:spPr>
          <a:xfrm flipH="1" flipV="1">
            <a:off x="3440342" y="432887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173FC4C1-45EA-4C77-9155-AD44DDCC4B9F}"/>
              </a:ext>
            </a:extLst>
          </p:cNvPr>
          <p:cNvSpPr txBox="1"/>
          <p:nvPr/>
        </p:nvSpPr>
        <p:spPr>
          <a:xfrm>
            <a:off x="1582105"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a:t>
            </a:r>
            <a:r>
              <a:rPr lang="de-CH" baseline="-25000" dirty="0">
                <a:solidFill>
                  <a:schemeClr val="accent1"/>
                </a:solidFill>
                <a:latin typeface="Arial" panose="020B0604020202020204" pitchFamily="34" charset="0"/>
                <a:cs typeface="Arial" panose="020B0604020202020204" pitchFamily="34" charset="0"/>
              </a:rPr>
              <a:t>1</a:t>
            </a:r>
          </a:p>
        </p:txBody>
      </p:sp>
      <p:sp>
        <p:nvSpPr>
          <p:cNvPr id="36" name="Textfeld 35">
            <a:extLst>
              <a:ext uri="{FF2B5EF4-FFF2-40B4-BE49-F238E27FC236}">
                <a16:creationId xmlns:a16="http://schemas.microsoft.com/office/drawing/2014/main" id="{96C51F6B-9954-46EA-9DB6-886B9A28DB3E}"/>
              </a:ext>
            </a:extLst>
          </p:cNvPr>
          <p:cNvSpPr txBox="1"/>
          <p:nvPr/>
        </p:nvSpPr>
        <p:spPr>
          <a:xfrm>
            <a:off x="2689954" y="453695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37" name="Textfeld 36">
            <a:extLst>
              <a:ext uri="{FF2B5EF4-FFF2-40B4-BE49-F238E27FC236}">
                <a16:creationId xmlns:a16="http://schemas.microsoft.com/office/drawing/2014/main" id="{E381CC6F-D930-454D-8C7D-E37E050FAD83}"/>
              </a:ext>
            </a:extLst>
          </p:cNvPr>
          <p:cNvSpPr txBox="1"/>
          <p:nvPr/>
        </p:nvSpPr>
        <p:spPr>
          <a:xfrm>
            <a:off x="3510268" y="454213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β </a:t>
            </a:r>
            <a:r>
              <a:rPr lang="de-CH" baseline="-25000" dirty="0">
                <a:solidFill>
                  <a:schemeClr val="accent1"/>
                </a:solidFill>
                <a:latin typeface="Arial" panose="020B0604020202020204" pitchFamily="34" charset="0"/>
                <a:cs typeface="Arial" panose="020B0604020202020204" pitchFamily="34" charset="0"/>
              </a:rPr>
              <a:t>1</a:t>
            </a:r>
          </a:p>
        </p:txBody>
      </p:sp>
      <p:sp>
        <p:nvSpPr>
          <p:cNvPr id="12" name="Textfeld 11">
            <a:extLst>
              <a:ext uri="{FF2B5EF4-FFF2-40B4-BE49-F238E27FC236}">
                <a16:creationId xmlns:a16="http://schemas.microsoft.com/office/drawing/2014/main" id="{54D76B26-36BA-4BAC-905F-7170AAC77013}"/>
              </a:ext>
            </a:extLst>
          </p:cNvPr>
          <p:cNvSpPr txBox="1"/>
          <p:nvPr/>
        </p:nvSpPr>
        <p:spPr>
          <a:xfrm>
            <a:off x="707879" y="965435"/>
            <a:ext cx="4522065" cy="2492990"/>
          </a:xfrm>
          <a:prstGeom prst="rect">
            <a:avLst/>
          </a:prstGeom>
          <a:noFill/>
        </p:spPr>
        <p:txBody>
          <a:bodyPr wrap="square" rtlCol="0">
            <a:spAutoFit/>
          </a:bodyPr>
          <a:lstStyle/>
          <a:p>
            <a:r>
              <a:rPr lang="de-DE" dirty="0">
                <a:solidFill>
                  <a:schemeClr val="bg1"/>
                </a:solidFill>
              </a:rPr>
              <a:t>Knowledge </a:t>
            </a:r>
            <a:r>
              <a:rPr lang="de-DE" dirty="0" err="1">
                <a:solidFill>
                  <a:schemeClr val="bg1"/>
                </a:solidFill>
              </a:rPr>
              <a:t>can</a:t>
            </a:r>
            <a:r>
              <a:rPr lang="de-DE" dirty="0">
                <a:solidFill>
                  <a:schemeClr val="bg1"/>
                </a:solidFill>
              </a:rPr>
              <a:t> </a:t>
            </a:r>
            <a:r>
              <a:rPr lang="de-DE" dirty="0" err="1">
                <a:solidFill>
                  <a:schemeClr val="bg1"/>
                </a:solidFill>
              </a:rPr>
              <a:t>be</a:t>
            </a:r>
            <a:r>
              <a:rPr lang="de-DE" dirty="0">
                <a:solidFill>
                  <a:schemeClr val="bg1"/>
                </a:solidFill>
              </a:rPr>
              <a:t> </a:t>
            </a:r>
            <a:r>
              <a:rPr lang="de-DE" dirty="0" err="1">
                <a:solidFill>
                  <a:schemeClr val="bg1"/>
                </a:solidFill>
              </a:rPr>
              <a:t>considered</a:t>
            </a:r>
            <a:r>
              <a:rPr lang="de-DE" dirty="0">
                <a:solidFill>
                  <a:schemeClr val="bg1"/>
                </a:solidFill>
              </a:rPr>
              <a:t> a </a:t>
            </a:r>
            <a:r>
              <a:rPr lang="de-DE" b="1" dirty="0">
                <a:solidFill>
                  <a:schemeClr val="bg1"/>
                </a:solidFill>
              </a:rPr>
              <a:t>formative</a:t>
            </a:r>
            <a:r>
              <a:rPr lang="de-DE" dirty="0">
                <a:solidFill>
                  <a:schemeClr val="bg1"/>
                </a:solidFill>
              </a:rPr>
              <a:t> </a:t>
            </a:r>
            <a:r>
              <a:rPr lang="de-DE" dirty="0" err="1">
                <a:solidFill>
                  <a:schemeClr val="bg1"/>
                </a:solidFill>
              </a:rPr>
              <a:t>or</a:t>
            </a:r>
            <a:r>
              <a:rPr lang="de-DE" dirty="0">
                <a:solidFill>
                  <a:schemeClr val="bg1"/>
                </a:solidFill>
              </a:rPr>
              <a:t> </a:t>
            </a:r>
            <a:r>
              <a:rPr lang="de-DE" b="1" dirty="0" err="1">
                <a:solidFill>
                  <a:schemeClr val="bg1"/>
                </a:solidFill>
              </a:rPr>
              <a:t>composite</a:t>
            </a:r>
            <a:r>
              <a:rPr lang="de-DE" dirty="0">
                <a:solidFill>
                  <a:schemeClr val="bg1"/>
                </a:solidFill>
              </a:rPr>
              <a:t> </a:t>
            </a:r>
            <a:r>
              <a:rPr lang="de-DE" dirty="0" err="1">
                <a:solidFill>
                  <a:schemeClr val="bg1"/>
                </a:solidFill>
              </a:rPr>
              <a:t>construct</a:t>
            </a:r>
            <a:r>
              <a:rPr lang="de-DE" dirty="0">
                <a:solidFill>
                  <a:schemeClr val="bg1"/>
                </a:solidFill>
              </a:rPr>
              <a:t> </a:t>
            </a:r>
            <a:r>
              <a:rPr lang="de-DE" sz="1200" dirty="0">
                <a:solidFill>
                  <a:schemeClr val="bg1"/>
                </a:solidFill>
              </a:rPr>
              <a:t>(</a:t>
            </a:r>
            <a:r>
              <a:rPr lang="de-DE" sz="1200" dirty="0" err="1">
                <a:solidFill>
                  <a:schemeClr val="bg1"/>
                </a:solidFill>
              </a:rPr>
              <a:t>Taber</a:t>
            </a:r>
            <a:r>
              <a:rPr lang="de-DE" sz="1200" dirty="0">
                <a:solidFill>
                  <a:schemeClr val="bg1"/>
                </a:solidFill>
              </a:rPr>
              <a:t>, 2018; Stadler et al., 2021; Edelsbrunner, 2022; Edelsbrunner et al., 2025)</a:t>
            </a:r>
          </a:p>
          <a:p>
            <a:endParaRPr lang="de-DE" sz="1200" i="1" dirty="0">
              <a:solidFill>
                <a:schemeClr val="bg1"/>
              </a:solidFill>
            </a:endParaRPr>
          </a:p>
          <a:p>
            <a:r>
              <a:rPr lang="de-DE" dirty="0" err="1">
                <a:solidFill>
                  <a:schemeClr val="bg1"/>
                </a:solidFill>
              </a:rPr>
              <a:t>We</a:t>
            </a:r>
            <a:r>
              <a:rPr lang="de-DE" dirty="0">
                <a:solidFill>
                  <a:schemeClr val="bg1"/>
                </a:solidFill>
              </a:rPr>
              <a:t> </a:t>
            </a:r>
            <a:r>
              <a:rPr lang="de-DE" dirty="0" err="1">
                <a:solidFill>
                  <a:schemeClr val="bg1"/>
                </a:solidFill>
              </a:rPr>
              <a:t>can</a:t>
            </a:r>
            <a:r>
              <a:rPr lang="de-DE" dirty="0">
                <a:solidFill>
                  <a:schemeClr val="bg1"/>
                </a:solidFill>
              </a:rPr>
              <a:t> </a:t>
            </a:r>
            <a:r>
              <a:rPr lang="de-DE" dirty="0" err="1">
                <a:solidFill>
                  <a:schemeClr val="bg1"/>
                </a:solidFill>
              </a:rPr>
              <a:t>use</a:t>
            </a:r>
            <a:r>
              <a:rPr lang="de-DE" dirty="0">
                <a:solidFill>
                  <a:schemeClr val="bg1"/>
                </a:solidFill>
              </a:rPr>
              <a:t> </a:t>
            </a:r>
            <a:r>
              <a:rPr lang="de-DE" dirty="0" err="1">
                <a:solidFill>
                  <a:schemeClr val="bg1"/>
                </a:solidFill>
              </a:rPr>
              <a:t>it</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functionally</a:t>
            </a:r>
            <a:r>
              <a:rPr lang="de-DE" b="1" dirty="0">
                <a:solidFill>
                  <a:schemeClr val="bg1"/>
                </a:solidFill>
              </a:rPr>
              <a:t> unidimensional</a:t>
            </a:r>
            <a:r>
              <a:rPr lang="de-DE" i="1" dirty="0">
                <a:solidFill>
                  <a:schemeClr val="bg1"/>
                </a:solidFill>
              </a:rPr>
              <a:t> </a:t>
            </a:r>
            <a:r>
              <a:rPr lang="de-DE" dirty="0" err="1">
                <a:solidFill>
                  <a:schemeClr val="bg1"/>
                </a:solidFill>
              </a:rPr>
              <a:t>construct</a:t>
            </a:r>
            <a:r>
              <a:rPr lang="de-DE" dirty="0">
                <a:solidFill>
                  <a:schemeClr val="bg1"/>
                </a:solidFill>
              </a:rPr>
              <a:t> </a:t>
            </a:r>
            <a:r>
              <a:rPr lang="de-DE" sz="1200" dirty="0">
                <a:solidFill>
                  <a:schemeClr val="bg1"/>
                </a:solidFill>
              </a:rPr>
              <a:t>(Baird et al., 2017)</a:t>
            </a:r>
          </a:p>
          <a:p>
            <a:endParaRPr lang="de-DE" sz="1200" dirty="0">
              <a:solidFill>
                <a:schemeClr val="bg1"/>
              </a:solidFill>
            </a:endParaRPr>
          </a:p>
          <a:p>
            <a:r>
              <a:rPr lang="de-DE" dirty="0" err="1">
                <a:solidFill>
                  <a:schemeClr val="bg1"/>
                </a:solidFill>
              </a:rPr>
              <a:t>No</a:t>
            </a:r>
            <a:r>
              <a:rPr lang="de-DE" dirty="0">
                <a:solidFill>
                  <a:schemeClr val="bg1"/>
                </a:solidFill>
              </a:rPr>
              <a:t> </a:t>
            </a:r>
            <a:r>
              <a:rPr lang="de-DE" dirty="0" err="1">
                <a:solidFill>
                  <a:schemeClr val="bg1"/>
                </a:solidFill>
              </a:rPr>
              <a:t>need</a:t>
            </a:r>
            <a:r>
              <a:rPr lang="de-DE" dirty="0">
                <a:solidFill>
                  <a:schemeClr val="bg1"/>
                </a:solidFill>
              </a:rPr>
              <a:t> </a:t>
            </a:r>
            <a:r>
              <a:rPr lang="de-DE" dirty="0" err="1">
                <a:solidFill>
                  <a:schemeClr val="bg1"/>
                </a:solidFill>
              </a:rPr>
              <a:t>for</a:t>
            </a:r>
            <a:r>
              <a:rPr lang="de-DE" dirty="0">
                <a:solidFill>
                  <a:schemeClr val="bg1"/>
                </a:solidFill>
              </a:rPr>
              <a:t> </a:t>
            </a:r>
            <a:r>
              <a:rPr lang="de-DE" dirty="0" err="1">
                <a:solidFill>
                  <a:schemeClr val="bg1"/>
                </a:solidFill>
              </a:rPr>
              <a:t>interitem</a:t>
            </a:r>
            <a:r>
              <a:rPr lang="de-DE" dirty="0">
                <a:solidFill>
                  <a:schemeClr val="bg1"/>
                </a:solidFill>
              </a:rPr>
              <a:t> </a:t>
            </a:r>
            <a:r>
              <a:rPr lang="de-DE" dirty="0" err="1">
                <a:solidFill>
                  <a:schemeClr val="bg1"/>
                </a:solidFill>
              </a:rPr>
              <a:t>correlations</a:t>
            </a:r>
            <a:r>
              <a:rPr lang="de-DE" dirty="0">
                <a:solidFill>
                  <a:schemeClr val="bg1"/>
                </a:solidFill>
              </a:rPr>
              <a:t> </a:t>
            </a:r>
            <a:r>
              <a:rPr lang="de-DE" dirty="0" err="1">
                <a:solidFill>
                  <a:schemeClr val="bg1"/>
                </a:solidFill>
              </a:rPr>
              <a:t>or</a:t>
            </a:r>
            <a:r>
              <a:rPr lang="de-DE" dirty="0">
                <a:solidFill>
                  <a:schemeClr val="bg1"/>
                </a:solidFill>
              </a:rPr>
              <a:t> high </a:t>
            </a:r>
            <a:r>
              <a:rPr lang="de-DE" dirty="0" err="1">
                <a:solidFill>
                  <a:schemeClr val="bg1"/>
                </a:solidFill>
              </a:rPr>
              <a:t>Cronbach`s</a:t>
            </a:r>
            <a:r>
              <a:rPr lang="de-DE" dirty="0">
                <a:solidFill>
                  <a:schemeClr val="bg1"/>
                </a:solidFill>
              </a:rPr>
              <a:t> Alphas (</a:t>
            </a:r>
            <a:r>
              <a:rPr lang="de-DE" sz="1200" dirty="0">
                <a:solidFill>
                  <a:schemeClr val="bg1"/>
                </a:solidFill>
              </a:rPr>
              <a:t>Edelsbrunner et al., 2025)</a:t>
            </a:r>
            <a:endParaRPr lang="de-DE" sz="2800"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859119" y="3929830"/>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sum</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its</a:t>
            </a:r>
            <a:r>
              <a:rPr lang="de-DE" i="1" dirty="0">
                <a:solidFill>
                  <a:schemeClr val="bg1"/>
                </a:solidFill>
              </a:rPr>
              <a:t> </a:t>
            </a:r>
            <a:r>
              <a:rPr lang="de-DE" i="1" dirty="0" err="1">
                <a:solidFill>
                  <a:schemeClr val="bg1"/>
                </a:solidFill>
              </a:rPr>
              <a:t>parts</a:t>
            </a:r>
            <a:endParaRPr lang="de-DE" i="1" dirty="0">
              <a:solidFill>
                <a:schemeClr val="bg1"/>
              </a:solidFill>
            </a:endParaRPr>
          </a:p>
        </p:txBody>
      </p:sp>
    </p:spTree>
    <p:extLst>
      <p:ext uri="{BB962C8B-B14F-4D97-AF65-F5344CB8AC3E}">
        <p14:creationId xmlns:p14="http://schemas.microsoft.com/office/powerpoint/2010/main" val="3840504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21" name="Rechteck 20">
            <a:extLst>
              <a:ext uri="{FF2B5EF4-FFF2-40B4-BE49-F238E27FC236}">
                <a16:creationId xmlns:a16="http://schemas.microsoft.com/office/drawing/2014/main" id="{35C56245-C14F-476F-A2E8-8AB2FE6DFAC7}"/>
              </a:ext>
            </a:extLst>
          </p:cNvPr>
          <p:cNvSpPr/>
          <p:nvPr/>
        </p:nvSpPr>
        <p:spPr>
          <a:xfrm>
            <a:off x="438360" y="5128512"/>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2" name="Rechteck 21">
            <a:extLst>
              <a:ext uri="{FF2B5EF4-FFF2-40B4-BE49-F238E27FC236}">
                <a16:creationId xmlns:a16="http://schemas.microsoft.com/office/drawing/2014/main" id="{F13C3256-57D5-489B-B25B-E0B5D0072558}"/>
              </a:ext>
            </a:extLst>
          </p:cNvPr>
          <p:cNvSpPr/>
          <p:nvPr/>
        </p:nvSpPr>
        <p:spPr>
          <a:xfrm>
            <a:off x="3170685" y="5370358"/>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3" name="Rechteck 22">
            <a:extLst>
              <a:ext uri="{FF2B5EF4-FFF2-40B4-BE49-F238E27FC236}">
                <a16:creationId xmlns:a16="http://schemas.microsoft.com/office/drawing/2014/main" id="{46EDCA5C-97B6-45C4-8092-A388DDD97A2F}"/>
              </a:ext>
            </a:extLst>
          </p:cNvPr>
          <p:cNvSpPr/>
          <p:nvPr/>
        </p:nvSpPr>
        <p:spPr>
          <a:xfrm>
            <a:off x="1762024" y="4299162"/>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cxnSp>
        <p:nvCxnSpPr>
          <p:cNvPr id="24" name="Verbinder: gekrümmt 23">
            <a:extLst>
              <a:ext uri="{FF2B5EF4-FFF2-40B4-BE49-F238E27FC236}">
                <a16:creationId xmlns:a16="http://schemas.microsoft.com/office/drawing/2014/main" id="{75FC301D-60E2-42CA-AFD8-B374A86EAE6D}"/>
              </a:ext>
            </a:extLst>
          </p:cNvPr>
          <p:cNvCxnSpPr>
            <a:cxnSpLocks/>
            <a:stCxn id="21" idx="2"/>
            <a:endCxn id="22" idx="2"/>
          </p:cNvCxnSpPr>
          <p:nvPr/>
        </p:nvCxnSpPr>
        <p:spPr>
          <a:xfrm rot="16200000" flipH="1">
            <a:off x="2258873" y="4518539"/>
            <a:ext cx="241846" cy="2732325"/>
          </a:xfrm>
          <a:prstGeom prst="curvedConnector3">
            <a:avLst>
              <a:gd name="adj1" fmla="val 194523"/>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krümmt 26">
            <a:extLst>
              <a:ext uri="{FF2B5EF4-FFF2-40B4-BE49-F238E27FC236}">
                <a16:creationId xmlns:a16="http://schemas.microsoft.com/office/drawing/2014/main" id="{FBB29E54-2382-4E01-8410-2A1D0BFF4230}"/>
              </a:ext>
            </a:extLst>
          </p:cNvPr>
          <p:cNvCxnSpPr>
            <a:cxnSpLocks/>
            <a:stCxn id="22" idx="2"/>
            <a:endCxn id="23" idx="2"/>
          </p:cNvCxnSpPr>
          <p:nvPr/>
        </p:nvCxnSpPr>
        <p:spPr>
          <a:xfrm rot="5400000" flipH="1">
            <a:off x="2506031" y="4765697"/>
            <a:ext cx="1071196" cy="1408661"/>
          </a:xfrm>
          <a:prstGeom prst="curvedConnector3">
            <a:avLst>
              <a:gd name="adj1" fmla="val -21341"/>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krümmt 27">
            <a:extLst>
              <a:ext uri="{FF2B5EF4-FFF2-40B4-BE49-F238E27FC236}">
                <a16:creationId xmlns:a16="http://schemas.microsoft.com/office/drawing/2014/main" id="{CCD6B20C-B05E-43F5-BA8F-7487C35E2984}"/>
              </a:ext>
            </a:extLst>
          </p:cNvPr>
          <p:cNvCxnSpPr>
            <a:cxnSpLocks/>
            <a:stCxn id="21" idx="2"/>
            <a:endCxn id="23" idx="2"/>
          </p:cNvCxnSpPr>
          <p:nvPr/>
        </p:nvCxnSpPr>
        <p:spPr>
          <a:xfrm rot="5400000" flipH="1" flipV="1">
            <a:off x="1260791" y="4687272"/>
            <a:ext cx="829350" cy="1323664"/>
          </a:xfrm>
          <a:prstGeom prst="curvedConnector3">
            <a:avLst>
              <a:gd name="adj1" fmla="val -27564"/>
            </a:avLst>
          </a:prstGeom>
          <a:ln w="190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54D76B26-36BA-4BAC-905F-7170AAC77013}"/>
              </a:ext>
            </a:extLst>
          </p:cNvPr>
          <p:cNvSpPr txBox="1"/>
          <p:nvPr/>
        </p:nvSpPr>
        <p:spPr>
          <a:xfrm>
            <a:off x="349848" y="1021907"/>
            <a:ext cx="4483510" cy="3323987"/>
          </a:xfrm>
          <a:prstGeom prst="rect">
            <a:avLst/>
          </a:prstGeom>
          <a:noFill/>
        </p:spPr>
        <p:txBody>
          <a:bodyPr wrap="square" rtlCol="0">
            <a:spAutoFit/>
          </a:bodyPr>
          <a:lstStyle/>
          <a:p>
            <a:r>
              <a:rPr lang="de-DE" dirty="0">
                <a:solidFill>
                  <a:schemeClr val="bg1"/>
                </a:solidFill>
              </a:rPr>
              <a:t>- </a:t>
            </a:r>
            <a:r>
              <a:rPr lang="de-DE" b="1" dirty="0">
                <a:solidFill>
                  <a:schemeClr val="bg1"/>
                </a:solidFill>
              </a:rPr>
              <a:t>Mutual</a:t>
            </a:r>
            <a:r>
              <a:rPr lang="de-DE" dirty="0">
                <a:solidFill>
                  <a:schemeClr val="bg1"/>
                </a:solidFill>
              </a:rPr>
              <a:t> </a:t>
            </a:r>
            <a:r>
              <a:rPr lang="de-DE" dirty="0" err="1">
                <a:solidFill>
                  <a:schemeClr val="bg1"/>
                </a:solidFill>
              </a:rPr>
              <a:t>dependencies</a:t>
            </a:r>
            <a:r>
              <a:rPr lang="de-DE" dirty="0">
                <a:solidFill>
                  <a:schemeClr val="bg1"/>
                </a:solidFill>
              </a:rPr>
              <a:t>/ </a:t>
            </a:r>
            <a:r>
              <a:rPr lang="de-DE" dirty="0" err="1">
                <a:solidFill>
                  <a:schemeClr val="bg1"/>
                </a:solidFill>
              </a:rPr>
              <a:t>developmental</a:t>
            </a:r>
            <a:r>
              <a:rPr lang="de-DE" dirty="0">
                <a:solidFill>
                  <a:schemeClr val="bg1"/>
                </a:solidFill>
              </a:rPr>
              <a:t> </a:t>
            </a:r>
            <a:r>
              <a:rPr lang="de-DE" dirty="0" err="1">
                <a:solidFill>
                  <a:schemeClr val="bg1"/>
                </a:solidFill>
              </a:rPr>
              <a:t>effects</a:t>
            </a:r>
            <a:r>
              <a:rPr lang="de-DE"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sz="1200" dirty="0">
                <a:solidFill>
                  <a:schemeClr val="bg1"/>
                </a:solidFill>
              </a:rPr>
              <a:t>(van der Maas et al., 2006; </a:t>
            </a:r>
            <a:r>
              <a:rPr lang="de-DE" sz="1200" dirty="0" err="1">
                <a:solidFill>
                  <a:schemeClr val="bg1"/>
                </a:solidFill>
              </a:rPr>
              <a:t>vanderWeele</a:t>
            </a:r>
            <a:r>
              <a:rPr lang="de-DE" sz="1200" dirty="0">
                <a:solidFill>
                  <a:schemeClr val="bg1"/>
                </a:solidFill>
              </a:rPr>
              <a:t> &amp; </a:t>
            </a:r>
            <a:r>
              <a:rPr lang="de-DE" sz="1200" dirty="0" err="1">
                <a:solidFill>
                  <a:schemeClr val="bg1"/>
                </a:solidFill>
              </a:rPr>
              <a:t>Batty</a:t>
            </a:r>
            <a:r>
              <a:rPr lang="de-DE" sz="1200" dirty="0">
                <a:solidFill>
                  <a:schemeClr val="bg1"/>
                </a:solidFill>
              </a:rPr>
              <a:t>, 2023)</a:t>
            </a:r>
            <a:endParaRPr lang="de-DE" dirty="0">
              <a:solidFill>
                <a:schemeClr val="bg1"/>
              </a:solidFill>
            </a:endParaRPr>
          </a:p>
          <a:p>
            <a:endParaRPr lang="de-DE" dirty="0">
              <a:solidFill>
                <a:schemeClr val="bg1"/>
              </a:solidFill>
            </a:endParaRPr>
          </a:p>
          <a:p>
            <a:pPr marL="285750" indent="-285750">
              <a:buFontTx/>
              <a:buChar char="-"/>
            </a:pPr>
            <a:r>
              <a:rPr lang="de-DE" b="1" dirty="0" err="1">
                <a:solidFill>
                  <a:schemeClr val="bg1"/>
                </a:solidFill>
              </a:rPr>
              <a:t>No</a:t>
            </a:r>
            <a:r>
              <a:rPr lang="de-DE" dirty="0">
                <a:solidFill>
                  <a:schemeClr val="bg1"/>
                </a:solidFill>
              </a:rPr>
              <a:t> latent variable</a:t>
            </a:r>
          </a:p>
          <a:p>
            <a:endParaRPr lang="de-DE" dirty="0">
              <a:solidFill>
                <a:schemeClr val="bg1"/>
              </a:solidFill>
            </a:endParaRPr>
          </a:p>
          <a:p>
            <a:pPr marL="285750" indent="-285750">
              <a:buFontTx/>
              <a:buChar char="-"/>
            </a:pPr>
            <a:r>
              <a:rPr lang="de-DE" dirty="0">
                <a:solidFill>
                  <a:schemeClr val="bg1"/>
                </a:solidFill>
              </a:rPr>
              <a:t>Unique (i.e., partial) </a:t>
            </a:r>
            <a:r>
              <a:rPr lang="de-DE" dirty="0" err="1">
                <a:solidFill>
                  <a:schemeClr val="bg1"/>
                </a:solidFill>
              </a:rPr>
              <a:t>correlations</a:t>
            </a:r>
            <a:r>
              <a:rPr lang="de-DE"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point</a:t>
            </a:r>
            <a:r>
              <a:rPr lang="de-DE" dirty="0">
                <a:solidFill>
                  <a:schemeClr val="bg1"/>
                </a:solidFill>
              </a:rPr>
              <a:t> </a:t>
            </a:r>
            <a:r>
              <a:rPr lang="de-DE" dirty="0" err="1">
                <a:solidFill>
                  <a:schemeClr val="bg1"/>
                </a:solidFill>
              </a:rPr>
              <a:t>to</a:t>
            </a:r>
            <a:r>
              <a:rPr lang="de-DE" dirty="0">
                <a:solidFill>
                  <a:schemeClr val="bg1"/>
                </a:solidFill>
              </a:rPr>
              <a:t> </a:t>
            </a:r>
            <a:r>
              <a:rPr lang="de-DE" b="1" dirty="0">
                <a:solidFill>
                  <a:schemeClr val="bg1"/>
                </a:solidFill>
              </a:rPr>
              <a:t>mutual </a:t>
            </a:r>
            <a:r>
              <a:rPr lang="de-DE" b="1" dirty="0" err="1">
                <a:solidFill>
                  <a:schemeClr val="bg1"/>
                </a:solidFill>
              </a:rPr>
              <a:t>dependencies</a:t>
            </a:r>
            <a:r>
              <a:rPr lang="de-DE" dirty="0">
                <a:solidFill>
                  <a:schemeClr val="bg1"/>
                </a:solidFill>
              </a:rPr>
              <a:t>/</a:t>
            </a:r>
            <a:r>
              <a:rPr lang="de-DE" dirty="0" err="1">
                <a:solidFill>
                  <a:schemeClr val="bg1"/>
                </a:solidFill>
              </a:rPr>
              <a:t>influences</a:t>
            </a:r>
            <a:endParaRPr lang="de-DE" dirty="0">
              <a:solidFill>
                <a:schemeClr val="bg1"/>
              </a:solidFill>
            </a:endParaRPr>
          </a:p>
          <a:p>
            <a:pPr marL="285750" indent="-285750">
              <a:buFontTx/>
              <a:buChar char="-"/>
            </a:pPr>
            <a:endParaRPr lang="de-DE" dirty="0">
              <a:solidFill>
                <a:schemeClr val="bg1"/>
              </a:solidFill>
            </a:endParaRPr>
          </a:p>
          <a:p>
            <a:r>
              <a:rPr lang="de-DE" dirty="0">
                <a:solidFill>
                  <a:schemeClr val="bg1"/>
                </a:solidFill>
              </a:rPr>
              <a:t>Example: </a:t>
            </a:r>
            <a:r>
              <a:rPr lang="de-DE" dirty="0" err="1">
                <a:solidFill>
                  <a:schemeClr val="bg1"/>
                </a:solidFill>
              </a:rPr>
              <a:t>Forsmann</a:t>
            </a:r>
            <a:r>
              <a:rPr lang="de-DE" dirty="0">
                <a:solidFill>
                  <a:schemeClr val="bg1"/>
                </a:solidFill>
              </a:rPr>
              <a:t> et al. (2026)</a:t>
            </a:r>
            <a:endParaRPr lang="de-DE" sz="1200" dirty="0">
              <a:solidFill>
                <a:schemeClr val="bg1"/>
              </a:solidFill>
            </a:endParaRPr>
          </a:p>
          <a:p>
            <a:r>
              <a:rPr lang="de-DE" dirty="0" err="1">
                <a:solidFill>
                  <a:schemeClr val="bg1"/>
                </a:solidFill>
              </a:rPr>
              <a:t>Fraction</a:t>
            </a:r>
            <a:r>
              <a:rPr lang="de-DE" dirty="0">
                <a:solidFill>
                  <a:schemeClr val="bg1"/>
                </a:solidFill>
              </a:rPr>
              <a:t> </a:t>
            </a:r>
            <a:r>
              <a:rPr lang="de-DE" dirty="0" err="1">
                <a:solidFill>
                  <a:schemeClr val="bg1"/>
                </a:solidFill>
              </a:rPr>
              <a:t>density</a:t>
            </a:r>
            <a:r>
              <a:rPr lang="de-DE" dirty="0">
                <a:solidFill>
                  <a:schemeClr val="bg1"/>
                </a:solidFill>
              </a:rPr>
              <a:t> &lt;-&gt; </a:t>
            </a:r>
            <a:r>
              <a:rPr lang="de-DE" dirty="0" err="1">
                <a:solidFill>
                  <a:schemeClr val="bg1"/>
                </a:solidFill>
              </a:rPr>
              <a:t>algebraic</a:t>
            </a:r>
            <a:r>
              <a:rPr lang="de-DE" dirty="0">
                <a:solidFill>
                  <a:schemeClr val="bg1"/>
                </a:solidFill>
              </a:rPr>
              <a:t> </a:t>
            </a:r>
            <a:r>
              <a:rPr lang="de-DE" dirty="0" err="1">
                <a:solidFill>
                  <a:schemeClr val="bg1"/>
                </a:solidFill>
              </a:rPr>
              <a:t>equivalence</a:t>
            </a:r>
            <a:endParaRPr lang="de-DE" dirty="0">
              <a:solidFill>
                <a:schemeClr val="bg1"/>
              </a:solidFill>
            </a:endParaRPr>
          </a:p>
        </p:txBody>
      </p:sp>
      <p:sp>
        <p:nvSpPr>
          <p:cNvPr id="44" name="Textfeld 43">
            <a:extLst>
              <a:ext uri="{FF2B5EF4-FFF2-40B4-BE49-F238E27FC236}">
                <a16:creationId xmlns:a16="http://schemas.microsoft.com/office/drawing/2014/main" id="{C6BA4F08-0E90-4606-8F61-82B557F3F0DE}"/>
              </a:ext>
            </a:extLst>
          </p:cNvPr>
          <p:cNvSpPr txBox="1"/>
          <p:nvPr/>
        </p:nvSpPr>
        <p:spPr>
          <a:xfrm>
            <a:off x="399459" y="4299161"/>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a:solidFill>
                  <a:schemeClr val="bg1"/>
                </a:solidFill>
              </a:rPr>
              <a:t>network</a:t>
            </a: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66" name="Grafik 65">
            <a:extLst>
              <a:ext uri="{FF2B5EF4-FFF2-40B4-BE49-F238E27FC236}">
                <a16:creationId xmlns:a16="http://schemas.microsoft.com/office/drawing/2014/main" id="{7FE0F568-BA27-4891-9CFF-8986A09E3BD2}"/>
              </a:ext>
            </a:extLst>
          </p:cNvPr>
          <p:cNvPicPr>
            <a:picLocks noChangeAspect="1"/>
          </p:cNvPicPr>
          <p:nvPr/>
        </p:nvPicPr>
        <p:blipFill>
          <a:blip r:embed="rId3"/>
          <a:stretch>
            <a:fillRect/>
          </a:stretch>
        </p:blipFill>
        <p:spPr>
          <a:xfrm>
            <a:off x="4174752" y="2121001"/>
            <a:ext cx="1719754" cy="1607125"/>
          </a:xfrm>
          <a:prstGeom prst="rect">
            <a:avLst/>
          </a:prstGeom>
        </p:spPr>
      </p:pic>
      <p:sp>
        <p:nvSpPr>
          <p:cNvPr id="67" name="Rechteck: abgerundete Ecken 66">
            <a:extLst>
              <a:ext uri="{FF2B5EF4-FFF2-40B4-BE49-F238E27FC236}">
                <a16:creationId xmlns:a16="http://schemas.microsoft.com/office/drawing/2014/main" id="{2897EE47-99CB-499A-BC9D-B578FD2A4F35}"/>
              </a:ext>
            </a:extLst>
          </p:cNvPr>
          <p:cNvSpPr/>
          <p:nvPr/>
        </p:nvSpPr>
        <p:spPr>
          <a:xfrm rot="1136231">
            <a:off x="4476220" y="2803011"/>
            <a:ext cx="968513" cy="317402"/>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abgerundete Ecken 28">
            <a:extLst>
              <a:ext uri="{FF2B5EF4-FFF2-40B4-BE49-F238E27FC236}">
                <a16:creationId xmlns:a16="http://schemas.microsoft.com/office/drawing/2014/main" id="{79377E15-FF0D-49A8-AC4B-E59C6B566371}"/>
              </a:ext>
            </a:extLst>
          </p:cNvPr>
          <p:cNvSpPr/>
          <p:nvPr/>
        </p:nvSpPr>
        <p:spPr>
          <a:xfrm rot="6216477">
            <a:off x="4294369" y="2841727"/>
            <a:ext cx="1229865" cy="340701"/>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955673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12" name="Textfeld 11">
            <a:extLst>
              <a:ext uri="{FF2B5EF4-FFF2-40B4-BE49-F238E27FC236}">
                <a16:creationId xmlns:a16="http://schemas.microsoft.com/office/drawing/2014/main" id="{54D76B26-36BA-4BAC-905F-7170AAC77013}"/>
              </a:ext>
            </a:extLst>
          </p:cNvPr>
          <p:cNvSpPr txBox="1"/>
          <p:nvPr/>
        </p:nvSpPr>
        <p:spPr>
          <a:xfrm>
            <a:off x="4222624" y="1037397"/>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states</a:t>
            </a:r>
            <a:endParaRPr lang="de-DE" i="1" dirty="0">
              <a:solidFill>
                <a:schemeClr val="bg1"/>
              </a:solidFill>
            </a:endParaRPr>
          </a:p>
        </p:txBody>
      </p:sp>
      <p:cxnSp>
        <p:nvCxnSpPr>
          <p:cNvPr id="45" name="Straight Connector 34">
            <a:extLst>
              <a:ext uri="{FF2B5EF4-FFF2-40B4-BE49-F238E27FC236}">
                <a16:creationId xmlns:a16="http://schemas.microsoft.com/office/drawing/2014/main" id="{1DA3365F-EA92-4C2C-9886-91F007E36669}"/>
              </a:ext>
            </a:extLst>
          </p:cNvPr>
          <p:cNvCxnSpPr/>
          <p:nvPr/>
        </p:nvCxnSpPr>
        <p:spPr>
          <a:xfrm>
            <a:off x="1747467" y="2836641"/>
            <a:ext cx="0" cy="87923"/>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35">
            <a:extLst>
              <a:ext uri="{FF2B5EF4-FFF2-40B4-BE49-F238E27FC236}">
                <a16:creationId xmlns:a16="http://schemas.microsoft.com/office/drawing/2014/main" id="{3DD60570-4A41-4D5D-9C7B-2B9E87E54926}"/>
              </a:ext>
            </a:extLst>
          </p:cNvPr>
          <p:cNvCxnSpPr/>
          <p:nvPr/>
        </p:nvCxnSpPr>
        <p:spPr>
          <a:xfrm>
            <a:off x="2611563" y="2792797"/>
            <a:ext cx="0" cy="87923"/>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36">
            <a:extLst>
              <a:ext uri="{FF2B5EF4-FFF2-40B4-BE49-F238E27FC236}">
                <a16:creationId xmlns:a16="http://schemas.microsoft.com/office/drawing/2014/main" id="{F72F24A9-6150-4073-9AC2-B4D2195181C2}"/>
              </a:ext>
            </a:extLst>
          </p:cNvPr>
          <p:cNvCxnSpPr>
            <a:cxnSpLocks/>
          </p:cNvCxnSpPr>
          <p:nvPr/>
        </p:nvCxnSpPr>
        <p:spPr>
          <a:xfrm>
            <a:off x="4154694" y="2828854"/>
            <a:ext cx="966" cy="6750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38">
            <a:extLst>
              <a:ext uri="{FF2B5EF4-FFF2-40B4-BE49-F238E27FC236}">
                <a16:creationId xmlns:a16="http://schemas.microsoft.com/office/drawing/2014/main" id="{9859C346-B999-4646-9532-8F50A9108675}"/>
              </a:ext>
            </a:extLst>
          </p:cNvPr>
          <p:cNvCxnSpPr/>
          <p:nvPr/>
        </p:nvCxnSpPr>
        <p:spPr>
          <a:xfrm flipH="1">
            <a:off x="1747469" y="2836643"/>
            <a:ext cx="864095" cy="53369"/>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0">
            <a:extLst>
              <a:ext uri="{FF2B5EF4-FFF2-40B4-BE49-F238E27FC236}">
                <a16:creationId xmlns:a16="http://schemas.microsoft.com/office/drawing/2014/main" id="{9BF89F7F-2730-442D-B885-40ABCC3D2623}"/>
              </a:ext>
            </a:extLst>
          </p:cNvPr>
          <p:cNvCxnSpPr>
            <a:cxnSpLocks/>
          </p:cNvCxnSpPr>
          <p:nvPr/>
        </p:nvCxnSpPr>
        <p:spPr>
          <a:xfrm flipH="1" flipV="1">
            <a:off x="2605151" y="2834149"/>
            <a:ext cx="1549543" cy="25838"/>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2">
            <a:extLst>
              <a:ext uri="{FF2B5EF4-FFF2-40B4-BE49-F238E27FC236}">
                <a16:creationId xmlns:a16="http://schemas.microsoft.com/office/drawing/2014/main" id="{C43ECBC5-7DB2-49FF-8191-B99A6B59A82D}"/>
              </a:ext>
            </a:extLst>
          </p:cNvPr>
          <p:cNvCxnSpPr/>
          <p:nvPr/>
        </p:nvCxnSpPr>
        <p:spPr>
          <a:xfrm>
            <a:off x="1352365" y="2482005"/>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43">
            <a:extLst>
              <a:ext uri="{FF2B5EF4-FFF2-40B4-BE49-F238E27FC236}">
                <a16:creationId xmlns:a16="http://schemas.microsoft.com/office/drawing/2014/main" id="{4FC56DDD-C59D-4DF6-BA11-23EE38AE5BE5}"/>
              </a:ext>
            </a:extLst>
          </p:cNvPr>
          <p:cNvCxnSpPr/>
          <p:nvPr/>
        </p:nvCxnSpPr>
        <p:spPr>
          <a:xfrm>
            <a:off x="2791494" y="2548780"/>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2" name="Straight Connector 44">
            <a:extLst>
              <a:ext uri="{FF2B5EF4-FFF2-40B4-BE49-F238E27FC236}">
                <a16:creationId xmlns:a16="http://schemas.microsoft.com/office/drawing/2014/main" id="{3C0249F9-8A8F-4AD0-A747-CCC53738B7A5}"/>
              </a:ext>
            </a:extLst>
          </p:cNvPr>
          <p:cNvCxnSpPr/>
          <p:nvPr/>
        </p:nvCxnSpPr>
        <p:spPr>
          <a:xfrm>
            <a:off x="4093499" y="2474872"/>
            <a:ext cx="0" cy="8792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Straight Connector 46">
            <a:extLst>
              <a:ext uri="{FF2B5EF4-FFF2-40B4-BE49-F238E27FC236}">
                <a16:creationId xmlns:a16="http://schemas.microsoft.com/office/drawing/2014/main" id="{7A8F0DAE-BBD9-4A32-8DFF-46A38B8146C3}"/>
              </a:ext>
            </a:extLst>
          </p:cNvPr>
          <p:cNvCxnSpPr>
            <a:cxnSpLocks/>
          </p:cNvCxnSpPr>
          <p:nvPr/>
        </p:nvCxnSpPr>
        <p:spPr>
          <a:xfrm flipH="1" flipV="1">
            <a:off x="1355366" y="2525967"/>
            <a:ext cx="1433585" cy="67638"/>
          </a:xfrm>
          <a:prstGeom prst="line">
            <a:avLst/>
          </a:prstGeom>
          <a:ln w="95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 name="Straight Connector 47">
            <a:extLst>
              <a:ext uri="{FF2B5EF4-FFF2-40B4-BE49-F238E27FC236}">
                <a16:creationId xmlns:a16="http://schemas.microsoft.com/office/drawing/2014/main" id="{C9DF356E-6702-438A-8D8A-9B0888B23B4D}"/>
              </a:ext>
            </a:extLst>
          </p:cNvPr>
          <p:cNvCxnSpPr>
            <a:cxnSpLocks/>
          </p:cNvCxnSpPr>
          <p:nvPr/>
        </p:nvCxnSpPr>
        <p:spPr>
          <a:xfrm flipH="1">
            <a:off x="2785082" y="2511307"/>
            <a:ext cx="1307252" cy="78825"/>
          </a:xfrm>
          <a:prstGeom prst="line">
            <a:avLst/>
          </a:prstGeom>
          <a:ln w="952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Straight Connector 49">
            <a:extLst>
              <a:ext uri="{FF2B5EF4-FFF2-40B4-BE49-F238E27FC236}">
                <a16:creationId xmlns:a16="http://schemas.microsoft.com/office/drawing/2014/main" id="{29BE40F8-6C4A-4713-96C1-B341DF240B61}"/>
              </a:ext>
            </a:extLst>
          </p:cNvPr>
          <p:cNvCxnSpPr/>
          <p:nvPr/>
        </p:nvCxnSpPr>
        <p:spPr>
          <a:xfrm>
            <a:off x="1453399" y="2622802"/>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0">
            <a:extLst>
              <a:ext uri="{FF2B5EF4-FFF2-40B4-BE49-F238E27FC236}">
                <a16:creationId xmlns:a16="http://schemas.microsoft.com/office/drawing/2014/main" id="{61814171-BB91-4B11-910B-F5AC4F458A0E}"/>
              </a:ext>
            </a:extLst>
          </p:cNvPr>
          <p:cNvCxnSpPr/>
          <p:nvPr/>
        </p:nvCxnSpPr>
        <p:spPr>
          <a:xfrm>
            <a:off x="3030599" y="2843794"/>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1">
            <a:extLst>
              <a:ext uri="{FF2B5EF4-FFF2-40B4-BE49-F238E27FC236}">
                <a16:creationId xmlns:a16="http://schemas.microsoft.com/office/drawing/2014/main" id="{34395699-A60C-4BBD-BFF8-D6D78C391C0E}"/>
              </a:ext>
            </a:extLst>
          </p:cNvPr>
          <p:cNvCxnSpPr/>
          <p:nvPr/>
        </p:nvCxnSpPr>
        <p:spPr>
          <a:xfrm>
            <a:off x="4405423" y="2501699"/>
            <a:ext cx="0" cy="87923"/>
          </a:xfrm>
          <a:prstGeom prst="line">
            <a:avLst/>
          </a:prstGeom>
          <a:ln w="254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3">
            <a:extLst>
              <a:ext uri="{FF2B5EF4-FFF2-40B4-BE49-F238E27FC236}">
                <a16:creationId xmlns:a16="http://schemas.microsoft.com/office/drawing/2014/main" id="{19202C1C-C4CC-4A31-A80A-D749628B95DF}"/>
              </a:ext>
            </a:extLst>
          </p:cNvPr>
          <p:cNvCxnSpPr>
            <a:cxnSpLocks/>
          </p:cNvCxnSpPr>
          <p:nvPr/>
        </p:nvCxnSpPr>
        <p:spPr>
          <a:xfrm flipH="1" flipV="1">
            <a:off x="1453399" y="2666764"/>
            <a:ext cx="1576713" cy="23101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4">
            <a:extLst>
              <a:ext uri="{FF2B5EF4-FFF2-40B4-BE49-F238E27FC236}">
                <a16:creationId xmlns:a16="http://schemas.microsoft.com/office/drawing/2014/main" id="{7AA1FABD-5E9D-41D8-BC90-153D35C87BFE}"/>
              </a:ext>
            </a:extLst>
          </p:cNvPr>
          <p:cNvCxnSpPr>
            <a:cxnSpLocks/>
          </p:cNvCxnSpPr>
          <p:nvPr/>
        </p:nvCxnSpPr>
        <p:spPr>
          <a:xfrm flipH="1">
            <a:off x="3044894" y="2530246"/>
            <a:ext cx="1370894" cy="356133"/>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66D3E5C1-BB95-473D-99BF-4C0B6A4D7F57}"/>
              </a:ext>
            </a:extLst>
          </p:cNvPr>
          <p:cNvSpPr txBox="1"/>
          <p:nvPr/>
        </p:nvSpPr>
        <p:spPr>
          <a:xfrm>
            <a:off x="562934" y="3355862"/>
            <a:ext cx="5331572" cy="646331"/>
          </a:xfrm>
          <a:prstGeom prst="rect">
            <a:avLst/>
          </a:prstGeom>
          <a:noFill/>
        </p:spPr>
        <p:txBody>
          <a:bodyPr wrap="square" rtlCol="0">
            <a:spAutoFit/>
          </a:bodyPr>
          <a:lstStyle/>
          <a:p>
            <a:r>
              <a:rPr lang="de-DE" dirty="0">
                <a:solidFill>
                  <a:schemeClr val="bg1"/>
                </a:solidFill>
              </a:rPr>
              <a:t>e.g., </a:t>
            </a:r>
            <a:r>
              <a:rPr lang="de-DE" dirty="0" err="1">
                <a:solidFill>
                  <a:schemeClr val="bg1"/>
                </a:solidFill>
              </a:rPr>
              <a:t>Kleickmann</a:t>
            </a:r>
            <a:r>
              <a:rPr lang="de-DE" dirty="0">
                <a:solidFill>
                  <a:schemeClr val="bg1"/>
                </a:solidFill>
              </a:rPr>
              <a:t>, 2011; Schneider &amp; Hardy, 2013; </a:t>
            </a:r>
            <a:r>
              <a:rPr lang="de-DE" dirty="0" err="1">
                <a:solidFill>
                  <a:schemeClr val="bg1"/>
                </a:solidFill>
              </a:rPr>
              <a:t>Tasuoka</a:t>
            </a:r>
            <a:r>
              <a:rPr lang="de-DE" dirty="0">
                <a:solidFill>
                  <a:schemeClr val="bg1"/>
                </a:solidFill>
              </a:rPr>
              <a:t>, 1985; Wilson, 1989</a:t>
            </a:r>
          </a:p>
        </p:txBody>
      </p:sp>
    </p:spTree>
    <p:extLst>
      <p:ext uri="{BB962C8B-B14F-4D97-AF65-F5344CB8AC3E}">
        <p14:creationId xmlns:p14="http://schemas.microsoft.com/office/powerpoint/2010/main" val="2427090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Rechteck 60">
            <a:extLst>
              <a:ext uri="{FF2B5EF4-FFF2-40B4-BE49-F238E27FC236}">
                <a16:creationId xmlns:a16="http://schemas.microsoft.com/office/drawing/2014/main" id="{FAF37E23-652F-40B4-BADA-76A7FA70DA3A}"/>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2" name="Rechteck 61">
            <a:extLst>
              <a:ext uri="{FF2B5EF4-FFF2-40B4-BE49-F238E27FC236}">
                <a16:creationId xmlns:a16="http://schemas.microsoft.com/office/drawing/2014/main" id="{AE702729-6F99-4FEB-B65A-DEE7698B3D32}"/>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3" name="Rechteck 62">
            <a:extLst>
              <a:ext uri="{FF2B5EF4-FFF2-40B4-BE49-F238E27FC236}">
                <a16:creationId xmlns:a16="http://schemas.microsoft.com/office/drawing/2014/main" id="{A6C51A75-8500-4A66-886D-8B0F402B902F}"/>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69" name="Ellipse 68">
            <a:extLst>
              <a:ext uri="{FF2B5EF4-FFF2-40B4-BE49-F238E27FC236}">
                <a16:creationId xmlns:a16="http://schemas.microsoft.com/office/drawing/2014/main" id="{B79F0AC1-C6DC-49DA-BE98-9DBA8D98E3EC}"/>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Know-ledge</a:t>
            </a:r>
            <a:endParaRPr lang="de-DE" dirty="0"/>
          </a:p>
        </p:txBody>
      </p:sp>
      <p:cxnSp>
        <p:nvCxnSpPr>
          <p:cNvPr id="70" name="Gerade Verbindung mit Pfeil 69">
            <a:extLst>
              <a:ext uri="{FF2B5EF4-FFF2-40B4-BE49-F238E27FC236}">
                <a16:creationId xmlns:a16="http://schemas.microsoft.com/office/drawing/2014/main" id="{3E8A6CFA-3B20-40BB-AC6A-976A4C70DBE8}"/>
              </a:ext>
            </a:extLst>
          </p:cNvPr>
          <p:cNvCxnSpPr>
            <a:stCxn id="69" idx="3"/>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A11FA7C-2805-4607-B9DD-8401E2485C5F}"/>
              </a:ext>
            </a:extLst>
          </p:cNvPr>
          <p:cNvCxnSpPr>
            <a:cxnSpLocks/>
            <a:stCxn id="69" idx="4"/>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1360D37C-A48F-4189-8F9E-0413FF25B712}"/>
              </a:ext>
            </a:extLst>
          </p:cNvPr>
          <p:cNvCxnSpPr>
            <a:cxnSpLocks/>
            <a:stCxn id="69" idx="5"/>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5" name="Textfeld 74">
            <a:extLst>
              <a:ext uri="{FF2B5EF4-FFF2-40B4-BE49-F238E27FC236}">
                <a16:creationId xmlns:a16="http://schemas.microsoft.com/office/drawing/2014/main" id="{30A2E161-E6A9-4158-ADDF-53E701C76FB2}"/>
              </a:ext>
            </a:extLst>
          </p:cNvPr>
          <p:cNvSpPr txBox="1"/>
          <p:nvPr/>
        </p:nvSpPr>
        <p:spPr>
          <a:xfrm>
            <a:off x="1582105"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6" name="Textfeld 75">
            <a:extLst>
              <a:ext uri="{FF2B5EF4-FFF2-40B4-BE49-F238E27FC236}">
                <a16:creationId xmlns:a16="http://schemas.microsoft.com/office/drawing/2014/main" id="{04C63A56-0BB8-4719-92F5-4A8099D7335E}"/>
              </a:ext>
            </a:extLst>
          </p:cNvPr>
          <p:cNvSpPr txBox="1"/>
          <p:nvPr/>
        </p:nvSpPr>
        <p:spPr>
          <a:xfrm>
            <a:off x="2689954" y="1777620"/>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7" name="Textfeld 76">
            <a:extLst>
              <a:ext uri="{FF2B5EF4-FFF2-40B4-BE49-F238E27FC236}">
                <a16:creationId xmlns:a16="http://schemas.microsoft.com/office/drawing/2014/main" id="{6602E031-5B8A-4493-9F95-2A5E775A7E0A}"/>
              </a:ext>
            </a:extLst>
          </p:cNvPr>
          <p:cNvSpPr txBox="1"/>
          <p:nvPr/>
        </p:nvSpPr>
        <p:spPr>
          <a:xfrm>
            <a:off x="3510268" y="1782803"/>
            <a:ext cx="712356" cy="369332"/>
          </a:xfrm>
          <a:prstGeom prst="rect">
            <a:avLst/>
          </a:prstGeom>
          <a:noFill/>
        </p:spPr>
        <p:txBody>
          <a:bodyPr wrap="square" rtlCol="0">
            <a:spAutoFit/>
          </a:bodyPr>
          <a:lstStyle/>
          <a:p>
            <a:r>
              <a:rPr lang="el-GR" dirty="0">
                <a:solidFill>
                  <a:schemeClr val="bg1"/>
                </a:solidFill>
                <a:latin typeface="Arial" panose="020B0604020202020204" pitchFamily="34" charset="0"/>
                <a:cs typeface="Arial" panose="020B0604020202020204" pitchFamily="34" charset="0"/>
              </a:rPr>
              <a:t>λ</a:t>
            </a:r>
            <a:r>
              <a:rPr lang="de-CH" baseline="-25000" dirty="0">
                <a:solidFill>
                  <a:schemeClr val="accent1"/>
                </a:solidFill>
                <a:latin typeface="Arial" panose="020B0604020202020204" pitchFamily="34" charset="0"/>
                <a:cs typeface="Arial" panose="020B0604020202020204" pitchFamily="34" charset="0"/>
              </a:rPr>
              <a:t>1</a:t>
            </a: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sp>
        <p:nvSpPr>
          <p:cNvPr id="12" name="Textfeld 11">
            <a:extLst>
              <a:ext uri="{FF2B5EF4-FFF2-40B4-BE49-F238E27FC236}">
                <a16:creationId xmlns:a16="http://schemas.microsoft.com/office/drawing/2014/main" id="{54D76B26-36BA-4BAC-905F-7170AAC77013}"/>
              </a:ext>
            </a:extLst>
          </p:cNvPr>
          <p:cNvSpPr txBox="1"/>
          <p:nvPr/>
        </p:nvSpPr>
        <p:spPr>
          <a:xfrm>
            <a:off x="3714961" y="1037071"/>
            <a:ext cx="2470276" cy="369332"/>
          </a:xfrm>
          <a:prstGeom prst="rect">
            <a:avLst/>
          </a:prstGeom>
          <a:noFill/>
        </p:spPr>
        <p:txBody>
          <a:bodyPr wrap="square" rtlCol="0">
            <a:spAutoFit/>
          </a:bodyPr>
          <a:lstStyle/>
          <a:p>
            <a:r>
              <a:rPr lang="de-DE" dirty="0" err="1">
                <a:solidFill>
                  <a:schemeClr val="bg1"/>
                </a:solidFill>
              </a:rPr>
              <a:t>as</a:t>
            </a:r>
            <a:r>
              <a:rPr lang="de-DE" dirty="0">
                <a:solidFill>
                  <a:schemeClr val="bg1"/>
                </a:solidFill>
              </a:rPr>
              <a:t> </a:t>
            </a:r>
            <a:r>
              <a:rPr lang="de-DE" i="1" dirty="0" err="1">
                <a:solidFill>
                  <a:schemeClr val="bg1"/>
                </a:solidFill>
              </a:rPr>
              <a:t>random</a:t>
            </a:r>
            <a:r>
              <a:rPr lang="de-DE" i="1" dirty="0">
                <a:solidFill>
                  <a:schemeClr val="bg1"/>
                </a:solidFill>
              </a:rPr>
              <a:t> </a:t>
            </a:r>
            <a:r>
              <a:rPr lang="de-DE" i="1" dirty="0" err="1">
                <a:solidFill>
                  <a:schemeClr val="bg1"/>
                </a:solidFill>
              </a:rPr>
              <a:t>effects</a:t>
            </a:r>
            <a:endParaRPr lang="de-DE" i="1" dirty="0">
              <a:solidFill>
                <a:schemeClr val="bg1"/>
              </a:solidFill>
            </a:endParaRP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hteck 64">
            <a:extLst>
              <a:ext uri="{FF2B5EF4-FFF2-40B4-BE49-F238E27FC236}">
                <a16:creationId xmlns:a16="http://schemas.microsoft.com/office/drawing/2014/main" id="{F63E9234-7759-415A-BAB2-78D74989174F}"/>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66D3E5C1-BB95-473D-99BF-4C0B6A4D7F57}"/>
              </a:ext>
            </a:extLst>
          </p:cNvPr>
          <p:cNvSpPr txBox="1"/>
          <p:nvPr/>
        </p:nvSpPr>
        <p:spPr>
          <a:xfrm>
            <a:off x="764428" y="3387547"/>
            <a:ext cx="4462526" cy="2862322"/>
          </a:xfrm>
          <a:prstGeom prst="rect">
            <a:avLst/>
          </a:prstGeom>
          <a:noFill/>
        </p:spPr>
        <p:txBody>
          <a:bodyPr wrap="square" rtlCol="0">
            <a:spAutoFit/>
          </a:bodyPr>
          <a:lstStyle/>
          <a:p>
            <a:r>
              <a:rPr lang="de-DE" b="1" dirty="0">
                <a:solidFill>
                  <a:schemeClr val="bg1"/>
                </a:solidFill>
              </a:rPr>
              <a:t>Multilevel </a:t>
            </a:r>
            <a:r>
              <a:rPr lang="de-DE" b="1" dirty="0" err="1">
                <a:solidFill>
                  <a:schemeClr val="bg1"/>
                </a:solidFill>
              </a:rPr>
              <a:t>modeling</a:t>
            </a:r>
            <a:endParaRPr lang="de-DE" b="1" dirty="0">
              <a:solidFill>
                <a:schemeClr val="bg1"/>
              </a:solidFill>
            </a:endParaRPr>
          </a:p>
          <a:p>
            <a:endParaRPr lang="de-DE" dirty="0">
              <a:solidFill>
                <a:schemeClr val="bg1"/>
              </a:solidFill>
            </a:endParaRPr>
          </a:p>
          <a:p>
            <a:pPr marL="285750" indent="-285750">
              <a:buFontTx/>
              <a:buChar char="-"/>
            </a:pPr>
            <a:r>
              <a:rPr lang="de-DE" dirty="0">
                <a:solidFill>
                  <a:schemeClr val="bg1"/>
                </a:solidFill>
              </a:rPr>
              <a:t>Items </a:t>
            </a:r>
            <a:r>
              <a:rPr lang="de-DE" dirty="0" err="1">
                <a:solidFill>
                  <a:schemeClr val="bg1"/>
                </a:solidFill>
              </a:rPr>
              <a:t>are</a:t>
            </a:r>
            <a:r>
              <a:rPr lang="de-DE" dirty="0">
                <a:solidFill>
                  <a:schemeClr val="bg1"/>
                </a:solidFill>
              </a:rPr>
              <a:t> </a:t>
            </a:r>
            <a:r>
              <a:rPr lang="de-DE" dirty="0" err="1">
                <a:solidFill>
                  <a:schemeClr val="bg1"/>
                </a:solidFill>
              </a:rPr>
              <a:t>treated</a:t>
            </a:r>
            <a:r>
              <a:rPr lang="de-DE" dirty="0">
                <a:solidFill>
                  <a:schemeClr val="bg1"/>
                </a:solidFill>
              </a:rPr>
              <a:t> </a:t>
            </a:r>
            <a:r>
              <a:rPr lang="de-DE" dirty="0" err="1">
                <a:solidFill>
                  <a:schemeClr val="bg1"/>
                </a:solidFill>
              </a:rPr>
              <a:t>as</a:t>
            </a:r>
            <a:r>
              <a:rPr lang="de-DE" dirty="0">
                <a:solidFill>
                  <a:schemeClr val="bg1"/>
                </a:solidFill>
              </a:rPr>
              <a:t> </a:t>
            </a:r>
            <a:r>
              <a:rPr lang="de-DE" dirty="0" err="1">
                <a:solidFill>
                  <a:schemeClr val="bg1"/>
                </a:solidFill>
              </a:rPr>
              <a:t>construct</a:t>
            </a:r>
            <a:r>
              <a:rPr lang="de-DE" dirty="0">
                <a:solidFill>
                  <a:schemeClr val="bg1"/>
                </a:solidFill>
              </a:rPr>
              <a:t>-relevant </a:t>
            </a:r>
            <a:r>
              <a:rPr lang="de-DE" dirty="0" err="1">
                <a:solidFill>
                  <a:schemeClr val="bg1"/>
                </a:solidFill>
              </a:rPr>
              <a:t>contexts</a:t>
            </a:r>
            <a:r>
              <a:rPr lang="de-DE" dirty="0">
                <a:solidFill>
                  <a:schemeClr val="bg1"/>
                </a:solidFill>
              </a:rPr>
              <a:t> </a:t>
            </a:r>
            <a:r>
              <a:rPr lang="de-DE" sz="1200" dirty="0">
                <a:solidFill>
                  <a:schemeClr val="bg1"/>
                </a:solidFill>
              </a:rPr>
              <a:t>(</a:t>
            </a:r>
            <a:r>
              <a:rPr lang="de-DE" sz="1200" dirty="0" err="1">
                <a:solidFill>
                  <a:schemeClr val="bg1"/>
                </a:solidFill>
              </a:rPr>
              <a:t>Donnellan</a:t>
            </a:r>
            <a:r>
              <a:rPr lang="de-DE" sz="1200" dirty="0">
                <a:solidFill>
                  <a:schemeClr val="bg1"/>
                </a:solidFill>
              </a:rPr>
              <a:t> et al., 2023)</a:t>
            </a:r>
          </a:p>
          <a:p>
            <a:pPr marL="285750" indent="-285750">
              <a:buFontTx/>
              <a:buChar char="-"/>
            </a:pPr>
            <a:endParaRPr lang="de-DE" dirty="0">
              <a:solidFill>
                <a:schemeClr val="bg1"/>
              </a:solidFill>
            </a:endParaRPr>
          </a:p>
          <a:p>
            <a:pPr marL="285750" indent="-285750">
              <a:buFontTx/>
              <a:buChar char="-"/>
            </a:pPr>
            <a:r>
              <a:rPr lang="de-DE" dirty="0" err="1">
                <a:solidFill>
                  <a:schemeClr val="bg1"/>
                </a:solidFill>
              </a:rPr>
              <a:t>Effects</a:t>
            </a:r>
            <a:r>
              <a:rPr lang="de-DE" dirty="0">
                <a:solidFill>
                  <a:schemeClr val="bg1"/>
                </a:solidFill>
              </a:rPr>
              <a:t> </a:t>
            </a:r>
            <a:r>
              <a:rPr lang="de-DE" dirty="0" err="1">
                <a:solidFill>
                  <a:schemeClr val="bg1"/>
                </a:solidFill>
              </a:rPr>
              <a:t>of</a:t>
            </a:r>
            <a:r>
              <a:rPr lang="de-DE" dirty="0">
                <a:solidFill>
                  <a:schemeClr val="bg1"/>
                </a:solidFill>
              </a:rPr>
              <a:t> </a:t>
            </a:r>
            <a:r>
              <a:rPr lang="de-DE" dirty="0" err="1">
                <a:solidFill>
                  <a:schemeClr val="bg1"/>
                </a:solidFill>
              </a:rPr>
              <a:t>interventions</a:t>
            </a:r>
            <a:r>
              <a:rPr lang="de-DE" dirty="0">
                <a:solidFill>
                  <a:schemeClr val="bg1"/>
                </a:solidFill>
              </a:rPr>
              <a:t> </a:t>
            </a:r>
            <a:r>
              <a:rPr lang="de-DE" dirty="0" err="1">
                <a:solidFill>
                  <a:schemeClr val="bg1"/>
                </a:solidFill>
              </a:rPr>
              <a:t>or</a:t>
            </a:r>
            <a:r>
              <a:rPr lang="de-DE" dirty="0">
                <a:solidFill>
                  <a:schemeClr val="bg1"/>
                </a:solidFill>
              </a:rPr>
              <a:t> </a:t>
            </a:r>
            <a:r>
              <a:rPr lang="de-DE" dirty="0" err="1">
                <a:solidFill>
                  <a:schemeClr val="bg1"/>
                </a:solidFill>
              </a:rPr>
              <a:t>development</a:t>
            </a:r>
            <a:r>
              <a:rPr lang="de-DE" dirty="0">
                <a:solidFill>
                  <a:schemeClr val="bg1"/>
                </a:solidFill>
              </a:rPr>
              <a:t> </a:t>
            </a:r>
            <a:r>
              <a:rPr lang="de-DE" dirty="0" err="1">
                <a:solidFill>
                  <a:schemeClr val="bg1"/>
                </a:solidFill>
              </a:rPr>
              <a:t>may</a:t>
            </a:r>
            <a:r>
              <a:rPr lang="de-DE" dirty="0">
                <a:solidFill>
                  <a:schemeClr val="bg1"/>
                </a:solidFill>
              </a:rPr>
              <a:t> </a:t>
            </a:r>
            <a:r>
              <a:rPr lang="de-DE" dirty="0" err="1">
                <a:solidFill>
                  <a:schemeClr val="bg1"/>
                </a:solidFill>
              </a:rPr>
              <a:t>systematically</a:t>
            </a:r>
            <a:r>
              <a:rPr lang="de-DE" dirty="0">
                <a:solidFill>
                  <a:schemeClr val="bg1"/>
                </a:solidFill>
              </a:rPr>
              <a:t> </a:t>
            </a:r>
            <a:r>
              <a:rPr lang="de-DE" b="1" dirty="0" err="1">
                <a:solidFill>
                  <a:schemeClr val="bg1"/>
                </a:solidFill>
              </a:rPr>
              <a:t>differ</a:t>
            </a:r>
            <a:r>
              <a:rPr lang="de-DE"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items</a:t>
            </a:r>
            <a:endParaRPr lang="de-DE" dirty="0">
              <a:solidFill>
                <a:schemeClr val="bg1"/>
              </a:solidFill>
            </a:endParaRPr>
          </a:p>
          <a:p>
            <a:pPr marL="285750" indent="-285750">
              <a:buFontTx/>
              <a:buChar char="-"/>
            </a:pPr>
            <a:endParaRPr lang="de-DE" dirty="0">
              <a:solidFill>
                <a:schemeClr val="bg1"/>
              </a:solidFill>
            </a:endParaRPr>
          </a:p>
          <a:p>
            <a:pPr marL="285750" indent="-285750">
              <a:buFontTx/>
              <a:buChar char="-"/>
            </a:pPr>
            <a:r>
              <a:rPr lang="de-DE" dirty="0" err="1">
                <a:solidFill>
                  <a:schemeClr val="bg1"/>
                </a:solidFill>
              </a:rPr>
              <a:t>Allows</a:t>
            </a:r>
            <a:r>
              <a:rPr lang="de-DE" dirty="0">
                <a:solidFill>
                  <a:schemeClr val="bg1"/>
                </a:solidFill>
              </a:rPr>
              <a:t> </a:t>
            </a:r>
            <a:r>
              <a:rPr lang="de-DE" dirty="0" err="1">
                <a:solidFill>
                  <a:schemeClr val="bg1"/>
                </a:solidFill>
              </a:rPr>
              <a:t>theoretical</a:t>
            </a:r>
            <a:r>
              <a:rPr lang="de-DE" dirty="0">
                <a:solidFill>
                  <a:schemeClr val="bg1"/>
                </a:solidFill>
              </a:rPr>
              <a:t> </a:t>
            </a:r>
            <a:r>
              <a:rPr lang="de-DE" b="1" dirty="0" err="1">
                <a:solidFill>
                  <a:schemeClr val="bg1"/>
                </a:solidFill>
              </a:rPr>
              <a:t>generalization</a:t>
            </a:r>
            <a:r>
              <a:rPr lang="de-DE" b="1" dirty="0">
                <a:solidFill>
                  <a:schemeClr val="bg1"/>
                </a:solidFill>
              </a:rPr>
              <a:t> </a:t>
            </a:r>
            <a:r>
              <a:rPr lang="de-DE" dirty="0" err="1">
                <a:solidFill>
                  <a:schemeClr val="bg1"/>
                </a:solidFill>
              </a:rPr>
              <a:t>across</a:t>
            </a:r>
            <a:r>
              <a:rPr lang="de-DE" dirty="0">
                <a:solidFill>
                  <a:schemeClr val="bg1"/>
                </a:solidFill>
              </a:rPr>
              <a:t> </a:t>
            </a:r>
            <a:r>
              <a:rPr lang="de-DE" dirty="0" err="1">
                <a:solidFill>
                  <a:schemeClr val="bg1"/>
                </a:solidFill>
              </a:rPr>
              <a:t>items</a:t>
            </a:r>
            <a:r>
              <a:rPr lang="de-DE" sz="1200" dirty="0">
                <a:solidFill>
                  <a:schemeClr val="bg1"/>
                </a:solidFill>
              </a:rPr>
              <a:t> (</a:t>
            </a:r>
            <a:r>
              <a:rPr lang="de-DE" sz="1200" dirty="0" err="1">
                <a:solidFill>
                  <a:schemeClr val="bg1"/>
                </a:solidFill>
              </a:rPr>
              <a:t>Yarkoni</a:t>
            </a:r>
            <a:r>
              <a:rPr lang="de-DE" sz="1200" dirty="0">
                <a:solidFill>
                  <a:schemeClr val="bg1"/>
                </a:solidFill>
              </a:rPr>
              <a:t>, 2020)</a:t>
            </a:r>
            <a:endParaRPr lang="de-DE" dirty="0">
              <a:solidFill>
                <a:schemeClr val="bg1"/>
              </a:solidFill>
            </a:endParaRPr>
          </a:p>
        </p:txBody>
      </p:sp>
      <p:sp>
        <p:nvSpPr>
          <p:cNvPr id="3" name="Textfeld 2">
            <a:extLst>
              <a:ext uri="{FF2B5EF4-FFF2-40B4-BE49-F238E27FC236}">
                <a16:creationId xmlns:a16="http://schemas.microsoft.com/office/drawing/2014/main" id="{557583E0-43B7-4834-8C11-3CB7B18C045A}"/>
              </a:ext>
            </a:extLst>
          </p:cNvPr>
          <p:cNvSpPr txBox="1"/>
          <p:nvPr/>
        </p:nvSpPr>
        <p:spPr>
          <a:xfrm>
            <a:off x="498976" y="1384875"/>
            <a:ext cx="1706824" cy="369332"/>
          </a:xfrm>
          <a:prstGeom prst="rect">
            <a:avLst/>
          </a:prstGeom>
          <a:noFill/>
        </p:spPr>
        <p:txBody>
          <a:bodyPr wrap="square" rtlCol="0">
            <a:spAutoFit/>
          </a:bodyPr>
          <a:lstStyle/>
          <a:p>
            <a:r>
              <a:rPr lang="de-DE" dirty="0">
                <a:solidFill>
                  <a:schemeClr val="bg1"/>
                </a:solidFill>
              </a:rPr>
              <a:t>Intervention</a:t>
            </a:r>
          </a:p>
        </p:txBody>
      </p:sp>
      <p:cxnSp>
        <p:nvCxnSpPr>
          <p:cNvPr id="40" name="Gerade Verbindung mit Pfeil 39">
            <a:extLst>
              <a:ext uri="{FF2B5EF4-FFF2-40B4-BE49-F238E27FC236}">
                <a16:creationId xmlns:a16="http://schemas.microsoft.com/office/drawing/2014/main" id="{1EAAEA91-82A2-4ED7-BA12-ADFCA15514C2}"/>
              </a:ext>
            </a:extLst>
          </p:cNvPr>
          <p:cNvCxnSpPr>
            <a:cxnSpLocks/>
            <a:endCxn id="61" idx="0"/>
          </p:cNvCxnSpPr>
          <p:nvPr/>
        </p:nvCxnSpPr>
        <p:spPr>
          <a:xfrm>
            <a:off x="1400443" y="1859285"/>
            <a:ext cx="137745" cy="56672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4163DFF8-47D0-4FBC-93C9-2B458EF06747}"/>
              </a:ext>
            </a:extLst>
          </p:cNvPr>
          <p:cNvCxnSpPr>
            <a:cxnSpLocks/>
            <a:endCxn id="62" idx="0"/>
          </p:cNvCxnSpPr>
          <p:nvPr/>
        </p:nvCxnSpPr>
        <p:spPr>
          <a:xfrm>
            <a:off x="1891693" y="1666192"/>
            <a:ext cx="1103998"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Gerade Verbindung mit Pfeil 59">
            <a:extLst>
              <a:ext uri="{FF2B5EF4-FFF2-40B4-BE49-F238E27FC236}">
                <a16:creationId xmlns:a16="http://schemas.microsoft.com/office/drawing/2014/main" id="{450AD9AA-EE15-4C20-9E24-0AB69F5481BC}"/>
              </a:ext>
            </a:extLst>
          </p:cNvPr>
          <p:cNvCxnSpPr>
            <a:cxnSpLocks/>
            <a:endCxn id="63" idx="0"/>
          </p:cNvCxnSpPr>
          <p:nvPr/>
        </p:nvCxnSpPr>
        <p:spPr>
          <a:xfrm>
            <a:off x="1938283" y="1464463"/>
            <a:ext cx="2461355" cy="96154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4" name="Ellipse 63">
            <a:extLst>
              <a:ext uri="{FF2B5EF4-FFF2-40B4-BE49-F238E27FC236}">
                <a16:creationId xmlns:a16="http://schemas.microsoft.com/office/drawing/2014/main" id="{00BE7AD5-C91E-484C-B744-BA397DAB7C6D}"/>
              </a:ext>
            </a:extLst>
          </p:cNvPr>
          <p:cNvSpPr/>
          <p:nvPr/>
        </p:nvSpPr>
        <p:spPr>
          <a:xfrm>
            <a:off x="393417" y="1210652"/>
            <a:ext cx="1564139"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spTree>
    <p:extLst>
      <p:ext uri="{BB962C8B-B14F-4D97-AF65-F5344CB8AC3E}">
        <p14:creationId xmlns:p14="http://schemas.microsoft.com/office/powerpoint/2010/main" val="1305502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9" name="Textfeld 78">
            <a:extLst>
              <a:ext uri="{FF2B5EF4-FFF2-40B4-BE49-F238E27FC236}">
                <a16:creationId xmlns:a16="http://schemas.microsoft.com/office/drawing/2014/main" id="{D120F77E-EF87-4E8A-ACC0-25F043FED351}"/>
              </a:ext>
            </a:extLst>
          </p:cNvPr>
          <p:cNvSpPr txBox="1"/>
          <p:nvPr/>
        </p:nvSpPr>
        <p:spPr>
          <a:xfrm>
            <a:off x="8379294" y="2086648"/>
            <a:ext cx="3787487" cy="1477328"/>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0. </a:t>
            </a:r>
            <a:r>
              <a:rPr lang="de-CH" dirty="0" err="1">
                <a:solidFill>
                  <a:schemeClr val="bg1"/>
                </a:solidFill>
                <a:latin typeface="Arial" panose="020B0604020202020204" pitchFamily="34" charset="0"/>
                <a:cs typeface="Arial" panose="020B0604020202020204" pitchFamily="34" charset="0"/>
              </a:rPr>
              <a:t>Sum</a:t>
            </a:r>
            <a:r>
              <a:rPr lang="de-CH" dirty="0">
                <a:solidFill>
                  <a:schemeClr val="bg1"/>
                </a:solidFill>
                <a:latin typeface="Arial" panose="020B0604020202020204" pitchFamily="34" charset="0"/>
                <a:cs typeface="Arial" panose="020B0604020202020204" pitchFamily="34" charset="0"/>
              </a:rPr>
              <a:t>/</a:t>
            </a:r>
            <a:r>
              <a:rPr lang="de-CH" dirty="0" err="1">
                <a:solidFill>
                  <a:schemeClr val="bg1"/>
                </a:solidFill>
                <a:latin typeface="Arial" panose="020B0604020202020204" pitchFamily="34" charset="0"/>
                <a:cs typeface="Arial" panose="020B0604020202020204" pitchFamily="34" charset="0"/>
              </a:rPr>
              <a:t>mean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scores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make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the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assumption</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of</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equal</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factor</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loadings</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cxnSp>
        <p:nvCxnSpPr>
          <p:cNvPr id="18" name="Gerader Verbinder 17">
            <a:extLst>
              <a:ext uri="{FF2B5EF4-FFF2-40B4-BE49-F238E27FC236}">
                <a16:creationId xmlns:a16="http://schemas.microsoft.com/office/drawing/2014/main" id="{AF9BFDC6-9512-466A-84F5-1097423CC00D}"/>
              </a:ext>
            </a:extLst>
          </p:cNvPr>
          <p:cNvCxnSpPr/>
          <p:nvPr/>
        </p:nvCxnSpPr>
        <p:spPr>
          <a:xfrm flipV="1">
            <a:off x="9133706" y="1997772"/>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A0DCD643-5EC1-41E3-A6B8-254ACE72D7E7}"/>
              </a:ext>
            </a:extLst>
          </p:cNvPr>
          <p:cNvSpPr txBox="1"/>
          <p:nvPr/>
        </p:nvSpPr>
        <p:spPr>
          <a:xfrm>
            <a:off x="6536482" y="1190044"/>
            <a:ext cx="5655518" cy="646331"/>
          </a:xfrm>
          <a:prstGeom prst="rect">
            <a:avLst/>
          </a:prstGeom>
          <a:noFill/>
        </p:spPr>
        <p:txBody>
          <a:bodyPr wrap="square" rtlCol="0">
            <a:spAutoFit/>
          </a:bodyPr>
          <a:lstStyle/>
          <a:p>
            <a:r>
              <a:rPr lang="de-DE" dirty="0" err="1">
                <a:solidFill>
                  <a:schemeClr val="bg1"/>
                </a:solidFill>
              </a:rPr>
              <a:t>If</a:t>
            </a:r>
            <a:r>
              <a:rPr lang="de-DE" dirty="0">
                <a:solidFill>
                  <a:schemeClr val="bg1"/>
                </a:solidFill>
              </a:rPr>
              <a:t> </a:t>
            </a:r>
            <a:r>
              <a:rPr lang="de-DE" dirty="0" err="1">
                <a:solidFill>
                  <a:schemeClr val="bg1"/>
                </a:solidFill>
              </a:rPr>
              <a:t>responses</a:t>
            </a:r>
            <a:r>
              <a:rPr lang="de-DE" dirty="0">
                <a:solidFill>
                  <a:schemeClr val="bg1"/>
                </a:solidFill>
              </a:rPr>
              <a:t> do </a:t>
            </a:r>
            <a:r>
              <a:rPr lang="de-DE" b="1" dirty="0">
                <a:solidFill>
                  <a:schemeClr val="bg1"/>
                </a:solidFill>
              </a:rPr>
              <a:t>not </a:t>
            </a:r>
            <a:r>
              <a:rPr lang="de-DE" b="1" dirty="0" err="1">
                <a:solidFill>
                  <a:schemeClr val="bg1"/>
                </a:solidFill>
              </a:rPr>
              <a:t>correlate</a:t>
            </a:r>
            <a:r>
              <a:rPr lang="de-DE" b="1" dirty="0">
                <a:solidFill>
                  <a:schemeClr val="bg1"/>
                </a:solidFill>
              </a:rPr>
              <a:t> </a:t>
            </a:r>
            <a:r>
              <a:rPr lang="de-DE" dirty="0" err="1">
                <a:solidFill>
                  <a:schemeClr val="bg1"/>
                </a:solidFill>
              </a:rPr>
              <a:t>between</a:t>
            </a:r>
            <a:r>
              <a:rPr lang="de-DE" dirty="0">
                <a:solidFill>
                  <a:schemeClr val="bg1"/>
                </a:solidFill>
              </a:rPr>
              <a:t> </a:t>
            </a:r>
            <a:r>
              <a:rPr lang="de-DE" dirty="0" err="1">
                <a:solidFill>
                  <a:schemeClr val="bg1"/>
                </a:solidFill>
              </a:rPr>
              <a:t>items</a:t>
            </a:r>
            <a:r>
              <a:rPr lang="de-DE" dirty="0">
                <a:solidFill>
                  <a:schemeClr val="bg1"/>
                </a:solidFill>
              </a:rPr>
              <a:t>, </a:t>
            </a:r>
            <a:r>
              <a:rPr lang="de-DE" dirty="0" err="1">
                <a:solidFill>
                  <a:schemeClr val="bg1"/>
                </a:solidFill>
              </a:rPr>
              <a:t>you</a:t>
            </a:r>
            <a:r>
              <a:rPr lang="de-DE" dirty="0">
                <a:solidFill>
                  <a:schemeClr val="bg1"/>
                </a:solidFill>
              </a:rPr>
              <a:t> </a:t>
            </a:r>
            <a:r>
              <a:rPr lang="de-DE" dirty="0" err="1">
                <a:solidFill>
                  <a:schemeClr val="bg1"/>
                </a:solidFill>
              </a:rPr>
              <a:t>should</a:t>
            </a:r>
            <a:r>
              <a:rPr lang="de-DE" dirty="0">
                <a:solidFill>
                  <a:schemeClr val="bg1"/>
                </a:solidFill>
              </a:rPr>
              <a:t> not </a:t>
            </a:r>
            <a:r>
              <a:rPr lang="de-DE" dirty="0" err="1">
                <a:solidFill>
                  <a:schemeClr val="bg1"/>
                </a:solidFill>
              </a:rPr>
              <a:t>regard</a:t>
            </a:r>
            <a:r>
              <a:rPr lang="de-DE" dirty="0">
                <a:solidFill>
                  <a:schemeClr val="bg1"/>
                </a:solidFill>
              </a:rPr>
              <a:t> </a:t>
            </a:r>
            <a:r>
              <a:rPr lang="de-DE" dirty="0" err="1">
                <a:solidFill>
                  <a:schemeClr val="bg1"/>
                </a:solidFill>
              </a:rPr>
              <a:t>them</a:t>
            </a:r>
            <a:r>
              <a:rPr lang="de-DE" dirty="0">
                <a:solidFill>
                  <a:schemeClr val="bg1"/>
                </a:solidFill>
              </a:rPr>
              <a:t> </a:t>
            </a:r>
            <a:r>
              <a:rPr lang="de-DE" dirty="0" err="1">
                <a:solidFill>
                  <a:schemeClr val="bg1"/>
                </a:solidFill>
              </a:rPr>
              <a:t>as</a:t>
            </a:r>
            <a:r>
              <a:rPr lang="de-DE" dirty="0">
                <a:solidFill>
                  <a:schemeClr val="bg1"/>
                </a:solidFill>
              </a:rPr>
              <a:t> a </a:t>
            </a:r>
            <a:r>
              <a:rPr lang="de-DE" b="1" dirty="0" err="1">
                <a:solidFill>
                  <a:schemeClr val="bg1"/>
                </a:solidFill>
              </a:rPr>
              <a:t>unitary</a:t>
            </a:r>
            <a:r>
              <a:rPr lang="de-DE" b="1" dirty="0">
                <a:solidFill>
                  <a:schemeClr val="bg1"/>
                </a:solidFill>
              </a:rPr>
              <a:t> </a:t>
            </a:r>
            <a:r>
              <a:rPr lang="de-DE" b="1" dirty="0" err="1">
                <a:solidFill>
                  <a:schemeClr val="bg1"/>
                </a:solidFill>
              </a:rPr>
              <a:t>construct</a:t>
            </a:r>
            <a:endParaRPr lang="de-DE" b="1" i="1" dirty="0">
              <a:solidFill>
                <a:schemeClr val="bg1"/>
              </a:solidFill>
            </a:endParaRPr>
          </a:p>
        </p:txBody>
      </p:sp>
      <p:cxnSp>
        <p:nvCxnSpPr>
          <p:cNvPr id="78" name="Gerader Verbinder 77">
            <a:extLst>
              <a:ext uri="{FF2B5EF4-FFF2-40B4-BE49-F238E27FC236}">
                <a16:creationId xmlns:a16="http://schemas.microsoft.com/office/drawing/2014/main" id="{92E39181-C295-40E3-99FC-4AF74B26666A}"/>
              </a:ext>
            </a:extLst>
          </p:cNvPr>
          <p:cNvCxnSpPr/>
          <p:nvPr/>
        </p:nvCxnSpPr>
        <p:spPr>
          <a:xfrm flipV="1">
            <a:off x="8205948" y="107098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F6514872-77F1-4178-9579-0399A4204963}"/>
              </a:ext>
            </a:extLst>
          </p:cNvPr>
          <p:cNvSpPr txBox="1"/>
          <p:nvPr/>
        </p:nvSpPr>
        <p:spPr>
          <a:xfrm>
            <a:off x="6936949" y="2890919"/>
            <a:ext cx="3787487" cy="923330"/>
          </a:xfrm>
          <a:prstGeom prst="rect">
            <a:avLst/>
          </a:prstGeom>
          <a:noFill/>
        </p:spPr>
        <p:txBody>
          <a:bodyPr wrap="square">
            <a:spAutoFit/>
          </a:bodyPr>
          <a:lstStyle/>
          <a:p>
            <a:r>
              <a:rPr lang="de-CH" dirty="0">
                <a:solidFill>
                  <a:schemeClr val="bg1"/>
                </a:solidFill>
                <a:latin typeface="Arial" panose="020B0604020202020204" pitchFamily="34" charset="0"/>
                <a:cs typeface="Arial" panose="020B0604020202020204" pitchFamily="34" charset="0"/>
              </a:rPr>
              <a:t>Group/time </a:t>
            </a:r>
            <a:r>
              <a:rPr lang="de-CH" dirty="0" err="1">
                <a:solidFill>
                  <a:schemeClr val="bg1"/>
                </a:solidFill>
                <a:latin typeface="Arial" panose="020B0604020202020204" pitchFamily="34" charset="0"/>
                <a:cs typeface="Arial" panose="020B0604020202020204" pitchFamily="34" charset="0"/>
              </a:rPr>
              <a:t>comparisons</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require</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measurement</a:t>
            </a:r>
            <a:r>
              <a:rPr lang="de-CH" dirty="0">
                <a:solidFill>
                  <a:schemeClr val="bg1"/>
                </a:solidFill>
                <a:latin typeface="Arial" panose="020B0604020202020204" pitchFamily="34" charset="0"/>
                <a:cs typeface="Arial" panose="020B0604020202020204" pitchFamily="34" charset="0"/>
              </a:rPr>
              <a:t> </a:t>
            </a:r>
            <a:r>
              <a:rPr lang="de-CH" dirty="0" err="1">
                <a:solidFill>
                  <a:schemeClr val="bg1"/>
                </a:solidFill>
                <a:latin typeface="Arial" panose="020B0604020202020204" pitchFamily="34" charset="0"/>
                <a:cs typeface="Arial" panose="020B0604020202020204" pitchFamily="34" charset="0"/>
              </a:rPr>
              <a:t>invariance</a:t>
            </a:r>
            <a:endParaRPr lang="de-CH" dirty="0">
              <a:solidFill>
                <a:schemeClr val="bg1"/>
              </a:solidFill>
              <a:latin typeface="Arial" panose="020B0604020202020204" pitchFamily="34" charset="0"/>
              <a:cs typeface="Arial" panose="020B0604020202020204" pitchFamily="34" charset="0"/>
            </a:endParaRPr>
          </a:p>
          <a:p>
            <a:endParaRPr lang="de-CH" dirty="0">
              <a:solidFill>
                <a:schemeClr val="bg1"/>
              </a:solidFill>
              <a:latin typeface="Arial" panose="020B0604020202020204" pitchFamily="34" charset="0"/>
              <a:cs typeface="Arial" panose="020B0604020202020204" pitchFamily="34" charset="0"/>
            </a:endParaRPr>
          </a:p>
        </p:txBody>
      </p:sp>
      <p:cxnSp>
        <p:nvCxnSpPr>
          <p:cNvPr id="32" name="Gerader Verbinder 31">
            <a:extLst>
              <a:ext uri="{FF2B5EF4-FFF2-40B4-BE49-F238E27FC236}">
                <a16:creationId xmlns:a16="http://schemas.microsoft.com/office/drawing/2014/main" id="{9D81B0B8-CD03-4428-A893-F64B67AD38FA}"/>
              </a:ext>
            </a:extLst>
          </p:cNvPr>
          <p:cNvCxnSpPr/>
          <p:nvPr/>
        </p:nvCxnSpPr>
        <p:spPr>
          <a:xfrm flipV="1">
            <a:off x="7756630" y="2745930"/>
            <a:ext cx="1826394" cy="92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sp>
        <p:nvSpPr>
          <p:cNvPr id="4" name="Textfeld 3">
            <a:extLst>
              <a:ext uri="{FF2B5EF4-FFF2-40B4-BE49-F238E27FC236}">
                <a16:creationId xmlns:a16="http://schemas.microsoft.com/office/drawing/2014/main" id="{B0BB8842-A413-4370-9CD8-632E10C19D48}"/>
              </a:ext>
            </a:extLst>
          </p:cNvPr>
          <p:cNvSpPr txBox="1"/>
          <p:nvPr/>
        </p:nvSpPr>
        <p:spPr>
          <a:xfrm>
            <a:off x="2522438" y="3053783"/>
            <a:ext cx="1333463" cy="584775"/>
          </a:xfrm>
          <a:prstGeom prst="rect">
            <a:avLst/>
          </a:prstGeom>
          <a:noFill/>
        </p:spPr>
        <p:txBody>
          <a:bodyPr wrap="square" rtlCol="0">
            <a:spAutoFit/>
          </a:bodyPr>
          <a:lstStyle/>
          <a:p>
            <a:r>
              <a:rPr lang="de-DE" sz="3200" i="1" dirty="0" err="1">
                <a:solidFill>
                  <a:schemeClr val="bg1"/>
                </a:solidFill>
              </a:rPr>
              <a:t>How</a:t>
            </a:r>
            <a:r>
              <a:rPr lang="de-DE" sz="3200" i="1" dirty="0">
                <a:solidFill>
                  <a:schemeClr val="bg1"/>
                </a:solidFill>
              </a:rPr>
              <a:t>?</a:t>
            </a:r>
          </a:p>
        </p:txBody>
      </p:sp>
      <p:cxnSp>
        <p:nvCxnSpPr>
          <p:cNvPr id="7" name="Gerade Verbindung mit Pfeil 6">
            <a:extLst>
              <a:ext uri="{FF2B5EF4-FFF2-40B4-BE49-F238E27FC236}">
                <a16:creationId xmlns:a16="http://schemas.microsoft.com/office/drawing/2014/main" id="{5839AA97-DD10-4B25-BC0E-6ADF683A300F}"/>
              </a:ext>
            </a:extLst>
          </p:cNvPr>
          <p:cNvCxnSpPr>
            <a:cxnSpLocks/>
            <a:stCxn id="4" idx="3"/>
            <a:endCxn id="33" idx="1"/>
          </p:cNvCxnSpPr>
          <p:nvPr/>
        </p:nvCxnSpPr>
        <p:spPr>
          <a:xfrm>
            <a:off x="3855901" y="3346171"/>
            <a:ext cx="2998167" cy="1021737"/>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378BE29D-F288-450C-ADF6-C134B8F26DC9}"/>
              </a:ext>
            </a:extLst>
          </p:cNvPr>
          <p:cNvPicPr>
            <a:picLocks noChangeAspect="1"/>
          </p:cNvPicPr>
          <p:nvPr/>
        </p:nvPicPr>
        <p:blipFill>
          <a:blip r:embed="rId3"/>
          <a:stretch>
            <a:fillRect/>
          </a:stretch>
        </p:blipFill>
        <p:spPr>
          <a:xfrm>
            <a:off x="357279" y="2924564"/>
            <a:ext cx="2357210" cy="1072312"/>
          </a:xfrm>
          <a:prstGeom prst="rect">
            <a:avLst/>
          </a:prstGeom>
        </p:spPr>
      </p:pic>
      <p:pic>
        <p:nvPicPr>
          <p:cNvPr id="10" name="Grafik 9">
            <a:extLst>
              <a:ext uri="{FF2B5EF4-FFF2-40B4-BE49-F238E27FC236}">
                <a16:creationId xmlns:a16="http://schemas.microsoft.com/office/drawing/2014/main" id="{E26DED09-9703-4FB6-9EB6-3FF493E4B733}"/>
              </a:ext>
            </a:extLst>
          </p:cNvPr>
          <p:cNvPicPr>
            <a:picLocks noChangeAspect="1"/>
          </p:cNvPicPr>
          <p:nvPr/>
        </p:nvPicPr>
        <p:blipFill>
          <a:blip r:embed="rId4"/>
          <a:stretch>
            <a:fillRect/>
          </a:stretch>
        </p:blipFill>
        <p:spPr>
          <a:xfrm>
            <a:off x="476516" y="1070980"/>
            <a:ext cx="2298457" cy="1192694"/>
          </a:xfrm>
          <a:prstGeom prst="rect">
            <a:avLst/>
          </a:prstGeom>
        </p:spPr>
      </p:pic>
      <p:pic>
        <p:nvPicPr>
          <p:cNvPr id="11" name="Grafik 10">
            <a:extLst>
              <a:ext uri="{FF2B5EF4-FFF2-40B4-BE49-F238E27FC236}">
                <a16:creationId xmlns:a16="http://schemas.microsoft.com/office/drawing/2014/main" id="{3D5167ED-321D-4A37-9BD1-5BAF01C317AB}"/>
              </a:ext>
            </a:extLst>
          </p:cNvPr>
          <p:cNvPicPr>
            <a:picLocks noChangeAspect="1"/>
          </p:cNvPicPr>
          <p:nvPr/>
        </p:nvPicPr>
        <p:blipFill>
          <a:blip r:embed="rId5"/>
          <a:stretch>
            <a:fillRect/>
          </a:stretch>
        </p:blipFill>
        <p:spPr>
          <a:xfrm>
            <a:off x="3081145" y="1266063"/>
            <a:ext cx="2219989" cy="1116932"/>
          </a:xfrm>
          <a:prstGeom prst="rect">
            <a:avLst/>
          </a:prstGeom>
        </p:spPr>
      </p:pic>
      <p:pic>
        <p:nvPicPr>
          <p:cNvPr id="13" name="Grafik 12">
            <a:extLst>
              <a:ext uri="{FF2B5EF4-FFF2-40B4-BE49-F238E27FC236}">
                <a16:creationId xmlns:a16="http://schemas.microsoft.com/office/drawing/2014/main" id="{563B3951-841B-43DF-9203-3C2B8A276B2F}"/>
              </a:ext>
            </a:extLst>
          </p:cNvPr>
          <p:cNvPicPr>
            <a:picLocks noChangeAspect="1"/>
          </p:cNvPicPr>
          <p:nvPr/>
        </p:nvPicPr>
        <p:blipFill>
          <a:blip r:embed="rId6"/>
          <a:stretch>
            <a:fillRect/>
          </a:stretch>
        </p:blipFill>
        <p:spPr>
          <a:xfrm>
            <a:off x="4641305" y="2181120"/>
            <a:ext cx="2219989" cy="1279600"/>
          </a:xfrm>
          <a:prstGeom prst="rect">
            <a:avLst/>
          </a:prstGeom>
        </p:spPr>
      </p:pic>
      <p:pic>
        <p:nvPicPr>
          <p:cNvPr id="14" name="Grafik 13">
            <a:extLst>
              <a:ext uri="{FF2B5EF4-FFF2-40B4-BE49-F238E27FC236}">
                <a16:creationId xmlns:a16="http://schemas.microsoft.com/office/drawing/2014/main" id="{77FB5A22-D4E0-44BA-9FE2-B5543F823B25}"/>
              </a:ext>
            </a:extLst>
          </p:cNvPr>
          <p:cNvPicPr>
            <a:picLocks noChangeAspect="1"/>
          </p:cNvPicPr>
          <p:nvPr/>
        </p:nvPicPr>
        <p:blipFill>
          <a:blip r:embed="rId7"/>
          <a:stretch>
            <a:fillRect/>
          </a:stretch>
        </p:blipFill>
        <p:spPr>
          <a:xfrm>
            <a:off x="616538" y="4470165"/>
            <a:ext cx="2848626" cy="1478183"/>
          </a:xfrm>
          <a:prstGeom prst="rect">
            <a:avLst/>
          </a:prstGeom>
        </p:spPr>
      </p:pic>
      <p:pic>
        <p:nvPicPr>
          <p:cNvPr id="15" name="Grafik 14">
            <a:extLst>
              <a:ext uri="{FF2B5EF4-FFF2-40B4-BE49-F238E27FC236}">
                <a16:creationId xmlns:a16="http://schemas.microsoft.com/office/drawing/2014/main" id="{656583FB-415D-4720-AC35-AE71A4141B10}"/>
              </a:ext>
            </a:extLst>
          </p:cNvPr>
          <p:cNvPicPr>
            <a:picLocks noChangeAspect="1"/>
          </p:cNvPicPr>
          <p:nvPr/>
        </p:nvPicPr>
        <p:blipFill>
          <a:blip r:embed="rId8"/>
          <a:stretch>
            <a:fillRect/>
          </a:stretch>
        </p:blipFill>
        <p:spPr>
          <a:xfrm>
            <a:off x="3447692" y="4078209"/>
            <a:ext cx="2022296" cy="1049391"/>
          </a:xfrm>
          <a:prstGeom prst="rect">
            <a:avLst/>
          </a:prstGeom>
        </p:spPr>
      </p:pic>
    </p:spTree>
    <p:extLst>
      <p:ext uri="{BB962C8B-B14F-4D97-AF65-F5344CB8AC3E}">
        <p14:creationId xmlns:p14="http://schemas.microsoft.com/office/powerpoint/2010/main" val="1109268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869059" cy="584775"/>
          </a:xfrm>
          <a:prstGeom prst="rect">
            <a:avLst/>
          </a:prstGeom>
          <a:noFill/>
        </p:spPr>
        <p:txBody>
          <a:bodyPr wrap="square" rtlCol="0">
            <a:spAutoFit/>
          </a:bodyPr>
          <a:lstStyle/>
          <a:p>
            <a:r>
              <a:rPr lang="de-DE" sz="3200" dirty="0">
                <a:solidFill>
                  <a:schemeClr val="bg1"/>
                </a:solidFill>
              </a:rPr>
              <a:t>Option 1: The </a:t>
            </a:r>
            <a:r>
              <a:rPr lang="de-DE" sz="3200" b="1" dirty="0" err="1">
                <a:solidFill>
                  <a:schemeClr val="bg1"/>
                </a:solidFill>
              </a:rPr>
              <a:t>empirical</a:t>
            </a:r>
            <a:r>
              <a:rPr lang="de-DE" sz="3200" dirty="0">
                <a:solidFill>
                  <a:schemeClr val="bg1"/>
                </a:solidFill>
              </a:rPr>
              <a:t> route</a:t>
            </a:r>
          </a:p>
        </p:txBody>
      </p:sp>
      <p:sp>
        <p:nvSpPr>
          <p:cNvPr id="27" name="Textfeld 26">
            <a:extLst>
              <a:ext uri="{FF2B5EF4-FFF2-40B4-BE49-F238E27FC236}">
                <a16:creationId xmlns:a16="http://schemas.microsoft.com/office/drawing/2014/main" id="{5306C538-FD21-4D88-947A-087B2C84F7F6}"/>
              </a:ext>
            </a:extLst>
          </p:cNvPr>
          <p:cNvSpPr txBox="1"/>
          <p:nvPr/>
        </p:nvSpPr>
        <p:spPr>
          <a:xfrm>
            <a:off x="439638" y="1800523"/>
            <a:ext cx="5869059" cy="3600986"/>
          </a:xfrm>
          <a:prstGeom prst="rect">
            <a:avLst/>
          </a:prstGeom>
          <a:noFill/>
        </p:spPr>
        <p:txBody>
          <a:bodyPr wrap="square" rtlCol="0">
            <a:spAutoFit/>
          </a:bodyPr>
          <a:lstStyle/>
          <a:p>
            <a:r>
              <a:rPr lang="de-DE" sz="2400" dirty="0">
                <a:solidFill>
                  <a:schemeClr val="bg1"/>
                </a:solidFill>
              </a:rPr>
              <a:t>Statistical </a:t>
            </a:r>
            <a:r>
              <a:rPr lang="de-DE" sz="2400" b="1" dirty="0" err="1">
                <a:solidFill>
                  <a:schemeClr val="bg1"/>
                </a:solidFill>
              </a:rPr>
              <a:t>difference</a:t>
            </a:r>
            <a:r>
              <a:rPr lang="de-DE" sz="2400" b="1" dirty="0">
                <a:solidFill>
                  <a:schemeClr val="bg1"/>
                </a:solidFill>
              </a:rPr>
              <a:t> </a:t>
            </a:r>
            <a:r>
              <a:rPr lang="de-DE" sz="2400" b="1" dirty="0" err="1">
                <a:solidFill>
                  <a:schemeClr val="bg1"/>
                </a:solidFill>
              </a:rPr>
              <a:t>tests</a:t>
            </a:r>
            <a:endParaRPr lang="de-DE" sz="2400" b="1" dirty="0">
              <a:solidFill>
                <a:schemeClr val="bg1"/>
              </a:solidFill>
            </a:endParaRPr>
          </a:p>
          <a:p>
            <a:r>
              <a:rPr lang="de-DE" sz="2400" dirty="0" err="1">
                <a:solidFill>
                  <a:schemeClr val="bg1"/>
                </a:solidFill>
              </a:rPr>
              <a:t>between</a:t>
            </a:r>
            <a:r>
              <a:rPr lang="de-DE" sz="2400" dirty="0">
                <a:solidFill>
                  <a:schemeClr val="bg1"/>
                </a:solidFill>
              </a:rPr>
              <a:t> </a:t>
            </a:r>
            <a:r>
              <a:rPr lang="de-DE" sz="2400" dirty="0" err="1">
                <a:solidFill>
                  <a:schemeClr val="bg1"/>
                </a:solidFill>
              </a:rPr>
              <a:t>ontologies</a:t>
            </a:r>
            <a:r>
              <a:rPr lang="de-DE" sz="2400" dirty="0">
                <a:solidFill>
                  <a:schemeClr val="bg1"/>
                </a:solidFill>
              </a:rPr>
              <a:t>…</a:t>
            </a:r>
          </a:p>
          <a:p>
            <a:endParaRPr lang="de-DE" sz="2400"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Mixture</a:t>
            </a:r>
            <a:r>
              <a:rPr lang="de-DE" sz="2400" dirty="0">
                <a:solidFill>
                  <a:schemeClr val="bg1"/>
                </a:solidFill>
              </a:rPr>
              <a:t> </a:t>
            </a:r>
            <a:r>
              <a:rPr lang="de-DE" sz="1200" dirty="0">
                <a:solidFill>
                  <a:schemeClr val="bg1"/>
                </a:solidFill>
              </a:rPr>
              <a:t>(e.g., </a:t>
            </a:r>
            <a:r>
              <a:rPr lang="de-DE" sz="1200" dirty="0" err="1">
                <a:solidFill>
                  <a:schemeClr val="bg1"/>
                </a:solidFill>
              </a:rPr>
              <a:t>DeBoeck</a:t>
            </a:r>
            <a:r>
              <a:rPr lang="de-DE" sz="1200" dirty="0">
                <a:solidFill>
                  <a:schemeClr val="bg1"/>
                </a:solidFill>
              </a:rPr>
              <a:t> &amp; Wilson, 2005)</a:t>
            </a:r>
          </a:p>
          <a:p>
            <a:endParaRPr lang="de-DE" sz="1200" dirty="0">
              <a:solidFill>
                <a:schemeClr val="bg1"/>
              </a:solidFill>
            </a:endParaRPr>
          </a:p>
          <a:p>
            <a:r>
              <a:rPr lang="de-DE" sz="2400" dirty="0" err="1">
                <a:solidFill>
                  <a:schemeClr val="bg1"/>
                </a:solidFill>
              </a:rPr>
              <a:t>Factor</a:t>
            </a:r>
            <a:r>
              <a:rPr lang="de-DE" sz="2400" dirty="0">
                <a:solidFill>
                  <a:schemeClr val="bg1"/>
                </a:solidFill>
              </a:rPr>
              <a:t> vs. network </a:t>
            </a:r>
            <a:r>
              <a:rPr lang="de-DE" sz="1200" dirty="0">
                <a:solidFill>
                  <a:schemeClr val="bg1"/>
                </a:solidFill>
              </a:rPr>
              <a:t>(e.g., van Bork et al., 2021)</a:t>
            </a:r>
          </a:p>
          <a:p>
            <a:endParaRPr lang="de-DE" sz="2400"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composite</a:t>
            </a:r>
            <a:r>
              <a:rPr lang="de-DE" sz="2400" dirty="0">
                <a:solidFill>
                  <a:schemeClr val="bg1"/>
                </a:solidFill>
              </a:rPr>
              <a:t> </a:t>
            </a:r>
            <a:r>
              <a:rPr lang="de-DE" sz="1200" dirty="0">
                <a:solidFill>
                  <a:schemeClr val="bg1"/>
                </a:solidFill>
              </a:rPr>
              <a:t>(e.g., Siegel et al., 2026)</a:t>
            </a:r>
          </a:p>
          <a:p>
            <a:endParaRPr lang="de-DE" sz="2400" dirty="0">
              <a:solidFill>
                <a:schemeClr val="bg1"/>
              </a:solidFill>
            </a:endParaRPr>
          </a:p>
          <a:p>
            <a:r>
              <a:rPr lang="de-DE" sz="2400" dirty="0">
                <a:solidFill>
                  <a:schemeClr val="bg1"/>
                </a:solidFill>
              </a:rPr>
              <a:t>…and </a:t>
            </a:r>
            <a:r>
              <a:rPr lang="de-DE" sz="2400" dirty="0" err="1">
                <a:solidFill>
                  <a:schemeClr val="bg1"/>
                </a:solidFill>
              </a:rPr>
              <a:t>theories</a:t>
            </a:r>
            <a:r>
              <a:rPr lang="de-DE" sz="2400" dirty="0">
                <a:solidFill>
                  <a:schemeClr val="bg1"/>
                </a:solidFill>
              </a:rPr>
              <a:t> </a:t>
            </a:r>
            <a:r>
              <a:rPr lang="de-DE" sz="1200" dirty="0">
                <a:solidFill>
                  <a:schemeClr val="bg1"/>
                </a:solidFill>
              </a:rPr>
              <a:t>(e.g., </a:t>
            </a:r>
            <a:r>
              <a:rPr lang="de-DE" sz="1200" dirty="0" err="1">
                <a:solidFill>
                  <a:schemeClr val="bg1"/>
                </a:solidFill>
              </a:rPr>
              <a:t>McNeish</a:t>
            </a:r>
            <a:r>
              <a:rPr lang="de-DE" sz="1200" dirty="0">
                <a:solidFill>
                  <a:schemeClr val="bg1"/>
                </a:solidFill>
              </a:rPr>
              <a:t> &amp; Wolf, 2020)</a:t>
            </a:r>
          </a:p>
        </p:txBody>
      </p:sp>
    </p:spTree>
    <p:extLst>
      <p:ext uri="{BB962C8B-B14F-4D97-AF65-F5344CB8AC3E}">
        <p14:creationId xmlns:p14="http://schemas.microsoft.com/office/powerpoint/2010/main" val="261242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Rechteck 32">
            <a:extLst>
              <a:ext uri="{FF2B5EF4-FFF2-40B4-BE49-F238E27FC236}">
                <a16:creationId xmlns:a16="http://schemas.microsoft.com/office/drawing/2014/main" id="{1D3F4317-4CCF-4101-A772-72EDB475FC2D}"/>
              </a:ext>
            </a:extLst>
          </p:cNvPr>
          <p:cNvSpPr/>
          <p:nvPr/>
        </p:nvSpPr>
        <p:spPr>
          <a:xfrm>
            <a:off x="6854068" y="3583078"/>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and </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b="1" i="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sp>
        <p:nvSpPr>
          <p:cNvPr id="12" name="Textfeld 11">
            <a:extLst>
              <a:ext uri="{FF2B5EF4-FFF2-40B4-BE49-F238E27FC236}">
                <a16:creationId xmlns:a16="http://schemas.microsoft.com/office/drawing/2014/main" id="{E4D77157-E717-4794-A013-D5F676191DDC}"/>
              </a:ext>
            </a:extLst>
          </p:cNvPr>
          <p:cNvSpPr txBox="1"/>
          <p:nvPr/>
        </p:nvSpPr>
        <p:spPr>
          <a:xfrm>
            <a:off x="487158" y="2097009"/>
            <a:ext cx="8877082" cy="1938992"/>
          </a:xfrm>
          <a:prstGeom prst="rect">
            <a:avLst/>
          </a:prstGeom>
          <a:noFill/>
        </p:spPr>
        <p:txBody>
          <a:bodyPr wrap="square" rtlCol="0">
            <a:spAutoFit/>
          </a:bodyPr>
          <a:lstStyle/>
          <a:p>
            <a:r>
              <a:rPr lang="de-DE" sz="2400" dirty="0" err="1">
                <a:solidFill>
                  <a:schemeClr val="bg1"/>
                </a:solidFill>
              </a:rPr>
              <a:t>Step</a:t>
            </a:r>
            <a:r>
              <a:rPr lang="de-DE" sz="2400" dirty="0">
                <a:solidFill>
                  <a:schemeClr val="bg1"/>
                </a:solidFill>
              </a:rPr>
              <a:t> 1: </a:t>
            </a:r>
            <a:r>
              <a:rPr lang="de-DE" sz="2400" dirty="0" err="1">
                <a:solidFill>
                  <a:schemeClr val="bg1"/>
                </a:solidFill>
              </a:rPr>
              <a:t>Decide</a:t>
            </a:r>
            <a:r>
              <a:rPr lang="de-DE" sz="2400" dirty="0">
                <a:solidFill>
                  <a:schemeClr val="bg1"/>
                </a:solidFill>
              </a:rPr>
              <a:t> on </a:t>
            </a:r>
            <a:r>
              <a:rPr lang="de-DE" sz="2400" dirty="0" err="1">
                <a:solidFill>
                  <a:schemeClr val="bg1"/>
                </a:solidFill>
              </a:rPr>
              <a:t>your</a:t>
            </a:r>
            <a:r>
              <a:rPr lang="de-DE" sz="2400" dirty="0">
                <a:solidFill>
                  <a:schemeClr val="bg1"/>
                </a:solidFill>
              </a:rPr>
              <a:t> </a:t>
            </a:r>
            <a:r>
              <a:rPr lang="de-DE" sz="2400" b="1" dirty="0" err="1">
                <a:solidFill>
                  <a:schemeClr val="bg1"/>
                </a:solidFill>
              </a:rPr>
              <a:t>ontology</a:t>
            </a:r>
            <a:endParaRPr lang="de-DE" sz="2400" b="1" dirty="0">
              <a:solidFill>
                <a:schemeClr val="bg1"/>
              </a:solidFill>
            </a:endParaRPr>
          </a:p>
          <a:p>
            <a:r>
              <a:rPr lang="de-DE" sz="2400" dirty="0" err="1">
                <a:solidFill>
                  <a:schemeClr val="bg1"/>
                </a:solidFill>
              </a:rPr>
              <a:t>Factor</a:t>
            </a:r>
            <a:r>
              <a:rPr lang="de-DE" sz="2400" dirty="0">
                <a:solidFill>
                  <a:schemeClr val="bg1"/>
                </a:solidFill>
              </a:rPr>
              <a:t> vs. </a:t>
            </a:r>
            <a:r>
              <a:rPr lang="de-DE" sz="2400" dirty="0" err="1">
                <a:solidFill>
                  <a:schemeClr val="bg1"/>
                </a:solidFill>
              </a:rPr>
              <a:t>mixture</a:t>
            </a:r>
            <a:r>
              <a:rPr lang="de-DE" sz="2400" dirty="0">
                <a:solidFill>
                  <a:schemeClr val="bg1"/>
                </a:solidFill>
              </a:rPr>
              <a:t> vs. network…</a:t>
            </a:r>
          </a:p>
          <a:p>
            <a:endParaRPr lang="de-DE" sz="2400" dirty="0">
              <a:solidFill>
                <a:schemeClr val="bg1"/>
              </a:solidFill>
            </a:endParaRPr>
          </a:p>
          <a:p>
            <a:r>
              <a:rPr lang="de-DE" sz="2400" dirty="0" err="1">
                <a:solidFill>
                  <a:schemeClr val="bg1"/>
                </a:solidFill>
              </a:rPr>
              <a:t>Step</a:t>
            </a:r>
            <a:r>
              <a:rPr lang="de-DE" sz="2400" dirty="0">
                <a:solidFill>
                  <a:schemeClr val="bg1"/>
                </a:solidFill>
              </a:rPr>
              <a:t> 2: </a:t>
            </a:r>
            <a:r>
              <a:rPr lang="de-DE" sz="2400" dirty="0" err="1">
                <a:solidFill>
                  <a:schemeClr val="bg1"/>
                </a:solidFill>
              </a:rPr>
              <a:t>Decide</a:t>
            </a:r>
            <a:r>
              <a:rPr lang="de-DE" sz="2400" dirty="0">
                <a:solidFill>
                  <a:schemeClr val="bg1"/>
                </a:solidFill>
              </a:rPr>
              <a:t> on </a:t>
            </a:r>
            <a:r>
              <a:rPr lang="de-DE" sz="2400" dirty="0" err="1">
                <a:solidFill>
                  <a:schemeClr val="bg1"/>
                </a:solidFill>
              </a:rPr>
              <a:t>your</a:t>
            </a:r>
            <a:r>
              <a:rPr lang="de-DE" sz="2400" dirty="0">
                <a:solidFill>
                  <a:schemeClr val="bg1"/>
                </a:solidFill>
              </a:rPr>
              <a:t> </a:t>
            </a:r>
            <a:r>
              <a:rPr lang="de-DE" sz="2400" b="1" dirty="0" err="1">
                <a:solidFill>
                  <a:schemeClr val="bg1"/>
                </a:solidFill>
              </a:rPr>
              <a:t>theory</a:t>
            </a:r>
            <a:endParaRPr lang="de-DE" sz="2400" b="1" dirty="0">
              <a:solidFill>
                <a:schemeClr val="bg1"/>
              </a:solidFill>
            </a:endParaRPr>
          </a:p>
          <a:p>
            <a:r>
              <a:rPr lang="de-DE" sz="2400" dirty="0">
                <a:solidFill>
                  <a:schemeClr val="bg1"/>
                </a:solidFill>
              </a:rPr>
              <a:t>General vs. item-</a:t>
            </a:r>
            <a:r>
              <a:rPr lang="de-DE" sz="2400" dirty="0" err="1">
                <a:solidFill>
                  <a:schemeClr val="bg1"/>
                </a:solidFill>
              </a:rPr>
              <a:t>specific</a:t>
            </a:r>
            <a:r>
              <a:rPr lang="de-DE" sz="2400" dirty="0">
                <a:solidFill>
                  <a:schemeClr val="bg1"/>
                </a:solidFill>
              </a:rPr>
              <a:t> </a:t>
            </a:r>
            <a:r>
              <a:rPr lang="de-DE" sz="2400" dirty="0" err="1">
                <a:solidFill>
                  <a:schemeClr val="bg1"/>
                </a:solidFill>
              </a:rPr>
              <a:t>effects</a:t>
            </a:r>
            <a:endParaRPr lang="de-DE" sz="2400" dirty="0">
              <a:solidFill>
                <a:schemeClr val="bg1"/>
              </a:solidFill>
            </a:endParaRPr>
          </a:p>
        </p:txBody>
      </p:sp>
    </p:spTree>
    <p:extLst>
      <p:ext uri="{BB962C8B-B14F-4D97-AF65-F5344CB8AC3E}">
        <p14:creationId xmlns:p14="http://schemas.microsoft.com/office/powerpoint/2010/main" val="2616682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9B5BC2FC-AD59-4897-BD7A-940668CE939C}"/>
              </a:ext>
            </a:extLst>
          </p:cNvPr>
          <p:cNvPicPr>
            <a:picLocks noChangeAspect="1"/>
          </p:cNvPicPr>
          <p:nvPr/>
        </p:nvPicPr>
        <p:blipFill>
          <a:blip r:embed="rId3"/>
          <a:stretch>
            <a:fillRect/>
          </a:stretch>
        </p:blipFill>
        <p:spPr>
          <a:xfrm>
            <a:off x="7048426" y="2192852"/>
            <a:ext cx="6503762" cy="2236351"/>
          </a:xfrm>
          <a:prstGeom prst="rect">
            <a:avLst/>
          </a:prstGeom>
        </p:spPr>
      </p:pic>
      <p:cxnSp>
        <p:nvCxnSpPr>
          <p:cNvPr id="7" name="Gerade Verbindung mit Pfeil 6">
            <a:extLst>
              <a:ext uri="{FF2B5EF4-FFF2-40B4-BE49-F238E27FC236}">
                <a16:creationId xmlns:a16="http://schemas.microsoft.com/office/drawing/2014/main" id="{FEED5F2F-8947-4C8A-8DC2-7F1E11065990}"/>
              </a:ext>
            </a:extLst>
          </p:cNvPr>
          <p:cNvCxnSpPr>
            <a:cxnSpLocks/>
          </p:cNvCxnSpPr>
          <p:nvPr/>
        </p:nvCxnSpPr>
        <p:spPr>
          <a:xfrm flipH="1">
            <a:off x="4720289" y="1452880"/>
            <a:ext cx="882951"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2BD80D80-CAB4-4A20-B1E9-C05A16758BC1}"/>
              </a:ext>
            </a:extLst>
          </p:cNvPr>
          <p:cNvCxnSpPr>
            <a:cxnSpLocks/>
          </p:cNvCxnSpPr>
          <p:nvPr/>
        </p:nvCxnSpPr>
        <p:spPr>
          <a:xfrm>
            <a:off x="6675120" y="1452880"/>
            <a:ext cx="792480"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F9CCD2EE-750A-4491-9F13-C1FB84D58576}"/>
              </a:ext>
            </a:extLst>
          </p:cNvPr>
          <p:cNvSpPr txBox="1"/>
          <p:nvPr/>
        </p:nvSpPr>
        <p:spPr>
          <a:xfrm>
            <a:off x="4126345" y="98282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082750E3-9235-4EEB-8E68-233D8543BB5F}"/>
              </a:ext>
            </a:extLst>
          </p:cNvPr>
          <p:cNvCxnSpPr>
            <a:cxnSpLocks/>
          </p:cNvCxnSpPr>
          <p:nvPr/>
        </p:nvCxnSpPr>
        <p:spPr>
          <a:xfrm flipV="1">
            <a:off x="6797040" y="5080914"/>
            <a:ext cx="762000" cy="53565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4" name="Grafik 23">
            <a:extLst>
              <a:ext uri="{FF2B5EF4-FFF2-40B4-BE49-F238E27FC236}">
                <a16:creationId xmlns:a16="http://schemas.microsoft.com/office/drawing/2014/main" id="{0F1ED5B9-8C6A-488C-9C42-934952EB3552}"/>
              </a:ext>
            </a:extLst>
          </p:cNvPr>
          <p:cNvPicPr>
            <a:picLocks noChangeAspect="1"/>
          </p:cNvPicPr>
          <p:nvPr/>
        </p:nvPicPr>
        <p:blipFill>
          <a:blip r:embed="rId4"/>
          <a:stretch>
            <a:fillRect/>
          </a:stretch>
        </p:blipFill>
        <p:spPr>
          <a:xfrm>
            <a:off x="1233245" y="2193505"/>
            <a:ext cx="4161716" cy="3087589"/>
          </a:xfrm>
          <a:prstGeom prst="rect">
            <a:avLst/>
          </a:prstGeom>
        </p:spPr>
      </p:pic>
    </p:spTree>
    <p:extLst>
      <p:ext uri="{BB962C8B-B14F-4D97-AF65-F5344CB8AC3E}">
        <p14:creationId xmlns:p14="http://schemas.microsoft.com/office/powerpoint/2010/main" val="596113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Grafik 2">
            <a:extLst>
              <a:ext uri="{FF2B5EF4-FFF2-40B4-BE49-F238E27FC236}">
                <a16:creationId xmlns:a16="http://schemas.microsoft.com/office/drawing/2014/main" id="{9B5BC2FC-AD59-4897-BD7A-940668CE939C}"/>
              </a:ext>
            </a:extLst>
          </p:cNvPr>
          <p:cNvPicPr>
            <a:picLocks noChangeAspect="1"/>
          </p:cNvPicPr>
          <p:nvPr/>
        </p:nvPicPr>
        <p:blipFill>
          <a:blip r:embed="rId3"/>
          <a:stretch>
            <a:fillRect/>
          </a:stretch>
        </p:blipFill>
        <p:spPr>
          <a:xfrm>
            <a:off x="7048426" y="2192852"/>
            <a:ext cx="6503762" cy="2236351"/>
          </a:xfrm>
          <a:prstGeom prst="rect">
            <a:avLst/>
          </a:prstGeom>
        </p:spPr>
      </p:pic>
      <p:cxnSp>
        <p:nvCxnSpPr>
          <p:cNvPr id="16" name="Gerade Verbindung mit Pfeil 15">
            <a:extLst>
              <a:ext uri="{FF2B5EF4-FFF2-40B4-BE49-F238E27FC236}">
                <a16:creationId xmlns:a16="http://schemas.microsoft.com/office/drawing/2014/main" id="{2BD80D80-CAB4-4A20-B1E9-C05A16758BC1}"/>
              </a:ext>
            </a:extLst>
          </p:cNvPr>
          <p:cNvCxnSpPr>
            <a:cxnSpLocks/>
          </p:cNvCxnSpPr>
          <p:nvPr/>
        </p:nvCxnSpPr>
        <p:spPr>
          <a:xfrm>
            <a:off x="6675120" y="1452880"/>
            <a:ext cx="792480" cy="6007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F9CCD2EE-750A-4491-9F13-C1FB84D58576}"/>
              </a:ext>
            </a:extLst>
          </p:cNvPr>
          <p:cNvSpPr txBox="1"/>
          <p:nvPr/>
        </p:nvSpPr>
        <p:spPr>
          <a:xfrm>
            <a:off x="4126345" y="98282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105B42F7-EFFC-4ACA-B7F6-D686EC42E845}"/>
              </a:ext>
            </a:extLst>
          </p:cNvPr>
          <p:cNvPicPr>
            <a:picLocks noChangeAspect="1"/>
          </p:cNvPicPr>
          <p:nvPr/>
        </p:nvPicPr>
        <p:blipFill>
          <a:blip r:embed="rId4"/>
          <a:stretch>
            <a:fillRect/>
          </a:stretch>
        </p:blipFill>
        <p:spPr>
          <a:xfrm>
            <a:off x="1233245" y="2193505"/>
            <a:ext cx="4161716" cy="3087589"/>
          </a:xfrm>
          <a:prstGeom prst="rect">
            <a:avLst/>
          </a:prstGeom>
        </p:spPr>
      </p:pic>
    </p:spTree>
    <p:extLst>
      <p:ext uri="{BB962C8B-B14F-4D97-AF65-F5344CB8AC3E}">
        <p14:creationId xmlns:p14="http://schemas.microsoft.com/office/powerpoint/2010/main" val="3877889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 name="Textfeld 19">
            <a:extLst>
              <a:ext uri="{FF2B5EF4-FFF2-40B4-BE49-F238E27FC236}">
                <a16:creationId xmlns:a16="http://schemas.microsoft.com/office/drawing/2014/main" id="{F9CCD2EE-750A-4491-9F13-C1FB84D58576}"/>
              </a:ext>
            </a:extLst>
          </p:cNvPr>
          <p:cNvSpPr txBox="1"/>
          <p:nvPr/>
        </p:nvSpPr>
        <p:spPr>
          <a:xfrm>
            <a:off x="5618480" y="1817555"/>
            <a:ext cx="6332927" cy="3231654"/>
          </a:xfrm>
          <a:prstGeom prst="rect">
            <a:avLst/>
          </a:prstGeom>
          <a:noFill/>
        </p:spPr>
        <p:txBody>
          <a:bodyPr wrap="square" rtlCol="0">
            <a:spAutoFit/>
          </a:bodyPr>
          <a:lstStyle/>
          <a:p>
            <a:pPr marL="342900" indent="-342900">
              <a:buFontTx/>
              <a:buChar char="-"/>
            </a:pPr>
            <a:r>
              <a:rPr lang="de-DE" sz="2400" dirty="0">
                <a:solidFill>
                  <a:schemeClr val="bg1"/>
                </a:solidFill>
              </a:rPr>
              <a:t>Different </a:t>
            </a:r>
            <a:r>
              <a:rPr lang="de-DE" sz="2400" dirty="0" err="1">
                <a:solidFill>
                  <a:schemeClr val="bg1"/>
                </a:solidFill>
              </a:rPr>
              <a:t>ontologies</a:t>
            </a:r>
            <a:r>
              <a:rPr lang="de-DE" sz="2400" dirty="0">
                <a:solidFill>
                  <a:schemeClr val="bg1"/>
                </a:solidFill>
              </a:rPr>
              <a:t> </a:t>
            </a:r>
            <a:r>
              <a:rPr lang="de-DE" sz="2400" dirty="0" err="1">
                <a:solidFill>
                  <a:schemeClr val="bg1"/>
                </a:solidFill>
              </a:rPr>
              <a:t>typically</a:t>
            </a:r>
            <a:r>
              <a:rPr lang="de-DE" sz="2400" dirty="0">
                <a:solidFill>
                  <a:schemeClr val="bg1"/>
                </a:solidFill>
              </a:rPr>
              <a:t> </a:t>
            </a:r>
            <a:r>
              <a:rPr lang="de-DE" sz="2400" dirty="0" err="1">
                <a:solidFill>
                  <a:schemeClr val="bg1"/>
                </a:solidFill>
              </a:rPr>
              <a:t>predict</a:t>
            </a:r>
            <a:r>
              <a:rPr lang="de-DE" sz="2400" dirty="0">
                <a:solidFill>
                  <a:schemeClr val="bg1"/>
                </a:solidFill>
              </a:rPr>
              <a:t> </a:t>
            </a:r>
            <a:r>
              <a:rPr lang="de-DE" sz="2400" dirty="0" err="1">
                <a:solidFill>
                  <a:schemeClr val="bg1"/>
                </a:solidFill>
              </a:rPr>
              <a:t>the</a:t>
            </a:r>
            <a:r>
              <a:rPr lang="de-DE" sz="2400" dirty="0">
                <a:solidFill>
                  <a:schemeClr val="bg1"/>
                </a:solidFill>
              </a:rPr>
              <a:t> </a:t>
            </a:r>
            <a:r>
              <a:rPr lang="de-DE" sz="2400" b="1" dirty="0">
                <a:solidFill>
                  <a:schemeClr val="bg1"/>
                </a:solidFill>
              </a:rPr>
              <a:t>same </a:t>
            </a:r>
            <a:r>
              <a:rPr lang="de-DE" sz="2400" b="1" dirty="0" err="1">
                <a:solidFill>
                  <a:schemeClr val="bg1"/>
                </a:solidFill>
              </a:rPr>
              <a:t>means</a:t>
            </a:r>
            <a:r>
              <a:rPr lang="de-DE" sz="2400" b="1" dirty="0">
                <a:solidFill>
                  <a:schemeClr val="bg1"/>
                </a:solidFill>
              </a:rPr>
              <a:t>, </a:t>
            </a:r>
            <a:r>
              <a:rPr lang="de-DE" sz="2400" b="1" dirty="0" err="1">
                <a:solidFill>
                  <a:schemeClr val="bg1"/>
                </a:solidFill>
              </a:rPr>
              <a:t>variances</a:t>
            </a:r>
            <a:r>
              <a:rPr lang="de-DE" sz="2400" b="1" dirty="0">
                <a:solidFill>
                  <a:schemeClr val="bg1"/>
                </a:solidFill>
              </a:rPr>
              <a:t>, </a:t>
            </a:r>
            <a:r>
              <a:rPr lang="de-DE" sz="2400" b="1" dirty="0" err="1">
                <a:solidFill>
                  <a:schemeClr val="bg1"/>
                </a:solidFill>
              </a:rPr>
              <a:t>covariances</a:t>
            </a:r>
            <a:r>
              <a:rPr lang="de-DE" sz="2400" b="1" dirty="0">
                <a:solidFill>
                  <a:schemeClr val="bg1"/>
                </a:solidFill>
              </a:rPr>
              <a:t> </a:t>
            </a:r>
            <a:r>
              <a:rPr lang="de-DE" sz="1200" dirty="0">
                <a:solidFill>
                  <a:schemeClr val="bg1"/>
                </a:solidFill>
              </a:rPr>
              <a:t>(e.g., </a:t>
            </a:r>
            <a:r>
              <a:rPr lang="de-DE" sz="1200" dirty="0" err="1">
                <a:solidFill>
                  <a:schemeClr val="bg1"/>
                </a:solidFill>
              </a:rPr>
              <a:t>Marsman</a:t>
            </a:r>
            <a:r>
              <a:rPr lang="de-DE" sz="1200" dirty="0">
                <a:solidFill>
                  <a:schemeClr val="bg1"/>
                </a:solidFill>
              </a:rPr>
              <a:t> et al., 2018; </a:t>
            </a:r>
            <a:r>
              <a:rPr lang="de-DE" sz="1200" dirty="0" err="1">
                <a:solidFill>
                  <a:schemeClr val="bg1"/>
                </a:solidFill>
              </a:rPr>
              <a:t>Loken</a:t>
            </a:r>
            <a:r>
              <a:rPr lang="de-DE" sz="1200" dirty="0">
                <a:solidFill>
                  <a:schemeClr val="bg1"/>
                </a:solidFill>
              </a:rPr>
              <a:t> &amp; </a:t>
            </a:r>
            <a:r>
              <a:rPr lang="de-DE" sz="1200" dirty="0" err="1">
                <a:solidFill>
                  <a:schemeClr val="bg1"/>
                </a:solidFill>
              </a:rPr>
              <a:t>Molenaar</a:t>
            </a:r>
            <a:r>
              <a:rPr lang="de-DE" sz="1200" dirty="0">
                <a:solidFill>
                  <a:schemeClr val="bg1"/>
                </a:solidFill>
              </a:rPr>
              <a:t>, 2007)</a:t>
            </a:r>
            <a:endParaRPr lang="de-DE" sz="2400" dirty="0">
              <a:solidFill>
                <a:schemeClr val="bg1"/>
              </a:solidFill>
            </a:endParaRPr>
          </a:p>
          <a:p>
            <a:pPr marL="342900" indent="-342900">
              <a:buFontTx/>
              <a:buChar char="-"/>
            </a:pPr>
            <a:endParaRPr lang="de-DE" sz="2400" dirty="0">
              <a:solidFill>
                <a:schemeClr val="bg1"/>
              </a:solidFill>
            </a:endParaRPr>
          </a:p>
          <a:p>
            <a:pPr marL="342900" indent="-342900">
              <a:buFontTx/>
              <a:buChar char="-"/>
            </a:pPr>
            <a:r>
              <a:rPr lang="de-DE" sz="2400" dirty="0" err="1">
                <a:solidFill>
                  <a:schemeClr val="bg1"/>
                </a:solidFill>
              </a:rPr>
              <a:t>Difference</a:t>
            </a:r>
            <a:r>
              <a:rPr lang="de-DE" sz="2400" dirty="0">
                <a:solidFill>
                  <a:schemeClr val="bg1"/>
                </a:solidFill>
              </a:rPr>
              <a:t> </a:t>
            </a:r>
            <a:r>
              <a:rPr lang="de-DE" sz="2400" dirty="0" err="1">
                <a:solidFill>
                  <a:schemeClr val="bg1"/>
                </a:solidFill>
              </a:rPr>
              <a:t>tests</a:t>
            </a:r>
            <a:r>
              <a:rPr lang="de-DE" sz="2400" dirty="0">
                <a:solidFill>
                  <a:schemeClr val="bg1"/>
                </a:solidFill>
              </a:rPr>
              <a:t> </a:t>
            </a:r>
            <a:r>
              <a:rPr lang="de-DE" sz="2400" dirty="0" err="1">
                <a:solidFill>
                  <a:schemeClr val="bg1"/>
                </a:solidFill>
              </a:rPr>
              <a:t>make</a:t>
            </a:r>
            <a:r>
              <a:rPr lang="de-DE" sz="2400" dirty="0">
                <a:solidFill>
                  <a:schemeClr val="bg1"/>
                </a:solidFill>
              </a:rPr>
              <a:t> </a:t>
            </a:r>
            <a:r>
              <a:rPr lang="de-DE" sz="2400" dirty="0" err="1">
                <a:solidFill>
                  <a:schemeClr val="bg1"/>
                </a:solidFill>
              </a:rPr>
              <a:t>unrealistic</a:t>
            </a:r>
            <a:r>
              <a:rPr lang="de-DE" sz="2400" dirty="0">
                <a:solidFill>
                  <a:schemeClr val="bg1"/>
                </a:solidFill>
              </a:rPr>
              <a:t> </a:t>
            </a:r>
            <a:r>
              <a:rPr lang="de-DE" sz="2400" dirty="0" err="1">
                <a:solidFill>
                  <a:schemeClr val="bg1"/>
                </a:solidFill>
              </a:rPr>
              <a:t>assumptions</a:t>
            </a:r>
            <a:r>
              <a:rPr lang="de-DE" sz="2400" dirty="0">
                <a:solidFill>
                  <a:schemeClr val="bg1"/>
                </a:solidFill>
              </a:rPr>
              <a:t> (</a:t>
            </a:r>
            <a:r>
              <a:rPr lang="de-DE" sz="2400" b="1" dirty="0">
                <a:solidFill>
                  <a:schemeClr val="bg1"/>
                </a:solidFill>
              </a:rPr>
              <a:t>pure</a:t>
            </a:r>
            <a:r>
              <a:rPr lang="de-DE" sz="2400" dirty="0">
                <a:solidFill>
                  <a:schemeClr val="bg1"/>
                </a:solidFill>
              </a:rPr>
              <a:t> </a:t>
            </a:r>
            <a:r>
              <a:rPr lang="de-DE" sz="2400" dirty="0" err="1">
                <a:solidFill>
                  <a:schemeClr val="bg1"/>
                </a:solidFill>
              </a:rPr>
              <a:t>ontologies</a:t>
            </a:r>
            <a:r>
              <a:rPr lang="de-DE" sz="2400" dirty="0">
                <a:solidFill>
                  <a:schemeClr val="bg1"/>
                </a:solidFill>
              </a:rPr>
              <a:t>)</a:t>
            </a:r>
          </a:p>
          <a:p>
            <a:pPr marL="342900" indent="-342900">
              <a:buFontTx/>
              <a:buChar char="-"/>
            </a:pPr>
            <a:endParaRPr lang="de-DE" sz="2400" dirty="0">
              <a:solidFill>
                <a:schemeClr val="bg1"/>
              </a:solidFill>
            </a:endParaRPr>
          </a:p>
          <a:p>
            <a:pPr marL="342900" indent="-342900">
              <a:buFontTx/>
              <a:buChar char="-"/>
            </a:pPr>
            <a:r>
              <a:rPr lang="de-DE" sz="2400" dirty="0" err="1">
                <a:solidFill>
                  <a:schemeClr val="bg1"/>
                </a:solidFill>
              </a:rPr>
              <a:t>Theories</a:t>
            </a:r>
            <a:r>
              <a:rPr lang="de-DE" sz="2400" dirty="0">
                <a:solidFill>
                  <a:schemeClr val="bg1"/>
                </a:solidFill>
              </a:rPr>
              <a:t> </a:t>
            </a:r>
            <a:r>
              <a:rPr lang="de-DE" sz="2400" dirty="0" err="1">
                <a:solidFill>
                  <a:schemeClr val="bg1"/>
                </a:solidFill>
              </a:rPr>
              <a:t>are</a:t>
            </a:r>
            <a:r>
              <a:rPr lang="de-DE" sz="2400" dirty="0">
                <a:solidFill>
                  <a:schemeClr val="bg1"/>
                </a:solidFill>
              </a:rPr>
              <a:t> </a:t>
            </a:r>
            <a:r>
              <a:rPr lang="de-DE" sz="2400" b="1" dirty="0" err="1">
                <a:solidFill>
                  <a:schemeClr val="bg1"/>
                </a:solidFill>
              </a:rPr>
              <a:t>causal</a:t>
            </a:r>
            <a:r>
              <a:rPr lang="de-DE" sz="2400" dirty="0">
                <a:solidFill>
                  <a:schemeClr val="bg1"/>
                </a:solidFill>
              </a:rPr>
              <a:t>; </a:t>
            </a:r>
            <a:r>
              <a:rPr lang="de-DE" sz="2400" dirty="0" err="1">
                <a:solidFill>
                  <a:schemeClr val="bg1"/>
                </a:solidFill>
              </a:rPr>
              <a:t>assessment</a:t>
            </a:r>
            <a:r>
              <a:rPr lang="de-DE" sz="2400" dirty="0">
                <a:solidFill>
                  <a:schemeClr val="bg1"/>
                </a:solidFill>
              </a:rPr>
              <a:t> </a:t>
            </a:r>
            <a:r>
              <a:rPr lang="de-DE" sz="2400" dirty="0" err="1">
                <a:solidFill>
                  <a:schemeClr val="bg1"/>
                </a:solidFill>
              </a:rPr>
              <a:t>data</a:t>
            </a:r>
            <a:r>
              <a:rPr lang="de-DE" sz="2400" dirty="0">
                <a:solidFill>
                  <a:schemeClr val="bg1"/>
                </a:solidFill>
              </a:rPr>
              <a:t> </a:t>
            </a:r>
            <a:r>
              <a:rPr lang="de-DE" sz="2400" b="1" dirty="0" err="1">
                <a:solidFill>
                  <a:schemeClr val="bg1"/>
                </a:solidFill>
              </a:rPr>
              <a:t>observational</a:t>
            </a:r>
            <a:r>
              <a:rPr lang="de-DE" sz="2400" b="1" dirty="0">
                <a:solidFill>
                  <a:schemeClr val="bg1"/>
                </a:solidFill>
              </a:rPr>
              <a:t> (</a:t>
            </a:r>
            <a:r>
              <a:rPr lang="de-DE" sz="2400" dirty="0">
                <a:solidFill>
                  <a:schemeClr val="bg1"/>
                </a:solidFill>
              </a:rPr>
              <a:t>not experimental/“</a:t>
            </a:r>
            <a:r>
              <a:rPr lang="de-DE" sz="2400" dirty="0" err="1">
                <a:solidFill>
                  <a:schemeClr val="bg1"/>
                </a:solidFill>
              </a:rPr>
              <a:t>causal</a:t>
            </a:r>
            <a:r>
              <a:rPr lang="de-DE" sz="2400" dirty="0">
                <a:solidFill>
                  <a:schemeClr val="bg1"/>
                </a:solidFill>
              </a:rPr>
              <a:t>“);</a:t>
            </a:r>
          </a:p>
        </p:txBody>
      </p:sp>
      <p:sp>
        <p:nvSpPr>
          <p:cNvPr id="21" name="Textfeld 20">
            <a:extLst>
              <a:ext uri="{FF2B5EF4-FFF2-40B4-BE49-F238E27FC236}">
                <a16:creationId xmlns:a16="http://schemas.microsoft.com/office/drawing/2014/main" id="{8049AE8B-BB73-4F5E-98EC-431332A2D14D}"/>
              </a:ext>
            </a:extLst>
          </p:cNvPr>
          <p:cNvSpPr txBox="1"/>
          <p:nvPr/>
        </p:nvSpPr>
        <p:spPr>
          <a:xfrm>
            <a:off x="4243540" y="5787518"/>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a:solidFill>
                  <a:schemeClr val="bg1"/>
                </a:solidFill>
              </a:rPr>
              <a:t>futile</a:t>
            </a:r>
            <a:r>
              <a:rPr lang="de-DE" sz="2400" dirty="0">
                <a:solidFill>
                  <a:schemeClr val="bg1"/>
                </a:solidFill>
              </a:rPr>
              <a:t>…</a:t>
            </a:r>
          </a:p>
        </p:txBody>
      </p:sp>
      <p:cxnSp>
        <p:nvCxnSpPr>
          <p:cNvPr id="22" name="Gerade Verbindung mit Pfeil 21">
            <a:extLst>
              <a:ext uri="{FF2B5EF4-FFF2-40B4-BE49-F238E27FC236}">
                <a16:creationId xmlns:a16="http://schemas.microsoft.com/office/drawing/2014/main" id="{800C0BE8-521C-4122-AE6E-D96D86C4D951}"/>
              </a:ext>
            </a:extLst>
          </p:cNvPr>
          <p:cNvCxnSpPr>
            <a:cxnSpLocks/>
          </p:cNvCxnSpPr>
          <p:nvPr/>
        </p:nvCxnSpPr>
        <p:spPr>
          <a:xfrm flipH="1" flipV="1">
            <a:off x="4043680" y="5135807"/>
            <a:ext cx="985520" cy="4807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Rechteck 1">
            <a:extLst>
              <a:ext uri="{FF2B5EF4-FFF2-40B4-BE49-F238E27FC236}">
                <a16:creationId xmlns:a16="http://schemas.microsoft.com/office/drawing/2014/main" id="{30AF65F4-3AD8-4F80-8561-191FA29C5262}"/>
              </a:ext>
            </a:extLst>
          </p:cNvPr>
          <p:cNvSpPr/>
          <p:nvPr/>
        </p:nvSpPr>
        <p:spPr>
          <a:xfrm>
            <a:off x="1904860" y="920387"/>
            <a:ext cx="8549780" cy="1107996"/>
          </a:xfrm>
          <a:prstGeom prst="rect">
            <a:avLst/>
          </a:prstGeom>
        </p:spPr>
        <p:txBody>
          <a:bodyPr wrap="square">
            <a:spAutoFit/>
          </a:bodyPr>
          <a:lstStyle/>
          <a:p>
            <a:r>
              <a:rPr lang="en-US" dirty="0">
                <a:solidFill>
                  <a:schemeClr val="bg1"/>
                </a:solidFill>
                <a:latin typeface="+mj-lt"/>
              </a:rPr>
              <a:t>Beware of the </a:t>
            </a:r>
            <a:r>
              <a:rPr lang="en-US" b="1" dirty="0">
                <a:solidFill>
                  <a:schemeClr val="bg1"/>
                </a:solidFill>
                <a:latin typeface="+mj-lt"/>
              </a:rPr>
              <a:t>inverse fallacy</a:t>
            </a:r>
            <a:r>
              <a:rPr lang="en-US" sz="1200" b="1" i="1" dirty="0">
                <a:solidFill>
                  <a:schemeClr val="bg1"/>
                </a:solidFill>
                <a:latin typeface="+mj-lt"/>
              </a:rPr>
              <a:t> </a:t>
            </a:r>
            <a:r>
              <a:rPr lang="en-US" sz="1600" i="1" dirty="0">
                <a:solidFill>
                  <a:schemeClr val="bg1"/>
                </a:solidFill>
                <a:latin typeface="+mj-lt"/>
              </a:rPr>
              <a:t>fit </a:t>
            </a:r>
            <a:r>
              <a:rPr lang="en-US" sz="1600" i="1" strike="sngStrike" dirty="0">
                <a:solidFill>
                  <a:schemeClr val="bg1"/>
                </a:solidFill>
                <a:latin typeface="+mj-lt"/>
              </a:rPr>
              <a:t>=</a:t>
            </a:r>
            <a:r>
              <a:rPr lang="en-US" sz="1600" i="1" dirty="0">
                <a:solidFill>
                  <a:schemeClr val="bg1"/>
                </a:solidFill>
                <a:latin typeface="+mj-lt"/>
              </a:rPr>
              <a:t> theory </a:t>
            </a:r>
            <a:r>
              <a:rPr lang="en-US" sz="1200" dirty="0">
                <a:solidFill>
                  <a:schemeClr val="bg1"/>
                </a:solidFill>
                <a:latin typeface="+mj-lt"/>
              </a:rPr>
              <a:t>(Edelsbrunner, 2022)</a:t>
            </a:r>
            <a:endParaRPr lang="en-US" dirty="0">
              <a:solidFill>
                <a:schemeClr val="bg1"/>
              </a:solidFill>
              <a:latin typeface="+mj-lt"/>
            </a:endParaRPr>
          </a:p>
          <a:p>
            <a:r>
              <a:rPr lang="en-US" i="1" dirty="0">
                <a:solidFill>
                  <a:schemeClr val="bg1"/>
                </a:solidFill>
                <a:latin typeface="+mj-lt"/>
              </a:rPr>
              <a:t>“Factor analysis may be useful in generating hypotheses about underlying causally efficacious univariate latent variables, but does nothing to establish this”</a:t>
            </a:r>
          </a:p>
          <a:p>
            <a:r>
              <a:rPr lang="en-US" sz="1200" dirty="0">
                <a:solidFill>
                  <a:schemeClr val="bg1"/>
                </a:solidFill>
                <a:latin typeface="+mj-lt"/>
              </a:rPr>
              <a:t>(</a:t>
            </a:r>
            <a:r>
              <a:rPr lang="en-US" sz="1200" dirty="0" err="1">
                <a:solidFill>
                  <a:schemeClr val="bg1"/>
                </a:solidFill>
                <a:latin typeface="+mj-lt"/>
              </a:rPr>
              <a:t>vanderWeele</a:t>
            </a:r>
            <a:r>
              <a:rPr lang="en-US" sz="1200" dirty="0">
                <a:solidFill>
                  <a:schemeClr val="bg1"/>
                </a:solidFill>
                <a:latin typeface="+mj-lt"/>
              </a:rPr>
              <a:t>, 2020)</a:t>
            </a:r>
            <a:endParaRPr lang="de-DE" sz="1200" dirty="0">
              <a:solidFill>
                <a:schemeClr val="bg1"/>
              </a:solidFill>
              <a:latin typeface="+mj-lt"/>
            </a:endParaRPr>
          </a:p>
        </p:txBody>
      </p:sp>
      <p:cxnSp>
        <p:nvCxnSpPr>
          <p:cNvPr id="7" name="Gerader Verbinder 6">
            <a:extLst>
              <a:ext uri="{FF2B5EF4-FFF2-40B4-BE49-F238E27FC236}">
                <a16:creationId xmlns:a16="http://schemas.microsoft.com/office/drawing/2014/main" id="{DAD0A9EF-4CCB-4AEB-B5FA-24449F71E31E}"/>
              </a:ext>
            </a:extLst>
          </p:cNvPr>
          <p:cNvCxnSpPr/>
          <p:nvPr/>
        </p:nvCxnSpPr>
        <p:spPr>
          <a:xfrm flipV="1">
            <a:off x="5364480" y="1051560"/>
            <a:ext cx="45720" cy="152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Grafik 16">
            <a:extLst>
              <a:ext uri="{FF2B5EF4-FFF2-40B4-BE49-F238E27FC236}">
                <a16:creationId xmlns:a16="http://schemas.microsoft.com/office/drawing/2014/main" id="{D318AACA-C5E7-4796-995C-293B79D22810}"/>
              </a:ext>
            </a:extLst>
          </p:cNvPr>
          <p:cNvPicPr>
            <a:picLocks noChangeAspect="1"/>
          </p:cNvPicPr>
          <p:nvPr/>
        </p:nvPicPr>
        <p:blipFill>
          <a:blip r:embed="rId3"/>
          <a:stretch>
            <a:fillRect/>
          </a:stretch>
        </p:blipFill>
        <p:spPr>
          <a:xfrm>
            <a:off x="1233245" y="2193505"/>
            <a:ext cx="4161716" cy="3087589"/>
          </a:xfrm>
          <a:prstGeom prst="rect">
            <a:avLst/>
          </a:prstGeom>
        </p:spPr>
      </p:pic>
      <p:sp>
        <p:nvSpPr>
          <p:cNvPr id="8" name="Textfeld 7">
            <a:extLst>
              <a:ext uri="{FF2B5EF4-FFF2-40B4-BE49-F238E27FC236}">
                <a16:creationId xmlns:a16="http://schemas.microsoft.com/office/drawing/2014/main" id="{C23D2F81-5D1F-4592-B7D3-0C9620819542}"/>
              </a:ext>
            </a:extLst>
          </p:cNvPr>
          <p:cNvSpPr txBox="1"/>
          <p:nvPr/>
        </p:nvSpPr>
        <p:spPr>
          <a:xfrm>
            <a:off x="6004560" y="4983432"/>
            <a:ext cx="6187440" cy="461665"/>
          </a:xfrm>
          <a:prstGeom prst="rect">
            <a:avLst/>
          </a:prstGeom>
          <a:noFill/>
        </p:spPr>
        <p:txBody>
          <a:bodyPr wrap="square" rtlCol="0">
            <a:spAutoFit/>
          </a:bodyPr>
          <a:lstStyle/>
          <a:p>
            <a:r>
              <a:rPr lang="de-DE" sz="2400" b="1" dirty="0">
                <a:solidFill>
                  <a:schemeClr val="bg1"/>
                </a:solidFill>
              </a:rPr>
              <a:t>Hidden</a:t>
            </a:r>
            <a:r>
              <a:rPr lang="de-DE" sz="2400" dirty="0">
                <a:solidFill>
                  <a:schemeClr val="bg1"/>
                </a:solidFill>
              </a:rPr>
              <a:t> </a:t>
            </a:r>
            <a:r>
              <a:rPr lang="de-DE" sz="2400" b="1" dirty="0" err="1">
                <a:solidFill>
                  <a:schemeClr val="bg1"/>
                </a:solidFill>
              </a:rPr>
              <a:t>causal</a:t>
            </a:r>
            <a:r>
              <a:rPr lang="de-DE" sz="2400" b="1" dirty="0">
                <a:solidFill>
                  <a:schemeClr val="bg1"/>
                </a:solidFill>
              </a:rPr>
              <a:t> </a:t>
            </a:r>
            <a:r>
              <a:rPr lang="de-DE" sz="2400" b="1" dirty="0" err="1">
                <a:solidFill>
                  <a:schemeClr val="bg1"/>
                </a:solidFill>
              </a:rPr>
              <a:t>modeling</a:t>
            </a:r>
            <a:r>
              <a:rPr lang="de-DE" sz="2400" b="1" dirty="0">
                <a:solidFill>
                  <a:schemeClr val="bg1"/>
                </a:solidFill>
              </a:rPr>
              <a:t> </a:t>
            </a:r>
            <a:r>
              <a:rPr lang="de-DE" sz="2400" b="1" dirty="0" err="1">
                <a:solidFill>
                  <a:schemeClr val="bg1"/>
                </a:solidFill>
              </a:rPr>
              <a:t>misattribution</a:t>
            </a:r>
            <a:endParaRPr lang="de-DE" sz="2400" b="1" dirty="0">
              <a:solidFill>
                <a:schemeClr val="bg1"/>
              </a:solidFill>
            </a:endParaRPr>
          </a:p>
        </p:txBody>
      </p:sp>
    </p:spTree>
    <p:extLst>
      <p:ext uri="{BB962C8B-B14F-4D97-AF65-F5344CB8AC3E}">
        <p14:creationId xmlns:p14="http://schemas.microsoft.com/office/powerpoint/2010/main" val="553692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sp>
        <p:nvSpPr>
          <p:cNvPr id="12" name="Textfeld 11">
            <a:extLst>
              <a:ext uri="{FF2B5EF4-FFF2-40B4-BE49-F238E27FC236}">
                <a16:creationId xmlns:a16="http://schemas.microsoft.com/office/drawing/2014/main" id="{E4D77157-E717-4794-A013-D5F676191DDC}"/>
              </a:ext>
            </a:extLst>
          </p:cNvPr>
          <p:cNvSpPr txBox="1"/>
          <p:nvPr/>
        </p:nvSpPr>
        <p:spPr>
          <a:xfrm>
            <a:off x="487158" y="1841477"/>
            <a:ext cx="8877082" cy="4524315"/>
          </a:xfrm>
          <a:prstGeom prst="rect">
            <a:avLst/>
          </a:prstGeom>
          <a:noFill/>
        </p:spPr>
        <p:txBody>
          <a:bodyPr wrap="square" rtlCol="0">
            <a:spAutoFit/>
          </a:bodyPr>
          <a:lstStyle/>
          <a:p>
            <a:r>
              <a:rPr lang="de-DE" dirty="0" err="1">
                <a:solidFill>
                  <a:schemeClr val="bg1"/>
                </a:solidFill>
              </a:rPr>
              <a:t>Step</a:t>
            </a:r>
            <a:r>
              <a:rPr lang="de-DE" dirty="0">
                <a:solidFill>
                  <a:schemeClr val="bg1"/>
                </a:solidFill>
              </a:rPr>
              <a:t> 1: </a:t>
            </a:r>
            <a:r>
              <a:rPr lang="de-DE" dirty="0" err="1">
                <a:solidFill>
                  <a:schemeClr val="bg1"/>
                </a:solidFill>
              </a:rPr>
              <a:t>Decide</a:t>
            </a:r>
            <a:r>
              <a:rPr lang="de-DE" dirty="0">
                <a:solidFill>
                  <a:schemeClr val="bg1"/>
                </a:solidFill>
              </a:rPr>
              <a:t> on </a:t>
            </a:r>
            <a:r>
              <a:rPr lang="de-DE" dirty="0" err="1">
                <a:solidFill>
                  <a:schemeClr val="bg1"/>
                </a:solidFill>
              </a:rPr>
              <a:t>your</a:t>
            </a:r>
            <a:r>
              <a:rPr lang="de-DE" dirty="0">
                <a:solidFill>
                  <a:schemeClr val="bg1"/>
                </a:solidFill>
              </a:rPr>
              <a:t> </a:t>
            </a:r>
            <a:r>
              <a:rPr lang="de-DE" dirty="0" err="1">
                <a:solidFill>
                  <a:schemeClr val="bg1"/>
                </a:solidFill>
              </a:rPr>
              <a:t>ontology</a:t>
            </a:r>
            <a:endParaRPr lang="de-DE" dirty="0">
              <a:solidFill>
                <a:schemeClr val="bg1"/>
              </a:solidFill>
            </a:endParaRPr>
          </a:p>
          <a:p>
            <a:r>
              <a:rPr lang="de-DE" dirty="0" err="1">
                <a:solidFill>
                  <a:schemeClr val="bg1"/>
                </a:solidFill>
              </a:rPr>
              <a:t>Is</a:t>
            </a:r>
            <a:r>
              <a:rPr lang="de-DE" dirty="0">
                <a:solidFill>
                  <a:schemeClr val="bg1"/>
                </a:solidFill>
              </a:rPr>
              <a:t> </a:t>
            </a:r>
            <a:r>
              <a:rPr lang="de-DE" dirty="0" err="1">
                <a:solidFill>
                  <a:schemeClr val="bg1"/>
                </a:solidFill>
              </a:rPr>
              <a:t>your</a:t>
            </a:r>
            <a:r>
              <a:rPr lang="de-DE" dirty="0">
                <a:solidFill>
                  <a:schemeClr val="bg1"/>
                </a:solidFill>
              </a:rPr>
              <a:t> </a:t>
            </a:r>
            <a:r>
              <a:rPr lang="de-DE" dirty="0" err="1">
                <a:solidFill>
                  <a:schemeClr val="bg1"/>
                </a:solidFill>
              </a:rPr>
              <a:t>construct</a:t>
            </a:r>
            <a:r>
              <a:rPr lang="de-DE" dirty="0">
                <a:solidFill>
                  <a:schemeClr val="bg1"/>
                </a:solidFill>
              </a:rPr>
              <a:t>…</a:t>
            </a:r>
          </a:p>
          <a:p>
            <a:r>
              <a:rPr lang="de-DE" dirty="0">
                <a:solidFill>
                  <a:schemeClr val="bg1"/>
                </a:solidFill>
              </a:rPr>
              <a:t>…</a:t>
            </a:r>
            <a:r>
              <a:rPr lang="de-DE" dirty="0" err="1">
                <a:solidFill>
                  <a:schemeClr val="bg1"/>
                </a:solidFill>
              </a:rPr>
              <a:t>continuous</a:t>
            </a:r>
            <a:r>
              <a:rPr lang="de-DE" dirty="0">
                <a:solidFill>
                  <a:schemeClr val="bg1"/>
                </a:solidFill>
              </a:rPr>
              <a:t> (</a:t>
            </a:r>
            <a:r>
              <a:rPr lang="de-DE" dirty="0" err="1">
                <a:solidFill>
                  <a:schemeClr val="bg1"/>
                </a:solidFill>
              </a:rPr>
              <a:t>more</a:t>
            </a:r>
            <a:r>
              <a:rPr lang="de-DE" dirty="0">
                <a:solidFill>
                  <a:schemeClr val="bg1"/>
                </a:solidFill>
              </a:rPr>
              <a:t> vs. </a:t>
            </a:r>
            <a:r>
              <a:rPr lang="de-DE" dirty="0" err="1">
                <a:solidFill>
                  <a:schemeClr val="bg1"/>
                </a:solidFill>
              </a:rPr>
              <a:t>less</a:t>
            </a:r>
            <a:r>
              <a:rPr lang="de-DE" dirty="0">
                <a:solidFill>
                  <a:schemeClr val="bg1"/>
                </a:solidFill>
              </a:rPr>
              <a:t>; e.g., </a:t>
            </a:r>
            <a:r>
              <a:rPr lang="de-DE" dirty="0" err="1">
                <a:solidFill>
                  <a:schemeClr val="bg1"/>
                </a:solidFill>
              </a:rPr>
              <a:t>factor</a:t>
            </a:r>
            <a:r>
              <a:rPr lang="de-DE" dirty="0">
                <a:solidFill>
                  <a:schemeClr val="bg1"/>
                </a:solidFill>
              </a:rPr>
              <a:t>/</a:t>
            </a:r>
            <a:r>
              <a:rPr lang="de-DE" dirty="0" err="1">
                <a:solidFill>
                  <a:schemeClr val="bg1"/>
                </a:solidFill>
              </a:rPr>
              <a:t>composite</a:t>
            </a:r>
            <a:r>
              <a:rPr lang="de-DE" dirty="0">
                <a:solidFill>
                  <a:schemeClr val="bg1"/>
                </a:solidFill>
              </a:rPr>
              <a:t>)</a:t>
            </a:r>
          </a:p>
          <a:p>
            <a:r>
              <a:rPr lang="de-DE" dirty="0">
                <a:solidFill>
                  <a:schemeClr val="bg1"/>
                </a:solidFill>
              </a:rPr>
              <a:t>…</a:t>
            </a:r>
            <a:r>
              <a:rPr lang="de-DE" dirty="0" err="1">
                <a:solidFill>
                  <a:schemeClr val="bg1"/>
                </a:solidFill>
              </a:rPr>
              <a:t>categorical</a:t>
            </a:r>
            <a:r>
              <a:rPr lang="de-DE" dirty="0">
                <a:solidFill>
                  <a:schemeClr val="bg1"/>
                </a:solidFill>
              </a:rPr>
              <a:t> (qualitative </a:t>
            </a:r>
            <a:r>
              <a:rPr lang="de-DE" dirty="0" err="1">
                <a:solidFill>
                  <a:schemeClr val="bg1"/>
                </a:solidFill>
              </a:rPr>
              <a:t>differences</a:t>
            </a:r>
            <a:r>
              <a:rPr lang="de-DE" dirty="0">
                <a:solidFill>
                  <a:schemeClr val="bg1"/>
                </a:solidFill>
              </a:rPr>
              <a:t>; e.g., </a:t>
            </a:r>
            <a:r>
              <a:rPr lang="de-DE" dirty="0" err="1">
                <a:solidFill>
                  <a:schemeClr val="bg1"/>
                </a:solidFill>
              </a:rPr>
              <a:t>mixture</a:t>
            </a:r>
            <a:r>
              <a:rPr lang="de-DE" dirty="0">
                <a:solidFill>
                  <a:schemeClr val="bg1"/>
                </a:solidFill>
              </a:rPr>
              <a:t>)</a:t>
            </a:r>
          </a:p>
          <a:p>
            <a:r>
              <a:rPr lang="de-DE" dirty="0">
                <a:solidFill>
                  <a:schemeClr val="bg1"/>
                </a:solidFill>
              </a:rPr>
              <a:t>…</a:t>
            </a:r>
            <a:r>
              <a:rPr lang="de-DE" dirty="0" err="1">
                <a:solidFill>
                  <a:schemeClr val="bg1"/>
                </a:solidFill>
              </a:rPr>
              <a:t>both</a:t>
            </a:r>
            <a:r>
              <a:rPr lang="de-DE" dirty="0">
                <a:solidFill>
                  <a:schemeClr val="bg1"/>
                </a:solidFill>
              </a:rPr>
              <a:t> (e.g., </a:t>
            </a:r>
            <a:r>
              <a:rPr lang="de-DE" dirty="0" err="1">
                <a:solidFill>
                  <a:schemeClr val="bg1"/>
                </a:solidFill>
              </a:rPr>
              <a:t>factor-mixture</a:t>
            </a:r>
            <a:r>
              <a:rPr lang="de-DE" dirty="0">
                <a:solidFill>
                  <a:schemeClr val="bg1"/>
                </a:solidFill>
              </a:rPr>
              <a:t>, </a:t>
            </a:r>
            <a:r>
              <a:rPr lang="de-DE" dirty="0" err="1">
                <a:solidFill>
                  <a:schemeClr val="bg1"/>
                </a:solidFill>
              </a:rPr>
              <a:t>mixture</a:t>
            </a:r>
            <a:r>
              <a:rPr lang="de-DE" dirty="0">
                <a:solidFill>
                  <a:schemeClr val="bg1"/>
                </a:solidFill>
              </a:rPr>
              <a:t>-network, hybrid SEM)?</a:t>
            </a:r>
          </a:p>
          <a:p>
            <a:endParaRPr lang="de-DE" dirty="0">
              <a:solidFill>
                <a:schemeClr val="bg1"/>
              </a:solidFill>
            </a:endParaRPr>
          </a:p>
          <a:p>
            <a:r>
              <a:rPr lang="de-DE" dirty="0" err="1">
                <a:solidFill>
                  <a:schemeClr val="bg1"/>
                </a:solidFill>
              </a:rPr>
              <a:t>Step</a:t>
            </a:r>
            <a:r>
              <a:rPr lang="de-DE" dirty="0">
                <a:solidFill>
                  <a:schemeClr val="bg1"/>
                </a:solidFill>
              </a:rPr>
              <a:t> 2: </a:t>
            </a:r>
            <a:r>
              <a:rPr lang="de-DE" dirty="0" err="1">
                <a:solidFill>
                  <a:schemeClr val="bg1"/>
                </a:solidFill>
              </a:rPr>
              <a:t>Decide</a:t>
            </a:r>
            <a:r>
              <a:rPr lang="de-DE" dirty="0">
                <a:solidFill>
                  <a:schemeClr val="bg1"/>
                </a:solidFill>
              </a:rPr>
              <a:t> on </a:t>
            </a:r>
            <a:r>
              <a:rPr lang="de-DE" dirty="0" err="1">
                <a:solidFill>
                  <a:schemeClr val="bg1"/>
                </a:solidFill>
              </a:rPr>
              <a:t>your</a:t>
            </a:r>
            <a:r>
              <a:rPr lang="de-DE" dirty="0">
                <a:solidFill>
                  <a:schemeClr val="bg1"/>
                </a:solidFill>
              </a:rPr>
              <a:t> </a:t>
            </a:r>
            <a:r>
              <a:rPr lang="de-DE" dirty="0" err="1">
                <a:solidFill>
                  <a:schemeClr val="bg1"/>
                </a:solidFill>
              </a:rPr>
              <a:t>theory</a:t>
            </a:r>
            <a:endParaRPr lang="de-DE" dirty="0">
              <a:solidFill>
                <a:schemeClr val="bg1"/>
              </a:solidFill>
            </a:endParaRPr>
          </a:p>
          <a:p>
            <a:r>
              <a:rPr lang="de-DE" dirty="0">
                <a:solidFill>
                  <a:schemeClr val="bg1"/>
                </a:solidFill>
              </a:rPr>
              <a:t>Are </a:t>
            </a:r>
            <a:r>
              <a:rPr lang="de-DE" dirty="0" err="1">
                <a:solidFill>
                  <a:schemeClr val="bg1"/>
                </a:solidFill>
              </a:rPr>
              <a:t>your</a:t>
            </a:r>
            <a:r>
              <a:rPr lang="de-DE" dirty="0">
                <a:solidFill>
                  <a:schemeClr val="bg1"/>
                </a:solidFill>
              </a:rPr>
              <a:t> </a:t>
            </a:r>
            <a:r>
              <a:rPr lang="de-DE" dirty="0" err="1">
                <a:solidFill>
                  <a:schemeClr val="bg1"/>
                </a:solidFill>
              </a:rPr>
              <a:t>items</a:t>
            </a:r>
            <a:r>
              <a:rPr lang="de-DE" dirty="0">
                <a:solidFill>
                  <a:schemeClr val="bg1"/>
                </a:solidFill>
              </a:rPr>
              <a:t>…</a:t>
            </a:r>
          </a:p>
          <a:p>
            <a:r>
              <a:rPr lang="de-DE" dirty="0">
                <a:solidFill>
                  <a:schemeClr val="bg1"/>
                </a:solidFill>
              </a:rPr>
              <a:t>…</a:t>
            </a:r>
            <a:r>
              <a:rPr lang="de-DE" dirty="0" err="1">
                <a:solidFill>
                  <a:schemeClr val="bg1"/>
                </a:solidFill>
              </a:rPr>
              <a:t>construct</a:t>
            </a:r>
            <a:r>
              <a:rPr lang="de-DE" dirty="0">
                <a:solidFill>
                  <a:schemeClr val="bg1"/>
                </a:solidFill>
              </a:rPr>
              <a:t> relevant (all </a:t>
            </a:r>
            <a:r>
              <a:rPr lang="de-DE" dirty="0" err="1">
                <a:solidFill>
                  <a:schemeClr val="bg1"/>
                </a:solidFill>
              </a:rPr>
              <a:t>contributing</a:t>
            </a:r>
            <a:r>
              <a:rPr lang="de-DE" dirty="0">
                <a:solidFill>
                  <a:schemeClr val="bg1"/>
                </a:solidFill>
              </a:rPr>
              <a:t>; </a:t>
            </a:r>
            <a:r>
              <a:rPr lang="de-DE" dirty="0" err="1">
                <a:solidFill>
                  <a:schemeClr val="bg1"/>
                </a:solidFill>
              </a:rPr>
              <a:t>composite</a:t>
            </a:r>
            <a:r>
              <a:rPr lang="de-DE" dirty="0">
                <a:solidFill>
                  <a:schemeClr val="bg1"/>
                </a:solidFill>
              </a:rPr>
              <a:t>/ML)</a:t>
            </a:r>
          </a:p>
          <a:p>
            <a:r>
              <a:rPr lang="de-DE" dirty="0">
                <a:solidFill>
                  <a:schemeClr val="bg1"/>
                </a:solidFill>
              </a:rPr>
              <a:t>…</a:t>
            </a:r>
            <a:r>
              <a:rPr lang="de-DE" dirty="0" err="1">
                <a:solidFill>
                  <a:schemeClr val="bg1"/>
                </a:solidFill>
              </a:rPr>
              <a:t>construct</a:t>
            </a:r>
            <a:r>
              <a:rPr lang="de-DE" dirty="0">
                <a:solidFill>
                  <a:schemeClr val="bg1"/>
                </a:solidFill>
              </a:rPr>
              <a:t> irrelevant (all </a:t>
            </a:r>
            <a:r>
              <a:rPr lang="de-DE" dirty="0" err="1">
                <a:solidFill>
                  <a:schemeClr val="bg1"/>
                </a:solidFill>
              </a:rPr>
              <a:t>capturing</a:t>
            </a:r>
            <a:r>
              <a:rPr lang="de-DE" dirty="0">
                <a:solidFill>
                  <a:schemeClr val="bg1"/>
                </a:solidFill>
              </a:rPr>
              <a:t> </a:t>
            </a:r>
            <a:r>
              <a:rPr lang="de-DE" dirty="0" err="1">
                <a:solidFill>
                  <a:schemeClr val="bg1"/>
                </a:solidFill>
              </a:rPr>
              <a:t>the</a:t>
            </a:r>
            <a:r>
              <a:rPr lang="de-DE" dirty="0">
                <a:solidFill>
                  <a:schemeClr val="bg1"/>
                </a:solidFill>
              </a:rPr>
              <a:t> same </a:t>
            </a:r>
            <a:r>
              <a:rPr lang="de-DE" i="1" dirty="0" err="1">
                <a:solidFill>
                  <a:schemeClr val="bg1"/>
                </a:solidFill>
              </a:rPr>
              <a:t>thing</a:t>
            </a:r>
            <a:r>
              <a:rPr lang="de-DE" dirty="0">
                <a:solidFill>
                  <a:schemeClr val="bg1"/>
                </a:solidFill>
              </a:rPr>
              <a:t>; </a:t>
            </a:r>
            <a:r>
              <a:rPr lang="de-DE" dirty="0" err="1">
                <a:solidFill>
                  <a:schemeClr val="bg1"/>
                </a:solidFill>
              </a:rPr>
              <a:t>factor</a:t>
            </a:r>
            <a:r>
              <a:rPr lang="de-DE" dirty="0">
                <a:solidFill>
                  <a:schemeClr val="bg1"/>
                </a:solidFill>
              </a:rPr>
              <a:t>)</a:t>
            </a:r>
          </a:p>
          <a:p>
            <a:r>
              <a:rPr lang="de-DE" dirty="0">
                <a:solidFill>
                  <a:schemeClr val="bg1"/>
                </a:solidFill>
              </a:rPr>
              <a:t>…</a:t>
            </a:r>
            <a:r>
              <a:rPr lang="de-DE" dirty="0" err="1">
                <a:solidFill>
                  <a:schemeClr val="bg1"/>
                </a:solidFill>
              </a:rPr>
              <a:t>both</a:t>
            </a:r>
            <a:r>
              <a:rPr lang="de-DE" dirty="0">
                <a:solidFill>
                  <a:schemeClr val="bg1"/>
                </a:solidFill>
              </a:rPr>
              <a:t> (e.g., </a:t>
            </a:r>
            <a:r>
              <a:rPr lang="de-DE" dirty="0" err="1">
                <a:solidFill>
                  <a:schemeClr val="bg1"/>
                </a:solidFill>
              </a:rPr>
              <a:t>composite</a:t>
            </a:r>
            <a:r>
              <a:rPr lang="de-DE" dirty="0">
                <a:solidFill>
                  <a:schemeClr val="bg1"/>
                </a:solidFill>
              </a:rPr>
              <a:t>/</a:t>
            </a:r>
            <a:r>
              <a:rPr lang="de-DE" dirty="0" err="1">
                <a:solidFill>
                  <a:schemeClr val="bg1"/>
                </a:solidFill>
              </a:rPr>
              <a:t>reflective</a:t>
            </a:r>
            <a:r>
              <a:rPr lang="de-DE" dirty="0">
                <a:solidFill>
                  <a:schemeClr val="bg1"/>
                </a:solidFill>
              </a:rPr>
              <a:t> hybrid SEM)?</a:t>
            </a:r>
          </a:p>
          <a:p>
            <a:endParaRPr lang="de-DE" dirty="0">
              <a:solidFill>
                <a:schemeClr val="bg1"/>
              </a:solidFill>
            </a:endParaRPr>
          </a:p>
          <a:p>
            <a:r>
              <a:rPr lang="de-DE" dirty="0" err="1">
                <a:solidFill>
                  <a:schemeClr val="bg1"/>
                </a:solidFill>
              </a:rPr>
              <a:t>Step</a:t>
            </a:r>
            <a:r>
              <a:rPr lang="de-DE" dirty="0">
                <a:solidFill>
                  <a:schemeClr val="bg1"/>
                </a:solidFill>
              </a:rPr>
              <a:t> 3: </a:t>
            </a:r>
            <a:r>
              <a:rPr lang="de-DE" dirty="0" err="1">
                <a:solidFill>
                  <a:schemeClr val="bg1"/>
                </a:solidFill>
              </a:rPr>
              <a:t>What</a:t>
            </a:r>
            <a:r>
              <a:rPr lang="de-DE" dirty="0">
                <a:solidFill>
                  <a:schemeClr val="bg1"/>
                </a:solidFill>
              </a:rPr>
              <a:t> do </a:t>
            </a:r>
            <a:r>
              <a:rPr lang="de-DE" dirty="0" err="1">
                <a:solidFill>
                  <a:schemeClr val="bg1"/>
                </a:solidFill>
              </a:rPr>
              <a:t>you</a:t>
            </a:r>
            <a:r>
              <a:rPr lang="de-DE" dirty="0">
                <a:solidFill>
                  <a:schemeClr val="bg1"/>
                </a:solidFill>
              </a:rPr>
              <a:t> </a:t>
            </a:r>
            <a:r>
              <a:rPr lang="de-DE" dirty="0" err="1">
                <a:solidFill>
                  <a:schemeClr val="bg1"/>
                </a:solidFill>
              </a:rPr>
              <a:t>want</a:t>
            </a:r>
            <a:r>
              <a:rPr lang="de-DE" dirty="0">
                <a:solidFill>
                  <a:schemeClr val="bg1"/>
                </a:solidFill>
              </a:rPr>
              <a:t>?</a:t>
            </a:r>
          </a:p>
          <a:p>
            <a:r>
              <a:rPr lang="de-DE" dirty="0">
                <a:solidFill>
                  <a:schemeClr val="bg1"/>
                </a:solidFill>
              </a:rPr>
              <a:t>…</a:t>
            </a:r>
            <a:r>
              <a:rPr lang="de-DE" dirty="0" err="1">
                <a:solidFill>
                  <a:schemeClr val="bg1"/>
                </a:solidFill>
              </a:rPr>
              <a:t>equal</a:t>
            </a:r>
            <a:r>
              <a:rPr lang="de-DE" dirty="0">
                <a:solidFill>
                  <a:schemeClr val="bg1"/>
                </a:solidFill>
              </a:rPr>
              <a:t> </a:t>
            </a:r>
            <a:r>
              <a:rPr lang="de-DE" dirty="0" err="1">
                <a:solidFill>
                  <a:schemeClr val="bg1"/>
                </a:solidFill>
              </a:rPr>
              <a:t>weights</a:t>
            </a:r>
            <a:r>
              <a:rPr lang="de-DE" dirty="0">
                <a:solidFill>
                  <a:schemeClr val="bg1"/>
                </a:solidFill>
              </a:rPr>
              <a:t> (e.g., </a:t>
            </a:r>
            <a:r>
              <a:rPr lang="de-DE" dirty="0" err="1">
                <a:solidFill>
                  <a:schemeClr val="bg1"/>
                </a:solidFill>
              </a:rPr>
              <a:t>sum</a:t>
            </a:r>
            <a:r>
              <a:rPr lang="de-DE" dirty="0">
                <a:solidFill>
                  <a:schemeClr val="bg1"/>
                </a:solidFill>
              </a:rPr>
              <a:t> score, Rasch)</a:t>
            </a:r>
          </a:p>
          <a:p>
            <a:r>
              <a:rPr lang="de-DE" dirty="0">
                <a:solidFill>
                  <a:schemeClr val="bg1"/>
                </a:solidFill>
              </a:rPr>
              <a:t>…different </a:t>
            </a:r>
            <a:r>
              <a:rPr lang="de-DE" dirty="0" err="1">
                <a:solidFill>
                  <a:schemeClr val="bg1"/>
                </a:solidFill>
              </a:rPr>
              <a:t>weights</a:t>
            </a:r>
            <a:r>
              <a:rPr lang="de-DE" dirty="0">
                <a:solidFill>
                  <a:schemeClr val="bg1"/>
                </a:solidFill>
              </a:rPr>
              <a:t> (e.g., </a:t>
            </a:r>
            <a:r>
              <a:rPr lang="de-DE" dirty="0" err="1">
                <a:solidFill>
                  <a:schemeClr val="bg1"/>
                </a:solidFill>
              </a:rPr>
              <a:t>composite</a:t>
            </a:r>
            <a:r>
              <a:rPr lang="de-DE" dirty="0">
                <a:solidFill>
                  <a:schemeClr val="bg1"/>
                </a:solidFill>
              </a:rPr>
              <a:t>, </a:t>
            </a:r>
            <a:r>
              <a:rPr lang="de-DE" dirty="0" err="1">
                <a:solidFill>
                  <a:schemeClr val="bg1"/>
                </a:solidFill>
              </a:rPr>
              <a:t>factor</a:t>
            </a:r>
            <a:r>
              <a:rPr lang="de-DE" dirty="0">
                <a:solidFill>
                  <a:schemeClr val="bg1"/>
                </a:solidFill>
              </a:rPr>
              <a:t>)</a:t>
            </a:r>
          </a:p>
          <a:p>
            <a:r>
              <a:rPr lang="de-DE" dirty="0">
                <a:solidFill>
                  <a:schemeClr val="bg1"/>
                </a:solidFill>
              </a:rPr>
              <a:t>…</a:t>
            </a:r>
            <a:r>
              <a:rPr lang="de-DE" dirty="0" err="1">
                <a:solidFill>
                  <a:schemeClr val="bg1"/>
                </a:solidFill>
              </a:rPr>
              <a:t>both</a:t>
            </a:r>
            <a:r>
              <a:rPr lang="de-DE" dirty="0">
                <a:solidFill>
                  <a:schemeClr val="bg1"/>
                </a:solidFill>
              </a:rPr>
              <a:t> (e.g., </a:t>
            </a:r>
            <a:r>
              <a:rPr lang="de-DE" dirty="0" err="1">
                <a:solidFill>
                  <a:schemeClr val="bg1"/>
                </a:solidFill>
              </a:rPr>
              <a:t>multilevel</a:t>
            </a:r>
            <a:r>
              <a:rPr lang="de-DE" dirty="0">
                <a:solidFill>
                  <a:schemeClr val="bg1"/>
                </a:solidFill>
              </a:rPr>
              <a:t> </a:t>
            </a:r>
            <a:r>
              <a:rPr lang="de-DE" dirty="0" err="1">
                <a:solidFill>
                  <a:schemeClr val="bg1"/>
                </a:solidFill>
              </a:rPr>
              <a:t>modeling</a:t>
            </a:r>
            <a:r>
              <a:rPr lang="de-DE" dirty="0">
                <a:solidFill>
                  <a:schemeClr val="bg1"/>
                </a:solidFill>
              </a:rPr>
              <a:t>)?</a:t>
            </a:r>
          </a:p>
        </p:txBody>
      </p:sp>
      <p:cxnSp>
        <p:nvCxnSpPr>
          <p:cNvPr id="14" name="Gerade Verbindung mit Pfeil 13">
            <a:extLst>
              <a:ext uri="{FF2B5EF4-FFF2-40B4-BE49-F238E27FC236}">
                <a16:creationId xmlns:a16="http://schemas.microsoft.com/office/drawing/2014/main" id="{70F99278-06D9-420C-BCE0-0F4CE3F26F42}"/>
              </a:ext>
            </a:extLst>
          </p:cNvPr>
          <p:cNvCxnSpPr>
            <a:cxnSpLocks/>
            <a:endCxn id="23" idx="3"/>
          </p:cNvCxnSpPr>
          <p:nvPr/>
        </p:nvCxnSpPr>
        <p:spPr>
          <a:xfrm flipH="1">
            <a:off x="6370320" y="1292572"/>
            <a:ext cx="374183" cy="12319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59E37A04-5A56-4EEB-AED6-B34BE8747EA9}"/>
              </a:ext>
            </a:extLst>
          </p:cNvPr>
          <p:cNvSpPr txBox="1"/>
          <p:nvPr/>
        </p:nvSpPr>
        <p:spPr>
          <a:xfrm>
            <a:off x="4258696" y="830907"/>
            <a:ext cx="4023882" cy="461665"/>
          </a:xfrm>
          <a:prstGeom prst="rect">
            <a:avLst/>
          </a:prstGeom>
          <a:noFill/>
        </p:spPr>
        <p:txBody>
          <a:bodyPr wrap="square" rtlCol="0">
            <a:spAutoFit/>
          </a:bodyPr>
          <a:lstStyle/>
          <a:p>
            <a:r>
              <a:rPr lang="de-DE" sz="2400" dirty="0" err="1">
                <a:solidFill>
                  <a:schemeClr val="bg1"/>
                </a:solidFill>
              </a:rPr>
              <a:t>One</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these</a:t>
            </a:r>
            <a:r>
              <a:rPr lang="de-DE" sz="2400" dirty="0">
                <a:solidFill>
                  <a:schemeClr val="bg1"/>
                </a:solidFill>
              </a:rPr>
              <a:t> </a:t>
            </a:r>
            <a:r>
              <a:rPr lang="de-DE" sz="2400" dirty="0" err="1">
                <a:solidFill>
                  <a:schemeClr val="bg1"/>
                </a:solidFill>
              </a:rPr>
              <a:t>is</a:t>
            </a:r>
            <a:r>
              <a:rPr lang="de-DE" sz="2400" dirty="0">
                <a:solidFill>
                  <a:schemeClr val="bg1"/>
                </a:solidFill>
              </a:rPr>
              <a:t> </a:t>
            </a:r>
            <a:r>
              <a:rPr lang="de-DE" sz="2400" b="1" dirty="0" err="1">
                <a:solidFill>
                  <a:schemeClr val="bg1"/>
                </a:solidFill>
              </a:rPr>
              <a:t>difficult</a:t>
            </a:r>
            <a:r>
              <a:rPr lang="de-DE" sz="2400" dirty="0">
                <a:solidFill>
                  <a:schemeClr val="bg1"/>
                </a:solidFill>
              </a:rPr>
              <a:t>…</a:t>
            </a:r>
          </a:p>
        </p:txBody>
      </p:sp>
      <p:sp>
        <p:nvSpPr>
          <p:cNvPr id="18" name="Rechteck 17">
            <a:extLst>
              <a:ext uri="{FF2B5EF4-FFF2-40B4-BE49-F238E27FC236}">
                <a16:creationId xmlns:a16="http://schemas.microsoft.com/office/drawing/2014/main" id="{D454B30B-8924-40E6-BE94-A8CAC970645A}"/>
              </a:ext>
            </a:extLst>
          </p:cNvPr>
          <p:cNvSpPr/>
          <p:nvPr/>
        </p:nvSpPr>
        <p:spPr>
          <a:xfrm>
            <a:off x="6744503" y="415992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375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Grafik 1">
            <a:extLst>
              <a:ext uri="{FF2B5EF4-FFF2-40B4-BE49-F238E27FC236}">
                <a16:creationId xmlns:a16="http://schemas.microsoft.com/office/drawing/2014/main" id="{2C6E52CA-EF6A-4C5F-BD7C-AA0E834131D5}"/>
              </a:ext>
            </a:extLst>
          </p:cNvPr>
          <p:cNvPicPr>
            <a:picLocks noChangeAspect="1"/>
          </p:cNvPicPr>
          <p:nvPr/>
        </p:nvPicPr>
        <p:blipFill>
          <a:blip r:embed="rId3"/>
          <a:stretch>
            <a:fillRect/>
          </a:stretch>
        </p:blipFill>
        <p:spPr>
          <a:xfrm>
            <a:off x="7488282" y="924099"/>
            <a:ext cx="3464198" cy="2597336"/>
          </a:xfrm>
          <a:prstGeom prst="rect">
            <a:avLst/>
          </a:prstGeom>
        </p:spPr>
      </p:pic>
      <p:sp>
        <p:nvSpPr>
          <p:cNvPr id="23" name="Textfeld 22">
            <a:extLst>
              <a:ext uri="{FF2B5EF4-FFF2-40B4-BE49-F238E27FC236}">
                <a16:creationId xmlns:a16="http://schemas.microsoft.com/office/drawing/2014/main" id="{F6F99F06-0260-4EE5-9153-EA8B5F418344}"/>
              </a:ext>
            </a:extLst>
          </p:cNvPr>
          <p:cNvSpPr txBox="1"/>
          <p:nvPr/>
        </p:nvSpPr>
        <p:spPr>
          <a:xfrm>
            <a:off x="439638" y="1123383"/>
            <a:ext cx="5930682" cy="584775"/>
          </a:xfrm>
          <a:prstGeom prst="rect">
            <a:avLst/>
          </a:prstGeom>
          <a:noFill/>
        </p:spPr>
        <p:txBody>
          <a:bodyPr wrap="square" rtlCol="0">
            <a:spAutoFit/>
          </a:bodyPr>
          <a:lstStyle/>
          <a:p>
            <a:r>
              <a:rPr lang="de-DE" sz="3200" dirty="0">
                <a:solidFill>
                  <a:schemeClr val="bg1"/>
                </a:solidFill>
              </a:rPr>
              <a:t>Option 2: The </a:t>
            </a:r>
            <a:r>
              <a:rPr lang="de-DE" sz="3200" b="1" dirty="0" err="1">
                <a:solidFill>
                  <a:schemeClr val="bg1"/>
                </a:solidFill>
              </a:rPr>
              <a:t>theoretical</a:t>
            </a:r>
            <a:r>
              <a:rPr lang="de-DE" sz="3200" dirty="0">
                <a:solidFill>
                  <a:schemeClr val="bg1"/>
                </a:solidFill>
              </a:rPr>
              <a:t> route</a:t>
            </a:r>
          </a:p>
        </p:txBody>
      </p:sp>
      <p:cxnSp>
        <p:nvCxnSpPr>
          <p:cNvPr id="14" name="Gerade Verbindung mit Pfeil 13">
            <a:extLst>
              <a:ext uri="{FF2B5EF4-FFF2-40B4-BE49-F238E27FC236}">
                <a16:creationId xmlns:a16="http://schemas.microsoft.com/office/drawing/2014/main" id="{70F99278-06D9-420C-BCE0-0F4CE3F26F42}"/>
              </a:ext>
            </a:extLst>
          </p:cNvPr>
          <p:cNvCxnSpPr>
            <a:cxnSpLocks/>
          </p:cNvCxnSpPr>
          <p:nvPr/>
        </p:nvCxnSpPr>
        <p:spPr>
          <a:xfrm>
            <a:off x="3759200" y="3726062"/>
            <a:ext cx="2557619" cy="8799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59E37A04-5A56-4EEB-AED6-B34BE8747EA9}"/>
              </a:ext>
            </a:extLst>
          </p:cNvPr>
          <p:cNvSpPr txBox="1"/>
          <p:nvPr/>
        </p:nvSpPr>
        <p:spPr>
          <a:xfrm>
            <a:off x="439638" y="3477878"/>
            <a:ext cx="4023882" cy="461665"/>
          </a:xfrm>
          <a:prstGeom prst="rect">
            <a:avLst/>
          </a:prstGeom>
          <a:noFill/>
        </p:spPr>
        <p:txBody>
          <a:bodyPr wrap="square" rtlCol="0">
            <a:spAutoFit/>
          </a:bodyPr>
          <a:lstStyle/>
          <a:p>
            <a:r>
              <a:rPr lang="de-DE" sz="2400" dirty="0" err="1">
                <a:solidFill>
                  <a:schemeClr val="bg1"/>
                </a:solidFill>
              </a:rPr>
              <a:t>How</a:t>
            </a:r>
            <a:r>
              <a:rPr lang="de-DE" sz="2400" dirty="0">
                <a:solidFill>
                  <a:schemeClr val="bg1"/>
                </a:solidFill>
              </a:rPr>
              <a:t> </a:t>
            </a:r>
            <a:r>
              <a:rPr lang="de-DE" sz="2400" dirty="0" err="1">
                <a:solidFill>
                  <a:schemeClr val="bg1"/>
                </a:solidFill>
              </a:rPr>
              <a:t>can</a:t>
            </a:r>
            <a:r>
              <a:rPr lang="de-DE" sz="2400" dirty="0">
                <a:solidFill>
                  <a:schemeClr val="bg1"/>
                </a:solidFill>
              </a:rPr>
              <a:t> </a:t>
            </a:r>
            <a:r>
              <a:rPr lang="de-DE" sz="2400" dirty="0" err="1">
                <a:solidFill>
                  <a:schemeClr val="bg1"/>
                </a:solidFill>
              </a:rPr>
              <a:t>we</a:t>
            </a:r>
            <a:r>
              <a:rPr lang="de-DE" sz="2400" dirty="0">
                <a:solidFill>
                  <a:schemeClr val="bg1"/>
                </a:solidFill>
              </a:rPr>
              <a:t> </a:t>
            </a:r>
            <a:r>
              <a:rPr lang="de-DE" sz="2400" dirty="0" err="1">
                <a:solidFill>
                  <a:schemeClr val="bg1"/>
                </a:solidFill>
              </a:rPr>
              <a:t>get</a:t>
            </a:r>
            <a:r>
              <a:rPr lang="de-DE" sz="2400" dirty="0">
                <a:solidFill>
                  <a:schemeClr val="bg1"/>
                </a:solidFill>
              </a:rPr>
              <a:t> </a:t>
            </a:r>
            <a:r>
              <a:rPr lang="de-DE" sz="2400" dirty="0" err="1">
                <a:solidFill>
                  <a:schemeClr val="bg1"/>
                </a:solidFill>
              </a:rPr>
              <a:t>these</a:t>
            </a:r>
            <a:r>
              <a:rPr lang="de-DE" sz="2400" dirty="0">
                <a:solidFill>
                  <a:schemeClr val="bg1"/>
                </a:solidFill>
              </a:rPr>
              <a:t>?</a:t>
            </a:r>
          </a:p>
        </p:txBody>
      </p:sp>
      <p:sp>
        <p:nvSpPr>
          <p:cNvPr id="18" name="Rechteck 17">
            <a:extLst>
              <a:ext uri="{FF2B5EF4-FFF2-40B4-BE49-F238E27FC236}">
                <a16:creationId xmlns:a16="http://schemas.microsoft.com/office/drawing/2014/main" id="{D454B30B-8924-40E6-BE94-A8CAC970645A}"/>
              </a:ext>
            </a:extLst>
          </p:cNvPr>
          <p:cNvSpPr/>
          <p:nvPr/>
        </p:nvSpPr>
        <p:spPr>
          <a:xfrm>
            <a:off x="6744503" y="415992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6" name="Textfeld 15">
            <a:extLst>
              <a:ext uri="{FF2B5EF4-FFF2-40B4-BE49-F238E27FC236}">
                <a16:creationId xmlns:a16="http://schemas.microsoft.com/office/drawing/2014/main" id="{50AD359E-59A2-4C4C-94C7-C1290BA38E22}"/>
              </a:ext>
            </a:extLst>
          </p:cNvPr>
          <p:cNvSpPr txBox="1"/>
          <p:nvPr/>
        </p:nvSpPr>
        <p:spPr>
          <a:xfrm>
            <a:off x="427152" y="4667654"/>
            <a:ext cx="4023882" cy="1200329"/>
          </a:xfrm>
          <a:prstGeom prst="rect">
            <a:avLst/>
          </a:prstGeom>
          <a:noFill/>
        </p:spPr>
        <p:txBody>
          <a:bodyPr wrap="square" rtlCol="0">
            <a:spAutoFit/>
          </a:bodyPr>
          <a:lstStyle/>
          <a:p>
            <a:r>
              <a:rPr lang="de-DE" sz="2400" i="1" dirty="0">
                <a:solidFill>
                  <a:schemeClr val="bg1"/>
                </a:solidFill>
              </a:rPr>
              <a:t>Theory-</a:t>
            </a:r>
            <a:r>
              <a:rPr lang="de-DE" sz="2400" i="1" dirty="0" err="1">
                <a:solidFill>
                  <a:schemeClr val="bg1"/>
                </a:solidFill>
              </a:rPr>
              <a:t>informed</a:t>
            </a:r>
            <a:r>
              <a:rPr lang="de-DE" sz="2400" i="1" dirty="0">
                <a:solidFill>
                  <a:schemeClr val="bg1"/>
                </a:solidFill>
              </a:rPr>
              <a:t> </a:t>
            </a:r>
            <a:r>
              <a:rPr lang="de-DE" sz="2400" i="1" dirty="0" err="1">
                <a:solidFill>
                  <a:schemeClr val="bg1"/>
                </a:solidFill>
              </a:rPr>
              <a:t>causal</a:t>
            </a:r>
            <a:r>
              <a:rPr lang="de-DE" sz="2400" i="1" dirty="0">
                <a:solidFill>
                  <a:schemeClr val="bg1"/>
                </a:solidFill>
              </a:rPr>
              <a:t>, formal, </a:t>
            </a:r>
            <a:r>
              <a:rPr lang="de-DE" sz="2400" i="1" dirty="0" err="1">
                <a:solidFill>
                  <a:schemeClr val="bg1"/>
                </a:solidFill>
              </a:rPr>
              <a:t>cognitive</a:t>
            </a:r>
            <a:r>
              <a:rPr lang="de-DE" sz="2400" i="1" dirty="0">
                <a:solidFill>
                  <a:schemeClr val="bg1"/>
                </a:solidFill>
              </a:rPr>
              <a:t>, &amp; </a:t>
            </a:r>
            <a:r>
              <a:rPr lang="de-DE" sz="2400" i="1" dirty="0" err="1">
                <a:solidFill>
                  <a:schemeClr val="bg1"/>
                </a:solidFill>
              </a:rPr>
              <a:t>computational</a:t>
            </a:r>
            <a:r>
              <a:rPr lang="de-DE" sz="2400" i="1" dirty="0">
                <a:solidFill>
                  <a:schemeClr val="bg1"/>
                </a:solidFill>
              </a:rPr>
              <a:t> </a:t>
            </a:r>
            <a:r>
              <a:rPr lang="de-DE" sz="2400" i="1" dirty="0" err="1">
                <a:solidFill>
                  <a:schemeClr val="bg1"/>
                </a:solidFill>
              </a:rPr>
              <a:t>modeling</a:t>
            </a:r>
            <a:endParaRPr lang="de-DE" sz="2400" i="1" dirty="0">
              <a:solidFill>
                <a:schemeClr val="bg1"/>
              </a:solidFill>
            </a:endParaRPr>
          </a:p>
        </p:txBody>
      </p:sp>
      <p:cxnSp>
        <p:nvCxnSpPr>
          <p:cNvPr id="17" name="Gerade Verbindung mit Pfeil 16">
            <a:extLst>
              <a:ext uri="{FF2B5EF4-FFF2-40B4-BE49-F238E27FC236}">
                <a16:creationId xmlns:a16="http://schemas.microsoft.com/office/drawing/2014/main" id="{E90C530F-9C97-42F7-B2D0-6AD9FDC2ECD0}"/>
              </a:ext>
            </a:extLst>
          </p:cNvPr>
          <p:cNvCxnSpPr>
            <a:cxnSpLocks/>
          </p:cNvCxnSpPr>
          <p:nvPr/>
        </p:nvCxnSpPr>
        <p:spPr>
          <a:xfrm>
            <a:off x="2011680" y="4001186"/>
            <a:ext cx="0" cy="66646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081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5991477" cy="4893647"/>
          </a:xfrm>
          <a:prstGeom prst="rect">
            <a:avLst/>
          </a:prstGeom>
        </p:spPr>
        <p:txBody>
          <a:bodyPr wrap="square">
            <a:spAutoFit/>
          </a:bodyPr>
          <a:lstStyle/>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Colantonio</a:t>
            </a:r>
            <a:r>
              <a:rPr lang="de-CH" sz="2400" dirty="0">
                <a:solidFill>
                  <a:schemeClr val="bg1"/>
                </a:solidFill>
                <a:latin typeface="Arial" panose="020B0604020202020204" pitchFamily="34" charset="0"/>
                <a:cs typeface="Arial" panose="020B0604020202020204" pitchFamily="34" charset="0"/>
              </a:rPr>
              <a:t>, … Brod, et al. (2024)</a:t>
            </a:r>
          </a:p>
          <a:p>
            <a:r>
              <a:rPr lang="de-CH" sz="2400" dirty="0" err="1">
                <a:solidFill>
                  <a:schemeClr val="bg1"/>
                </a:solidFill>
                <a:latin typeface="Arial" panose="020B0604020202020204" pitchFamily="34" charset="0"/>
                <a:cs typeface="Arial" panose="020B0604020202020204" pitchFamily="34" charset="0"/>
              </a:rPr>
              <a:t>Bayesian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computational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of</a:t>
            </a:r>
            <a:r>
              <a:rPr lang="de-CH" sz="2400" dirty="0">
                <a:solidFill>
                  <a:schemeClr val="bg1"/>
                </a:solidFill>
                <a:latin typeface="Arial" panose="020B0604020202020204" pitchFamily="34" charset="0"/>
                <a:cs typeface="Arial" panose="020B0604020202020204" pitchFamily="34" charset="0"/>
              </a:rPr>
              <a:t> belief </a:t>
            </a:r>
            <a:r>
              <a:rPr lang="de-CH" sz="2400" dirty="0" err="1">
                <a:solidFill>
                  <a:schemeClr val="bg1"/>
                </a:solidFill>
                <a:latin typeface="Arial" panose="020B0604020202020204" pitchFamily="34" charset="0"/>
                <a:cs typeface="Arial" panose="020B0604020202020204" pitchFamily="34" charset="0"/>
              </a:rPr>
              <a:t>updating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about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water</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displacement</a:t>
            </a:r>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volume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matters</a:t>
            </a:r>
            <a:r>
              <a:rPr lang="de-CH" sz="2400" dirty="0">
                <a:solidFill>
                  <a:schemeClr val="bg1"/>
                </a:solidFill>
                <a:latin typeface="Arial" panose="020B0604020202020204" pitchFamily="34" charset="0"/>
                <a:cs typeface="Arial" panose="020B0604020202020204" pitchFamily="34" charset="0"/>
              </a:rPr>
              <a:t>» vs. «material </a:t>
            </a:r>
            <a:r>
              <a:rPr lang="de-CH" sz="2400" dirty="0" err="1">
                <a:solidFill>
                  <a:schemeClr val="bg1"/>
                </a:solidFill>
                <a:latin typeface="Arial" panose="020B0604020202020204" pitchFamily="34" charset="0"/>
                <a:cs typeface="Arial" panose="020B0604020202020204" pitchFamily="34" charset="0"/>
              </a:rPr>
              <a:t>matters</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Knowledge </a:t>
            </a:r>
            <a:r>
              <a:rPr lang="de-CH" sz="2400" dirty="0" err="1">
                <a:solidFill>
                  <a:schemeClr val="bg1"/>
                </a:solidFill>
                <a:latin typeface="Arial" panose="020B0604020202020204" pitchFamily="34" charset="0"/>
                <a:cs typeface="Arial" panose="020B0604020202020204" pitchFamily="34" charset="0"/>
              </a:rPr>
              <a:t>tracing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showing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how</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predicting</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affects</a:t>
            </a:r>
            <a:r>
              <a:rPr lang="de-CH" sz="2400" dirty="0">
                <a:solidFill>
                  <a:schemeClr val="bg1"/>
                </a:solidFill>
                <a:latin typeface="Arial" panose="020B0604020202020204" pitchFamily="34" charset="0"/>
                <a:cs typeface="Arial" panose="020B0604020202020204" pitchFamily="34" charset="0"/>
              </a:rPr>
              <a:t> </a:t>
            </a:r>
            <a:r>
              <a:rPr lang="de-CH" sz="2400" b="1" dirty="0">
                <a:solidFill>
                  <a:schemeClr val="bg1"/>
                </a:solidFill>
                <a:latin typeface="Arial" panose="020B0604020202020204" pitchFamily="34" charset="0"/>
                <a:cs typeface="Arial" panose="020B0604020202020204" pitchFamily="34" charset="0"/>
              </a:rPr>
              <a:t>belief </a:t>
            </a:r>
            <a:r>
              <a:rPr lang="de-CH" sz="2400" b="1" dirty="0" err="1">
                <a:solidFill>
                  <a:schemeClr val="bg1"/>
                </a:solidFill>
                <a:latin typeface="Arial" panose="020B0604020202020204" pitchFamily="34" charset="0"/>
                <a:cs typeface="Arial" panose="020B0604020202020204" pitchFamily="34" charset="0"/>
              </a:rPr>
              <a:t>revision</a:t>
            </a:r>
            <a:endParaRPr lang="de-CH" sz="2400" b="1" dirty="0">
              <a:solidFill>
                <a:schemeClr val="bg1"/>
              </a:solidFill>
              <a:latin typeface="Arial" panose="020B0604020202020204" pitchFamily="34" charset="0"/>
              <a:cs typeface="Arial" panose="020B0604020202020204" pitchFamily="34" charset="0"/>
            </a:endParaRPr>
          </a:p>
        </p:txBody>
      </p:sp>
      <p:pic>
        <p:nvPicPr>
          <p:cNvPr id="2" name="Grafik 1">
            <a:extLst>
              <a:ext uri="{FF2B5EF4-FFF2-40B4-BE49-F238E27FC236}">
                <a16:creationId xmlns:a16="http://schemas.microsoft.com/office/drawing/2014/main" id="{C48D3823-8274-4ACD-BC49-8C19FE4443AB}"/>
              </a:ext>
            </a:extLst>
          </p:cNvPr>
          <p:cNvPicPr>
            <a:picLocks noChangeAspect="1"/>
          </p:cNvPicPr>
          <p:nvPr/>
        </p:nvPicPr>
        <p:blipFill>
          <a:blip r:embed="rId3"/>
          <a:stretch>
            <a:fillRect/>
          </a:stretch>
        </p:blipFill>
        <p:spPr>
          <a:xfrm>
            <a:off x="1143296" y="2878212"/>
            <a:ext cx="4324559" cy="2212975"/>
          </a:xfrm>
          <a:prstGeom prst="rect">
            <a:avLst/>
          </a:prstGeom>
        </p:spPr>
      </p:pic>
    </p:spTree>
    <p:extLst>
      <p:ext uri="{BB962C8B-B14F-4D97-AF65-F5344CB8AC3E}">
        <p14:creationId xmlns:p14="http://schemas.microsoft.com/office/powerpoint/2010/main" val="27428321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6347077" cy="5262979"/>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Edelsbrunner &amp; Singmann (2026)</a:t>
            </a:r>
          </a:p>
          <a:p>
            <a:r>
              <a:rPr lang="de-CH" sz="2400" dirty="0">
                <a:solidFill>
                  <a:schemeClr val="bg1"/>
                </a:solidFill>
                <a:latin typeface="Arial" panose="020B0604020202020204" pitchFamily="34" charset="0"/>
                <a:cs typeface="Arial" panose="020B0604020202020204" pitchFamily="34" charset="0"/>
              </a:rPr>
              <a:t>Wiener Diffusion </a:t>
            </a:r>
            <a:r>
              <a:rPr lang="de-CH" sz="2400" dirty="0" err="1">
                <a:solidFill>
                  <a:schemeClr val="bg1"/>
                </a:solidFill>
                <a:latin typeface="Arial" panose="020B0604020202020204" pitchFamily="34" charset="0"/>
                <a:cs typeface="Arial" panose="020B0604020202020204" pitchFamily="34" charset="0"/>
              </a:rPr>
              <a:t>model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about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suppressing</a:t>
            </a:r>
            <a:r>
              <a:rPr lang="de-CH" sz="2400" dirty="0">
                <a:solidFill>
                  <a:schemeClr val="bg1"/>
                </a:solidFill>
                <a:latin typeface="Arial" panose="020B0604020202020204" pitchFamily="34" charset="0"/>
                <a:cs typeface="Arial" panose="020B0604020202020204" pitchFamily="34" charset="0"/>
              </a:rPr>
              <a:t> intuitive </a:t>
            </a:r>
            <a:r>
              <a:rPr lang="de-CH" sz="2400" dirty="0" err="1">
                <a:solidFill>
                  <a:schemeClr val="bg1"/>
                </a:solidFill>
                <a:latin typeface="Arial" panose="020B0604020202020204" pitchFamily="34" charset="0"/>
                <a:cs typeface="Arial" panose="020B0604020202020204" pitchFamily="34" charset="0"/>
              </a:rPr>
              <a:t>conceptions</a:t>
            </a:r>
            <a:r>
              <a:rPr lang="de-CH" sz="24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Shtulman</a:t>
            </a:r>
            <a:r>
              <a:rPr lang="de-CH" sz="1200" dirty="0">
                <a:solidFill>
                  <a:schemeClr val="bg1"/>
                </a:solidFill>
                <a:latin typeface="Arial" panose="020B0604020202020204" pitchFamily="34" charset="0"/>
                <a:cs typeface="Arial" panose="020B0604020202020204" pitchFamily="34" charset="0"/>
              </a:rPr>
              <a:t> &amp; Valcarcel, 2012)</a:t>
            </a:r>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fires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provide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heat</a:t>
            </a:r>
            <a:r>
              <a:rPr lang="de-CH" sz="2400" dirty="0">
                <a:solidFill>
                  <a:schemeClr val="bg1"/>
                </a:solidFill>
                <a:latin typeface="Arial" panose="020B0604020202020204" pitchFamily="34" charset="0"/>
                <a:cs typeface="Arial" panose="020B0604020202020204" pitchFamily="34" charset="0"/>
              </a:rPr>
              <a:t>» vs. «</a:t>
            </a:r>
            <a:r>
              <a:rPr lang="de-CH" sz="2400" dirty="0" err="1">
                <a:solidFill>
                  <a:schemeClr val="bg1"/>
                </a:solidFill>
                <a:latin typeface="Arial" panose="020B0604020202020204" pitchFamily="34" charset="0"/>
                <a:cs typeface="Arial" panose="020B0604020202020204" pitchFamily="34" charset="0"/>
              </a:rPr>
              <a:t>coats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provide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heat</a:t>
            </a:r>
            <a:r>
              <a:rPr lang="de-CH" sz="2400" dirty="0">
                <a:solidFill>
                  <a:schemeClr val="bg1"/>
                </a:solidFill>
                <a:latin typeface="Arial" panose="020B0604020202020204" pitchFamily="34" charset="0"/>
                <a:cs typeface="Arial" panose="020B0604020202020204" pitchFamily="34" charset="0"/>
              </a:rPr>
              <a:t>»</a:t>
            </a: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endParaRPr lang="de-CH" sz="2400"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Science </a:t>
            </a:r>
            <a:r>
              <a:rPr lang="de-CH" sz="2400" dirty="0" err="1">
                <a:solidFill>
                  <a:schemeClr val="bg1"/>
                </a:solidFill>
                <a:latin typeface="Arial" panose="020B0604020202020204" pitchFamily="34" charset="0"/>
                <a:cs typeface="Arial" panose="020B0604020202020204" pitchFamily="34" charset="0"/>
              </a:rPr>
              <a:t>expertise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affects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primarily</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correct</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statements</a:t>
            </a:r>
            <a:endParaRPr lang="de-CH" sz="2400" b="1" dirty="0">
              <a:solidFill>
                <a:schemeClr val="bg1"/>
              </a:solidFill>
              <a:latin typeface="Arial" panose="020B0604020202020204" pitchFamily="34" charset="0"/>
              <a:cs typeface="Arial" panose="020B0604020202020204" pitchFamily="34" charset="0"/>
            </a:endParaRPr>
          </a:p>
          <a:p>
            <a:r>
              <a:rPr lang="de-CH" sz="2400" dirty="0">
                <a:solidFill>
                  <a:schemeClr val="bg1"/>
                </a:solidFill>
                <a:latin typeface="Arial" panose="020B0604020202020204" pitchFamily="34" charset="0"/>
                <a:cs typeface="Arial" panose="020B0604020202020204" pitchFamily="34" charset="0"/>
              </a:rPr>
              <a:t>Longitudinal design:</a:t>
            </a:r>
          </a:p>
          <a:p>
            <a:r>
              <a:rPr lang="de-CH" sz="2400" b="1" dirty="0" err="1">
                <a:solidFill>
                  <a:schemeClr val="bg1"/>
                </a:solidFill>
                <a:latin typeface="Arial" panose="020B0604020202020204" pitchFamily="34" charset="0"/>
                <a:cs typeface="Arial" panose="020B0604020202020204" pitchFamily="34" charset="0"/>
              </a:rPr>
              <a:t>No</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relation</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with</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inhibition</a:t>
            </a:r>
            <a:endParaRPr lang="de-CH" sz="2400" b="1" dirty="0">
              <a:solidFill>
                <a:schemeClr val="bg1"/>
              </a:solidFill>
              <a:latin typeface="Arial" panose="020B0604020202020204" pitchFamily="34" charset="0"/>
              <a:cs typeface="Arial" panose="020B0604020202020204" pitchFamily="34" charset="0"/>
            </a:endParaRPr>
          </a:p>
        </p:txBody>
      </p:sp>
      <p:pic>
        <p:nvPicPr>
          <p:cNvPr id="3" name="Grafik 2">
            <a:extLst>
              <a:ext uri="{FF2B5EF4-FFF2-40B4-BE49-F238E27FC236}">
                <a16:creationId xmlns:a16="http://schemas.microsoft.com/office/drawing/2014/main" id="{1D236525-E192-4548-89A7-494CFF3C9300}"/>
              </a:ext>
            </a:extLst>
          </p:cNvPr>
          <p:cNvPicPr>
            <a:picLocks noChangeAspect="1"/>
          </p:cNvPicPr>
          <p:nvPr/>
        </p:nvPicPr>
        <p:blipFill>
          <a:blip r:embed="rId3"/>
          <a:stretch>
            <a:fillRect/>
          </a:stretch>
        </p:blipFill>
        <p:spPr>
          <a:xfrm>
            <a:off x="2910985" y="2967736"/>
            <a:ext cx="3833495" cy="1702624"/>
          </a:xfrm>
          <a:prstGeom prst="rect">
            <a:avLst/>
          </a:prstGeom>
        </p:spPr>
      </p:pic>
      <p:pic>
        <p:nvPicPr>
          <p:cNvPr id="4" name="Grafik 3">
            <a:extLst>
              <a:ext uri="{FF2B5EF4-FFF2-40B4-BE49-F238E27FC236}">
                <a16:creationId xmlns:a16="http://schemas.microsoft.com/office/drawing/2014/main" id="{8D81F470-6CA0-4D94-9BD1-4655D809A2EB}"/>
              </a:ext>
            </a:extLst>
          </p:cNvPr>
          <p:cNvPicPr>
            <a:picLocks noChangeAspect="1"/>
          </p:cNvPicPr>
          <p:nvPr/>
        </p:nvPicPr>
        <p:blipFill>
          <a:blip r:embed="rId4"/>
          <a:stretch>
            <a:fillRect/>
          </a:stretch>
        </p:blipFill>
        <p:spPr>
          <a:xfrm>
            <a:off x="512415" y="2969736"/>
            <a:ext cx="2419601" cy="918527"/>
          </a:xfrm>
          <a:prstGeom prst="rect">
            <a:avLst/>
          </a:prstGeom>
        </p:spPr>
      </p:pic>
    </p:spTree>
    <p:extLst>
      <p:ext uri="{BB962C8B-B14F-4D97-AF65-F5344CB8AC3E}">
        <p14:creationId xmlns:p14="http://schemas.microsoft.com/office/powerpoint/2010/main" val="1591861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6795303" y="2778165"/>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531243" y="1258766"/>
            <a:ext cx="5991477" cy="3785652"/>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Back </a:t>
            </a:r>
            <a:r>
              <a:rPr lang="de-CH" sz="2400" dirty="0" err="1">
                <a:solidFill>
                  <a:schemeClr val="bg1"/>
                </a:solidFill>
                <a:latin typeface="Arial" panose="020B0604020202020204" pitchFamily="34" charset="0"/>
                <a:cs typeface="Arial" panose="020B0604020202020204" pitchFamily="34" charset="0"/>
              </a:rPr>
              <a:t>to</a:t>
            </a:r>
            <a:r>
              <a:rPr lang="de-CH" sz="2400" dirty="0">
                <a:solidFill>
                  <a:schemeClr val="bg1"/>
                </a:solidFill>
                <a:latin typeface="Arial" panose="020B0604020202020204" pitchFamily="34" charset="0"/>
                <a:cs typeface="Arial" panose="020B0604020202020204" pitchFamily="34" charset="0"/>
              </a:rPr>
              <a:t> (semi-) </a:t>
            </a:r>
            <a:r>
              <a:rPr lang="de-CH" sz="2400" dirty="0" err="1">
                <a:solidFill>
                  <a:schemeClr val="bg1"/>
                </a:solidFill>
                <a:latin typeface="Arial" panose="020B0604020202020204" pitchFamily="34" charset="0"/>
                <a:cs typeface="Arial" panose="020B0604020202020204" pitchFamily="34" charset="0"/>
              </a:rPr>
              <a:t>confirmatory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modeling</a:t>
            </a:r>
            <a:r>
              <a:rPr lang="de-CH" sz="2400" dirty="0">
                <a:solidFill>
                  <a:schemeClr val="bg1"/>
                </a:solidFill>
                <a:latin typeface="Arial" panose="020B0604020202020204" pitchFamily="34" charset="0"/>
                <a:cs typeface="Arial" panose="020B0604020202020204" pitchFamily="34" charset="0"/>
              </a:rPr>
              <a:t> (e.g., Wilson, 1989)</a:t>
            </a: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Cognitive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a:solidFill>
                  <a:schemeClr val="bg1"/>
                </a:solidFill>
                <a:latin typeface="Arial" panose="020B0604020202020204" pitchFamily="34" charset="0"/>
                <a:cs typeface="Arial" panose="020B0604020202020204" pitchFamily="34" charset="0"/>
              </a:rPr>
              <a:t>Computational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a:solidFill>
                  <a:schemeClr val="bg1"/>
                </a:solidFill>
                <a:latin typeface="Arial" panose="020B0604020202020204" pitchFamily="34" charset="0"/>
                <a:cs typeface="Arial" panose="020B0604020202020204" pitchFamily="34" charset="0"/>
              </a:rPr>
              <a:t>Formal </a:t>
            </a:r>
            <a:r>
              <a:rPr lang="de-CH" sz="2400" dirty="0" err="1">
                <a:solidFill>
                  <a:schemeClr val="bg1"/>
                </a:solidFill>
                <a:latin typeface="Arial" panose="020B0604020202020204" pitchFamily="34" charset="0"/>
                <a:cs typeface="Arial" panose="020B0604020202020204" pitchFamily="34" charset="0"/>
              </a:rPr>
              <a:t>modeling</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Causal</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inference</a:t>
            </a:r>
            <a:endParaRPr lang="de-CH"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1360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8" name="Rechteck 17">
            <a:extLst>
              <a:ext uri="{FF2B5EF4-FFF2-40B4-BE49-F238E27FC236}">
                <a16:creationId xmlns:a16="http://schemas.microsoft.com/office/drawing/2014/main" id="{D454B30B-8924-40E6-BE94-A8CAC970645A}"/>
              </a:ext>
            </a:extLst>
          </p:cNvPr>
          <p:cNvSpPr/>
          <p:nvPr/>
        </p:nvSpPr>
        <p:spPr>
          <a:xfrm>
            <a:off x="1016295" y="4814404"/>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409323" y="1003808"/>
            <a:ext cx="5991477" cy="1200329"/>
          </a:xfrm>
          <a:prstGeom prst="rect">
            <a:avLst/>
          </a:prstGeom>
        </p:spPr>
        <p:txBody>
          <a:bodyPr wrap="square">
            <a:spAutoFit/>
          </a:bodyPr>
          <a:lstStyle/>
          <a:p>
            <a:pPr marL="342900" indent="-342900">
              <a:buFontTx/>
              <a:buChar char="-"/>
            </a:pPr>
            <a:r>
              <a:rPr lang="de-CH" sz="2400" dirty="0">
                <a:solidFill>
                  <a:schemeClr val="bg1"/>
                </a:solidFill>
                <a:latin typeface="Arial" panose="020B0604020202020204" pitchFamily="34" charset="0"/>
                <a:cs typeface="Arial" panose="020B0604020202020204" pitchFamily="34" charset="0"/>
              </a:rPr>
              <a:t>The </a:t>
            </a:r>
            <a:r>
              <a:rPr lang="de-CH" sz="2400" dirty="0" err="1">
                <a:solidFill>
                  <a:schemeClr val="bg1"/>
                </a:solidFill>
                <a:latin typeface="Arial" panose="020B0604020202020204" pitchFamily="34" charset="0"/>
                <a:cs typeface="Arial" panose="020B0604020202020204" pitchFamily="34" charset="0"/>
              </a:rPr>
              <a:t>future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is</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cognitive</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formalized</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computational</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hierarchical</a:t>
            </a:r>
            <a:r>
              <a:rPr lang="de-CH" sz="2400" dirty="0">
                <a:solidFill>
                  <a:schemeClr val="bg1"/>
                </a:solidFill>
                <a:latin typeface="Arial" panose="020B0604020202020204" pitchFamily="34" charset="0"/>
                <a:cs typeface="Arial" panose="020B0604020202020204" pitchFamily="34" charset="0"/>
              </a:rPr>
              <a:t>, and </a:t>
            </a:r>
            <a:r>
              <a:rPr lang="de-CH" sz="2400" b="1" dirty="0" err="1">
                <a:solidFill>
                  <a:schemeClr val="bg1"/>
                </a:solidFill>
                <a:latin typeface="Arial" panose="020B0604020202020204" pitchFamily="34" charset="0"/>
                <a:cs typeface="Arial" panose="020B0604020202020204" pitchFamily="34" charset="0"/>
              </a:rPr>
              <a:t>causally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informed</a:t>
            </a:r>
            <a:r>
              <a:rPr lang="de-CH" sz="2400" dirty="0">
                <a:solidFill>
                  <a:schemeClr val="bg1"/>
                </a:solidFill>
                <a:latin typeface="Arial" panose="020B0604020202020204" pitchFamily="34" charset="0"/>
                <a:cs typeface="Arial" panose="020B0604020202020204" pitchFamily="34" charset="0"/>
              </a:rPr>
              <a:t> </a:t>
            </a:r>
            <a:r>
              <a:rPr lang="de-CH" sz="1200" dirty="0">
                <a:solidFill>
                  <a:schemeClr val="bg1"/>
                </a:solidFill>
                <a:latin typeface="Arial" panose="020B0604020202020204" pitchFamily="34" charset="0"/>
                <a:cs typeface="Arial" panose="020B0604020202020204" pitchFamily="34" charset="0"/>
              </a:rPr>
              <a:t>(</a:t>
            </a:r>
            <a:r>
              <a:rPr lang="de-CH" sz="1200" dirty="0" err="1">
                <a:solidFill>
                  <a:schemeClr val="bg1"/>
                </a:solidFill>
                <a:latin typeface="Arial" panose="020B0604020202020204" pitchFamily="34" charset="0"/>
                <a:cs typeface="Arial" panose="020B0604020202020204" pitchFamily="34" charset="0"/>
              </a:rPr>
              <a:t>Robinaugh</a:t>
            </a:r>
            <a:r>
              <a:rPr lang="de-CH" sz="1200" dirty="0">
                <a:solidFill>
                  <a:schemeClr val="bg1"/>
                </a:solidFill>
                <a:latin typeface="Arial" panose="020B0604020202020204" pitchFamily="34" charset="0"/>
                <a:cs typeface="Arial" panose="020B0604020202020204" pitchFamily="34" charset="0"/>
              </a:rPr>
              <a:t> et al., 2021)</a:t>
            </a:r>
          </a:p>
        </p:txBody>
      </p:sp>
      <p:sp>
        <p:nvSpPr>
          <p:cNvPr id="9" name="Rechteck 8">
            <a:extLst>
              <a:ext uri="{FF2B5EF4-FFF2-40B4-BE49-F238E27FC236}">
                <a16:creationId xmlns:a16="http://schemas.microsoft.com/office/drawing/2014/main" id="{5A79FBB3-2DDC-41F5-A81A-2C1D6EC15E12}"/>
              </a:ext>
            </a:extLst>
          </p:cNvPr>
          <p:cNvSpPr/>
          <p:nvPr/>
        </p:nvSpPr>
        <p:spPr>
          <a:xfrm>
            <a:off x="6400800" y="839649"/>
            <a:ext cx="5652253" cy="5386090"/>
          </a:xfrm>
          <a:prstGeom prst="rect">
            <a:avLst/>
          </a:prstGeom>
        </p:spPr>
        <p:txBody>
          <a:bodyPr wrap="square">
            <a:spAutoFit/>
          </a:bodyPr>
          <a:lstStyle/>
          <a:p>
            <a:r>
              <a:rPr lang="de-CH" sz="2400" b="1" dirty="0" err="1">
                <a:solidFill>
                  <a:schemeClr val="bg1"/>
                </a:solidFill>
                <a:latin typeface="Arial" panose="020B0604020202020204" pitchFamily="34" charset="0"/>
                <a:cs typeface="Arial" panose="020B0604020202020204" pitchFamily="34" charset="0"/>
              </a:rPr>
              <a:t>Specific</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wishes</a:t>
            </a:r>
            <a:endParaRPr lang="de-CH" sz="2400" b="1" dirty="0">
              <a:solidFill>
                <a:schemeClr val="bg1"/>
              </a:solidFill>
              <a:latin typeface="Arial" panose="020B0604020202020204" pitchFamily="34" charset="0"/>
              <a:cs typeface="Arial" panose="020B0604020202020204" pitchFamily="34" charset="0"/>
            </a:endParaRPr>
          </a:p>
          <a:p>
            <a:endParaRPr lang="de-CH" sz="2000" dirty="0">
              <a:solidFill>
                <a:schemeClr val="bg1"/>
              </a:solidFill>
              <a:latin typeface="Arial" panose="020B0604020202020204" pitchFamily="34" charset="0"/>
              <a:cs typeface="Arial" panose="020B0604020202020204" pitchFamily="34" charset="0"/>
            </a:endParaRPr>
          </a:p>
          <a:p>
            <a:r>
              <a:rPr lang="de-CH" sz="2000" dirty="0">
                <a:solidFill>
                  <a:schemeClr val="bg1"/>
                </a:solidFill>
                <a:latin typeface="Arial" panose="020B0604020202020204" pitchFamily="34" charset="0"/>
                <a:cs typeface="Arial" panose="020B0604020202020204" pitchFamily="34" charset="0"/>
              </a:rPr>
              <a:t>- Multilevel </a:t>
            </a:r>
            <a:r>
              <a:rPr lang="de-CH" sz="2000" dirty="0" err="1">
                <a:solidFill>
                  <a:schemeClr val="bg1"/>
                </a:solidFill>
                <a:latin typeface="Arial" panose="020B0604020202020204" pitchFamily="34" charset="0"/>
                <a:cs typeface="Arial" panose="020B0604020202020204" pitchFamily="34" charset="0"/>
              </a:rPr>
              <a:t>modeling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for</a:t>
            </a:r>
            <a:r>
              <a:rPr lang="de-CH" sz="2000" dirty="0">
                <a:solidFill>
                  <a:schemeClr val="bg1"/>
                </a:solidFill>
                <a:latin typeface="Arial" panose="020B0604020202020204" pitchFamily="34" charset="0"/>
                <a:cs typeface="Arial" panose="020B0604020202020204" pitchFamily="34" charset="0"/>
              </a:rPr>
              <a:t> hybrid </a:t>
            </a:r>
            <a:r>
              <a:rPr lang="de-CH" sz="2000" dirty="0" err="1">
                <a:solidFill>
                  <a:schemeClr val="bg1"/>
                </a:solidFill>
                <a:latin typeface="Arial" panose="020B0604020202020204" pitchFamily="34" charset="0"/>
                <a:cs typeface="Arial" panose="020B0604020202020204" pitchFamily="34" charset="0"/>
              </a:rPr>
              <a:t>overall</a:t>
            </a:r>
            <a:r>
              <a:rPr lang="de-CH" sz="2000" dirty="0">
                <a:solidFill>
                  <a:schemeClr val="bg1"/>
                </a:solidFill>
                <a:latin typeface="Arial" panose="020B0604020202020204" pitchFamily="34" charset="0"/>
                <a:cs typeface="Arial" panose="020B0604020202020204" pitchFamily="34" charset="0"/>
              </a:rPr>
              <a:t>/item-</a:t>
            </a:r>
            <a:r>
              <a:rPr lang="de-CH" sz="2000" dirty="0" err="1">
                <a:solidFill>
                  <a:schemeClr val="bg1"/>
                </a:solidFill>
                <a:latin typeface="Arial" panose="020B0604020202020204" pitchFamily="34" charset="0"/>
                <a:cs typeface="Arial" panose="020B0604020202020204" pitchFamily="34" charset="0"/>
              </a:rPr>
              <a:t>specific</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effects</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Donnellan</a:t>
            </a:r>
            <a:r>
              <a:rPr lang="de-CH" sz="2000" dirty="0">
                <a:solidFill>
                  <a:schemeClr val="bg1"/>
                </a:solidFill>
                <a:latin typeface="Arial" panose="020B0604020202020204" pitchFamily="34" charset="0"/>
                <a:cs typeface="Arial" panose="020B0604020202020204" pitchFamily="34" charset="0"/>
              </a:rPr>
              <a:t> et al., 2023)</a:t>
            </a:r>
          </a:p>
          <a:p>
            <a:endParaRPr lang="de-CH" sz="2000" dirty="0">
              <a:solidFill>
                <a:schemeClr val="bg1"/>
              </a:solidFill>
              <a:latin typeface="Arial" panose="020B0604020202020204" pitchFamily="34" charset="0"/>
              <a:cs typeface="Arial" panose="020B0604020202020204" pitchFamily="34" charset="0"/>
            </a:endParaRPr>
          </a:p>
          <a:p>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Cognitive</a:t>
            </a:r>
            <a:r>
              <a:rPr lang="de-CH" sz="2000" dirty="0">
                <a:solidFill>
                  <a:schemeClr val="bg1"/>
                </a:solidFill>
                <a:latin typeface="Arial" panose="020B0604020202020204" pitchFamily="34" charset="0"/>
                <a:cs typeface="Arial" panose="020B0604020202020204" pitchFamily="34" charset="0"/>
              </a:rPr>
              <a:t> SEM </a:t>
            </a:r>
            <a:r>
              <a:rPr lang="de-CH" sz="2000" dirty="0" err="1">
                <a:solidFill>
                  <a:schemeClr val="bg1"/>
                </a:solidFill>
                <a:latin typeface="Arial" panose="020B0604020202020204" pitchFamily="34" charset="0"/>
                <a:cs typeface="Arial" panose="020B0604020202020204" pitchFamily="34" charset="0"/>
              </a:rPr>
              <a:t>hybrids</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Rouder</a:t>
            </a:r>
            <a:r>
              <a:rPr lang="de-CH" sz="2000" dirty="0">
                <a:solidFill>
                  <a:schemeClr val="bg1"/>
                </a:solidFill>
                <a:latin typeface="Arial" panose="020B0604020202020204" pitchFamily="34" charset="0"/>
                <a:cs typeface="Arial" panose="020B0604020202020204" pitchFamily="34" charset="0"/>
              </a:rPr>
              <a:t> &amp; </a:t>
            </a:r>
            <a:r>
              <a:rPr lang="de-CH" sz="2000" dirty="0" err="1">
                <a:solidFill>
                  <a:schemeClr val="bg1"/>
                </a:solidFill>
                <a:latin typeface="Arial" panose="020B0604020202020204" pitchFamily="34" charset="0"/>
                <a:cs typeface="Arial" panose="020B0604020202020204" pitchFamily="34" charset="0"/>
              </a:rPr>
              <a:t>Haaf</a:t>
            </a:r>
            <a:r>
              <a:rPr lang="de-CH" sz="2000" dirty="0">
                <a:solidFill>
                  <a:schemeClr val="bg1"/>
                </a:solidFill>
                <a:latin typeface="Arial" panose="020B0604020202020204" pitchFamily="34" charset="0"/>
                <a:cs typeface="Arial" panose="020B0604020202020204" pitchFamily="34" charset="0"/>
              </a:rPr>
              <a:t>, 2019)</a:t>
            </a:r>
          </a:p>
          <a:p>
            <a:endParaRPr lang="de-CH" sz="20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Data-/</a:t>
            </a:r>
            <a:r>
              <a:rPr lang="de-CH" sz="2000" dirty="0" err="1">
                <a:solidFill>
                  <a:schemeClr val="bg1"/>
                </a:solidFill>
                <a:latin typeface="Arial" panose="020B0604020202020204" pitchFamily="34" charset="0"/>
                <a:cs typeface="Arial" panose="020B0604020202020204" pitchFamily="34" charset="0"/>
              </a:rPr>
              <a:t>GenAI-driven</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modeling</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observational</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learning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analytics</a:t>
            </a:r>
            <a:r>
              <a:rPr lang="de-CH" sz="2000" dirty="0">
                <a:solidFill>
                  <a:schemeClr val="bg1"/>
                </a:solidFill>
                <a:latin typeface="Arial" panose="020B0604020202020204" pitchFamily="34" charset="0"/>
                <a:cs typeface="Arial" panose="020B0604020202020204" pitchFamily="34" charset="0"/>
              </a:rPr>
              <a:t>) will </a:t>
            </a:r>
            <a:r>
              <a:rPr lang="de-CH" sz="2000" dirty="0" err="1">
                <a:solidFill>
                  <a:schemeClr val="bg1"/>
                </a:solidFill>
                <a:latin typeface="Arial" panose="020B0604020202020204" pitchFamily="34" charset="0"/>
                <a:cs typeface="Arial" panose="020B0604020202020204" pitchFamily="34" charset="0"/>
              </a:rPr>
              <a:t>be</a:t>
            </a:r>
            <a:r>
              <a:rPr lang="de-CH" sz="2000" dirty="0">
                <a:solidFill>
                  <a:schemeClr val="bg1"/>
                </a:solidFill>
                <a:latin typeface="Arial" panose="020B0604020202020204" pitchFamily="34" charset="0"/>
                <a:cs typeface="Arial" panose="020B0604020202020204" pitchFamily="34" charset="0"/>
              </a:rPr>
              <a:t> </a:t>
            </a:r>
            <a:r>
              <a:rPr lang="de-CH" sz="2000" b="1" dirty="0">
                <a:solidFill>
                  <a:schemeClr val="bg1"/>
                </a:solidFill>
                <a:latin typeface="Arial" panose="020B0604020202020204" pitchFamily="34" charset="0"/>
                <a:cs typeface="Arial" panose="020B0604020202020204" pitchFamily="34" charset="0"/>
              </a:rPr>
              <a:t>futile </a:t>
            </a:r>
            <a:r>
              <a:rPr lang="de-CH" sz="2000" b="1" dirty="0" err="1">
                <a:solidFill>
                  <a:schemeClr val="bg1"/>
                </a:solidFill>
                <a:latin typeface="Arial" panose="020B0604020202020204" pitchFamily="34" charset="0"/>
                <a:cs typeface="Arial" panose="020B0604020202020204" pitchFamily="34" charset="0"/>
              </a:rPr>
              <a:t>for</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causal</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aims</a:t>
            </a:r>
            <a:r>
              <a:rPr lang="de-CH" sz="2000" dirty="0">
                <a:solidFill>
                  <a:schemeClr val="bg1"/>
                </a:solidFill>
                <a:latin typeface="Arial" panose="020B0604020202020204" pitchFamily="34" charset="0"/>
                <a:cs typeface="Arial" panose="020B0604020202020204" pitchFamily="34" charset="0"/>
              </a:rPr>
              <a:t> (e.g., </a:t>
            </a:r>
            <a:r>
              <a:rPr lang="de-CH" sz="2000" dirty="0" err="1">
                <a:solidFill>
                  <a:schemeClr val="bg1"/>
                </a:solidFill>
                <a:latin typeface="Arial" panose="020B0604020202020204" pitchFamily="34" charset="0"/>
                <a:cs typeface="Arial" panose="020B0604020202020204" pitchFamily="34" charset="0"/>
              </a:rPr>
              <a:t>personalization</a:t>
            </a:r>
            <a:r>
              <a:rPr lang="de-CH" sz="2000" dirty="0">
                <a:solidFill>
                  <a:schemeClr val="bg1"/>
                </a:solidFill>
                <a:latin typeface="Arial" panose="020B0604020202020204" pitchFamily="34" charset="0"/>
                <a:cs typeface="Arial" panose="020B0604020202020204" pitchFamily="34" charset="0"/>
              </a:rPr>
              <a:t>)</a:t>
            </a:r>
          </a:p>
          <a:p>
            <a:pPr marL="342900" indent="-342900">
              <a:buFontTx/>
              <a:buChar char="-"/>
            </a:pPr>
            <a:endParaRPr lang="de-CH" sz="20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dirty="0">
                <a:solidFill>
                  <a:schemeClr val="bg1"/>
                </a:solidFill>
                <a:latin typeface="Arial" panose="020B0604020202020204" pitchFamily="34" charset="0"/>
                <a:cs typeface="Arial" panose="020B0604020202020204" pitchFamily="34" charset="0"/>
              </a:rPr>
              <a:t>Re-</a:t>
            </a:r>
            <a:r>
              <a:rPr lang="de-CH" sz="2000" dirty="0" err="1">
                <a:solidFill>
                  <a:schemeClr val="bg1"/>
                </a:solidFill>
                <a:latin typeface="Arial" panose="020B0604020202020204" pitchFamily="34" charset="0"/>
                <a:cs typeface="Arial" panose="020B0604020202020204" pitchFamily="34" charset="0"/>
              </a:rPr>
              <a:t>thinking</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of</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our</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field</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as</a:t>
            </a:r>
            <a:r>
              <a:rPr lang="de-CH" sz="2000" dirty="0">
                <a:solidFill>
                  <a:schemeClr val="bg1"/>
                </a:solidFill>
                <a:latin typeface="Arial" panose="020B0604020202020204" pitchFamily="34" charset="0"/>
                <a:cs typeface="Arial" panose="020B0604020202020204" pitchFamily="34" charset="0"/>
              </a:rPr>
              <a:t> a </a:t>
            </a:r>
            <a:r>
              <a:rPr lang="de-CH" sz="2000" b="1" dirty="0" err="1">
                <a:solidFill>
                  <a:schemeClr val="bg1"/>
                </a:solidFill>
                <a:latin typeface="Arial" panose="020B0604020202020204" pitchFamily="34" charset="0"/>
                <a:cs typeface="Arial" panose="020B0604020202020204" pitchFamily="34" charset="0"/>
              </a:rPr>
              <a:t>cognitive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science</a:t>
            </a:r>
            <a:r>
              <a:rPr lang="de-CH" sz="2000" b="1"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that</a:t>
            </a:r>
            <a:r>
              <a:rPr lang="de-CH" sz="2000" dirty="0">
                <a:solidFill>
                  <a:schemeClr val="bg1"/>
                </a:solidFill>
                <a:latin typeface="Arial" panose="020B0604020202020204" pitchFamily="34" charset="0"/>
                <a:cs typeface="Arial" panose="020B0604020202020204" pitchFamily="34" charset="0"/>
              </a:rPr>
              <a:t> </a:t>
            </a:r>
            <a:r>
              <a:rPr lang="de-CH" sz="2000" dirty="0" err="1">
                <a:solidFill>
                  <a:schemeClr val="bg1"/>
                </a:solidFill>
                <a:latin typeface="Arial" panose="020B0604020202020204" pitchFamily="34" charset="0"/>
                <a:cs typeface="Arial" panose="020B0604020202020204" pitchFamily="34" charset="0"/>
              </a:rPr>
              <a:t>goes</a:t>
            </a:r>
            <a:r>
              <a:rPr lang="de-CH" sz="2000"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from</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the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process</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of</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the</a:t>
            </a:r>
            <a:r>
              <a:rPr lang="de-CH" sz="2000" b="1" dirty="0">
                <a:solidFill>
                  <a:schemeClr val="bg1"/>
                </a:solidFill>
                <a:latin typeface="Arial" panose="020B0604020202020204" pitchFamily="34" charset="0"/>
                <a:cs typeface="Arial" panose="020B0604020202020204" pitchFamily="34" charset="0"/>
              </a:rPr>
              <a:t> individual </a:t>
            </a:r>
            <a:r>
              <a:rPr lang="de-CH" sz="2000" b="1" dirty="0" err="1">
                <a:solidFill>
                  <a:schemeClr val="bg1"/>
                </a:solidFill>
                <a:latin typeface="Arial" panose="020B0604020202020204" pitchFamily="34" charset="0"/>
                <a:cs typeface="Arial" panose="020B0604020202020204" pitchFamily="34" charset="0"/>
              </a:rPr>
              <a:t>to</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personalized</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learning</a:t>
            </a:r>
            <a:r>
              <a:rPr lang="de-CH" sz="2000" b="1" dirty="0">
                <a:solidFill>
                  <a:schemeClr val="bg1"/>
                </a:solidFill>
                <a:latin typeface="Arial" panose="020B0604020202020204" pitchFamily="34" charset="0"/>
                <a:cs typeface="Arial" panose="020B0604020202020204" pitchFamily="34" charset="0"/>
              </a:rPr>
              <a:t> and </a:t>
            </a:r>
            <a:r>
              <a:rPr lang="de-CH" sz="2000" b="1" dirty="0" err="1">
                <a:solidFill>
                  <a:schemeClr val="bg1"/>
                </a:solidFill>
                <a:latin typeface="Arial" panose="020B0604020202020204" pitchFamily="34" charset="0"/>
                <a:cs typeface="Arial" panose="020B0604020202020204" pitchFamily="34" charset="0"/>
              </a:rPr>
              <a:t>population</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development</a:t>
            </a:r>
            <a:endParaRPr lang="de-CH" sz="2000" b="1"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000" b="1" dirty="0">
                <a:solidFill>
                  <a:schemeClr val="bg1"/>
                </a:solidFill>
                <a:latin typeface="Arial" panose="020B0604020202020204" pitchFamily="34" charset="0"/>
                <a:cs typeface="Arial" panose="020B0604020202020204" pitchFamily="34" charset="0"/>
              </a:rPr>
              <a:t>A </a:t>
            </a:r>
            <a:r>
              <a:rPr lang="de-CH" sz="2000" b="1" dirty="0" err="1">
                <a:solidFill>
                  <a:srgbClr val="C00000"/>
                </a:solidFill>
                <a:latin typeface="Arial" panose="020B0604020202020204" pitchFamily="34" charset="0"/>
                <a:cs typeface="Arial" panose="020B0604020202020204" pitchFamily="34" charset="0"/>
              </a:rPr>
              <a:t>daring</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cognitive</a:t>
            </a:r>
            <a:r>
              <a:rPr lang="de-CH" sz="2000" b="1" dirty="0">
                <a:solidFill>
                  <a:schemeClr val="bg1"/>
                </a:solidFill>
                <a:latin typeface="Arial" panose="020B0604020202020204" pitchFamily="34" charset="0"/>
                <a:cs typeface="Arial" panose="020B0604020202020204" pitchFamily="34" charset="0"/>
              </a:rPr>
              <a:t> </a:t>
            </a:r>
            <a:r>
              <a:rPr lang="de-CH" sz="2000" b="1" dirty="0" err="1">
                <a:solidFill>
                  <a:schemeClr val="bg1"/>
                </a:solidFill>
                <a:latin typeface="Arial" panose="020B0604020202020204" pitchFamily="34" charset="0"/>
                <a:cs typeface="Arial" panose="020B0604020202020204" pitchFamily="34" charset="0"/>
              </a:rPr>
              <a:t>science</a:t>
            </a:r>
            <a:endParaRPr lang="de-CH" sz="2000" b="1" dirty="0">
              <a:solidFill>
                <a:schemeClr val="bg1"/>
              </a:solidFill>
              <a:latin typeface="Arial" panose="020B0604020202020204" pitchFamily="34" charset="0"/>
              <a:cs typeface="Arial" panose="020B0604020202020204" pitchFamily="34" charset="0"/>
            </a:endParaRPr>
          </a:p>
        </p:txBody>
      </p:sp>
      <p:pic>
        <p:nvPicPr>
          <p:cNvPr id="10" name="Grafik 9">
            <a:extLst>
              <a:ext uri="{FF2B5EF4-FFF2-40B4-BE49-F238E27FC236}">
                <a16:creationId xmlns:a16="http://schemas.microsoft.com/office/drawing/2014/main" id="{49B1AC58-F6F9-4C87-99A8-A6372D2BD9CD}"/>
              </a:ext>
            </a:extLst>
          </p:cNvPr>
          <p:cNvPicPr>
            <a:picLocks noChangeAspect="1"/>
          </p:cNvPicPr>
          <p:nvPr/>
        </p:nvPicPr>
        <p:blipFill rotWithShape="1">
          <a:blip r:embed="rId3"/>
          <a:srcRect t="1" r="1422" b="1788"/>
          <a:stretch/>
        </p:blipFill>
        <p:spPr>
          <a:xfrm>
            <a:off x="2947481" y="2220353"/>
            <a:ext cx="3348942" cy="2501569"/>
          </a:xfrm>
          <a:prstGeom prst="rect">
            <a:avLst/>
          </a:prstGeom>
        </p:spPr>
      </p:pic>
      <p:pic>
        <p:nvPicPr>
          <p:cNvPr id="11" name="Grafik 10">
            <a:extLst>
              <a:ext uri="{FF2B5EF4-FFF2-40B4-BE49-F238E27FC236}">
                <a16:creationId xmlns:a16="http://schemas.microsoft.com/office/drawing/2014/main" id="{8A65D870-D409-48AE-A6AC-0A81B98DB2EE}"/>
              </a:ext>
            </a:extLst>
          </p:cNvPr>
          <p:cNvPicPr>
            <a:picLocks noChangeAspect="1"/>
          </p:cNvPicPr>
          <p:nvPr/>
        </p:nvPicPr>
        <p:blipFill>
          <a:blip r:embed="rId4"/>
          <a:stretch>
            <a:fillRect/>
          </a:stretch>
        </p:blipFill>
        <p:spPr>
          <a:xfrm>
            <a:off x="344848" y="2510473"/>
            <a:ext cx="2419601" cy="918527"/>
          </a:xfrm>
          <a:prstGeom prst="rect">
            <a:avLst/>
          </a:prstGeom>
        </p:spPr>
      </p:pic>
      <p:pic>
        <p:nvPicPr>
          <p:cNvPr id="13" name="Grafik 12">
            <a:extLst>
              <a:ext uri="{FF2B5EF4-FFF2-40B4-BE49-F238E27FC236}">
                <a16:creationId xmlns:a16="http://schemas.microsoft.com/office/drawing/2014/main" id="{5D472142-53C5-438A-9A41-96B83182EF49}"/>
              </a:ext>
            </a:extLst>
          </p:cNvPr>
          <p:cNvPicPr>
            <a:picLocks noChangeAspect="1"/>
          </p:cNvPicPr>
          <p:nvPr/>
        </p:nvPicPr>
        <p:blipFill>
          <a:blip r:embed="rId5"/>
          <a:stretch>
            <a:fillRect/>
          </a:stretch>
        </p:blipFill>
        <p:spPr>
          <a:xfrm>
            <a:off x="344847" y="3429000"/>
            <a:ext cx="2419601" cy="1208710"/>
          </a:xfrm>
          <a:prstGeom prst="rect">
            <a:avLst/>
          </a:prstGeom>
        </p:spPr>
      </p:pic>
      <p:cxnSp>
        <p:nvCxnSpPr>
          <p:cNvPr id="3" name="Gerader Verbinder 2">
            <a:extLst>
              <a:ext uri="{FF2B5EF4-FFF2-40B4-BE49-F238E27FC236}">
                <a16:creationId xmlns:a16="http://schemas.microsoft.com/office/drawing/2014/main" id="{7844DEC5-0780-4B4E-9A99-63BA4F19503D}"/>
              </a:ext>
            </a:extLst>
          </p:cNvPr>
          <p:cNvCxnSpPr/>
          <p:nvPr/>
        </p:nvCxnSpPr>
        <p:spPr>
          <a:xfrm flipV="1">
            <a:off x="2764448" y="2357120"/>
            <a:ext cx="578192" cy="15335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E7FE0E8-CAC3-4F1E-AFDC-3DEDD516599F}"/>
              </a:ext>
            </a:extLst>
          </p:cNvPr>
          <p:cNvCxnSpPr>
            <a:cxnSpLocks/>
          </p:cNvCxnSpPr>
          <p:nvPr/>
        </p:nvCxnSpPr>
        <p:spPr>
          <a:xfrm flipH="1" flipV="1">
            <a:off x="3901440" y="2356168"/>
            <a:ext cx="690880" cy="82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0FFAD2A3-3339-44A1-8972-0D3E61522716}"/>
              </a:ext>
            </a:extLst>
          </p:cNvPr>
          <p:cNvCxnSpPr>
            <a:cxnSpLocks/>
          </p:cNvCxnSpPr>
          <p:nvPr/>
        </p:nvCxnSpPr>
        <p:spPr>
          <a:xfrm flipH="1" flipV="1">
            <a:off x="3901440" y="3312160"/>
            <a:ext cx="965200" cy="386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1FFBCDB-0CE4-48D9-A72C-18CADB0ED5F6}"/>
              </a:ext>
            </a:extLst>
          </p:cNvPr>
          <p:cNvCxnSpPr>
            <a:cxnSpLocks/>
            <a:stCxn id="13" idx="3"/>
          </p:cNvCxnSpPr>
          <p:nvPr/>
        </p:nvCxnSpPr>
        <p:spPr>
          <a:xfrm>
            <a:off x="2764448" y="4033355"/>
            <a:ext cx="740752" cy="458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2CF4D10-7C66-4F0A-AEAA-1DFC3AD72EEA}"/>
              </a:ext>
            </a:extLst>
          </p:cNvPr>
          <p:cNvCxnSpPr>
            <a:cxnSpLocks/>
          </p:cNvCxnSpPr>
          <p:nvPr/>
        </p:nvCxnSpPr>
        <p:spPr>
          <a:xfrm flipH="1" flipV="1">
            <a:off x="3901440" y="3229928"/>
            <a:ext cx="1168400" cy="822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429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 name="Rechteck 11">
            <a:extLst>
              <a:ext uri="{FF2B5EF4-FFF2-40B4-BE49-F238E27FC236}">
                <a16:creationId xmlns:a16="http://schemas.microsoft.com/office/drawing/2014/main" id="{E4FA739D-D3E9-4FFF-9C18-AA1205AB630C}"/>
              </a:ext>
            </a:extLst>
          </p:cNvPr>
          <p:cNvSpPr/>
          <p:nvPr/>
        </p:nvSpPr>
        <p:spPr>
          <a:xfrm>
            <a:off x="409323" y="1003808"/>
            <a:ext cx="5991477" cy="4524315"/>
          </a:xfrm>
          <a:prstGeom prst="rect">
            <a:avLst/>
          </a:prstGeom>
        </p:spPr>
        <p:txBody>
          <a:bodyPr wrap="square">
            <a:spAutoFit/>
          </a:bodyPr>
          <a:lstStyle/>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We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need</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to</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be</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daring</a:t>
            </a:r>
            <a:endParaRPr lang="de-CH" sz="2400" b="1"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Translate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even</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vague</a:t>
            </a:r>
            <a:r>
              <a:rPr lang="de-CH" sz="2400" dirty="0">
                <a:solidFill>
                  <a:schemeClr val="bg1"/>
                </a:solidFill>
                <a:latin typeface="Arial" panose="020B0604020202020204" pitchFamily="34" charset="0"/>
                <a:cs typeface="Arial" panose="020B0604020202020204" pitchFamily="34" charset="0"/>
              </a:rPr>
              <a:t>/ad hoc </a:t>
            </a:r>
            <a:r>
              <a:rPr lang="de-CH" sz="2400" b="1" dirty="0" err="1">
                <a:solidFill>
                  <a:schemeClr val="bg1"/>
                </a:solidFill>
                <a:latin typeface="Arial" panose="020B0604020202020204" pitchFamily="34" charset="0"/>
                <a:cs typeface="Arial" panose="020B0604020202020204" pitchFamily="34" charset="0"/>
              </a:rPr>
              <a:t>theories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into</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statistical</a:t>
            </a:r>
            <a:r>
              <a:rPr lang="de-CH" sz="2400" dirty="0">
                <a:solidFill>
                  <a:schemeClr val="bg1"/>
                </a:solidFill>
                <a:latin typeface="Arial" panose="020B0604020202020204" pitchFamily="34" charset="0"/>
                <a:cs typeface="Arial" panose="020B0604020202020204" pitchFamily="34" charset="0"/>
              </a:rPr>
              <a:t>/formal </a:t>
            </a:r>
            <a:r>
              <a:rPr lang="de-CH" sz="2400" dirty="0" err="1">
                <a:solidFill>
                  <a:schemeClr val="bg1"/>
                </a:solidFill>
                <a:latin typeface="Arial" panose="020B0604020202020204" pitchFamily="34" charset="0"/>
                <a:cs typeface="Arial" panose="020B0604020202020204" pitchFamily="34" charset="0"/>
              </a:rPr>
              <a:t>models</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b="1" dirty="0" err="1">
                <a:solidFill>
                  <a:schemeClr val="bg1"/>
                </a:solidFill>
                <a:latin typeface="Arial" panose="020B0604020202020204" pitchFamily="34" charset="0"/>
                <a:cs typeface="Arial" panose="020B0604020202020204" pitchFamily="34" charset="0"/>
              </a:rPr>
              <a:t>Reject</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methodological</a:t>
            </a:r>
            <a:r>
              <a:rPr lang="de-CH" sz="2400" b="1"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rigidity</a:t>
            </a:r>
            <a:r>
              <a:rPr lang="de-CH" sz="2400" b="1"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that</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discounts</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our</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theories</a:t>
            </a: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endParaRPr lang="de-CH" sz="2400" dirty="0">
              <a:solidFill>
                <a:schemeClr val="bg1"/>
              </a:solidFill>
              <a:latin typeface="Arial" panose="020B0604020202020204" pitchFamily="34" charset="0"/>
              <a:cs typeface="Arial" panose="020B0604020202020204" pitchFamily="34" charset="0"/>
            </a:endParaRPr>
          </a:p>
          <a:p>
            <a:pPr marL="342900" indent="-342900">
              <a:buFontTx/>
              <a:buChar char="-"/>
            </a:pPr>
            <a:r>
              <a:rPr lang="de-CH" sz="2400" dirty="0" err="1">
                <a:solidFill>
                  <a:schemeClr val="bg1"/>
                </a:solidFill>
                <a:latin typeface="Arial" panose="020B0604020202020204" pitchFamily="34" charset="0"/>
                <a:cs typeface="Arial" panose="020B0604020202020204" pitchFamily="34" charset="0"/>
              </a:rPr>
              <a:t>Emphasize</a:t>
            </a:r>
            <a:r>
              <a:rPr lang="de-CH" sz="2400" dirty="0">
                <a:solidFill>
                  <a:schemeClr val="bg1"/>
                </a:solidFill>
                <a:latin typeface="Arial" panose="020B0604020202020204" pitchFamily="34" charset="0"/>
                <a:cs typeface="Arial" panose="020B0604020202020204" pitchFamily="34" charset="0"/>
              </a:rPr>
              <a:t> and </a:t>
            </a:r>
            <a:r>
              <a:rPr lang="de-CH" sz="2400" dirty="0" err="1">
                <a:solidFill>
                  <a:schemeClr val="bg1"/>
                </a:solidFill>
                <a:latin typeface="Arial" panose="020B0604020202020204" pitchFamily="34" charset="0"/>
                <a:cs typeface="Arial" panose="020B0604020202020204" pitchFamily="34" charset="0"/>
              </a:rPr>
              <a:t>educate</a:t>
            </a:r>
            <a:r>
              <a:rPr lang="de-CH" sz="2400" dirty="0">
                <a:solidFill>
                  <a:schemeClr val="bg1"/>
                </a:solidFill>
                <a:latin typeface="Arial" panose="020B0604020202020204" pitchFamily="34" charset="0"/>
                <a:cs typeface="Arial" panose="020B0604020202020204" pitchFamily="34" charset="0"/>
              </a:rPr>
              <a:t> </a:t>
            </a:r>
            <a:r>
              <a:rPr lang="de-CH" sz="2400" b="1" dirty="0" err="1">
                <a:solidFill>
                  <a:schemeClr val="bg1"/>
                </a:solidFill>
                <a:latin typeface="Arial" panose="020B0604020202020204" pitchFamily="34" charset="0"/>
                <a:cs typeface="Arial" panose="020B0604020202020204" pitchFamily="34" charset="0"/>
              </a:rPr>
              <a:t>interdisciplinarity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education</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cognitive</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science</a:t>
            </a:r>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psychology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statistics</a:t>
            </a:r>
            <a:r>
              <a:rPr lang="de-CH" sz="2400" dirty="0">
                <a:solidFill>
                  <a:schemeClr val="bg1"/>
                </a:solidFill>
                <a:latin typeface="Arial" panose="020B0604020202020204" pitchFamily="34" charset="0"/>
                <a:cs typeface="Arial" panose="020B0604020202020204" pitchFamily="34" charset="0"/>
              </a:rPr>
              <a:t>/</a:t>
            </a:r>
            <a:r>
              <a:rPr lang="de-CH" sz="2400" dirty="0" err="1">
                <a:solidFill>
                  <a:schemeClr val="bg1"/>
                </a:solidFill>
                <a:latin typeface="Arial" panose="020B0604020202020204" pitchFamily="34" charset="0"/>
                <a:cs typeface="Arial" panose="020B0604020202020204" pitchFamily="34" charset="0"/>
              </a:rPr>
              <a:t>methodology</a:t>
            </a:r>
            <a:r>
              <a:rPr lang="de-CH" sz="2400" dirty="0">
                <a:solidFill>
                  <a:schemeClr val="bg1"/>
                </a:solidFill>
                <a:latin typeface="Arial" panose="020B0604020202020204" pitchFamily="34" charset="0"/>
                <a:cs typeface="Arial" panose="020B0604020202020204" pitchFamily="34" charset="0"/>
              </a:rPr>
              <a:t>, </a:t>
            </a:r>
            <a:r>
              <a:rPr lang="de-CH" sz="2400" dirty="0" err="1">
                <a:solidFill>
                  <a:schemeClr val="bg1"/>
                </a:solidFill>
                <a:latin typeface="Arial" panose="020B0604020202020204" pitchFamily="34" charset="0"/>
                <a:cs typeface="Arial" panose="020B0604020202020204" pitchFamily="34" charset="0"/>
              </a:rPr>
              <a:t>philosophy</a:t>
            </a:r>
            <a:r>
              <a:rPr lang="de-CH" sz="2400" dirty="0">
                <a:solidFill>
                  <a:schemeClr val="bg1"/>
                </a:solidFill>
                <a:latin typeface="Arial" panose="020B0604020202020204" pitchFamily="34" charset="0"/>
                <a:cs typeface="Arial" panose="020B0604020202020204" pitchFamily="34" charset="0"/>
              </a:rPr>
              <a:t>)</a:t>
            </a:r>
          </a:p>
        </p:txBody>
      </p:sp>
      <p:sp>
        <p:nvSpPr>
          <p:cNvPr id="2" name="Textfeld 1">
            <a:extLst>
              <a:ext uri="{FF2B5EF4-FFF2-40B4-BE49-F238E27FC236}">
                <a16:creationId xmlns:a16="http://schemas.microsoft.com/office/drawing/2014/main" id="{062C026A-910B-4BE1-86F1-3EB24777A884}"/>
              </a:ext>
            </a:extLst>
          </p:cNvPr>
          <p:cNvSpPr txBox="1"/>
          <p:nvPr/>
        </p:nvSpPr>
        <p:spPr>
          <a:xfrm>
            <a:off x="7486368" y="2755980"/>
            <a:ext cx="3217286" cy="1569660"/>
          </a:xfrm>
          <a:prstGeom prst="rect">
            <a:avLst/>
          </a:prstGeom>
          <a:noFill/>
        </p:spPr>
        <p:txBody>
          <a:bodyPr wrap="square" rtlCol="0">
            <a:spAutoFit/>
          </a:bodyPr>
          <a:lstStyle/>
          <a:p>
            <a:r>
              <a:rPr lang="de-DE" sz="2400" b="1" dirty="0" err="1">
                <a:solidFill>
                  <a:schemeClr val="bg1"/>
                </a:solidFill>
              </a:rPr>
              <a:t>Daring</a:t>
            </a:r>
            <a:r>
              <a:rPr lang="de-DE" sz="2400" b="1" dirty="0">
                <a:solidFill>
                  <a:schemeClr val="bg1"/>
                </a:solidFill>
              </a:rPr>
              <a:t>, </a:t>
            </a:r>
            <a:r>
              <a:rPr lang="de-DE" sz="2400" b="1" dirty="0" err="1">
                <a:solidFill>
                  <a:schemeClr val="bg1"/>
                </a:solidFill>
              </a:rPr>
              <a:t>theory-driven</a:t>
            </a:r>
            <a:r>
              <a:rPr lang="de-DE" sz="2400" b="1" dirty="0">
                <a:solidFill>
                  <a:schemeClr val="bg1"/>
                </a:solidFill>
              </a:rPr>
              <a:t>,</a:t>
            </a:r>
          </a:p>
          <a:p>
            <a:r>
              <a:rPr lang="de-DE" sz="2400" b="1" dirty="0">
                <a:solidFill>
                  <a:schemeClr val="bg1"/>
                </a:solidFill>
              </a:rPr>
              <a:t>&amp; </a:t>
            </a:r>
            <a:r>
              <a:rPr lang="de-DE" sz="2400" b="1" dirty="0" err="1">
                <a:solidFill>
                  <a:schemeClr val="bg1"/>
                </a:solidFill>
              </a:rPr>
              <a:t>interdisciplinary</a:t>
            </a:r>
            <a:r>
              <a:rPr lang="de-DE" sz="2400" b="1" dirty="0">
                <a:solidFill>
                  <a:schemeClr val="bg1"/>
                </a:solidFill>
              </a:rPr>
              <a:t> </a:t>
            </a:r>
            <a:r>
              <a:rPr lang="de-DE" sz="2400" b="1" dirty="0" err="1">
                <a:solidFill>
                  <a:schemeClr val="bg1"/>
                </a:solidFill>
              </a:rPr>
              <a:t>modeling</a:t>
            </a:r>
            <a:endParaRPr lang="de-DE" sz="2400" b="1" dirty="0">
              <a:solidFill>
                <a:schemeClr val="bg1"/>
              </a:solidFill>
            </a:endParaRPr>
          </a:p>
        </p:txBody>
      </p:sp>
    </p:spTree>
    <p:extLst>
      <p:ext uri="{BB962C8B-B14F-4D97-AF65-F5344CB8AC3E}">
        <p14:creationId xmlns:p14="http://schemas.microsoft.com/office/powerpoint/2010/main" val="542012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495925" y="4056063"/>
            <a:ext cx="9144000" cy="2387600"/>
          </a:xfrm>
        </p:spPr>
        <p:txBody>
          <a:bodyPr/>
          <a:lstStyle/>
          <a:p>
            <a:r>
              <a:rPr lang="en-US" dirty="0">
                <a:solidFill>
                  <a:schemeClr val="bg1"/>
                </a:solidFill>
              </a:rPr>
              <a:t>thank you.</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Rechteck 6">
            <a:extLst>
              <a:ext uri="{FF2B5EF4-FFF2-40B4-BE49-F238E27FC236}">
                <a16:creationId xmlns:a16="http://schemas.microsoft.com/office/drawing/2014/main" id="{35E35E79-5F38-4A11-A244-FA26F5A17D7F}"/>
              </a:ext>
            </a:extLst>
          </p:cNvPr>
          <p:cNvSpPr/>
          <p:nvPr/>
        </p:nvSpPr>
        <p:spPr>
          <a:xfrm>
            <a:off x="173648" y="156161"/>
            <a:ext cx="14466277" cy="5193729"/>
          </a:xfrm>
          <a:prstGeom prst="rect">
            <a:avLst/>
          </a:prstGeom>
        </p:spPr>
        <p:txBody>
          <a:bodyPr wrap="square">
            <a:spAutoFit/>
          </a:bodyPr>
          <a:lstStyle/>
          <a:p>
            <a:r>
              <a:rPr lang="en-US" sz="650" dirty="0">
                <a:solidFill>
                  <a:schemeClr val="bg1"/>
                </a:solidFill>
              </a:rPr>
              <a:t>Baird, J.-A., Andrich, D., </a:t>
            </a:r>
            <a:r>
              <a:rPr lang="en-US" sz="650" dirty="0" err="1">
                <a:solidFill>
                  <a:schemeClr val="bg1"/>
                </a:solidFill>
              </a:rPr>
              <a:t>Hopfenbeck</a:t>
            </a:r>
            <a:r>
              <a:rPr lang="en-US" sz="650" dirty="0">
                <a:solidFill>
                  <a:schemeClr val="bg1"/>
                </a:solidFill>
              </a:rPr>
              <a:t>, T. N., &amp; Stobart, G. (2017). Assessment and learning: Fields apart? </a:t>
            </a:r>
            <a:r>
              <a:rPr lang="en-US" sz="650" i="1" dirty="0">
                <a:solidFill>
                  <a:schemeClr val="bg1"/>
                </a:solidFill>
              </a:rPr>
              <a:t>Assessment in Education: Principles, Policy &amp; Practice</a:t>
            </a:r>
            <a:r>
              <a:rPr lang="en-US" sz="650" dirty="0">
                <a:solidFill>
                  <a:schemeClr val="bg1"/>
                </a:solidFill>
              </a:rPr>
              <a:t>, </a:t>
            </a:r>
            <a:r>
              <a:rPr lang="en-US" sz="650" i="1" dirty="0">
                <a:solidFill>
                  <a:schemeClr val="bg1"/>
                </a:solidFill>
              </a:rPr>
              <a:t>24</a:t>
            </a:r>
            <a:r>
              <a:rPr lang="en-US" sz="650" dirty="0">
                <a:solidFill>
                  <a:schemeClr val="bg1"/>
                </a:solidFill>
              </a:rPr>
              <a:t>(3), 317–350. </a:t>
            </a:r>
            <a:r>
              <a:rPr lang="en-US" sz="650" dirty="0">
                <a:solidFill>
                  <a:schemeClr val="bg1"/>
                </a:solidFill>
                <a:hlinkClick r:id="rId3">
                  <a:extLst>
                    <a:ext uri="{A12FA001-AC4F-418D-AE19-62706E023703}">
                      <ahyp:hlinkClr xmlns:ahyp="http://schemas.microsoft.com/office/drawing/2018/hyperlinkcolor" val="tx"/>
                    </a:ext>
                  </a:extLst>
                </a:hlinkClick>
              </a:rPr>
              <a:t>https://doi.org/10.1080/0969594X.2017.1319337</a:t>
            </a:r>
            <a:endParaRPr lang="en-US" sz="650" dirty="0">
              <a:solidFill>
                <a:schemeClr val="bg1"/>
              </a:solidFill>
            </a:endParaRPr>
          </a:p>
          <a:p>
            <a:r>
              <a:rPr lang="en-US" sz="650" dirty="0">
                <a:solidFill>
                  <a:schemeClr val="bg1"/>
                </a:solidFill>
              </a:rPr>
              <a:t>Boone, W. J., &amp; </a:t>
            </a:r>
            <a:r>
              <a:rPr lang="en-US" sz="650" dirty="0" err="1">
                <a:solidFill>
                  <a:schemeClr val="bg1"/>
                </a:solidFill>
              </a:rPr>
              <a:t>Staver</a:t>
            </a:r>
            <a:r>
              <a:rPr lang="en-US" sz="650" dirty="0">
                <a:solidFill>
                  <a:schemeClr val="bg1"/>
                </a:solidFill>
              </a:rPr>
              <a:t>, J. R. (2020). </a:t>
            </a:r>
            <a:r>
              <a:rPr lang="en-US" sz="650" i="1" dirty="0">
                <a:solidFill>
                  <a:schemeClr val="bg1"/>
                </a:solidFill>
              </a:rPr>
              <a:t>Advances in Rasch Analyses in the Human Sciences</a:t>
            </a:r>
            <a:r>
              <a:rPr lang="en-US" sz="650" dirty="0">
                <a:solidFill>
                  <a:schemeClr val="bg1"/>
                </a:solidFill>
              </a:rPr>
              <a:t>. Springer International Publishing. </a:t>
            </a:r>
            <a:r>
              <a:rPr lang="en-US" sz="650" dirty="0">
                <a:solidFill>
                  <a:schemeClr val="bg1"/>
                </a:solidFill>
                <a:hlinkClick r:id="rId4">
                  <a:extLst>
                    <a:ext uri="{A12FA001-AC4F-418D-AE19-62706E023703}">
                      <ahyp:hlinkClr xmlns:ahyp="http://schemas.microsoft.com/office/drawing/2018/hyperlinkcolor" val="tx"/>
                    </a:ext>
                  </a:extLst>
                </a:hlinkClick>
              </a:rPr>
              <a:t>https://doi.org/10.1007/978-3-030-43420-5</a:t>
            </a:r>
            <a:endParaRPr lang="en-US" sz="650" dirty="0">
              <a:solidFill>
                <a:schemeClr val="bg1"/>
              </a:solidFill>
            </a:endParaRPr>
          </a:p>
          <a:p>
            <a:r>
              <a:rPr lang="en-US" sz="650" dirty="0">
                <a:solidFill>
                  <a:schemeClr val="bg1"/>
                </a:solidFill>
              </a:rPr>
              <a:t>Chai, C. S., </a:t>
            </a:r>
            <a:r>
              <a:rPr lang="en-US" sz="650" dirty="0" err="1">
                <a:solidFill>
                  <a:schemeClr val="bg1"/>
                </a:solidFill>
              </a:rPr>
              <a:t>Khine</a:t>
            </a:r>
            <a:r>
              <a:rPr lang="en-US" sz="650" dirty="0">
                <a:solidFill>
                  <a:schemeClr val="bg1"/>
                </a:solidFill>
              </a:rPr>
              <a:t>, M. S., &amp; Teo, T. (2006). Epistemological beliefs on teaching and learning: A survey among pre‐service teachers in Singapore. </a:t>
            </a:r>
            <a:r>
              <a:rPr lang="en-US" sz="650" i="1" dirty="0">
                <a:solidFill>
                  <a:schemeClr val="bg1"/>
                </a:solidFill>
              </a:rPr>
              <a:t>Educational Media International</a:t>
            </a:r>
            <a:r>
              <a:rPr lang="en-US" sz="650" dirty="0">
                <a:solidFill>
                  <a:schemeClr val="bg1"/>
                </a:solidFill>
              </a:rPr>
              <a:t>, </a:t>
            </a:r>
            <a:r>
              <a:rPr lang="en-US" sz="650" i="1" dirty="0">
                <a:solidFill>
                  <a:schemeClr val="bg1"/>
                </a:solidFill>
              </a:rPr>
              <a:t>43</a:t>
            </a:r>
            <a:r>
              <a:rPr lang="en-US" sz="650" dirty="0">
                <a:solidFill>
                  <a:schemeClr val="bg1"/>
                </a:solidFill>
              </a:rPr>
              <a:t>(4), 285–298. </a:t>
            </a:r>
            <a:r>
              <a:rPr lang="en-US" sz="650" dirty="0">
                <a:solidFill>
                  <a:schemeClr val="bg1"/>
                </a:solidFill>
                <a:hlinkClick r:id="rId5">
                  <a:extLst>
                    <a:ext uri="{A12FA001-AC4F-418D-AE19-62706E023703}">
                      <ahyp:hlinkClr xmlns:ahyp="http://schemas.microsoft.com/office/drawing/2018/hyperlinkcolor" val="tx"/>
                    </a:ext>
                  </a:extLst>
                </a:hlinkClick>
              </a:rPr>
              <a:t>https://doi.org/10.1080/09523980600926242</a:t>
            </a:r>
            <a:endParaRPr lang="en-US" sz="650" dirty="0">
              <a:solidFill>
                <a:schemeClr val="bg1"/>
              </a:solidFill>
            </a:endParaRPr>
          </a:p>
          <a:p>
            <a:r>
              <a:rPr lang="en-US" sz="650" dirty="0">
                <a:solidFill>
                  <a:schemeClr val="bg1"/>
                </a:solidFill>
              </a:rPr>
              <a:t>Chan, K.-W., &amp; Elliott, R. G. (2004). Relational analysis of personal epistemology and conceptions about teaching and learning. </a:t>
            </a:r>
            <a:r>
              <a:rPr lang="en-US" sz="650" i="1" dirty="0">
                <a:solidFill>
                  <a:schemeClr val="bg1"/>
                </a:solidFill>
              </a:rPr>
              <a:t>Teaching and teacher education</a:t>
            </a:r>
            <a:r>
              <a:rPr lang="en-US" sz="650" dirty="0">
                <a:solidFill>
                  <a:schemeClr val="bg1"/>
                </a:solidFill>
              </a:rPr>
              <a:t>, </a:t>
            </a:r>
            <a:r>
              <a:rPr lang="en-US" sz="650" i="1" dirty="0">
                <a:solidFill>
                  <a:schemeClr val="bg1"/>
                </a:solidFill>
              </a:rPr>
              <a:t>20</a:t>
            </a:r>
            <a:r>
              <a:rPr lang="en-US" sz="650" dirty="0">
                <a:solidFill>
                  <a:schemeClr val="bg1"/>
                </a:solidFill>
              </a:rPr>
              <a:t>(8), 817–831.</a:t>
            </a:r>
          </a:p>
          <a:p>
            <a:r>
              <a:rPr lang="en-US" sz="650" dirty="0" err="1">
                <a:solidFill>
                  <a:schemeClr val="bg1"/>
                </a:solidFill>
              </a:rPr>
              <a:t>Colantonio</a:t>
            </a:r>
            <a:r>
              <a:rPr lang="en-US" sz="650" dirty="0">
                <a:solidFill>
                  <a:schemeClr val="bg1"/>
                </a:solidFill>
              </a:rPr>
              <a:t>, J. A., </a:t>
            </a:r>
            <a:r>
              <a:rPr lang="en-US" sz="650" dirty="0" err="1">
                <a:solidFill>
                  <a:schemeClr val="bg1"/>
                </a:solidFill>
              </a:rPr>
              <a:t>Bascandziev</a:t>
            </a:r>
            <a:r>
              <a:rPr lang="en-US" sz="650" dirty="0">
                <a:solidFill>
                  <a:schemeClr val="bg1"/>
                </a:solidFill>
              </a:rPr>
              <a:t>, I., Theobald, M., Brod, G., &amp; </a:t>
            </a:r>
            <a:r>
              <a:rPr lang="en-US" sz="650" dirty="0" err="1">
                <a:solidFill>
                  <a:schemeClr val="bg1"/>
                </a:solidFill>
              </a:rPr>
              <a:t>Bonawitz</a:t>
            </a:r>
            <a:r>
              <a:rPr lang="en-US" sz="650" dirty="0">
                <a:solidFill>
                  <a:schemeClr val="bg1"/>
                </a:solidFill>
              </a:rPr>
              <a:t>, E. (2024). Predicting Learning: Understanding the Role of Executive Functions in Children’s Belief Revision Using Bayesian Models. </a:t>
            </a:r>
            <a:r>
              <a:rPr lang="en-US" sz="650" i="1" dirty="0">
                <a:solidFill>
                  <a:schemeClr val="bg1"/>
                </a:solidFill>
              </a:rPr>
              <a:t>Topics in Cognitive Science</a:t>
            </a:r>
            <a:r>
              <a:rPr lang="en-US" sz="650" dirty="0">
                <a:solidFill>
                  <a:schemeClr val="bg1"/>
                </a:solidFill>
              </a:rPr>
              <a:t>, tops.12749. </a:t>
            </a:r>
            <a:r>
              <a:rPr lang="en-US" sz="650" dirty="0">
                <a:solidFill>
                  <a:schemeClr val="bg1"/>
                </a:solidFill>
                <a:hlinkClick r:id="rId6">
                  <a:extLst>
                    <a:ext uri="{A12FA001-AC4F-418D-AE19-62706E023703}">
                      <ahyp:hlinkClr xmlns:ahyp="http://schemas.microsoft.com/office/drawing/2018/hyperlinkcolor" val="tx"/>
                    </a:ext>
                  </a:extLst>
                </a:hlinkClick>
              </a:rPr>
              <a:t>https://doi.org/10.1111/tops.12749</a:t>
            </a:r>
            <a:endParaRPr lang="en-US" sz="650" dirty="0">
              <a:solidFill>
                <a:schemeClr val="bg1"/>
              </a:solidFill>
            </a:endParaRPr>
          </a:p>
          <a:p>
            <a:r>
              <a:rPr lang="en-US" sz="650" dirty="0">
                <a:solidFill>
                  <a:schemeClr val="bg1"/>
                </a:solidFill>
              </a:rPr>
              <a:t>Conley, A. M., </a:t>
            </a:r>
            <a:r>
              <a:rPr lang="en-US" sz="650" dirty="0" err="1">
                <a:solidFill>
                  <a:schemeClr val="bg1"/>
                </a:solidFill>
              </a:rPr>
              <a:t>Pintrich</a:t>
            </a:r>
            <a:r>
              <a:rPr lang="en-US" sz="650" dirty="0">
                <a:solidFill>
                  <a:schemeClr val="bg1"/>
                </a:solidFill>
              </a:rPr>
              <a:t>, P. R., </a:t>
            </a:r>
            <a:r>
              <a:rPr lang="en-US" sz="650" dirty="0" err="1">
                <a:solidFill>
                  <a:schemeClr val="bg1"/>
                </a:solidFill>
              </a:rPr>
              <a:t>Vekiri</a:t>
            </a:r>
            <a:r>
              <a:rPr lang="en-US" sz="650" dirty="0">
                <a:solidFill>
                  <a:schemeClr val="bg1"/>
                </a:solidFill>
              </a:rPr>
              <a:t>, I., &amp; Harrison, D. (2004). Changes in epistemological beliefs in elementary science students. </a:t>
            </a:r>
            <a:r>
              <a:rPr lang="en-US" sz="650" i="1" dirty="0">
                <a:solidFill>
                  <a:schemeClr val="bg1"/>
                </a:solidFill>
              </a:rPr>
              <a:t>Contemporary educational psychology</a:t>
            </a:r>
            <a:r>
              <a:rPr lang="en-US" sz="650" dirty="0">
                <a:solidFill>
                  <a:schemeClr val="bg1"/>
                </a:solidFill>
              </a:rPr>
              <a:t>, </a:t>
            </a:r>
            <a:r>
              <a:rPr lang="en-US" sz="650" i="1" dirty="0">
                <a:solidFill>
                  <a:schemeClr val="bg1"/>
                </a:solidFill>
              </a:rPr>
              <a:t>29</a:t>
            </a:r>
            <a:r>
              <a:rPr lang="en-US" sz="650" dirty="0">
                <a:solidFill>
                  <a:schemeClr val="bg1"/>
                </a:solidFill>
              </a:rPr>
              <a:t>(2), 186–204.</a:t>
            </a:r>
          </a:p>
          <a:p>
            <a:r>
              <a:rPr lang="en-US" sz="650" dirty="0">
                <a:solidFill>
                  <a:schemeClr val="bg1"/>
                </a:solidFill>
              </a:rPr>
              <a:t>De </a:t>
            </a:r>
            <a:r>
              <a:rPr lang="en-US" sz="650" dirty="0" err="1">
                <a:solidFill>
                  <a:schemeClr val="bg1"/>
                </a:solidFill>
              </a:rPr>
              <a:t>Boeck</a:t>
            </a:r>
            <a:r>
              <a:rPr lang="en-US" sz="650" dirty="0">
                <a:solidFill>
                  <a:schemeClr val="bg1"/>
                </a:solidFill>
              </a:rPr>
              <a:t>, P., Wilson, M., &amp; Acton, G. S. (2005). A conceptual and psychometric framework for distinguishing categories and dimensions. </a:t>
            </a:r>
            <a:r>
              <a:rPr lang="en-US" sz="650" i="1" dirty="0">
                <a:solidFill>
                  <a:schemeClr val="bg1"/>
                </a:solidFill>
              </a:rPr>
              <a:t>Psychological Review</a:t>
            </a:r>
            <a:r>
              <a:rPr lang="en-US" sz="650" dirty="0">
                <a:solidFill>
                  <a:schemeClr val="bg1"/>
                </a:solidFill>
              </a:rPr>
              <a:t>, </a:t>
            </a:r>
            <a:r>
              <a:rPr lang="en-US" sz="650" i="1" dirty="0">
                <a:solidFill>
                  <a:schemeClr val="bg1"/>
                </a:solidFill>
              </a:rPr>
              <a:t>112</a:t>
            </a:r>
            <a:r>
              <a:rPr lang="en-US" sz="650" dirty="0">
                <a:solidFill>
                  <a:schemeClr val="bg1"/>
                </a:solidFill>
              </a:rPr>
              <a:t>(1), 129.</a:t>
            </a:r>
          </a:p>
          <a:p>
            <a:r>
              <a:rPr lang="en-US" sz="650" dirty="0">
                <a:solidFill>
                  <a:schemeClr val="bg1"/>
                </a:solidFill>
              </a:rPr>
              <a:t>DeBacker, T. K., Crowson, H. M., </a:t>
            </a:r>
            <a:r>
              <a:rPr lang="en-US" sz="650" dirty="0" err="1">
                <a:solidFill>
                  <a:schemeClr val="bg1"/>
                </a:solidFill>
              </a:rPr>
              <a:t>Beesley</a:t>
            </a:r>
            <a:r>
              <a:rPr lang="en-US" sz="650" dirty="0">
                <a:solidFill>
                  <a:schemeClr val="bg1"/>
                </a:solidFill>
              </a:rPr>
              <a:t>, A. D., </a:t>
            </a:r>
            <a:r>
              <a:rPr lang="en-US" sz="650" dirty="0" err="1">
                <a:solidFill>
                  <a:schemeClr val="bg1"/>
                </a:solidFill>
              </a:rPr>
              <a:t>Thoma</a:t>
            </a:r>
            <a:r>
              <a:rPr lang="en-US" sz="650" dirty="0">
                <a:solidFill>
                  <a:schemeClr val="bg1"/>
                </a:solidFill>
              </a:rPr>
              <a:t>, S. J., &amp; </a:t>
            </a:r>
            <a:r>
              <a:rPr lang="en-US" sz="650" dirty="0" err="1">
                <a:solidFill>
                  <a:schemeClr val="bg1"/>
                </a:solidFill>
              </a:rPr>
              <a:t>Hestevold</a:t>
            </a:r>
            <a:r>
              <a:rPr lang="en-US" sz="650" dirty="0">
                <a:solidFill>
                  <a:schemeClr val="bg1"/>
                </a:solidFill>
              </a:rPr>
              <a:t>, N. L. (2008). The Challenge of Measuring Epistemic Beliefs: An Analysis of Three Self-Report Instruments. </a:t>
            </a:r>
            <a:r>
              <a:rPr lang="en-US" sz="650" i="1" dirty="0">
                <a:solidFill>
                  <a:schemeClr val="bg1"/>
                </a:solidFill>
              </a:rPr>
              <a:t>The Journal of Experimental Education</a:t>
            </a:r>
            <a:r>
              <a:rPr lang="en-US" sz="650" dirty="0">
                <a:solidFill>
                  <a:schemeClr val="bg1"/>
                </a:solidFill>
              </a:rPr>
              <a:t>, </a:t>
            </a:r>
            <a:r>
              <a:rPr lang="en-US" sz="650" i="1" dirty="0">
                <a:solidFill>
                  <a:schemeClr val="bg1"/>
                </a:solidFill>
              </a:rPr>
              <a:t>76</a:t>
            </a:r>
            <a:r>
              <a:rPr lang="en-US" sz="650" dirty="0">
                <a:solidFill>
                  <a:schemeClr val="bg1"/>
                </a:solidFill>
              </a:rPr>
              <a:t>(3), 281–312. </a:t>
            </a:r>
            <a:r>
              <a:rPr lang="en-US" sz="650" dirty="0">
                <a:solidFill>
                  <a:schemeClr val="bg1"/>
                </a:solidFill>
                <a:hlinkClick r:id="rId7">
                  <a:extLst>
                    <a:ext uri="{A12FA001-AC4F-418D-AE19-62706E023703}">
                      <ahyp:hlinkClr xmlns:ahyp="http://schemas.microsoft.com/office/drawing/2018/hyperlinkcolor" val="tx"/>
                    </a:ext>
                  </a:extLst>
                </a:hlinkClick>
              </a:rPr>
              <a:t>https://doi.org/10.3200/JEXE.76.3.281-314</a:t>
            </a:r>
            <a:endParaRPr lang="en-US" sz="650" dirty="0">
              <a:solidFill>
                <a:schemeClr val="bg1"/>
              </a:solidFill>
            </a:endParaRPr>
          </a:p>
          <a:p>
            <a:r>
              <a:rPr lang="en-US" sz="650" dirty="0">
                <a:solidFill>
                  <a:schemeClr val="bg1"/>
                </a:solidFill>
              </a:rPr>
              <a:t>Donnellan, E., </a:t>
            </a:r>
            <a:r>
              <a:rPr lang="en-US" sz="650" dirty="0" err="1">
                <a:solidFill>
                  <a:schemeClr val="bg1"/>
                </a:solidFill>
              </a:rPr>
              <a:t>Usami</a:t>
            </a:r>
            <a:r>
              <a:rPr lang="en-US" sz="650" dirty="0">
                <a:solidFill>
                  <a:schemeClr val="bg1"/>
                </a:solidFill>
              </a:rPr>
              <a:t>, S., &amp; Murayama, K. (2023). Random item slope regression: An alternative measurement model that accounts for both similarities and differences in association with individual items. </a:t>
            </a:r>
            <a:r>
              <a:rPr lang="en-US" sz="650" i="1" dirty="0">
                <a:solidFill>
                  <a:schemeClr val="bg1"/>
                </a:solidFill>
              </a:rPr>
              <a:t>Psychological Methods</a:t>
            </a:r>
            <a:r>
              <a:rPr lang="en-US" sz="650" dirty="0">
                <a:solidFill>
                  <a:schemeClr val="bg1"/>
                </a:solidFill>
              </a:rPr>
              <a:t>. </a:t>
            </a:r>
            <a:r>
              <a:rPr lang="en-US" sz="650" dirty="0">
                <a:solidFill>
                  <a:schemeClr val="bg1"/>
                </a:solidFill>
                <a:hlinkClick r:id="rId8">
                  <a:extLst>
                    <a:ext uri="{A12FA001-AC4F-418D-AE19-62706E023703}">
                      <ahyp:hlinkClr xmlns:ahyp="http://schemas.microsoft.com/office/drawing/2018/hyperlinkcolor" val="tx"/>
                    </a:ext>
                  </a:extLst>
                </a:hlinkClick>
              </a:rPr>
              <a:t>https://psycnet.apa.org/fulltext/2023-94082-001.html</a:t>
            </a:r>
            <a:endParaRPr lang="en-US" sz="650" dirty="0">
              <a:solidFill>
                <a:schemeClr val="bg1"/>
              </a:solidFill>
            </a:endParaRPr>
          </a:p>
          <a:p>
            <a:r>
              <a:rPr lang="en-US" sz="650" dirty="0">
                <a:solidFill>
                  <a:schemeClr val="bg1"/>
                </a:solidFill>
              </a:rPr>
              <a:t>Edelsbrunner, P. A. (2022). A model and its fit lie in the eye of the beholder: Long live the sum score. </a:t>
            </a:r>
            <a:r>
              <a:rPr lang="en-US" sz="650" i="1" dirty="0">
                <a:solidFill>
                  <a:schemeClr val="bg1"/>
                </a:solidFill>
              </a:rPr>
              <a:t>Frontiers in Psychology</a:t>
            </a:r>
            <a:r>
              <a:rPr lang="en-US" sz="650" dirty="0">
                <a:solidFill>
                  <a:schemeClr val="bg1"/>
                </a:solidFill>
              </a:rPr>
              <a:t>, </a:t>
            </a:r>
            <a:r>
              <a:rPr lang="en-US" sz="650" i="1" dirty="0">
                <a:solidFill>
                  <a:schemeClr val="bg1"/>
                </a:solidFill>
              </a:rPr>
              <a:t>13</a:t>
            </a:r>
            <a:r>
              <a:rPr lang="en-US" sz="650" dirty="0">
                <a:solidFill>
                  <a:schemeClr val="bg1"/>
                </a:solidFill>
              </a:rPr>
              <a:t>, 986767.</a:t>
            </a:r>
          </a:p>
          <a:p>
            <a:r>
              <a:rPr lang="en-US" sz="650" dirty="0">
                <a:solidFill>
                  <a:schemeClr val="bg1"/>
                </a:solidFill>
              </a:rPr>
              <a:t>Edelsbrunner, P. A., Schalk, L., Schumacher, R., &amp; Stern, E. (2018). Variable control and conceptual change: A large-scale quantitative study in elementary school. </a:t>
            </a:r>
            <a:r>
              <a:rPr lang="en-US" sz="650" i="1" dirty="0">
                <a:solidFill>
                  <a:schemeClr val="bg1"/>
                </a:solidFill>
              </a:rPr>
              <a:t>Learning and Individual Differences</a:t>
            </a:r>
            <a:r>
              <a:rPr lang="en-US" sz="650" dirty="0">
                <a:solidFill>
                  <a:schemeClr val="bg1"/>
                </a:solidFill>
              </a:rPr>
              <a:t>, </a:t>
            </a:r>
            <a:r>
              <a:rPr lang="en-US" sz="650" i="1" dirty="0">
                <a:solidFill>
                  <a:schemeClr val="bg1"/>
                </a:solidFill>
              </a:rPr>
              <a:t>66</a:t>
            </a:r>
            <a:r>
              <a:rPr lang="en-US" sz="650" dirty="0">
                <a:solidFill>
                  <a:schemeClr val="bg1"/>
                </a:solidFill>
              </a:rPr>
              <a:t>, 38–53.</a:t>
            </a:r>
          </a:p>
          <a:p>
            <a:r>
              <a:rPr lang="en-US" sz="650" dirty="0">
                <a:solidFill>
                  <a:schemeClr val="bg1"/>
                </a:solidFill>
              </a:rPr>
              <a:t>Edelsbrunner, P. A., </a:t>
            </a:r>
            <a:r>
              <a:rPr lang="en-US" sz="650" dirty="0" err="1">
                <a:solidFill>
                  <a:schemeClr val="bg1"/>
                </a:solidFill>
              </a:rPr>
              <a:t>Simonsmeier</a:t>
            </a:r>
            <a:r>
              <a:rPr lang="en-US" sz="650" dirty="0">
                <a:solidFill>
                  <a:schemeClr val="bg1"/>
                </a:solidFill>
              </a:rPr>
              <a:t>, B. A., &amp; Schneider, M. (2025). The Cronbach’s Alpha of Domain-Specific Knowledge Tests Before and After Learning: A Meta-Analysis of Published Studies.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37</a:t>
            </a:r>
            <a:r>
              <a:rPr lang="en-US" sz="650" dirty="0">
                <a:solidFill>
                  <a:schemeClr val="bg1"/>
                </a:solidFill>
              </a:rPr>
              <a:t>(1), 4. </a:t>
            </a:r>
            <a:r>
              <a:rPr lang="en-US" sz="650" dirty="0">
                <a:solidFill>
                  <a:schemeClr val="bg1"/>
                </a:solidFill>
                <a:hlinkClick r:id="rId9">
                  <a:extLst>
                    <a:ext uri="{A12FA001-AC4F-418D-AE19-62706E023703}">
                      <ahyp:hlinkClr xmlns:ahyp="http://schemas.microsoft.com/office/drawing/2018/hyperlinkcolor" val="tx"/>
                    </a:ext>
                  </a:extLst>
                </a:hlinkClick>
              </a:rPr>
              <a:t>https://doi.org/10.1007/s10648-024-09982-y</a:t>
            </a:r>
            <a:endParaRPr lang="en-US" sz="650" dirty="0">
              <a:solidFill>
                <a:schemeClr val="bg1"/>
              </a:solidFill>
            </a:endParaRPr>
          </a:p>
          <a:p>
            <a:r>
              <a:rPr lang="en-US" sz="650" dirty="0">
                <a:solidFill>
                  <a:schemeClr val="bg1"/>
                </a:solidFill>
              </a:rPr>
              <a:t>Edelsbrunner, P., &amp; Singmann, H. (2026). </a:t>
            </a:r>
            <a:r>
              <a:rPr lang="en-US" sz="650" i="1" dirty="0">
                <a:solidFill>
                  <a:schemeClr val="bg1"/>
                </a:solidFill>
              </a:rPr>
              <a:t>Interference Between Intuitive and Scientific Theories about the World: A Bayesian Hierarchical Diffusion Model</a:t>
            </a:r>
            <a:r>
              <a:rPr lang="en-US" sz="650" dirty="0">
                <a:solidFill>
                  <a:schemeClr val="bg1"/>
                </a:solidFill>
              </a:rPr>
              <a:t> [</a:t>
            </a:r>
            <a:r>
              <a:rPr lang="en-US" sz="650" dirty="0" err="1">
                <a:solidFill>
                  <a:schemeClr val="bg1"/>
                </a:solidFill>
              </a:rPr>
              <a:t>Artikel</a:t>
            </a:r>
            <a:r>
              <a:rPr lang="en-US" sz="650" dirty="0">
                <a:solidFill>
                  <a:schemeClr val="bg1"/>
                </a:solidFill>
              </a:rPr>
              <a:t>].</a:t>
            </a:r>
          </a:p>
          <a:p>
            <a:r>
              <a:rPr lang="en-US" sz="650" dirty="0" err="1">
                <a:solidFill>
                  <a:schemeClr val="bg1"/>
                </a:solidFill>
              </a:rPr>
              <a:t>Forsmann</a:t>
            </a:r>
            <a:r>
              <a:rPr lang="en-US" sz="650" dirty="0">
                <a:solidFill>
                  <a:schemeClr val="bg1"/>
                </a:solidFill>
              </a:rPr>
              <a:t>, C. L., </a:t>
            </a:r>
            <a:r>
              <a:rPr lang="en-US" sz="650" dirty="0" err="1">
                <a:solidFill>
                  <a:schemeClr val="bg1"/>
                </a:solidFill>
              </a:rPr>
              <a:t>D’Erchie</a:t>
            </a:r>
            <a:r>
              <a:rPr lang="en-US" sz="650" dirty="0">
                <a:solidFill>
                  <a:schemeClr val="bg1"/>
                </a:solidFill>
              </a:rPr>
              <a:t>, M., </a:t>
            </a:r>
            <a:r>
              <a:rPr lang="en-US" sz="650" dirty="0" err="1">
                <a:solidFill>
                  <a:schemeClr val="bg1"/>
                </a:solidFill>
              </a:rPr>
              <a:t>Obersteiner</a:t>
            </a:r>
            <a:r>
              <a:rPr lang="en-US" sz="650" dirty="0">
                <a:solidFill>
                  <a:schemeClr val="bg1"/>
                </a:solidFill>
              </a:rPr>
              <a:t>, A., &amp; Schneider, M. (2026). Connecting the dots: A psychometric network analysis of relations between students’ fraction and algebra knowledge. </a:t>
            </a:r>
            <a:r>
              <a:rPr lang="en-US" sz="650" i="1" dirty="0">
                <a:solidFill>
                  <a:schemeClr val="bg1"/>
                </a:solidFill>
              </a:rPr>
              <a:t>Learning and Individual Differences</a:t>
            </a:r>
            <a:r>
              <a:rPr lang="en-US" sz="650" dirty="0">
                <a:solidFill>
                  <a:schemeClr val="bg1"/>
                </a:solidFill>
              </a:rPr>
              <a:t>, </a:t>
            </a:r>
            <a:r>
              <a:rPr lang="en-US" sz="650" i="1" dirty="0">
                <a:solidFill>
                  <a:schemeClr val="bg1"/>
                </a:solidFill>
              </a:rPr>
              <a:t>128</a:t>
            </a:r>
            <a:r>
              <a:rPr lang="en-US" sz="650" dirty="0">
                <a:solidFill>
                  <a:schemeClr val="bg1"/>
                </a:solidFill>
              </a:rPr>
              <a:t>, 102851.</a:t>
            </a:r>
          </a:p>
          <a:p>
            <a:r>
              <a:rPr lang="en-US" sz="650" dirty="0">
                <a:solidFill>
                  <a:schemeClr val="bg1"/>
                </a:solidFill>
              </a:rPr>
              <a:t>Greene, J. A., &amp; Seung, B. Y. (2014). Modeling and measuring epistemic cognition: A qualitative re-investigation. </a:t>
            </a:r>
            <a:r>
              <a:rPr lang="en-US" sz="650" i="1" dirty="0">
                <a:solidFill>
                  <a:schemeClr val="bg1"/>
                </a:solidFill>
              </a:rPr>
              <a:t>Contemporary Educational Psychology</a:t>
            </a:r>
            <a:r>
              <a:rPr lang="en-US" sz="650" dirty="0">
                <a:solidFill>
                  <a:schemeClr val="bg1"/>
                </a:solidFill>
              </a:rPr>
              <a:t>, </a:t>
            </a:r>
            <a:r>
              <a:rPr lang="en-US" sz="650" i="1" dirty="0">
                <a:solidFill>
                  <a:schemeClr val="bg1"/>
                </a:solidFill>
              </a:rPr>
              <a:t>39</a:t>
            </a:r>
            <a:r>
              <a:rPr lang="en-US" sz="650" dirty="0">
                <a:solidFill>
                  <a:schemeClr val="bg1"/>
                </a:solidFill>
              </a:rPr>
              <a:t>(1), 12–28.</a:t>
            </a:r>
          </a:p>
          <a:p>
            <a:r>
              <a:rPr lang="en-US" sz="650" dirty="0">
                <a:solidFill>
                  <a:schemeClr val="bg1"/>
                </a:solidFill>
              </a:rPr>
              <a:t>Grimm, H., Edelsbrunner, P. A., &amp; Möller, K. (2023). Accommodating heterogeneity: The interaction of instructional scaffolding with student preconditions in the learning of hypothesis-based reasoning. </a:t>
            </a:r>
            <a:r>
              <a:rPr lang="en-US" sz="650" i="1" dirty="0">
                <a:solidFill>
                  <a:schemeClr val="bg1"/>
                </a:solidFill>
              </a:rPr>
              <a:t>Instructional Science</a:t>
            </a:r>
            <a:r>
              <a:rPr lang="en-US" sz="650" dirty="0">
                <a:solidFill>
                  <a:schemeClr val="bg1"/>
                </a:solidFill>
              </a:rPr>
              <a:t>, </a:t>
            </a:r>
            <a:r>
              <a:rPr lang="en-US" sz="650" i="1" dirty="0">
                <a:solidFill>
                  <a:schemeClr val="bg1"/>
                </a:solidFill>
              </a:rPr>
              <a:t>51</a:t>
            </a:r>
            <a:r>
              <a:rPr lang="en-US" sz="650" dirty="0">
                <a:solidFill>
                  <a:schemeClr val="bg1"/>
                </a:solidFill>
              </a:rPr>
              <a:t>(1), 103–133. </a:t>
            </a:r>
            <a:r>
              <a:rPr lang="en-US" sz="650" dirty="0">
                <a:solidFill>
                  <a:schemeClr val="bg1"/>
                </a:solidFill>
                <a:hlinkClick r:id="rId10">
                  <a:extLst>
                    <a:ext uri="{A12FA001-AC4F-418D-AE19-62706E023703}">
                      <ahyp:hlinkClr xmlns:ahyp="http://schemas.microsoft.com/office/drawing/2018/hyperlinkcolor" val="tx"/>
                    </a:ext>
                  </a:extLst>
                </a:hlinkClick>
              </a:rPr>
              <a:t>https://doi.org/10.1007/s11251-022-09601-9</a:t>
            </a:r>
            <a:endParaRPr lang="en-US" sz="650" dirty="0">
              <a:solidFill>
                <a:schemeClr val="bg1"/>
              </a:solidFill>
            </a:endParaRPr>
          </a:p>
          <a:p>
            <a:r>
              <a:rPr lang="en-US" sz="650" dirty="0" err="1">
                <a:solidFill>
                  <a:schemeClr val="bg1"/>
                </a:solidFill>
              </a:rPr>
              <a:t>Inhelder</a:t>
            </a:r>
            <a:r>
              <a:rPr lang="en-US" sz="650" dirty="0">
                <a:solidFill>
                  <a:schemeClr val="bg1"/>
                </a:solidFill>
              </a:rPr>
              <a:t>, B., &amp; Piaget, J. (1958). </a:t>
            </a:r>
            <a:r>
              <a:rPr lang="en-US" sz="650" i="1" dirty="0">
                <a:solidFill>
                  <a:schemeClr val="bg1"/>
                </a:solidFill>
              </a:rPr>
              <a:t>The growth of logical thinking: From childhood to adolescence</a:t>
            </a:r>
            <a:r>
              <a:rPr lang="en-US" sz="650" dirty="0">
                <a:solidFill>
                  <a:schemeClr val="bg1"/>
                </a:solidFill>
              </a:rPr>
              <a:t> (S. xxvi, 378). Basic Books. </a:t>
            </a:r>
            <a:r>
              <a:rPr lang="en-US" sz="650" dirty="0">
                <a:solidFill>
                  <a:schemeClr val="bg1"/>
                </a:solidFill>
                <a:hlinkClick r:id="rId11">
                  <a:extLst>
                    <a:ext uri="{A12FA001-AC4F-418D-AE19-62706E023703}">
                      <ahyp:hlinkClr xmlns:ahyp="http://schemas.microsoft.com/office/drawing/2018/hyperlinkcolor" val="tx"/>
                    </a:ext>
                  </a:extLst>
                </a:hlinkClick>
              </a:rPr>
              <a:t>https://doi.org/10.1037/10034-000</a:t>
            </a:r>
            <a:endParaRPr lang="en-US" sz="650" dirty="0">
              <a:solidFill>
                <a:schemeClr val="bg1"/>
              </a:solidFill>
            </a:endParaRPr>
          </a:p>
          <a:p>
            <a:r>
              <a:rPr lang="en-US" sz="650" dirty="0">
                <a:solidFill>
                  <a:schemeClr val="bg1"/>
                </a:solidFill>
              </a:rPr>
              <a:t>Jansen, B. R. J., &amp; Van der Maas, H. L. J. (2001). Evidence for the Phase Transition from Rule I to Rule II on the Balance Scale Task. </a:t>
            </a:r>
            <a:r>
              <a:rPr lang="en-US" sz="650" i="1" dirty="0">
                <a:solidFill>
                  <a:schemeClr val="bg1"/>
                </a:solidFill>
              </a:rPr>
              <a:t>Developmental Review</a:t>
            </a:r>
            <a:r>
              <a:rPr lang="en-US" sz="650" dirty="0">
                <a:solidFill>
                  <a:schemeClr val="bg1"/>
                </a:solidFill>
              </a:rPr>
              <a:t>, </a:t>
            </a:r>
            <a:r>
              <a:rPr lang="en-US" sz="650" i="1" dirty="0">
                <a:solidFill>
                  <a:schemeClr val="bg1"/>
                </a:solidFill>
              </a:rPr>
              <a:t>21</a:t>
            </a:r>
            <a:r>
              <a:rPr lang="en-US" sz="650" dirty="0">
                <a:solidFill>
                  <a:schemeClr val="bg1"/>
                </a:solidFill>
              </a:rPr>
              <a:t>(4), 450–494. </a:t>
            </a:r>
            <a:r>
              <a:rPr lang="en-US" sz="650" dirty="0">
                <a:solidFill>
                  <a:schemeClr val="bg1"/>
                </a:solidFill>
                <a:hlinkClick r:id="rId12">
                  <a:extLst>
                    <a:ext uri="{A12FA001-AC4F-418D-AE19-62706E023703}">
                      <ahyp:hlinkClr xmlns:ahyp="http://schemas.microsoft.com/office/drawing/2018/hyperlinkcolor" val="tx"/>
                    </a:ext>
                  </a:extLst>
                </a:hlinkClick>
              </a:rPr>
              <a:t>https://doi.org/10.1006/drev.2001.0530</a:t>
            </a:r>
            <a:endParaRPr lang="en-US" sz="650" dirty="0">
              <a:solidFill>
                <a:schemeClr val="bg1"/>
              </a:solidFill>
            </a:endParaRPr>
          </a:p>
          <a:p>
            <a:r>
              <a:rPr lang="en-US" sz="650" dirty="0">
                <a:solidFill>
                  <a:schemeClr val="bg1"/>
                </a:solidFill>
              </a:rPr>
              <a:t>Jansen, B. R., &amp; van der Maas, H. L. (1997). Statistical test of the rule assessment methodology by latent class analysis. </a:t>
            </a:r>
            <a:r>
              <a:rPr lang="en-US" sz="650" i="1" dirty="0">
                <a:solidFill>
                  <a:schemeClr val="bg1"/>
                </a:solidFill>
              </a:rPr>
              <a:t>Developmental Review</a:t>
            </a:r>
            <a:r>
              <a:rPr lang="en-US" sz="650" dirty="0">
                <a:solidFill>
                  <a:schemeClr val="bg1"/>
                </a:solidFill>
              </a:rPr>
              <a:t>, </a:t>
            </a:r>
            <a:r>
              <a:rPr lang="en-US" sz="650" i="1" dirty="0">
                <a:solidFill>
                  <a:schemeClr val="bg1"/>
                </a:solidFill>
              </a:rPr>
              <a:t>17</a:t>
            </a:r>
            <a:r>
              <a:rPr lang="en-US" sz="650" dirty="0">
                <a:solidFill>
                  <a:schemeClr val="bg1"/>
                </a:solidFill>
              </a:rPr>
              <a:t>(3), 321–357.</a:t>
            </a:r>
          </a:p>
          <a:p>
            <a:r>
              <a:rPr lang="en-US" sz="650" dirty="0" err="1">
                <a:solidFill>
                  <a:schemeClr val="bg1"/>
                </a:solidFill>
              </a:rPr>
              <a:t>Kainulainen</a:t>
            </a:r>
            <a:r>
              <a:rPr lang="en-US" sz="650" dirty="0">
                <a:solidFill>
                  <a:schemeClr val="bg1"/>
                </a:solidFill>
              </a:rPr>
              <a:t>, M., McMullen, J., &amp; </a:t>
            </a:r>
            <a:r>
              <a:rPr lang="en-US" sz="650" dirty="0" err="1">
                <a:solidFill>
                  <a:schemeClr val="bg1"/>
                </a:solidFill>
              </a:rPr>
              <a:t>Lehtinen</a:t>
            </a:r>
            <a:r>
              <a:rPr lang="en-US" sz="650" dirty="0">
                <a:solidFill>
                  <a:schemeClr val="bg1"/>
                </a:solidFill>
              </a:rPr>
              <a:t>, E. (2016). Early developmental trajectories towards the concept of rational numbers. </a:t>
            </a:r>
            <a:r>
              <a:rPr lang="en-US" sz="650" i="1" dirty="0">
                <a:solidFill>
                  <a:schemeClr val="bg1"/>
                </a:solidFill>
              </a:rPr>
              <a:t>Cognition and Instruction</a:t>
            </a:r>
            <a:r>
              <a:rPr lang="en-US" sz="650" dirty="0">
                <a:solidFill>
                  <a:schemeClr val="bg1"/>
                </a:solidFill>
              </a:rPr>
              <a:t>. </a:t>
            </a:r>
            <a:r>
              <a:rPr lang="en-US" sz="650" dirty="0">
                <a:solidFill>
                  <a:schemeClr val="bg1"/>
                </a:solidFill>
                <a:hlinkClick r:id="rId13">
                  <a:extLst>
                    <a:ext uri="{A12FA001-AC4F-418D-AE19-62706E023703}">
                      <ahyp:hlinkClr xmlns:ahyp="http://schemas.microsoft.com/office/drawing/2018/hyperlinkcolor" val="tx"/>
                    </a:ext>
                  </a:extLst>
                </a:hlinkClick>
              </a:rPr>
              <a:t>https://doi.org/10.1080/07370008.2016.1251287</a:t>
            </a:r>
            <a:endParaRPr lang="en-US" sz="650" dirty="0">
              <a:solidFill>
                <a:schemeClr val="bg1"/>
              </a:solidFill>
            </a:endParaRPr>
          </a:p>
          <a:p>
            <a:r>
              <a:rPr lang="en-US" sz="650" dirty="0" err="1">
                <a:solidFill>
                  <a:schemeClr val="bg1"/>
                </a:solidFill>
              </a:rPr>
              <a:t>Kleickmann</a:t>
            </a:r>
            <a:r>
              <a:rPr lang="en-US" sz="650" dirty="0">
                <a:solidFill>
                  <a:schemeClr val="bg1"/>
                </a:solidFill>
              </a:rPr>
              <a:t>, T., Hardy, I., </a:t>
            </a:r>
            <a:r>
              <a:rPr lang="en-US" sz="650" dirty="0" err="1">
                <a:solidFill>
                  <a:schemeClr val="bg1"/>
                </a:solidFill>
              </a:rPr>
              <a:t>Pollmeier</a:t>
            </a:r>
            <a:r>
              <a:rPr lang="en-US" sz="650" dirty="0">
                <a:solidFill>
                  <a:schemeClr val="bg1"/>
                </a:solidFill>
              </a:rPr>
              <a:t>, J., &amp; Möller, K. (2011). </a:t>
            </a:r>
            <a:r>
              <a:rPr lang="en-US" sz="650" dirty="0" err="1">
                <a:solidFill>
                  <a:schemeClr val="bg1"/>
                </a:solidFill>
              </a:rPr>
              <a:t>Zur</a:t>
            </a:r>
            <a:r>
              <a:rPr lang="en-US" sz="650" dirty="0">
                <a:solidFill>
                  <a:schemeClr val="bg1"/>
                </a:solidFill>
              </a:rPr>
              <a:t> </a:t>
            </a:r>
            <a:r>
              <a:rPr lang="en-US" sz="650" dirty="0" err="1">
                <a:solidFill>
                  <a:schemeClr val="bg1"/>
                </a:solidFill>
              </a:rPr>
              <a:t>Struktur</a:t>
            </a:r>
            <a:r>
              <a:rPr lang="en-US" sz="650" dirty="0">
                <a:solidFill>
                  <a:schemeClr val="bg1"/>
                </a:solidFill>
              </a:rPr>
              <a:t> </a:t>
            </a:r>
            <a:r>
              <a:rPr lang="en-US" sz="650" dirty="0" err="1">
                <a:solidFill>
                  <a:schemeClr val="bg1"/>
                </a:solidFill>
              </a:rPr>
              <a:t>naturwissenschaftlichen</a:t>
            </a:r>
            <a:r>
              <a:rPr lang="en-US" sz="650" dirty="0">
                <a:solidFill>
                  <a:schemeClr val="bg1"/>
                </a:solidFill>
              </a:rPr>
              <a:t> </a:t>
            </a:r>
            <a:r>
              <a:rPr lang="en-US" sz="650" dirty="0" err="1">
                <a:solidFill>
                  <a:schemeClr val="bg1"/>
                </a:solidFill>
              </a:rPr>
              <a:t>Wissens</a:t>
            </a:r>
            <a:r>
              <a:rPr lang="en-US" sz="650" dirty="0">
                <a:solidFill>
                  <a:schemeClr val="bg1"/>
                </a:solidFill>
              </a:rPr>
              <a:t> von </a:t>
            </a:r>
            <a:r>
              <a:rPr lang="en-US" sz="650" dirty="0" err="1">
                <a:solidFill>
                  <a:schemeClr val="bg1"/>
                </a:solidFill>
              </a:rPr>
              <a:t>Grundschulkindern</a:t>
            </a:r>
            <a:r>
              <a:rPr lang="en-US" sz="650" dirty="0">
                <a:solidFill>
                  <a:schemeClr val="bg1"/>
                </a:solidFill>
              </a:rPr>
              <a:t>: Eine </a:t>
            </a:r>
            <a:r>
              <a:rPr lang="en-US" sz="650" dirty="0" err="1">
                <a:solidFill>
                  <a:schemeClr val="bg1"/>
                </a:solidFill>
              </a:rPr>
              <a:t>personen</a:t>
            </a:r>
            <a:r>
              <a:rPr lang="en-US" sz="650" dirty="0">
                <a:solidFill>
                  <a:schemeClr val="bg1"/>
                </a:solidFill>
              </a:rPr>
              <a:t>- und </a:t>
            </a:r>
            <a:r>
              <a:rPr lang="en-US" sz="650" dirty="0" err="1">
                <a:solidFill>
                  <a:schemeClr val="bg1"/>
                </a:solidFill>
              </a:rPr>
              <a:t>variablenzentrierte</a:t>
            </a:r>
            <a:r>
              <a:rPr lang="en-US" sz="650" dirty="0">
                <a:solidFill>
                  <a:schemeClr val="bg1"/>
                </a:solidFill>
              </a:rPr>
              <a:t> </a:t>
            </a:r>
            <a:r>
              <a:rPr lang="en-US" sz="650" dirty="0" err="1">
                <a:solidFill>
                  <a:schemeClr val="bg1"/>
                </a:solidFill>
              </a:rPr>
              <a:t>Analyse</a:t>
            </a:r>
            <a:r>
              <a:rPr lang="en-US" sz="650" dirty="0">
                <a:solidFill>
                  <a:schemeClr val="bg1"/>
                </a:solidFill>
              </a:rPr>
              <a:t>. </a:t>
            </a:r>
            <a:r>
              <a:rPr lang="en-US" sz="650" i="1" dirty="0" err="1">
                <a:solidFill>
                  <a:schemeClr val="bg1"/>
                </a:solidFill>
              </a:rPr>
              <a:t>Zeitschrift</a:t>
            </a:r>
            <a:r>
              <a:rPr lang="en-US" sz="650" i="1" dirty="0">
                <a:solidFill>
                  <a:schemeClr val="bg1"/>
                </a:solidFill>
              </a:rPr>
              <a:t> </a:t>
            </a:r>
            <a:r>
              <a:rPr lang="en-US" sz="650" i="1" dirty="0" err="1">
                <a:solidFill>
                  <a:schemeClr val="bg1"/>
                </a:solidFill>
              </a:rPr>
              <a:t>für</a:t>
            </a:r>
            <a:r>
              <a:rPr lang="en-US" sz="650" i="1" dirty="0">
                <a:solidFill>
                  <a:schemeClr val="bg1"/>
                </a:solidFill>
              </a:rPr>
              <a:t> </a:t>
            </a:r>
            <a:r>
              <a:rPr lang="en-US" sz="650" i="1" dirty="0" err="1">
                <a:solidFill>
                  <a:schemeClr val="bg1"/>
                </a:solidFill>
              </a:rPr>
              <a:t>Entwicklungspsychologie</a:t>
            </a:r>
            <a:r>
              <a:rPr lang="en-US" sz="650" i="1" dirty="0">
                <a:solidFill>
                  <a:schemeClr val="bg1"/>
                </a:solidFill>
              </a:rPr>
              <a:t> und Pädagogische Psychologie</a:t>
            </a:r>
            <a:r>
              <a:rPr lang="en-US" sz="650" dirty="0">
                <a:solidFill>
                  <a:schemeClr val="bg1"/>
                </a:solidFill>
              </a:rPr>
              <a:t>, </a:t>
            </a:r>
            <a:r>
              <a:rPr lang="en-US" sz="650" i="1" dirty="0">
                <a:solidFill>
                  <a:schemeClr val="bg1"/>
                </a:solidFill>
              </a:rPr>
              <a:t>43</a:t>
            </a:r>
            <a:r>
              <a:rPr lang="en-US" sz="650" dirty="0">
                <a:solidFill>
                  <a:schemeClr val="bg1"/>
                </a:solidFill>
              </a:rPr>
              <a:t>(4), 200–212. </a:t>
            </a:r>
            <a:r>
              <a:rPr lang="en-US" sz="650" dirty="0">
                <a:solidFill>
                  <a:schemeClr val="bg1"/>
                </a:solidFill>
                <a:hlinkClick r:id="rId14">
                  <a:extLst>
                    <a:ext uri="{A12FA001-AC4F-418D-AE19-62706E023703}">
                      <ahyp:hlinkClr xmlns:ahyp="http://schemas.microsoft.com/office/drawing/2018/hyperlinkcolor" val="tx"/>
                    </a:ext>
                  </a:extLst>
                </a:hlinkClick>
              </a:rPr>
              <a:t>https://doi.org/10.1026/0049-8637/a000053</a:t>
            </a:r>
            <a:endParaRPr lang="en-US" sz="650" dirty="0">
              <a:solidFill>
                <a:schemeClr val="bg1"/>
              </a:solidFill>
            </a:endParaRPr>
          </a:p>
          <a:p>
            <a:r>
              <a:rPr lang="en-US" sz="650" dirty="0" err="1">
                <a:solidFill>
                  <a:schemeClr val="bg1"/>
                </a:solidFill>
              </a:rPr>
              <a:t>Loken</a:t>
            </a:r>
            <a:r>
              <a:rPr lang="en-US" sz="650" dirty="0">
                <a:solidFill>
                  <a:schemeClr val="bg1"/>
                </a:solidFill>
              </a:rPr>
              <a:t>, E., &amp; </a:t>
            </a:r>
            <a:r>
              <a:rPr lang="en-US" sz="650" dirty="0" err="1">
                <a:solidFill>
                  <a:schemeClr val="bg1"/>
                </a:solidFill>
              </a:rPr>
              <a:t>Molenaar</a:t>
            </a:r>
            <a:r>
              <a:rPr lang="en-US" sz="650" dirty="0">
                <a:solidFill>
                  <a:schemeClr val="bg1"/>
                </a:solidFill>
              </a:rPr>
              <a:t>, P. (2007). Categories or Continua?: The Correspondence Between Mixture Models and Factor Models. In G. R. Hancock &amp; K. M. </a:t>
            </a:r>
            <a:r>
              <a:rPr lang="en-US" sz="650" dirty="0" err="1">
                <a:solidFill>
                  <a:schemeClr val="bg1"/>
                </a:solidFill>
              </a:rPr>
              <a:t>Samuelsen</a:t>
            </a:r>
            <a:r>
              <a:rPr lang="en-US" sz="650" dirty="0">
                <a:solidFill>
                  <a:schemeClr val="bg1"/>
                </a:solidFill>
              </a:rPr>
              <a:t> (</a:t>
            </a:r>
            <a:r>
              <a:rPr lang="en-US" sz="650" dirty="0" err="1">
                <a:solidFill>
                  <a:schemeClr val="bg1"/>
                </a:solidFill>
              </a:rPr>
              <a:t>Hrsg</a:t>
            </a:r>
            <a:r>
              <a:rPr lang="en-US" sz="650" dirty="0">
                <a:solidFill>
                  <a:schemeClr val="bg1"/>
                </a:solidFill>
              </a:rPr>
              <a:t>.), </a:t>
            </a:r>
            <a:r>
              <a:rPr lang="en-US" sz="650" i="1" dirty="0">
                <a:solidFill>
                  <a:schemeClr val="bg1"/>
                </a:solidFill>
              </a:rPr>
              <a:t>Advances in Latent Variable Mixture Models</a:t>
            </a:r>
            <a:r>
              <a:rPr lang="en-US" sz="650" dirty="0">
                <a:solidFill>
                  <a:schemeClr val="bg1"/>
                </a:solidFill>
              </a:rPr>
              <a:t> (S. 0). Emerald Publishing Limited. </a:t>
            </a:r>
            <a:r>
              <a:rPr lang="en-US" sz="650" dirty="0">
                <a:solidFill>
                  <a:schemeClr val="bg1"/>
                </a:solidFill>
                <a:hlinkClick r:id="rId15">
                  <a:extLst>
                    <a:ext uri="{A12FA001-AC4F-418D-AE19-62706E023703}">
                      <ahyp:hlinkClr xmlns:ahyp="http://schemas.microsoft.com/office/drawing/2018/hyperlinkcolor" val="tx"/>
                    </a:ext>
                  </a:extLst>
                </a:hlinkClick>
              </a:rPr>
              <a:t>https://doi.org/10.1108/978-1-60752-634-620251015</a:t>
            </a:r>
            <a:endParaRPr lang="en-US" sz="650" dirty="0">
              <a:solidFill>
                <a:schemeClr val="bg1"/>
              </a:solidFill>
            </a:endParaRPr>
          </a:p>
          <a:p>
            <a:r>
              <a:rPr lang="en-US" sz="650" dirty="0" err="1">
                <a:solidFill>
                  <a:schemeClr val="bg1"/>
                </a:solidFill>
              </a:rPr>
              <a:t>Maassen</a:t>
            </a:r>
            <a:r>
              <a:rPr lang="en-US" sz="650" dirty="0">
                <a:solidFill>
                  <a:schemeClr val="bg1"/>
                </a:solidFill>
              </a:rPr>
              <a:t>, E., </a:t>
            </a:r>
            <a:r>
              <a:rPr lang="en-US" sz="650" dirty="0" err="1">
                <a:solidFill>
                  <a:schemeClr val="bg1"/>
                </a:solidFill>
              </a:rPr>
              <a:t>D’Urso</a:t>
            </a:r>
            <a:r>
              <a:rPr lang="en-US" sz="650" dirty="0">
                <a:solidFill>
                  <a:schemeClr val="bg1"/>
                </a:solidFill>
              </a:rPr>
              <a:t>, E. D., Van Assen, M. A., </a:t>
            </a:r>
            <a:r>
              <a:rPr lang="en-US" sz="650" dirty="0" err="1">
                <a:solidFill>
                  <a:schemeClr val="bg1"/>
                </a:solidFill>
              </a:rPr>
              <a:t>Nuijten</a:t>
            </a:r>
            <a:r>
              <a:rPr lang="en-US" sz="650" dirty="0">
                <a:solidFill>
                  <a:schemeClr val="bg1"/>
                </a:solidFill>
              </a:rPr>
              <a:t>, M. B., De </a:t>
            </a:r>
            <a:r>
              <a:rPr lang="en-US" sz="650" dirty="0" err="1">
                <a:solidFill>
                  <a:schemeClr val="bg1"/>
                </a:solidFill>
              </a:rPr>
              <a:t>Roover</a:t>
            </a:r>
            <a:r>
              <a:rPr lang="en-US" sz="650" dirty="0">
                <a:solidFill>
                  <a:schemeClr val="bg1"/>
                </a:solidFill>
              </a:rPr>
              <a:t>, K., &amp; </a:t>
            </a:r>
            <a:r>
              <a:rPr lang="en-US" sz="650" dirty="0" err="1">
                <a:solidFill>
                  <a:schemeClr val="bg1"/>
                </a:solidFill>
              </a:rPr>
              <a:t>Wicherts</a:t>
            </a:r>
            <a:r>
              <a:rPr lang="en-US" sz="650" dirty="0">
                <a:solidFill>
                  <a:schemeClr val="bg1"/>
                </a:solidFill>
              </a:rPr>
              <a:t>, J. M. (2025). The dire disregard of measurement invariance testing in psychological science. </a:t>
            </a:r>
            <a:r>
              <a:rPr lang="en-US" sz="650" i="1" dirty="0">
                <a:solidFill>
                  <a:schemeClr val="bg1"/>
                </a:solidFill>
              </a:rPr>
              <a:t>Psychological Methods</a:t>
            </a:r>
            <a:r>
              <a:rPr lang="en-US" sz="650" dirty="0">
                <a:solidFill>
                  <a:schemeClr val="bg1"/>
                </a:solidFill>
              </a:rPr>
              <a:t>, </a:t>
            </a:r>
            <a:r>
              <a:rPr lang="en-US" sz="650" i="1" dirty="0">
                <a:solidFill>
                  <a:schemeClr val="bg1"/>
                </a:solidFill>
              </a:rPr>
              <a:t>30</a:t>
            </a:r>
            <a:r>
              <a:rPr lang="en-US" sz="650" dirty="0">
                <a:solidFill>
                  <a:schemeClr val="bg1"/>
                </a:solidFill>
              </a:rPr>
              <a:t>(5), 966.</a:t>
            </a:r>
          </a:p>
          <a:p>
            <a:r>
              <a:rPr lang="en-US" sz="650" dirty="0" err="1">
                <a:solidFill>
                  <a:schemeClr val="bg1"/>
                </a:solidFill>
              </a:rPr>
              <a:t>Marsman</a:t>
            </a:r>
            <a:r>
              <a:rPr lang="en-US" sz="650" dirty="0">
                <a:solidFill>
                  <a:schemeClr val="bg1"/>
                </a:solidFill>
              </a:rPr>
              <a:t>, M., </a:t>
            </a:r>
            <a:r>
              <a:rPr lang="en-US" sz="650" dirty="0" err="1">
                <a:solidFill>
                  <a:schemeClr val="bg1"/>
                </a:solidFill>
              </a:rPr>
              <a:t>Huth</a:t>
            </a:r>
            <a:r>
              <a:rPr lang="en-US" sz="650" dirty="0">
                <a:solidFill>
                  <a:schemeClr val="bg1"/>
                </a:solidFill>
              </a:rPr>
              <a:t>, K., </a:t>
            </a:r>
            <a:r>
              <a:rPr lang="en-US" sz="650" dirty="0" err="1">
                <a:solidFill>
                  <a:schemeClr val="bg1"/>
                </a:solidFill>
              </a:rPr>
              <a:t>Waldorp</a:t>
            </a:r>
            <a:r>
              <a:rPr lang="en-US" sz="650" dirty="0">
                <a:solidFill>
                  <a:schemeClr val="bg1"/>
                </a:solidFill>
              </a:rPr>
              <a:t>, L. J., &amp; </a:t>
            </a:r>
            <a:r>
              <a:rPr lang="en-US" sz="650" dirty="0" err="1">
                <a:solidFill>
                  <a:schemeClr val="bg1"/>
                </a:solidFill>
              </a:rPr>
              <a:t>Ntzoufras</a:t>
            </a:r>
            <a:r>
              <a:rPr lang="en-US" sz="650" dirty="0">
                <a:solidFill>
                  <a:schemeClr val="bg1"/>
                </a:solidFill>
              </a:rPr>
              <a:t>, I. (2022). Objective Bayesian edge screening and structure selection for </a:t>
            </a:r>
            <a:r>
              <a:rPr lang="en-US" sz="650" dirty="0" err="1">
                <a:solidFill>
                  <a:schemeClr val="bg1"/>
                </a:solidFill>
              </a:rPr>
              <a:t>Ising</a:t>
            </a:r>
            <a:r>
              <a:rPr lang="en-US" sz="650" dirty="0">
                <a:solidFill>
                  <a:schemeClr val="bg1"/>
                </a:solidFill>
              </a:rPr>
              <a:t> networks. </a:t>
            </a:r>
            <a:r>
              <a:rPr lang="en-US" sz="650" i="1" dirty="0" err="1">
                <a:solidFill>
                  <a:schemeClr val="bg1"/>
                </a:solidFill>
              </a:rPr>
              <a:t>psychometrika</a:t>
            </a:r>
            <a:r>
              <a:rPr lang="en-US" sz="650" dirty="0">
                <a:solidFill>
                  <a:schemeClr val="bg1"/>
                </a:solidFill>
              </a:rPr>
              <a:t>, </a:t>
            </a:r>
            <a:r>
              <a:rPr lang="en-US" sz="650" i="1" dirty="0">
                <a:solidFill>
                  <a:schemeClr val="bg1"/>
                </a:solidFill>
              </a:rPr>
              <a:t>87</a:t>
            </a:r>
            <a:r>
              <a:rPr lang="en-US" sz="650" dirty="0">
                <a:solidFill>
                  <a:schemeClr val="bg1"/>
                </a:solidFill>
              </a:rPr>
              <a:t>(1), 47–82.</a:t>
            </a:r>
          </a:p>
          <a:p>
            <a:r>
              <a:rPr lang="en-US" sz="650" dirty="0">
                <a:solidFill>
                  <a:schemeClr val="bg1"/>
                </a:solidFill>
              </a:rPr>
              <a:t>Mason, L. (2016). Psychological perspectives on measuring epistemic cognition. In </a:t>
            </a:r>
            <a:r>
              <a:rPr lang="en-US" sz="650" i="1" dirty="0">
                <a:solidFill>
                  <a:schemeClr val="bg1"/>
                </a:solidFill>
              </a:rPr>
              <a:t>Handbook of epistemic cognition</a:t>
            </a:r>
            <a:r>
              <a:rPr lang="en-US" sz="650" dirty="0">
                <a:solidFill>
                  <a:schemeClr val="bg1"/>
                </a:solidFill>
              </a:rPr>
              <a:t> (S. 375–392). Routledge. </a:t>
            </a:r>
            <a:r>
              <a:rPr lang="en-US" sz="650" dirty="0">
                <a:solidFill>
                  <a:schemeClr val="bg1"/>
                </a:solidFill>
                <a:hlinkClick r:id="rId16">
                  <a:extLst>
                    <a:ext uri="{A12FA001-AC4F-418D-AE19-62706E023703}">
                      <ahyp:hlinkClr xmlns:ahyp="http://schemas.microsoft.com/office/drawing/2018/hyperlinkcolor" val="tx"/>
                    </a:ext>
                  </a:extLst>
                </a:hlinkClick>
              </a:rPr>
              <a:t>https://api.taylorfrancis.com/content/chapters/edit/download?identifierName=doi&amp;identifierValue=10.4324/9781315795225-28&amp;type=chapterpdf</a:t>
            </a:r>
            <a:endParaRPr lang="en-US" sz="650" dirty="0">
              <a:solidFill>
                <a:schemeClr val="bg1"/>
              </a:solidFill>
            </a:endParaRPr>
          </a:p>
          <a:p>
            <a:r>
              <a:rPr lang="en-US" sz="650" dirty="0">
                <a:solidFill>
                  <a:schemeClr val="bg1"/>
                </a:solidFill>
              </a:rPr>
              <a:t>McMullen, J., </a:t>
            </a:r>
            <a:r>
              <a:rPr lang="en-US" sz="650" dirty="0" err="1">
                <a:solidFill>
                  <a:schemeClr val="bg1"/>
                </a:solidFill>
              </a:rPr>
              <a:t>Laakkonen</a:t>
            </a:r>
            <a:r>
              <a:rPr lang="en-US" sz="650" dirty="0">
                <a:solidFill>
                  <a:schemeClr val="bg1"/>
                </a:solidFill>
              </a:rPr>
              <a:t>, E., Hannula-</a:t>
            </a:r>
            <a:r>
              <a:rPr lang="en-US" sz="650" dirty="0" err="1">
                <a:solidFill>
                  <a:schemeClr val="bg1"/>
                </a:solidFill>
              </a:rPr>
              <a:t>Sormunen</a:t>
            </a:r>
            <a:r>
              <a:rPr lang="en-US" sz="650" dirty="0">
                <a:solidFill>
                  <a:schemeClr val="bg1"/>
                </a:solidFill>
              </a:rPr>
              <a:t>, M., &amp; </a:t>
            </a:r>
            <a:r>
              <a:rPr lang="en-US" sz="650" dirty="0" err="1">
                <a:solidFill>
                  <a:schemeClr val="bg1"/>
                </a:solidFill>
              </a:rPr>
              <a:t>Lehtinen</a:t>
            </a:r>
            <a:r>
              <a:rPr lang="en-US" sz="650" dirty="0">
                <a:solidFill>
                  <a:schemeClr val="bg1"/>
                </a:solidFill>
              </a:rPr>
              <a:t>, E. (2015). Modeling the developmental trajectories of rational number concept(s). </a:t>
            </a:r>
            <a:r>
              <a:rPr lang="en-US" sz="650" i="1" dirty="0">
                <a:solidFill>
                  <a:schemeClr val="bg1"/>
                </a:solidFill>
              </a:rPr>
              <a:t>Learning and Instruction</a:t>
            </a:r>
            <a:r>
              <a:rPr lang="en-US" sz="650" dirty="0">
                <a:solidFill>
                  <a:schemeClr val="bg1"/>
                </a:solidFill>
              </a:rPr>
              <a:t>, </a:t>
            </a:r>
            <a:r>
              <a:rPr lang="en-US" sz="650" i="1" dirty="0">
                <a:solidFill>
                  <a:schemeClr val="bg1"/>
                </a:solidFill>
              </a:rPr>
              <a:t>37</a:t>
            </a:r>
            <a:r>
              <a:rPr lang="en-US" sz="650" dirty="0">
                <a:solidFill>
                  <a:schemeClr val="bg1"/>
                </a:solidFill>
              </a:rPr>
              <a:t>, 14–20. </a:t>
            </a:r>
            <a:r>
              <a:rPr lang="en-US" sz="650" dirty="0">
                <a:solidFill>
                  <a:schemeClr val="bg1"/>
                </a:solidFill>
                <a:hlinkClick r:id="rId17">
                  <a:extLst>
                    <a:ext uri="{A12FA001-AC4F-418D-AE19-62706E023703}">
                      <ahyp:hlinkClr xmlns:ahyp="http://schemas.microsoft.com/office/drawing/2018/hyperlinkcolor" val="tx"/>
                    </a:ext>
                  </a:extLst>
                </a:hlinkClick>
              </a:rPr>
              <a:t>https://doi.org/10.1016/j.learninstruc.2013.12.004</a:t>
            </a:r>
            <a:endParaRPr lang="en-US" sz="650" dirty="0">
              <a:solidFill>
                <a:schemeClr val="bg1"/>
              </a:solidFill>
            </a:endParaRPr>
          </a:p>
          <a:p>
            <a:r>
              <a:rPr lang="en-US" sz="650" dirty="0" err="1">
                <a:solidFill>
                  <a:schemeClr val="bg1"/>
                </a:solidFill>
              </a:rPr>
              <a:t>McNeish</a:t>
            </a:r>
            <a:r>
              <a:rPr lang="en-US" sz="650" dirty="0">
                <a:solidFill>
                  <a:schemeClr val="bg1"/>
                </a:solidFill>
              </a:rPr>
              <a:t>, D., &amp; Wolf, M. G. (2020). Thinking twice about sum scores. </a:t>
            </a:r>
            <a:r>
              <a:rPr lang="en-US" sz="650" i="1" dirty="0">
                <a:solidFill>
                  <a:schemeClr val="bg1"/>
                </a:solidFill>
              </a:rPr>
              <a:t>Behavior Research Methods</a:t>
            </a:r>
            <a:r>
              <a:rPr lang="en-US" sz="650" dirty="0">
                <a:solidFill>
                  <a:schemeClr val="bg1"/>
                </a:solidFill>
              </a:rPr>
              <a:t>, </a:t>
            </a:r>
            <a:r>
              <a:rPr lang="en-US" sz="650" i="1" dirty="0">
                <a:solidFill>
                  <a:schemeClr val="bg1"/>
                </a:solidFill>
              </a:rPr>
              <a:t>52</a:t>
            </a:r>
            <a:r>
              <a:rPr lang="en-US" sz="650" dirty="0">
                <a:solidFill>
                  <a:schemeClr val="bg1"/>
                </a:solidFill>
              </a:rPr>
              <a:t>(6), 2287–2305. </a:t>
            </a:r>
            <a:r>
              <a:rPr lang="en-US" sz="650" dirty="0">
                <a:solidFill>
                  <a:schemeClr val="bg1"/>
                </a:solidFill>
                <a:hlinkClick r:id="rId18">
                  <a:extLst>
                    <a:ext uri="{A12FA001-AC4F-418D-AE19-62706E023703}">
                      <ahyp:hlinkClr xmlns:ahyp="http://schemas.microsoft.com/office/drawing/2018/hyperlinkcolor" val="tx"/>
                    </a:ext>
                  </a:extLst>
                </a:hlinkClick>
              </a:rPr>
              <a:t>https://doi.org/10.3758/s13428-020-01398-0</a:t>
            </a:r>
            <a:endParaRPr lang="en-US" sz="650" dirty="0">
              <a:solidFill>
                <a:schemeClr val="bg1"/>
              </a:solidFill>
            </a:endParaRPr>
          </a:p>
          <a:p>
            <a:r>
              <a:rPr lang="en-US" sz="650" dirty="0">
                <a:solidFill>
                  <a:schemeClr val="bg1"/>
                </a:solidFill>
              </a:rPr>
              <a:t>Meredith, W. (1993). Measurement invariance, factor analysis and factorial invariance. </a:t>
            </a:r>
            <a:r>
              <a:rPr lang="en-US" sz="650" dirty="0" err="1">
                <a:solidFill>
                  <a:schemeClr val="bg1"/>
                </a:solidFill>
              </a:rPr>
              <a:t>Psychometrika</a:t>
            </a:r>
            <a:r>
              <a:rPr lang="en-US" sz="650" dirty="0">
                <a:solidFill>
                  <a:schemeClr val="bg1"/>
                </a:solidFill>
              </a:rPr>
              <a:t>, 58(4), 525–543.</a:t>
            </a:r>
          </a:p>
          <a:p>
            <a:r>
              <a:rPr lang="en-US" sz="650" dirty="0">
                <a:solidFill>
                  <a:schemeClr val="bg1"/>
                </a:solidFill>
              </a:rPr>
              <a:t>Merk, S., Rosman, T., </a:t>
            </a:r>
            <a:r>
              <a:rPr lang="en-US" sz="650" dirty="0" err="1">
                <a:solidFill>
                  <a:schemeClr val="bg1"/>
                </a:solidFill>
              </a:rPr>
              <a:t>Muis</a:t>
            </a:r>
            <a:r>
              <a:rPr lang="en-US" sz="650" dirty="0">
                <a:solidFill>
                  <a:schemeClr val="bg1"/>
                </a:solidFill>
              </a:rPr>
              <a:t>, K. R., </a:t>
            </a:r>
            <a:r>
              <a:rPr lang="en-US" sz="650" dirty="0" err="1">
                <a:solidFill>
                  <a:schemeClr val="bg1"/>
                </a:solidFill>
              </a:rPr>
              <a:t>Kelava</a:t>
            </a:r>
            <a:r>
              <a:rPr lang="en-US" sz="650" dirty="0">
                <a:solidFill>
                  <a:schemeClr val="bg1"/>
                </a:solidFill>
              </a:rPr>
              <a:t>, A., &amp; </a:t>
            </a:r>
            <a:r>
              <a:rPr lang="en-US" sz="650" dirty="0" err="1">
                <a:solidFill>
                  <a:schemeClr val="bg1"/>
                </a:solidFill>
              </a:rPr>
              <a:t>Bohl</a:t>
            </a:r>
            <a:r>
              <a:rPr lang="en-US" sz="650" dirty="0">
                <a:solidFill>
                  <a:schemeClr val="bg1"/>
                </a:solidFill>
              </a:rPr>
              <a:t>, T. (2018). Topic specific epistemic beliefs: Extending the theory of integrated domains in personal epistemology. </a:t>
            </a:r>
            <a:r>
              <a:rPr lang="en-US" sz="650" i="1" dirty="0">
                <a:solidFill>
                  <a:schemeClr val="bg1"/>
                </a:solidFill>
              </a:rPr>
              <a:t>Learning and Instruction</a:t>
            </a:r>
            <a:r>
              <a:rPr lang="en-US" sz="650" dirty="0">
                <a:solidFill>
                  <a:schemeClr val="bg1"/>
                </a:solidFill>
              </a:rPr>
              <a:t>, </a:t>
            </a:r>
            <a:r>
              <a:rPr lang="en-US" sz="650" i="1" dirty="0">
                <a:solidFill>
                  <a:schemeClr val="bg1"/>
                </a:solidFill>
              </a:rPr>
              <a:t>56</a:t>
            </a:r>
            <a:r>
              <a:rPr lang="en-US" sz="650" dirty="0">
                <a:solidFill>
                  <a:schemeClr val="bg1"/>
                </a:solidFill>
              </a:rPr>
              <a:t>, 84–97.</a:t>
            </a:r>
          </a:p>
          <a:p>
            <a:r>
              <a:rPr lang="en-US" sz="650" dirty="0" err="1">
                <a:solidFill>
                  <a:schemeClr val="bg1"/>
                </a:solidFill>
              </a:rPr>
              <a:t>Robinaugh</a:t>
            </a:r>
            <a:r>
              <a:rPr lang="en-US" sz="650" dirty="0">
                <a:solidFill>
                  <a:schemeClr val="bg1"/>
                </a:solidFill>
              </a:rPr>
              <a:t>, D. J., Haslbeck, J. M. B., Ryan, O., Fried, E. I., &amp; </a:t>
            </a:r>
            <a:r>
              <a:rPr lang="en-US" sz="650" dirty="0" err="1">
                <a:solidFill>
                  <a:schemeClr val="bg1"/>
                </a:solidFill>
              </a:rPr>
              <a:t>Waldorp</a:t>
            </a:r>
            <a:r>
              <a:rPr lang="en-US" sz="650" dirty="0">
                <a:solidFill>
                  <a:schemeClr val="bg1"/>
                </a:solidFill>
              </a:rPr>
              <a:t>, L. J. (2021). Invisible Hands and Fine Calipers: A Call to Use Formal Theory as a Toolkit for Theory Construction. </a:t>
            </a:r>
            <a:r>
              <a:rPr lang="en-US" sz="650" i="1" dirty="0">
                <a:solidFill>
                  <a:schemeClr val="bg1"/>
                </a:solidFill>
              </a:rPr>
              <a:t>Perspectives on Psychological Science</a:t>
            </a:r>
            <a:r>
              <a:rPr lang="en-US" sz="650" dirty="0">
                <a:solidFill>
                  <a:schemeClr val="bg1"/>
                </a:solidFill>
              </a:rPr>
              <a:t>, </a:t>
            </a:r>
            <a:r>
              <a:rPr lang="en-US" sz="650" i="1" dirty="0">
                <a:solidFill>
                  <a:schemeClr val="bg1"/>
                </a:solidFill>
              </a:rPr>
              <a:t>16</a:t>
            </a:r>
            <a:r>
              <a:rPr lang="en-US" sz="650" dirty="0">
                <a:solidFill>
                  <a:schemeClr val="bg1"/>
                </a:solidFill>
              </a:rPr>
              <a:t>(4), 725–743. </a:t>
            </a:r>
            <a:r>
              <a:rPr lang="en-US" sz="650" dirty="0">
                <a:solidFill>
                  <a:schemeClr val="bg1"/>
                </a:solidFill>
                <a:hlinkClick r:id="rId19">
                  <a:extLst>
                    <a:ext uri="{A12FA001-AC4F-418D-AE19-62706E023703}">
                      <ahyp:hlinkClr xmlns:ahyp="http://schemas.microsoft.com/office/drawing/2018/hyperlinkcolor" val="tx"/>
                    </a:ext>
                  </a:extLst>
                </a:hlinkClick>
              </a:rPr>
              <a:t>https://doi.org/10.1177/1745691620974697</a:t>
            </a:r>
            <a:endParaRPr lang="en-US" sz="650" dirty="0">
              <a:solidFill>
                <a:schemeClr val="bg1"/>
              </a:solidFill>
            </a:endParaRPr>
          </a:p>
          <a:p>
            <a:r>
              <a:rPr lang="en-US" sz="650" dirty="0" err="1">
                <a:solidFill>
                  <a:schemeClr val="bg1"/>
                </a:solidFill>
              </a:rPr>
              <a:t>Robitzsch</a:t>
            </a:r>
            <a:r>
              <a:rPr lang="en-US" sz="650" dirty="0">
                <a:solidFill>
                  <a:schemeClr val="bg1"/>
                </a:solidFill>
              </a:rPr>
              <a:t>, A., &amp; </a:t>
            </a:r>
            <a:r>
              <a:rPr lang="en-US" sz="650" dirty="0" err="1">
                <a:solidFill>
                  <a:schemeClr val="bg1"/>
                </a:solidFill>
              </a:rPr>
              <a:t>Lüdtke</a:t>
            </a:r>
            <a:r>
              <a:rPr lang="en-US" sz="650" dirty="0">
                <a:solidFill>
                  <a:schemeClr val="bg1"/>
                </a:solidFill>
              </a:rPr>
              <a:t>, O. (2023). Why Full, Partial, or Approximate Measurement Invariance Are Not a Prerequisite for Meaningful and Valid Group Comparisons. </a:t>
            </a:r>
            <a:r>
              <a:rPr lang="en-US" sz="650" i="1" dirty="0">
                <a:solidFill>
                  <a:schemeClr val="bg1"/>
                </a:solidFill>
              </a:rPr>
              <a:t>Structural Equation Modeling: A Multidisciplinary Journal</a:t>
            </a:r>
            <a:r>
              <a:rPr lang="en-US" sz="650" dirty="0">
                <a:solidFill>
                  <a:schemeClr val="bg1"/>
                </a:solidFill>
              </a:rPr>
              <a:t>, </a:t>
            </a:r>
            <a:r>
              <a:rPr lang="en-US" sz="650" i="1" dirty="0">
                <a:solidFill>
                  <a:schemeClr val="bg1"/>
                </a:solidFill>
              </a:rPr>
              <a:t>30</a:t>
            </a:r>
            <a:r>
              <a:rPr lang="en-US" sz="650" dirty="0">
                <a:solidFill>
                  <a:schemeClr val="bg1"/>
                </a:solidFill>
              </a:rPr>
              <a:t>(6), 859–870. </a:t>
            </a:r>
            <a:r>
              <a:rPr lang="en-US" sz="650" dirty="0">
                <a:solidFill>
                  <a:schemeClr val="bg1"/>
                </a:solidFill>
                <a:hlinkClick r:id="rId20">
                  <a:extLst>
                    <a:ext uri="{A12FA001-AC4F-418D-AE19-62706E023703}">
                      <ahyp:hlinkClr xmlns:ahyp="http://schemas.microsoft.com/office/drawing/2018/hyperlinkcolor" val="tx"/>
                    </a:ext>
                  </a:extLst>
                </a:hlinkClick>
              </a:rPr>
              <a:t>https://doi.org/10.1080/10705511.2023.2191292</a:t>
            </a:r>
            <a:endParaRPr lang="en-US" sz="650" dirty="0">
              <a:solidFill>
                <a:schemeClr val="bg1"/>
              </a:solidFill>
            </a:endParaRPr>
          </a:p>
          <a:p>
            <a:r>
              <a:rPr lang="en-US" sz="650" dirty="0">
                <a:solidFill>
                  <a:schemeClr val="bg1"/>
                </a:solidFill>
              </a:rPr>
              <a:t>Sato, T. (1975). The construction and interpretation of SP tables. </a:t>
            </a:r>
            <a:r>
              <a:rPr lang="en-US" sz="650" i="1" dirty="0">
                <a:solidFill>
                  <a:schemeClr val="bg1"/>
                </a:solidFill>
              </a:rPr>
              <a:t>Tokyo: Meiji Tosho</a:t>
            </a:r>
            <a:r>
              <a:rPr lang="en-US" sz="650" dirty="0">
                <a:solidFill>
                  <a:schemeClr val="bg1"/>
                </a:solidFill>
              </a:rPr>
              <a:t>.</a:t>
            </a:r>
          </a:p>
          <a:p>
            <a:r>
              <a:rPr lang="en-US" sz="650" dirty="0">
                <a:solidFill>
                  <a:schemeClr val="bg1"/>
                </a:solidFill>
              </a:rPr>
              <a:t>Schiefer, J., Edelsbrunner, P. A., </a:t>
            </a:r>
            <a:r>
              <a:rPr lang="en-US" sz="650" dirty="0" err="1">
                <a:solidFill>
                  <a:schemeClr val="bg1"/>
                </a:solidFill>
              </a:rPr>
              <a:t>Bernholt</a:t>
            </a:r>
            <a:r>
              <a:rPr lang="en-US" sz="650" dirty="0">
                <a:solidFill>
                  <a:schemeClr val="bg1"/>
                </a:solidFill>
              </a:rPr>
              <a:t>, A., Kampa, N., &amp; Nehring, A. (2022). Epistemic Beliefs in Science—A Systematic Integration of Evidence From Multiple Studies.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34</a:t>
            </a:r>
            <a:r>
              <a:rPr lang="en-US" sz="650" dirty="0">
                <a:solidFill>
                  <a:schemeClr val="bg1"/>
                </a:solidFill>
              </a:rPr>
              <a:t>(3), 1541–1575. </a:t>
            </a:r>
            <a:r>
              <a:rPr lang="en-US" sz="650" dirty="0">
                <a:solidFill>
                  <a:schemeClr val="bg1"/>
                </a:solidFill>
                <a:hlinkClick r:id="rId21">
                  <a:extLst>
                    <a:ext uri="{A12FA001-AC4F-418D-AE19-62706E023703}">
                      <ahyp:hlinkClr xmlns:ahyp="http://schemas.microsoft.com/office/drawing/2018/hyperlinkcolor" val="tx"/>
                    </a:ext>
                  </a:extLst>
                </a:hlinkClick>
              </a:rPr>
              <a:t>https://doi.org/10.1007/s10648-022-09661-w</a:t>
            </a:r>
            <a:endParaRPr lang="en-US" sz="650" dirty="0">
              <a:solidFill>
                <a:schemeClr val="bg1"/>
              </a:solidFill>
            </a:endParaRPr>
          </a:p>
          <a:p>
            <a:r>
              <a:rPr lang="en-US" sz="650" dirty="0">
                <a:solidFill>
                  <a:schemeClr val="bg1"/>
                </a:solidFill>
              </a:rPr>
              <a:t>Schneider, M., &amp; Hardy, I. (2013). Profiles of inconsistent knowledge in children’s pathways of conceptual change. </a:t>
            </a:r>
            <a:r>
              <a:rPr lang="en-US" sz="650" i="1" dirty="0">
                <a:solidFill>
                  <a:schemeClr val="bg1"/>
                </a:solidFill>
              </a:rPr>
              <a:t>Developmental Psychology</a:t>
            </a:r>
            <a:r>
              <a:rPr lang="en-US" sz="650" dirty="0">
                <a:solidFill>
                  <a:schemeClr val="bg1"/>
                </a:solidFill>
              </a:rPr>
              <a:t>, </a:t>
            </a:r>
            <a:r>
              <a:rPr lang="en-US" sz="650" i="1" dirty="0">
                <a:solidFill>
                  <a:schemeClr val="bg1"/>
                </a:solidFill>
              </a:rPr>
              <a:t>49</a:t>
            </a:r>
            <a:r>
              <a:rPr lang="en-US" sz="650" dirty="0">
                <a:solidFill>
                  <a:schemeClr val="bg1"/>
                </a:solidFill>
              </a:rPr>
              <a:t>(9), 1639–1649. </a:t>
            </a:r>
            <a:r>
              <a:rPr lang="en-US" sz="650" dirty="0">
                <a:solidFill>
                  <a:schemeClr val="bg1"/>
                </a:solidFill>
                <a:hlinkClick r:id="rId22">
                  <a:extLst>
                    <a:ext uri="{A12FA001-AC4F-418D-AE19-62706E023703}">
                      <ahyp:hlinkClr xmlns:ahyp="http://schemas.microsoft.com/office/drawing/2018/hyperlinkcolor" val="tx"/>
                    </a:ext>
                  </a:extLst>
                </a:hlinkClick>
              </a:rPr>
              <a:t>https://doi.org/10.1037/a0030976</a:t>
            </a:r>
            <a:endParaRPr lang="en-US" sz="650" dirty="0">
              <a:solidFill>
                <a:schemeClr val="bg1"/>
              </a:solidFill>
            </a:endParaRPr>
          </a:p>
          <a:p>
            <a:r>
              <a:rPr lang="en-US" sz="650" dirty="0" err="1">
                <a:solidFill>
                  <a:schemeClr val="bg1"/>
                </a:solidFill>
              </a:rPr>
              <a:t>Schommer</a:t>
            </a:r>
            <a:r>
              <a:rPr lang="en-US" sz="650" dirty="0">
                <a:solidFill>
                  <a:schemeClr val="bg1"/>
                </a:solidFill>
              </a:rPr>
              <a:t>, M. (1990). Effects of beliefs about the nature of knowledge on comprehension. </a:t>
            </a:r>
            <a:r>
              <a:rPr lang="en-US" sz="650" i="1" dirty="0">
                <a:solidFill>
                  <a:schemeClr val="bg1"/>
                </a:solidFill>
              </a:rPr>
              <a:t>Journal of educational psychology</a:t>
            </a:r>
            <a:r>
              <a:rPr lang="en-US" sz="650" dirty="0">
                <a:solidFill>
                  <a:schemeClr val="bg1"/>
                </a:solidFill>
              </a:rPr>
              <a:t>, </a:t>
            </a:r>
            <a:r>
              <a:rPr lang="en-US" sz="650" i="1" dirty="0">
                <a:solidFill>
                  <a:schemeClr val="bg1"/>
                </a:solidFill>
              </a:rPr>
              <a:t>82</a:t>
            </a:r>
            <a:r>
              <a:rPr lang="en-US" sz="650" dirty="0">
                <a:solidFill>
                  <a:schemeClr val="bg1"/>
                </a:solidFill>
              </a:rPr>
              <a:t>(3), 498.</a:t>
            </a:r>
          </a:p>
          <a:p>
            <a:r>
              <a:rPr lang="en-US" sz="650" dirty="0" err="1">
                <a:solidFill>
                  <a:schemeClr val="bg1"/>
                </a:solidFill>
              </a:rPr>
              <a:t>Schommer</a:t>
            </a:r>
            <a:r>
              <a:rPr lang="en-US" sz="650" dirty="0">
                <a:solidFill>
                  <a:schemeClr val="bg1"/>
                </a:solidFill>
              </a:rPr>
              <a:t>, M. (1993). Epistemological development and academic performance among secondary students. </a:t>
            </a:r>
            <a:r>
              <a:rPr lang="en-US" sz="650" i="1" dirty="0">
                <a:solidFill>
                  <a:schemeClr val="bg1"/>
                </a:solidFill>
              </a:rPr>
              <a:t>Journal of educational psychology</a:t>
            </a:r>
            <a:r>
              <a:rPr lang="en-US" sz="650" dirty="0">
                <a:solidFill>
                  <a:schemeClr val="bg1"/>
                </a:solidFill>
              </a:rPr>
              <a:t>, </a:t>
            </a:r>
            <a:r>
              <a:rPr lang="en-US" sz="650" i="1" dirty="0">
                <a:solidFill>
                  <a:schemeClr val="bg1"/>
                </a:solidFill>
              </a:rPr>
              <a:t>85</a:t>
            </a:r>
            <a:r>
              <a:rPr lang="en-US" sz="650" dirty="0">
                <a:solidFill>
                  <a:schemeClr val="bg1"/>
                </a:solidFill>
              </a:rPr>
              <a:t>(3), 406.</a:t>
            </a:r>
          </a:p>
          <a:p>
            <a:r>
              <a:rPr lang="en-US" sz="650" dirty="0" err="1">
                <a:solidFill>
                  <a:schemeClr val="bg1"/>
                </a:solidFill>
              </a:rPr>
              <a:t>Schommer</a:t>
            </a:r>
            <a:r>
              <a:rPr lang="en-US" sz="650" dirty="0">
                <a:solidFill>
                  <a:schemeClr val="bg1"/>
                </a:solidFill>
              </a:rPr>
              <a:t>, M. (1994). Synthesizing epistemological belief research: Tentative understandings and provocative confusions. </a:t>
            </a:r>
            <a:r>
              <a:rPr lang="en-US" sz="650" i="1" dirty="0">
                <a:solidFill>
                  <a:schemeClr val="bg1"/>
                </a:solidFill>
              </a:rPr>
              <a:t>Educational Psychology Review</a:t>
            </a:r>
            <a:r>
              <a:rPr lang="en-US" sz="650" dirty="0">
                <a:solidFill>
                  <a:schemeClr val="bg1"/>
                </a:solidFill>
              </a:rPr>
              <a:t>, </a:t>
            </a:r>
            <a:r>
              <a:rPr lang="en-US" sz="650" i="1" dirty="0">
                <a:solidFill>
                  <a:schemeClr val="bg1"/>
                </a:solidFill>
              </a:rPr>
              <a:t>6</a:t>
            </a:r>
            <a:r>
              <a:rPr lang="en-US" sz="650" dirty="0">
                <a:solidFill>
                  <a:schemeClr val="bg1"/>
                </a:solidFill>
              </a:rPr>
              <a:t>(4), 293–319. </a:t>
            </a:r>
            <a:r>
              <a:rPr lang="en-US" sz="650" dirty="0">
                <a:solidFill>
                  <a:schemeClr val="bg1"/>
                </a:solidFill>
                <a:hlinkClick r:id="rId23">
                  <a:extLst>
                    <a:ext uri="{A12FA001-AC4F-418D-AE19-62706E023703}">
                      <ahyp:hlinkClr xmlns:ahyp="http://schemas.microsoft.com/office/drawing/2018/hyperlinkcolor" val="tx"/>
                    </a:ext>
                  </a:extLst>
                </a:hlinkClick>
              </a:rPr>
              <a:t>https://doi.org/10.1007/BF02213418</a:t>
            </a:r>
            <a:endParaRPr lang="en-US" sz="650" dirty="0">
              <a:solidFill>
                <a:schemeClr val="bg1"/>
              </a:solidFill>
            </a:endParaRPr>
          </a:p>
          <a:p>
            <a:r>
              <a:rPr lang="en-US" sz="650" dirty="0">
                <a:solidFill>
                  <a:schemeClr val="bg1"/>
                </a:solidFill>
              </a:rPr>
              <a:t>Siegel, D., </a:t>
            </a:r>
            <a:r>
              <a:rPr lang="en-US" sz="650" dirty="0" err="1">
                <a:solidFill>
                  <a:schemeClr val="bg1"/>
                </a:solidFill>
              </a:rPr>
              <a:t>Savalei</a:t>
            </a:r>
            <a:r>
              <a:rPr lang="en-US" sz="650" dirty="0">
                <a:solidFill>
                  <a:schemeClr val="bg1"/>
                </a:solidFill>
              </a:rPr>
              <a:t>, V., &amp; Rhemtulla, M. (2026). Nested model comparisons between common factors and composites. </a:t>
            </a:r>
            <a:r>
              <a:rPr lang="en-US" sz="650" i="1" dirty="0">
                <a:solidFill>
                  <a:schemeClr val="bg1"/>
                </a:solidFill>
              </a:rPr>
              <a:t>Psychological Methods</a:t>
            </a:r>
            <a:r>
              <a:rPr lang="en-US" sz="650" dirty="0">
                <a:solidFill>
                  <a:schemeClr val="bg1"/>
                </a:solidFill>
              </a:rPr>
              <a:t>. </a:t>
            </a:r>
            <a:r>
              <a:rPr lang="en-US" sz="650" dirty="0">
                <a:solidFill>
                  <a:schemeClr val="bg1"/>
                </a:solidFill>
                <a:hlinkClick r:id="rId24">
                  <a:extLst>
                    <a:ext uri="{A12FA001-AC4F-418D-AE19-62706E023703}">
                      <ahyp:hlinkClr xmlns:ahyp="http://schemas.microsoft.com/office/drawing/2018/hyperlinkcolor" val="tx"/>
                    </a:ext>
                  </a:extLst>
                </a:hlinkClick>
              </a:rPr>
              <a:t>https://psycnet.apa.org/record/2027-30455-001</a:t>
            </a:r>
            <a:endParaRPr lang="en-US" sz="650" dirty="0">
              <a:solidFill>
                <a:schemeClr val="bg1"/>
              </a:solidFill>
            </a:endParaRPr>
          </a:p>
          <a:p>
            <a:r>
              <a:rPr lang="en-US" sz="650" dirty="0">
                <a:solidFill>
                  <a:schemeClr val="bg1"/>
                </a:solidFill>
              </a:rPr>
              <a:t>Siegler, R. (1976). Three Aspects of Cognitive Development. </a:t>
            </a:r>
            <a:r>
              <a:rPr lang="en-US" sz="650" i="1" dirty="0">
                <a:solidFill>
                  <a:schemeClr val="bg1"/>
                </a:solidFill>
              </a:rPr>
              <a:t>Cognitive Psychology - COG PSYCHOL</a:t>
            </a:r>
            <a:r>
              <a:rPr lang="en-US" sz="650" dirty="0">
                <a:solidFill>
                  <a:schemeClr val="bg1"/>
                </a:solidFill>
              </a:rPr>
              <a:t>, </a:t>
            </a:r>
            <a:r>
              <a:rPr lang="en-US" sz="650" i="1" dirty="0">
                <a:solidFill>
                  <a:schemeClr val="bg1"/>
                </a:solidFill>
              </a:rPr>
              <a:t>8</a:t>
            </a:r>
            <a:r>
              <a:rPr lang="en-US" sz="650" dirty="0">
                <a:solidFill>
                  <a:schemeClr val="bg1"/>
                </a:solidFill>
              </a:rPr>
              <a:t>, 481–520. </a:t>
            </a:r>
            <a:r>
              <a:rPr lang="en-US" sz="650" dirty="0">
                <a:solidFill>
                  <a:schemeClr val="bg1"/>
                </a:solidFill>
                <a:hlinkClick r:id="rId25">
                  <a:extLst>
                    <a:ext uri="{A12FA001-AC4F-418D-AE19-62706E023703}">
                      <ahyp:hlinkClr xmlns:ahyp="http://schemas.microsoft.com/office/drawing/2018/hyperlinkcolor" val="tx"/>
                    </a:ext>
                  </a:extLst>
                </a:hlinkClick>
              </a:rPr>
              <a:t>https://doi.org/10.1016/0010-0285(76)90016-5</a:t>
            </a:r>
            <a:endParaRPr lang="en-US" sz="650" dirty="0">
              <a:solidFill>
                <a:schemeClr val="bg1"/>
              </a:solidFill>
            </a:endParaRPr>
          </a:p>
          <a:p>
            <a:r>
              <a:rPr lang="en-US" sz="650" dirty="0">
                <a:solidFill>
                  <a:schemeClr val="bg1"/>
                </a:solidFill>
              </a:rPr>
              <a:t>Stadler, M., Sailer, M., &amp; Fischer, F. (2021). Knowledge as a formative construct: A good alpha is not always better. </a:t>
            </a:r>
            <a:r>
              <a:rPr lang="en-US" sz="650" i="1" dirty="0">
                <a:solidFill>
                  <a:schemeClr val="bg1"/>
                </a:solidFill>
              </a:rPr>
              <a:t>New Ideas in Psychology</a:t>
            </a:r>
            <a:r>
              <a:rPr lang="en-US" sz="650" dirty="0">
                <a:solidFill>
                  <a:schemeClr val="bg1"/>
                </a:solidFill>
              </a:rPr>
              <a:t>, </a:t>
            </a:r>
            <a:r>
              <a:rPr lang="en-US" sz="650" i="1" dirty="0">
                <a:solidFill>
                  <a:schemeClr val="bg1"/>
                </a:solidFill>
              </a:rPr>
              <a:t>60</a:t>
            </a:r>
            <a:r>
              <a:rPr lang="en-US" sz="650" dirty="0">
                <a:solidFill>
                  <a:schemeClr val="bg1"/>
                </a:solidFill>
              </a:rPr>
              <a:t>, 100832.</a:t>
            </a:r>
          </a:p>
          <a:p>
            <a:r>
              <a:rPr lang="en-US" sz="650" dirty="0" err="1">
                <a:solidFill>
                  <a:schemeClr val="bg1"/>
                </a:solidFill>
              </a:rPr>
              <a:t>Straatemeier</a:t>
            </a:r>
            <a:r>
              <a:rPr lang="en-US" sz="650" dirty="0">
                <a:solidFill>
                  <a:schemeClr val="bg1"/>
                </a:solidFill>
              </a:rPr>
              <a:t>, M., Van Der Maas, H. L. J., &amp; Jansen, B. R. J. (2008). Children’s knowledge of the earth: A new methodological and statistical approach. </a:t>
            </a:r>
            <a:r>
              <a:rPr lang="en-US" sz="650" i="1" dirty="0">
                <a:solidFill>
                  <a:schemeClr val="bg1"/>
                </a:solidFill>
              </a:rPr>
              <a:t>Journal of Experimental Child Psychology</a:t>
            </a:r>
            <a:r>
              <a:rPr lang="en-US" sz="650" dirty="0">
                <a:solidFill>
                  <a:schemeClr val="bg1"/>
                </a:solidFill>
              </a:rPr>
              <a:t>, </a:t>
            </a:r>
            <a:r>
              <a:rPr lang="en-US" sz="650" i="1" dirty="0">
                <a:solidFill>
                  <a:schemeClr val="bg1"/>
                </a:solidFill>
              </a:rPr>
              <a:t>100</a:t>
            </a:r>
            <a:r>
              <a:rPr lang="en-US" sz="650" dirty="0">
                <a:solidFill>
                  <a:schemeClr val="bg1"/>
                </a:solidFill>
              </a:rPr>
              <a:t>(4), 276–296. </a:t>
            </a:r>
            <a:r>
              <a:rPr lang="en-US" sz="650" dirty="0">
                <a:solidFill>
                  <a:schemeClr val="bg1"/>
                </a:solidFill>
                <a:hlinkClick r:id="rId26">
                  <a:extLst>
                    <a:ext uri="{A12FA001-AC4F-418D-AE19-62706E023703}">
                      <ahyp:hlinkClr xmlns:ahyp="http://schemas.microsoft.com/office/drawing/2018/hyperlinkcolor" val="tx"/>
                    </a:ext>
                  </a:extLst>
                </a:hlinkClick>
              </a:rPr>
              <a:t>https://doi.org/10.1016/j.jecp.2008.03.004</a:t>
            </a:r>
            <a:endParaRPr lang="en-US" sz="650" dirty="0">
              <a:solidFill>
                <a:schemeClr val="bg1"/>
              </a:solidFill>
            </a:endParaRPr>
          </a:p>
          <a:p>
            <a:r>
              <a:rPr lang="en-US" sz="650" dirty="0">
                <a:solidFill>
                  <a:schemeClr val="bg1"/>
                </a:solidFill>
              </a:rPr>
              <a:t>Taber, K. S. (2018). The Use of Cronbach’s Alpha When Developing and Reporting Research Instruments in Science Education. </a:t>
            </a:r>
            <a:r>
              <a:rPr lang="en-US" sz="650" i="1" dirty="0">
                <a:solidFill>
                  <a:schemeClr val="bg1"/>
                </a:solidFill>
              </a:rPr>
              <a:t>Research in Science Education</a:t>
            </a:r>
            <a:r>
              <a:rPr lang="en-US" sz="650" dirty="0">
                <a:solidFill>
                  <a:schemeClr val="bg1"/>
                </a:solidFill>
              </a:rPr>
              <a:t>, </a:t>
            </a:r>
            <a:r>
              <a:rPr lang="en-US" sz="650" i="1" dirty="0">
                <a:solidFill>
                  <a:schemeClr val="bg1"/>
                </a:solidFill>
              </a:rPr>
              <a:t>48</a:t>
            </a:r>
            <a:r>
              <a:rPr lang="en-US" sz="650" dirty="0">
                <a:solidFill>
                  <a:schemeClr val="bg1"/>
                </a:solidFill>
              </a:rPr>
              <a:t>(6), 1273–1296. </a:t>
            </a:r>
            <a:r>
              <a:rPr lang="en-US" sz="650" dirty="0">
                <a:solidFill>
                  <a:schemeClr val="bg1"/>
                </a:solidFill>
                <a:hlinkClick r:id="rId27">
                  <a:extLst>
                    <a:ext uri="{A12FA001-AC4F-418D-AE19-62706E023703}">
                      <ahyp:hlinkClr xmlns:ahyp="http://schemas.microsoft.com/office/drawing/2018/hyperlinkcolor" val="tx"/>
                    </a:ext>
                  </a:extLst>
                </a:hlinkClick>
              </a:rPr>
              <a:t>https://doi.org/10.1007/s11165-016-9602-2</a:t>
            </a:r>
            <a:endParaRPr lang="en-US" sz="650" dirty="0">
              <a:solidFill>
                <a:schemeClr val="bg1"/>
              </a:solidFill>
            </a:endParaRPr>
          </a:p>
          <a:p>
            <a:r>
              <a:rPr lang="en-US" sz="650" dirty="0" err="1">
                <a:solidFill>
                  <a:schemeClr val="bg1"/>
                </a:solidFill>
              </a:rPr>
              <a:t>Tatsuoka</a:t>
            </a:r>
            <a:r>
              <a:rPr lang="en-US" sz="650" dirty="0">
                <a:solidFill>
                  <a:schemeClr val="bg1"/>
                </a:solidFill>
              </a:rPr>
              <a:t>, K. K. (1983). Rule Space: An Approach for Dealing with Misconceptions Based on Item Response Theory. </a:t>
            </a:r>
            <a:r>
              <a:rPr lang="en-US" sz="650" i="1" dirty="0">
                <a:solidFill>
                  <a:schemeClr val="bg1"/>
                </a:solidFill>
              </a:rPr>
              <a:t>Journal of Educational Measurement</a:t>
            </a:r>
            <a:r>
              <a:rPr lang="en-US" sz="650" dirty="0">
                <a:solidFill>
                  <a:schemeClr val="bg1"/>
                </a:solidFill>
              </a:rPr>
              <a:t>, </a:t>
            </a:r>
            <a:r>
              <a:rPr lang="en-US" sz="650" i="1" dirty="0">
                <a:solidFill>
                  <a:schemeClr val="bg1"/>
                </a:solidFill>
              </a:rPr>
              <a:t>20</a:t>
            </a:r>
            <a:r>
              <a:rPr lang="en-US" sz="650" dirty="0">
                <a:solidFill>
                  <a:schemeClr val="bg1"/>
                </a:solidFill>
              </a:rPr>
              <a:t>(4), 345–354.</a:t>
            </a:r>
          </a:p>
          <a:p>
            <a:r>
              <a:rPr lang="en-US" sz="650" dirty="0">
                <a:solidFill>
                  <a:schemeClr val="bg1"/>
                </a:solidFill>
              </a:rPr>
              <a:t>Van Bork, R., Rhemtulla, M., </a:t>
            </a:r>
            <a:r>
              <a:rPr lang="en-US" sz="650" dirty="0" err="1">
                <a:solidFill>
                  <a:schemeClr val="bg1"/>
                </a:solidFill>
              </a:rPr>
              <a:t>Waldorp</a:t>
            </a:r>
            <a:r>
              <a:rPr lang="en-US" sz="650" dirty="0">
                <a:solidFill>
                  <a:schemeClr val="bg1"/>
                </a:solidFill>
              </a:rPr>
              <a:t>, L. J., </a:t>
            </a:r>
            <a:r>
              <a:rPr lang="en-US" sz="650" dirty="0" err="1">
                <a:solidFill>
                  <a:schemeClr val="bg1"/>
                </a:solidFill>
              </a:rPr>
              <a:t>Kruis</a:t>
            </a:r>
            <a:r>
              <a:rPr lang="en-US" sz="650" dirty="0">
                <a:solidFill>
                  <a:schemeClr val="bg1"/>
                </a:solidFill>
              </a:rPr>
              <a:t>, J., </a:t>
            </a:r>
            <a:r>
              <a:rPr lang="en-US" sz="650" dirty="0" err="1">
                <a:solidFill>
                  <a:schemeClr val="bg1"/>
                </a:solidFill>
              </a:rPr>
              <a:t>Rezvanifar</a:t>
            </a:r>
            <a:r>
              <a:rPr lang="en-US" sz="650" dirty="0">
                <a:solidFill>
                  <a:schemeClr val="bg1"/>
                </a:solidFill>
              </a:rPr>
              <a:t>, S., &amp; </a:t>
            </a:r>
            <a:r>
              <a:rPr lang="en-US" sz="650" dirty="0" err="1">
                <a:solidFill>
                  <a:schemeClr val="bg1"/>
                </a:solidFill>
              </a:rPr>
              <a:t>Borsboom</a:t>
            </a:r>
            <a:r>
              <a:rPr lang="en-US" sz="650" dirty="0">
                <a:solidFill>
                  <a:schemeClr val="bg1"/>
                </a:solidFill>
              </a:rPr>
              <a:t>, D. (2021). Latent Variable Models and Networks: Statistical Equivalence and Testability. </a:t>
            </a:r>
            <a:r>
              <a:rPr lang="en-US" sz="650" i="1" dirty="0">
                <a:solidFill>
                  <a:schemeClr val="bg1"/>
                </a:solidFill>
              </a:rPr>
              <a:t>Multivariate Behavioral Research</a:t>
            </a:r>
            <a:r>
              <a:rPr lang="en-US" sz="650" dirty="0">
                <a:solidFill>
                  <a:schemeClr val="bg1"/>
                </a:solidFill>
              </a:rPr>
              <a:t>, </a:t>
            </a:r>
            <a:r>
              <a:rPr lang="en-US" sz="650" i="1" dirty="0">
                <a:solidFill>
                  <a:schemeClr val="bg1"/>
                </a:solidFill>
              </a:rPr>
              <a:t>56</a:t>
            </a:r>
            <a:r>
              <a:rPr lang="en-US" sz="650" dirty="0">
                <a:solidFill>
                  <a:schemeClr val="bg1"/>
                </a:solidFill>
              </a:rPr>
              <a:t>(2), 175–198. </a:t>
            </a:r>
            <a:r>
              <a:rPr lang="en-US" sz="650" dirty="0">
                <a:solidFill>
                  <a:schemeClr val="bg1"/>
                </a:solidFill>
                <a:hlinkClick r:id="rId28">
                  <a:extLst>
                    <a:ext uri="{A12FA001-AC4F-418D-AE19-62706E023703}">
                      <ahyp:hlinkClr xmlns:ahyp="http://schemas.microsoft.com/office/drawing/2018/hyperlinkcolor" val="tx"/>
                    </a:ext>
                  </a:extLst>
                </a:hlinkClick>
              </a:rPr>
              <a:t>https://doi.org/10.1080/00273171.2019.1672515</a:t>
            </a:r>
            <a:endParaRPr lang="en-US" sz="650" dirty="0">
              <a:solidFill>
                <a:schemeClr val="bg1"/>
              </a:solidFill>
            </a:endParaRPr>
          </a:p>
          <a:p>
            <a:r>
              <a:rPr lang="en-US" sz="650" dirty="0">
                <a:solidFill>
                  <a:schemeClr val="bg1"/>
                </a:solidFill>
              </a:rPr>
              <a:t>Van Der Maas, H. L., Dolan, C. V., </a:t>
            </a:r>
            <a:r>
              <a:rPr lang="en-US" sz="650" dirty="0" err="1">
                <a:solidFill>
                  <a:schemeClr val="bg1"/>
                </a:solidFill>
              </a:rPr>
              <a:t>Grasman</a:t>
            </a:r>
            <a:r>
              <a:rPr lang="en-US" sz="650" dirty="0">
                <a:solidFill>
                  <a:schemeClr val="bg1"/>
                </a:solidFill>
              </a:rPr>
              <a:t>, R. P., </a:t>
            </a:r>
            <a:r>
              <a:rPr lang="en-US" sz="650" dirty="0" err="1">
                <a:solidFill>
                  <a:schemeClr val="bg1"/>
                </a:solidFill>
              </a:rPr>
              <a:t>Wicherts</a:t>
            </a:r>
            <a:r>
              <a:rPr lang="en-US" sz="650" dirty="0">
                <a:solidFill>
                  <a:schemeClr val="bg1"/>
                </a:solidFill>
              </a:rPr>
              <a:t>, J. M., Huizenga, H. M., &amp; Raijmakers, M. E. (2006). A dynamical model of general intelligence: The positive manifold of intelligence by mutualism. </a:t>
            </a:r>
            <a:r>
              <a:rPr lang="en-US" sz="650" i="1" dirty="0">
                <a:solidFill>
                  <a:schemeClr val="bg1"/>
                </a:solidFill>
              </a:rPr>
              <a:t>Psychological review</a:t>
            </a:r>
            <a:r>
              <a:rPr lang="en-US" sz="650" dirty="0">
                <a:solidFill>
                  <a:schemeClr val="bg1"/>
                </a:solidFill>
              </a:rPr>
              <a:t>, </a:t>
            </a:r>
            <a:r>
              <a:rPr lang="en-US" sz="650" i="1" dirty="0">
                <a:solidFill>
                  <a:schemeClr val="bg1"/>
                </a:solidFill>
              </a:rPr>
              <a:t>113</a:t>
            </a:r>
            <a:r>
              <a:rPr lang="en-US" sz="650" dirty="0">
                <a:solidFill>
                  <a:schemeClr val="bg1"/>
                </a:solidFill>
              </a:rPr>
              <a:t>(4), 842.</a:t>
            </a:r>
          </a:p>
          <a:p>
            <a:r>
              <a:rPr lang="en-US" sz="650" dirty="0" err="1">
                <a:solidFill>
                  <a:schemeClr val="bg1"/>
                </a:solidFill>
              </a:rPr>
              <a:t>VanderWeele</a:t>
            </a:r>
            <a:r>
              <a:rPr lang="en-US" sz="650" dirty="0">
                <a:solidFill>
                  <a:schemeClr val="bg1"/>
                </a:solidFill>
              </a:rPr>
              <a:t>, T. J. (2022). Constructed Measures and Causal Inference: Towards a New Model of Measurement for Psychosocial Constructs. </a:t>
            </a:r>
            <a:r>
              <a:rPr lang="en-US" sz="650" i="1" dirty="0">
                <a:solidFill>
                  <a:schemeClr val="bg1"/>
                </a:solidFill>
              </a:rPr>
              <a:t>Epidemiology</a:t>
            </a:r>
            <a:r>
              <a:rPr lang="en-US" sz="650" dirty="0">
                <a:solidFill>
                  <a:schemeClr val="bg1"/>
                </a:solidFill>
              </a:rPr>
              <a:t>, </a:t>
            </a:r>
            <a:r>
              <a:rPr lang="en-US" sz="650" i="1" dirty="0">
                <a:solidFill>
                  <a:schemeClr val="bg1"/>
                </a:solidFill>
              </a:rPr>
              <a:t>33</a:t>
            </a:r>
            <a:r>
              <a:rPr lang="en-US" sz="650" dirty="0">
                <a:solidFill>
                  <a:schemeClr val="bg1"/>
                </a:solidFill>
              </a:rPr>
              <a:t>(1), 141. </a:t>
            </a:r>
            <a:r>
              <a:rPr lang="en-US" sz="650" dirty="0">
                <a:solidFill>
                  <a:schemeClr val="bg1"/>
                </a:solidFill>
                <a:hlinkClick r:id="rId29">
                  <a:extLst>
                    <a:ext uri="{A12FA001-AC4F-418D-AE19-62706E023703}">
                      <ahyp:hlinkClr xmlns:ahyp="http://schemas.microsoft.com/office/drawing/2018/hyperlinkcolor" val="tx"/>
                    </a:ext>
                  </a:extLst>
                </a:hlinkClick>
              </a:rPr>
              <a:t>https://doi.org/10.1097/EDE.0000000000001434</a:t>
            </a:r>
            <a:endParaRPr lang="en-US" sz="650" dirty="0">
              <a:solidFill>
                <a:schemeClr val="bg1"/>
              </a:solidFill>
            </a:endParaRPr>
          </a:p>
          <a:p>
            <a:r>
              <a:rPr lang="en-US" sz="650" dirty="0" err="1">
                <a:solidFill>
                  <a:schemeClr val="bg1"/>
                </a:solidFill>
              </a:rPr>
              <a:t>VanderWeele</a:t>
            </a:r>
            <a:r>
              <a:rPr lang="en-US" sz="650" dirty="0">
                <a:solidFill>
                  <a:schemeClr val="bg1"/>
                </a:solidFill>
              </a:rPr>
              <a:t>, T. J., &amp; Batty, C. J. K. (2023). On the dimensional indeterminacy of one-wave factor analysis under causal effects. </a:t>
            </a:r>
            <a:r>
              <a:rPr lang="en-US" sz="650" i="1" dirty="0">
                <a:solidFill>
                  <a:schemeClr val="bg1"/>
                </a:solidFill>
              </a:rPr>
              <a:t>Journal of Causal Inference</a:t>
            </a:r>
            <a:r>
              <a:rPr lang="en-US" sz="650" dirty="0">
                <a:solidFill>
                  <a:schemeClr val="bg1"/>
                </a:solidFill>
              </a:rPr>
              <a:t>, </a:t>
            </a:r>
            <a:r>
              <a:rPr lang="en-US" sz="650" i="1" dirty="0">
                <a:solidFill>
                  <a:schemeClr val="bg1"/>
                </a:solidFill>
              </a:rPr>
              <a:t>11</a:t>
            </a:r>
            <a:r>
              <a:rPr lang="en-US" sz="650" dirty="0">
                <a:solidFill>
                  <a:schemeClr val="bg1"/>
                </a:solidFill>
              </a:rPr>
              <a:t>(1), 20220074. </a:t>
            </a:r>
            <a:r>
              <a:rPr lang="en-US" sz="650" dirty="0">
                <a:solidFill>
                  <a:schemeClr val="bg1"/>
                </a:solidFill>
                <a:hlinkClick r:id="rId30">
                  <a:extLst>
                    <a:ext uri="{A12FA001-AC4F-418D-AE19-62706E023703}">
                      <ahyp:hlinkClr xmlns:ahyp="http://schemas.microsoft.com/office/drawing/2018/hyperlinkcolor" val="tx"/>
                    </a:ext>
                  </a:extLst>
                </a:hlinkClick>
              </a:rPr>
              <a:t>https://doi.org/10.1515/jci-2022-0074</a:t>
            </a:r>
            <a:endParaRPr lang="en-US" sz="650" dirty="0">
              <a:solidFill>
                <a:schemeClr val="bg1"/>
              </a:solidFill>
            </a:endParaRPr>
          </a:p>
          <a:p>
            <a:r>
              <a:rPr lang="en-US" sz="650" dirty="0">
                <a:solidFill>
                  <a:schemeClr val="bg1"/>
                </a:solidFill>
              </a:rPr>
              <a:t>Vosniadou, S., &amp; Brewer, W. F. (1992). Mental models of the earth: A study of conceptual change in childhood. </a:t>
            </a:r>
            <a:r>
              <a:rPr lang="en-US" sz="650" i="1" dirty="0">
                <a:solidFill>
                  <a:schemeClr val="bg1"/>
                </a:solidFill>
              </a:rPr>
              <a:t>Cognitive Psychology</a:t>
            </a:r>
            <a:r>
              <a:rPr lang="en-US" sz="650" dirty="0">
                <a:solidFill>
                  <a:schemeClr val="bg1"/>
                </a:solidFill>
              </a:rPr>
              <a:t>, </a:t>
            </a:r>
            <a:r>
              <a:rPr lang="en-US" sz="650" i="1" dirty="0">
                <a:solidFill>
                  <a:schemeClr val="bg1"/>
                </a:solidFill>
              </a:rPr>
              <a:t>24</a:t>
            </a:r>
            <a:r>
              <a:rPr lang="en-US" sz="650" dirty="0">
                <a:solidFill>
                  <a:schemeClr val="bg1"/>
                </a:solidFill>
              </a:rPr>
              <a:t>(4), 535–585. </a:t>
            </a:r>
            <a:r>
              <a:rPr lang="en-US" sz="650" dirty="0">
                <a:solidFill>
                  <a:schemeClr val="bg1"/>
                </a:solidFill>
                <a:hlinkClick r:id="rId31">
                  <a:extLst>
                    <a:ext uri="{A12FA001-AC4F-418D-AE19-62706E023703}">
                      <ahyp:hlinkClr xmlns:ahyp="http://schemas.microsoft.com/office/drawing/2018/hyperlinkcolor" val="tx"/>
                    </a:ext>
                  </a:extLst>
                </a:hlinkClick>
              </a:rPr>
              <a:t>https://doi.org/10.1016/0010-0285(92)90018-W</a:t>
            </a:r>
            <a:endParaRPr lang="en-US" sz="650" dirty="0">
              <a:solidFill>
                <a:schemeClr val="bg1"/>
              </a:solidFill>
            </a:endParaRPr>
          </a:p>
          <a:p>
            <a:r>
              <a:rPr lang="en-US" sz="650" dirty="0">
                <a:solidFill>
                  <a:schemeClr val="bg1"/>
                </a:solidFill>
              </a:rPr>
              <a:t>Wilson, M. (1989). Saltus: A psychometric model of discontinuity in cognitive development. </a:t>
            </a:r>
            <a:r>
              <a:rPr lang="en-US" sz="650" i="1" dirty="0">
                <a:solidFill>
                  <a:schemeClr val="bg1"/>
                </a:solidFill>
              </a:rPr>
              <a:t>Psychological Bulletin</a:t>
            </a:r>
            <a:r>
              <a:rPr lang="en-US" sz="650" dirty="0">
                <a:solidFill>
                  <a:schemeClr val="bg1"/>
                </a:solidFill>
              </a:rPr>
              <a:t>, </a:t>
            </a:r>
            <a:r>
              <a:rPr lang="en-US" sz="650" i="1" dirty="0">
                <a:solidFill>
                  <a:schemeClr val="bg1"/>
                </a:solidFill>
              </a:rPr>
              <a:t>105</a:t>
            </a:r>
            <a:r>
              <a:rPr lang="en-US" sz="650" dirty="0">
                <a:solidFill>
                  <a:schemeClr val="bg1"/>
                </a:solidFill>
              </a:rPr>
              <a:t>(2), 276–289. </a:t>
            </a:r>
            <a:r>
              <a:rPr lang="en-US" sz="650" dirty="0">
                <a:solidFill>
                  <a:schemeClr val="bg1"/>
                </a:solidFill>
                <a:hlinkClick r:id="rId32">
                  <a:extLst>
                    <a:ext uri="{A12FA001-AC4F-418D-AE19-62706E023703}">
                      <ahyp:hlinkClr xmlns:ahyp="http://schemas.microsoft.com/office/drawing/2018/hyperlinkcolor" val="tx"/>
                    </a:ext>
                  </a:extLst>
                </a:hlinkClick>
              </a:rPr>
              <a:t>https://doi.org/10.1037/0033-2909.105.2.276</a:t>
            </a:r>
            <a:endParaRPr lang="en-US" sz="650" dirty="0">
              <a:solidFill>
                <a:schemeClr val="bg1"/>
              </a:solidFill>
            </a:endParaRPr>
          </a:p>
          <a:p>
            <a:r>
              <a:rPr lang="en-US" sz="650" dirty="0">
                <a:solidFill>
                  <a:schemeClr val="bg1"/>
                </a:solidFill>
              </a:rPr>
              <a:t>Wilson, M., House, R., &amp; Street, F. (o. J.). </a:t>
            </a:r>
            <a:r>
              <a:rPr lang="en-US" sz="650" i="1" dirty="0">
                <a:solidFill>
                  <a:schemeClr val="bg1"/>
                </a:solidFill>
              </a:rPr>
              <a:t>A Psychological Model of Hierarchical Development</a:t>
            </a:r>
            <a:r>
              <a:rPr lang="en-US" sz="650" dirty="0">
                <a:solidFill>
                  <a:schemeClr val="bg1"/>
                </a:solidFill>
              </a:rPr>
              <a:t>.</a:t>
            </a:r>
          </a:p>
          <a:p>
            <a:r>
              <a:rPr lang="en-US" sz="650" dirty="0" err="1">
                <a:solidFill>
                  <a:schemeClr val="bg1"/>
                </a:solidFill>
              </a:rPr>
              <a:t>Yarkoni</a:t>
            </a:r>
            <a:r>
              <a:rPr lang="en-US" sz="650" dirty="0">
                <a:solidFill>
                  <a:schemeClr val="bg1"/>
                </a:solidFill>
              </a:rPr>
              <a:t>, T. (2020). The generalizability crisis. </a:t>
            </a:r>
            <a:r>
              <a:rPr lang="en-US" sz="650" i="1" dirty="0">
                <a:solidFill>
                  <a:schemeClr val="bg1"/>
                </a:solidFill>
              </a:rPr>
              <a:t>The Behavioral and brain sciences</a:t>
            </a:r>
            <a:r>
              <a:rPr lang="en-US" sz="650" dirty="0">
                <a:solidFill>
                  <a:schemeClr val="bg1"/>
                </a:solidFill>
              </a:rPr>
              <a:t>, </a:t>
            </a:r>
            <a:r>
              <a:rPr lang="en-US" sz="650" i="1" dirty="0">
                <a:solidFill>
                  <a:schemeClr val="bg1"/>
                </a:solidFill>
              </a:rPr>
              <a:t>45</a:t>
            </a:r>
            <a:r>
              <a:rPr lang="en-US" sz="650" dirty="0">
                <a:solidFill>
                  <a:schemeClr val="bg1"/>
                </a:solidFill>
              </a:rPr>
              <a:t>, e1. </a:t>
            </a:r>
            <a:r>
              <a:rPr lang="en-US" sz="650" dirty="0">
                <a:solidFill>
                  <a:schemeClr val="bg1"/>
                </a:solidFill>
                <a:hlinkClick r:id="rId33">
                  <a:extLst>
                    <a:ext uri="{A12FA001-AC4F-418D-AE19-62706E023703}">
                      <ahyp:hlinkClr xmlns:ahyp="http://schemas.microsoft.com/office/drawing/2018/hyperlinkcolor" val="tx"/>
                    </a:ext>
                  </a:extLst>
                </a:hlinkClick>
              </a:rPr>
              <a:t>https://doi.org/10.1017/S0140525X20001685</a:t>
            </a:r>
            <a:endParaRPr lang="en-US" sz="650" dirty="0">
              <a:solidFill>
                <a:schemeClr val="bg1"/>
              </a:solidFill>
              <a:effectLst/>
            </a:endParaRPr>
          </a:p>
        </p:txBody>
      </p:sp>
      <p:pic>
        <p:nvPicPr>
          <p:cNvPr id="9" name="Grafik 8">
            <a:extLst>
              <a:ext uri="{FF2B5EF4-FFF2-40B4-BE49-F238E27FC236}">
                <a16:creationId xmlns:a16="http://schemas.microsoft.com/office/drawing/2014/main" id="{39E87CF5-2000-4522-B8DB-B222357C0903}"/>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10296232" y="3641726"/>
            <a:ext cx="1722120" cy="1722120"/>
          </a:xfrm>
          <a:prstGeom prst="rect">
            <a:avLst/>
          </a:prstGeom>
        </p:spPr>
      </p:pic>
      <p:sp>
        <p:nvSpPr>
          <p:cNvPr id="10" name="Titel 1">
            <a:extLst>
              <a:ext uri="{FF2B5EF4-FFF2-40B4-BE49-F238E27FC236}">
                <a16:creationId xmlns:a16="http://schemas.microsoft.com/office/drawing/2014/main" id="{91A84A06-7930-47F2-8076-8F537F67B3A2}"/>
              </a:ext>
            </a:extLst>
          </p:cNvPr>
          <p:cNvSpPr txBox="1">
            <a:spLocks/>
          </p:cNvSpPr>
          <p:nvPr/>
        </p:nvSpPr>
        <p:spPr>
          <a:xfrm>
            <a:off x="6574266" y="6182898"/>
            <a:ext cx="6719944"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lvl="0">
              <a:defRPr/>
            </a:pPr>
            <a:r>
              <a:rPr lang="de-DE" sz="1800" dirty="0">
                <a:solidFill>
                  <a:schemeClr val="bg1"/>
                </a:solidFill>
                <a:hlinkClick r:id="rId35">
                  <a:extLst>
                    <a:ext uri="{A12FA001-AC4F-418D-AE19-62706E023703}">
                      <ahyp:hlinkClr xmlns:ahyp="http://schemas.microsoft.com/office/drawing/2018/hyperlinkcolor" val="tx"/>
                    </a:ext>
                  </a:extLst>
                </a:hlinkClick>
              </a:rPr>
              <a:t>https://github.com/peter1328/presentations</a:t>
            </a:r>
            <a:endParaRPr kumimoji="0" lang="en-US" sz="1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869368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 name="Rechteck 13">
            <a:extLst>
              <a:ext uri="{FF2B5EF4-FFF2-40B4-BE49-F238E27FC236}">
                <a16:creationId xmlns:a16="http://schemas.microsoft.com/office/drawing/2014/main" id="{F4398088-FC5D-4F2E-8926-967B16468EEA}"/>
              </a:ext>
            </a:extLst>
          </p:cNvPr>
          <p:cNvSpPr/>
          <p:nvPr/>
        </p:nvSpPr>
        <p:spPr>
          <a:xfrm>
            <a:off x="4130238" y="1938910"/>
            <a:ext cx="5020345" cy="1569660"/>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can</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choose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from</a:t>
            </a:r>
            <a:r>
              <a:rPr lang="de-CH" sz="2400" i="1" dirty="0">
                <a:solidFill>
                  <a:schemeClr val="bg1"/>
                </a:solidFill>
                <a:latin typeface="Arial" panose="020B0604020202020204" pitchFamily="34" charset="0"/>
                <a:cs typeface="Arial" panose="020B0604020202020204" pitchFamily="34" charset="0"/>
              </a:rPr>
              <a:t> different </a:t>
            </a:r>
            <a:r>
              <a:rPr lang="de-CH" sz="2400" i="1" dirty="0" err="1">
                <a:solidFill>
                  <a:schemeClr val="bg1"/>
                </a:solidFill>
                <a:latin typeface="Arial" panose="020B0604020202020204" pitchFamily="34" charset="0"/>
                <a:cs typeface="Arial" panose="020B0604020202020204" pitchFamily="34" charset="0"/>
              </a:rPr>
              <a:t>ontologies</a:t>
            </a:r>
            <a:r>
              <a:rPr lang="de-CH" sz="2400" i="1" dirty="0">
                <a:solidFill>
                  <a:schemeClr val="bg1"/>
                </a:solidFill>
                <a:latin typeface="Arial" panose="020B0604020202020204" pitchFamily="34" charset="0"/>
                <a:cs typeface="Arial" panose="020B0604020202020204" pitchFamily="34" charset="0"/>
              </a:rPr>
              <a:t> (meta-</a:t>
            </a:r>
            <a:r>
              <a:rPr lang="de-CH" sz="2400" i="1" dirty="0" err="1">
                <a:solidFill>
                  <a:schemeClr val="bg1"/>
                </a:solidFill>
                <a:latin typeface="Arial" panose="020B0604020202020204" pitchFamily="34" charset="0"/>
                <a:cs typeface="Arial" panose="020B0604020202020204" pitchFamily="34" charset="0"/>
              </a:rPr>
              <a:t>theories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describe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under</a:t>
            </a:r>
            <a:r>
              <a:rPr lang="de-CH" sz="2400"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theoretical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justifications</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070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11829533"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223520" y="839649"/>
            <a:ext cx="1182953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 name="Rechteck 13">
            <a:extLst>
              <a:ext uri="{FF2B5EF4-FFF2-40B4-BE49-F238E27FC236}">
                <a16:creationId xmlns:a16="http://schemas.microsoft.com/office/drawing/2014/main" id="{F4398088-FC5D-4F2E-8926-967B16468EEA}"/>
              </a:ext>
            </a:extLst>
          </p:cNvPr>
          <p:cNvSpPr/>
          <p:nvPr/>
        </p:nvSpPr>
        <p:spPr>
          <a:xfrm>
            <a:off x="4130238" y="1938910"/>
            <a:ext cx="5020345" cy="2308324"/>
          </a:xfrm>
          <a:prstGeom prst="rect">
            <a:avLst/>
          </a:prstGeom>
        </p:spPr>
        <p:txBody>
          <a:bodyPr wrap="square">
            <a:spAutoFit/>
          </a:bodyPr>
          <a:lstStyle/>
          <a:p>
            <a:r>
              <a:rPr lang="de-CH" sz="2400" i="1" dirty="0" err="1">
                <a:solidFill>
                  <a:schemeClr val="bg1"/>
                </a:solidFill>
                <a:latin typeface="Arial" panose="020B0604020202020204" pitchFamily="34" charset="0"/>
                <a:cs typeface="Arial" panose="020B0604020202020204" pitchFamily="34" charset="0"/>
              </a:rPr>
              <a:t>We</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need</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ways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to</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test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causal</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assumptions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about</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our</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constructs</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of</a:t>
            </a:r>
            <a:r>
              <a:rPr lang="de-CH" sz="2400" i="1" dirty="0">
                <a:solidFill>
                  <a:schemeClr val="bg1"/>
                </a:solidFill>
                <a:latin typeface="Arial" panose="020B0604020202020204" pitchFamily="34" charset="0"/>
                <a:cs typeface="Arial" panose="020B0604020202020204" pitchFamily="34" charset="0"/>
              </a:rPr>
              <a:t> </a:t>
            </a:r>
            <a:r>
              <a:rPr lang="de-CH" sz="2400" i="1" dirty="0" err="1">
                <a:solidFill>
                  <a:schemeClr val="bg1"/>
                </a:solidFill>
                <a:latin typeface="Arial" panose="020B0604020202020204" pitchFamily="34" charset="0"/>
                <a:cs typeface="Arial" panose="020B0604020202020204" pitchFamily="34" charset="0"/>
              </a:rPr>
              <a:t>interest</a:t>
            </a:r>
            <a:endParaRPr lang="de-CH" sz="2400" i="1" dirty="0">
              <a:solidFill>
                <a:schemeClr val="bg1"/>
              </a:solidFill>
              <a:latin typeface="Arial" panose="020B0604020202020204" pitchFamily="34" charset="0"/>
              <a:cs typeface="Arial" panose="020B0604020202020204" pitchFamily="34" charset="0"/>
            </a:endParaRPr>
          </a:p>
          <a:p>
            <a:endParaRPr lang="de-CH" sz="2400" b="1" i="1" dirty="0">
              <a:solidFill>
                <a:schemeClr val="bg1"/>
              </a:solidFill>
              <a:latin typeface="Arial" panose="020B0604020202020204" pitchFamily="34" charset="0"/>
              <a:cs typeface="Arial" panose="020B0604020202020204" pitchFamily="34" charset="0"/>
            </a:endParaRPr>
          </a:p>
          <a:p>
            <a:r>
              <a:rPr lang="de-CH" sz="2400" b="1" i="1" dirty="0">
                <a:solidFill>
                  <a:schemeClr val="bg1"/>
                </a:solidFill>
                <a:latin typeface="Arial" panose="020B0604020202020204" pitchFamily="34" charset="0"/>
                <a:cs typeface="Arial" panose="020B0604020202020204" pitchFamily="34" charset="0"/>
              </a:rPr>
              <a:t>…formal </a:t>
            </a:r>
            <a:r>
              <a:rPr lang="de-CH" sz="2400" b="1" i="1" dirty="0" err="1">
                <a:solidFill>
                  <a:schemeClr val="bg1"/>
                </a:solidFill>
                <a:latin typeface="Arial" panose="020B0604020202020204" pitchFamily="34" charset="0"/>
                <a:cs typeface="Arial" panose="020B0604020202020204" pitchFamily="34" charset="0"/>
              </a:rPr>
              <a:t>modeling</a:t>
            </a:r>
            <a:endParaRPr lang="de-CH" sz="2400" b="1" i="1" dirty="0">
              <a:solidFill>
                <a:schemeClr val="bg1"/>
              </a:solidFill>
              <a:latin typeface="Arial" panose="020B0604020202020204" pitchFamily="34" charset="0"/>
              <a:cs typeface="Arial" panose="020B0604020202020204" pitchFamily="34" charset="0"/>
            </a:endParaRPr>
          </a:p>
          <a:p>
            <a:r>
              <a:rPr lang="de-CH" sz="2400" b="1" i="1" dirty="0">
                <a:solidFill>
                  <a:schemeClr val="bg1"/>
                </a:solidFill>
                <a:latin typeface="Arial" panose="020B0604020202020204" pitchFamily="34" charset="0"/>
                <a:cs typeface="Arial" panose="020B0604020202020204" pitchFamily="34" charset="0"/>
              </a:rPr>
              <a:t>…</a:t>
            </a:r>
            <a:r>
              <a:rPr lang="de-CH" sz="2400" b="1" i="1" dirty="0" err="1">
                <a:solidFill>
                  <a:schemeClr val="bg1"/>
                </a:solidFill>
                <a:latin typeface="Arial" panose="020B0604020202020204" pitchFamily="34" charset="0"/>
                <a:cs typeface="Arial" panose="020B0604020202020204" pitchFamily="34" charset="0"/>
              </a:rPr>
              <a:t>computational</a:t>
            </a:r>
            <a:r>
              <a:rPr lang="de-CH" sz="2400" b="1" i="1" dirty="0">
                <a:solidFill>
                  <a:schemeClr val="bg1"/>
                </a:solidFill>
                <a:latin typeface="Arial" panose="020B0604020202020204" pitchFamily="34" charset="0"/>
                <a:cs typeface="Arial" panose="020B0604020202020204" pitchFamily="34" charset="0"/>
              </a:rPr>
              <a:t> </a:t>
            </a:r>
            <a:r>
              <a:rPr lang="de-CH" sz="2400" b="1" i="1" dirty="0" err="1">
                <a:solidFill>
                  <a:schemeClr val="bg1"/>
                </a:solidFill>
                <a:latin typeface="Arial" panose="020B0604020202020204" pitchFamily="34" charset="0"/>
                <a:cs typeface="Arial" panose="020B0604020202020204" pitchFamily="34" charset="0"/>
              </a:rPr>
              <a:t>modeling</a:t>
            </a:r>
            <a:endParaRPr lang="de-CH" sz="2400" b="1"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553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213077" y="-331795"/>
            <a:ext cx="4035923" cy="12652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90s/2000s</a:t>
            </a:r>
          </a:p>
        </p:txBody>
      </p:sp>
      <p:sp>
        <p:nvSpPr>
          <p:cNvPr id="38" name="Titel 1">
            <a:extLst>
              <a:ext uri="{FF2B5EF4-FFF2-40B4-BE49-F238E27FC236}">
                <a16:creationId xmlns:a16="http://schemas.microsoft.com/office/drawing/2014/main" id="{41376760-50A4-4D92-A0A0-1357ECCDF1E2}"/>
              </a:ext>
            </a:extLst>
          </p:cNvPr>
          <p:cNvSpPr txBox="1">
            <a:spLocks/>
          </p:cNvSpPr>
          <p:nvPr/>
        </p:nvSpPr>
        <p:spPr>
          <a:xfrm>
            <a:off x="6307789" y="2168920"/>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err="1">
                <a:ln>
                  <a:noFill/>
                </a:ln>
                <a:solidFill>
                  <a:prstClr val="white"/>
                </a:solidFill>
                <a:effectLst/>
                <a:uLnTx/>
                <a:uFillTx/>
              </a:rPr>
              <a:t>Constrained</a:t>
            </a:r>
            <a:r>
              <a:rPr kumimoji="0" lang="de-DE" sz="2000" b="1" i="0" u="none" strike="noStrike" kern="1200" cap="none" spc="0" normalizeH="0" baseline="0" noProof="0" dirty="0">
                <a:ln>
                  <a:noFill/>
                </a:ln>
                <a:solidFill>
                  <a:prstClr val="white"/>
                </a:solidFill>
                <a:effectLst/>
                <a:uLnTx/>
                <a:uFillTx/>
              </a:rPr>
              <a:t> latent </a:t>
            </a:r>
            <a:r>
              <a:rPr kumimoji="0" lang="de-DE" sz="2000" b="1" i="0" u="none" strike="noStrike" kern="1200" cap="none" spc="0" normalizeH="0" baseline="0" noProof="0" dirty="0" err="1">
                <a:ln>
                  <a:noFill/>
                </a:ln>
                <a:solidFill>
                  <a:prstClr val="white"/>
                </a:solidFill>
                <a:effectLst/>
                <a:uLnTx/>
                <a:uFillTx/>
              </a:rPr>
              <a:t>class</a:t>
            </a:r>
            <a:r>
              <a:rPr kumimoji="0" lang="de-DE" sz="2000" b="1" i="0" u="none" strike="noStrike" kern="1200" cap="none" spc="0" normalizeH="0" baseline="0" noProof="0" dirty="0">
                <a:ln>
                  <a:noFill/>
                </a:ln>
                <a:solidFill>
                  <a:prstClr val="white"/>
                </a:solidFill>
                <a:effectLst/>
                <a:uLnTx/>
                <a:uFillTx/>
              </a:rPr>
              <a:t> </a:t>
            </a:r>
            <a:r>
              <a:rPr kumimoji="0" lang="de-DE" sz="2000" b="1" i="0" u="none" strike="noStrike" kern="1200" cap="none" spc="0" normalizeH="0" baseline="0" noProof="0" dirty="0" err="1">
                <a:ln>
                  <a:noFill/>
                </a:ln>
                <a:solidFill>
                  <a:prstClr val="white"/>
                </a:solidFill>
                <a:effectLst/>
                <a:uLnTx/>
                <a:uFillTx/>
              </a:rPr>
              <a:t>analysis</a:t>
            </a:r>
            <a:endParaRPr lang="de-DE" sz="2000" b="1" baseline="0" dirty="0">
              <a:solidFill>
                <a:prstClr val="white"/>
              </a:solidFill>
            </a:endParaRPr>
          </a:p>
        </p:txBody>
      </p:sp>
      <p:sp>
        <p:nvSpPr>
          <p:cNvPr id="42" name="Titel 1">
            <a:extLst>
              <a:ext uri="{FF2B5EF4-FFF2-40B4-BE49-F238E27FC236}">
                <a16:creationId xmlns:a16="http://schemas.microsoft.com/office/drawing/2014/main" id="{FD9E0A7B-76E8-4E33-A6BC-A3CCC2865913}"/>
              </a:ext>
            </a:extLst>
          </p:cNvPr>
          <p:cNvSpPr txBox="1">
            <a:spLocks/>
          </p:cNvSpPr>
          <p:nvPr/>
        </p:nvSpPr>
        <p:spPr>
          <a:xfrm>
            <a:off x="6436024" y="1027360"/>
            <a:ext cx="3261644" cy="48076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Jansen &amp; van der Maas (1997, 2002)</a:t>
            </a:r>
          </a:p>
        </p:txBody>
      </p:sp>
      <p:pic>
        <p:nvPicPr>
          <p:cNvPr id="3074" name="Picture 2" descr="Prof. dr. H.L.J. (Han) van der Maas - University of Amsterdam">
            <a:extLst>
              <a:ext uri="{FF2B5EF4-FFF2-40B4-BE49-F238E27FC236}">
                <a16:creationId xmlns:a16="http://schemas.microsoft.com/office/drawing/2014/main" id="{E1D25D5F-B5B4-4730-B444-A7EEFBC21C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6326" y="1435100"/>
            <a:ext cx="1125790" cy="11257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ffice Hours: Brenda Jansen">
            <a:extLst>
              <a:ext uri="{FF2B5EF4-FFF2-40B4-BE49-F238E27FC236}">
                <a16:creationId xmlns:a16="http://schemas.microsoft.com/office/drawing/2014/main" id="{977A92AB-96FB-4F84-B65F-F71B2B6E59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97668" y="882485"/>
            <a:ext cx="1250108" cy="1250108"/>
          </a:xfrm>
          <a:prstGeom prst="rect">
            <a:avLst/>
          </a:prstGeom>
          <a:noFill/>
          <a:extLst>
            <a:ext uri="{909E8E84-426E-40DD-AFC4-6F175D3DCCD1}">
              <a14:hiddenFill xmlns:a14="http://schemas.microsoft.com/office/drawing/2010/main">
                <a:solidFill>
                  <a:srgbClr val="FFFFFF"/>
                </a:solidFill>
              </a14:hiddenFill>
            </a:ext>
          </a:extLst>
        </p:spPr>
      </p:pic>
      <p:sp>
        <p:nvSpPr>
          <p:cNvPr id="36" name="Titel 1">
            <a:extLst>
              <a:ext uri="{FF2B5EF4-FFF2-40B4-BE49-F238E27FC236}">
                <a16:creationId xmlns:a16="http://schemas.microsoft.com/office/drawing/2014/main" id="{75D556DF-A3BC-4F8E-8BB8-D750464A8DE6}"/>
              </a:ext>
            </a:extLst>
          </p:cNvPr>
          <p:cNvSpPr txBox="1">
            <a:spLocks/>
          </p:cNvSpPr>
          <p:nvPr/>
        </p:nvSpPr>
        <p:spPr>
          <a:xfrm>
            <a:off x="6436024" y="5185735"/>
            <a:ext cx="5537383" cy="4743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0" i="0" u="none" strike="noStrike" kern="1200" cap="none" spc="0" normalizeH="0" baseline="0" noProof="0" dirty="0" err="1">
                <a:ln>
                  <a:noFill/>
                </a:ln>
                <a:solidFill>
                  <a:prstClr val="white"/>
                </a:solidFill>
                <a:effectLst/>
                <a:uLnTx/>
                <a:uFillTx/>
              </a:rPr>
              <a:t>Formalized</a:t>
            </a:r>
            <a:r>
              <a:rPr kumimoji="0" lang="de-DE" sz="2000" b="0" i="0" u="none" strike="noStrike" kern="1200" cap="none" spc="0" normalizeH="0" baseline="0" noProof="0" dirty="0">
                <a:ln>
                  <a:noFill/>
                </a:ln>
                <a:solidFill>
                  <a:prstClr val="white"/>
                </a:solidFill>
                <a:effectLst/>
                <a:uLnTx/>
                <a:uFillTx/>
              </a:rPr>
              <a:t> </a:t>
            </a:r>
            <a:r>
              <a:rPr kumimoji="0" lang="de-DE" sz="2000" b="0" i="0" u="none" strike="noStrike" kern="1200" cap="none" spc="0" normalizeH="0" baseline="0" noProof="0" dirty="0" err="1">
                <a:ln>
                  <a:noFill/>
                </a:ln>
                <a:solidFill>
                  <a:prstClr val="white"/>
                </a:solidFill>
                <a:effectLst/>
                <a:uLnTx/>
                <a:uFillTx/>
              </a:rPr>
              <a:t>further</a:t>
            </a:r>
            <a:r>
              <a:rPr kumimoji="0" lang="de-DE" sz="2000" b="0" i="0" u="none" strike="noStrike" kern="1200" cap="none" spc="0" normalizeH="0" baseline="0" noProof="0" dirty="0">
                <a:ln>
                  <a:noFill/>
                </a:ln>
                <a:solidFill>
                  <a:prstClr val="white"/>
                </a:solidFill>
                <a:effectLst/>
                <a:uLnTx/>
                <a:uFillTx/>
              </a:rPr>
              <a:t> potential </a:t>
            </a:r>
            <a:r>
              <a:rPr kumimoji="0" lang="de-DE" sz="2000" b="0" i="0" u="none" strike="noStrike" kern="1200" cap="none" spc="0" normalizeH="0" baseline="0" noProof="0" dirty="0" err="1">
                <a:ln>
                  <a:noFill/>
                </a:ln>
                <a:solidFill>
                  <a:prstClr val="white"/>
                </a:solidFill>
                <a:effectLst/>
                <a:uLnTx/>
                <a:uFillTx/>
              </a:rPr>
              <a:t>rules</a:t>
            </a:r>
            <a:r>
              <a:rPr kumimoji="0" lang="de-DE" sz="2000" b="0" i="0" u="none" strike="noStrike" kern="1200" cap="none" spc="0" normalizeH="0" baseline="0" noProof="0" dirty="0">
                <a:ln>
                  <a:noFill/>
                </a:ln>
                <a:solidFill>
                  <a:prstClr val="white"/>
                </a:solidFill>
                <a:effectLst/>
                <a:uLnTx/>
                <a:uFillTx/>
              </a:rPr>
              <a:t>:</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a:solidFill>
                  <a:prstClr val="white"/>
                </a:solidFill>
              </a:rPr>
              <a:t>Random </a:t>
            </a:r>
            <a:r>
              <a:rPr lang="de-DE" sz="2000" dirty="0" err="1">
                <a:solidFill>
                  <a:prstClr val="white"/>
                </a:solidFill>
              </a:rPr>
              <a:t>answer</a:t>
            </a:r>
            <a:r>
              <a:rPr lang="de-DE" sz="2000" dirty="0">
                <a:solidFill>
                  <a:prstClr val="white"/>
                </a:solidFill>
              </a:rPr>
              <a:t> in </a:t>
            </a:r>
            <a:r>
              <a:rPr lang="de-DE" sz="2000" dirty="0" err="1">
                <a:solidFill>
                  <a:prstClr val="white"/>
                </a:solidFill>
              </a:rPr>
              <a:t>case</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dirty="0" err="1">
                <a:solidFill>
                  <a:prstClr val="white"/>
                </a:solidFill>
              </a:rPr>
              <a:t>balance</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a:solidFill>
                  <a:prstClr val="white"/>
                </a:solidFill>
              </a:rPr>
              <a:t>Balance in </a:t>
            </a:r>
            <a:r>
              <a:rPr lang="de-DE" sz="2000" baseline="0" dirty="0" err="1">
                <a:solidFill>
                  <a:prstClr val="white"/>
                </a:solidFill>
              </a:rPr>
              <a:t>case</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w/d </a:t>
            </a:r>
            <a:r>
              <a:rPr lang="de-DE" sz="2000" baseline="0" dirty="0" err="1">
                <a:solidFill>
                  <a:prstClr val="white"/>
                </a:solidFill>
              </a:rPr>
              <a:t>conflict</a:t>
            </a:r>
            <a:r>
              <a:rPr lang="de-DE" sz="2000" baseline="0" dirty="0">
                <a:solidFill>
                  <a:prstClr val="white"/>
                </a:solidFill>
              </a:rPr>
              <a:t> </a:t>
            </a: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Acknowledgment</a:t>
            </a:r>
            <a:r>
              <a:rPr lang="de-DE" sz="2000" dirty="0">
                <a:solidFill>
                  <a:prstClr val="white"/>
                </a:solidFill>
              </a:rPr>
              <a:t> </a:t>
            </a:r>
            <a:r>
              <a:rPr lang="de-DE" sz="2000" dirty="0" err="1">
                <a:solidFill>
                  <a:prstClr val="white"/>
                </a:solidFill>
              </a:rPr>
              <a:t>of</a:t>
            </a:r>
            <a:r>
              <a:rPr lang="de-DE" sz="2000" dirty="0">
                <a:solidFill>
                  <a:prstClr val="white"/>
                </a:solidFill>
              </a:rPr>
              <a:t> </a:t>
            </a:r>
            <a:r>
              <a:rPr lang="de-DE" sz="2000" i="1" dirty="0">
                <a:solidFill>
                  <a:prstClr val="white"/>
                </a:solidFill>
              </a:rPr>
              <a:t>large</a:t>
            </a:r>
            <a:r>
              <a:rPr lang="de-DE" sz="2000" dirty="0">
                <a:solidFill>
                  <a:prstClr val="white"/>
                </a:solidFill>
              </a:rPr>
              <a:t> </a:t>
            </a:r>
            <a:r>
              <a:rPr lang="de-DE" sz="2000" dirty="0" err="1">
                <a:solidFill>
                  <a:prstClr val="white"/>
                </a:solidFill>
              </a:rPr>
              <a:t>distances</a:t>
            </a:r>
            <a:r>
              <a:rPr lang="de-DE" sz="2000" dirty="0">
                <a:solidFill>
                  <a:prstClr val="white"/>
                </a:solidFill>
              </a:rPr>
              <a:t> </a:t>
            </a:r>
            <a:r>
              <a:rPr lang="de-DE" sz="2000" dirty="0" err="1">
                <a:solidFill>
                  <a:prstClr val="white"/>
                </a:solidFill>
              </a:rPr>
              <a:t>only</a:t>
            </a:r>
            <a:endParaRPr lang="de-DE" sz="200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baseline="0" dirty="0" err="1">
                <a:solidFill>
                  <a:prstClr val="white"/>
                </a:solidFill>
              </a:rPr>
              <a:t>Restriction</a:t>
            </a:r>
            <a:r>
              <a:rPr lang="de-DE" sz="2000" baseline="0" dirty="0">
                <a:solidFill>
                  <a:prstClr val="white"/>
                </a:solidFill>
              </a:rPr>
              <a:t> </a:t>
            </a:r>
            <a:r>
              <a:rPr lang="de-DE" sz="2000" baseline="0" dirty="0" err="1">
                <a:solidFill>
                  <a:prstClr val="white"/>
                </a:solidFill>
              </a:rPr>
              <a:t>of</a:t>
            </a:r>
            <a:r>
              <a:rPr lang="de-DE" sz="2000" baseline="0" dirty="0">
                <a:solidFill>
                  <a:prstClr val="white"/>
                </a:solidFill>
              </a:rPr>
              <a:t> </a:t>
            </a:r>
            <a:r>
              <a:rPr lang="de-DE" sz="2000" baseline="0" dirty="0" err="1">
                <a:solidFill>
                  <a:prstClr val="white"/>
                </a:solidFill>
              </a:rPr>
              <a:t>known</a:t>
            </a:r>
            <a:r>
              <a:rPr lang="de-DE" sz="2000" baseline="0" dirty="0">
                <a:solidFill>
                  <a:prstClr val="white"/>
                </a:solidFill>
              </a:rPr>
              <a:t> item </a:t>
            </a:r>
            <a:r>
              <a:rPr lang="de-DE" sz="2000" baseline="0" dirty="0" err="1">
                <a:solidFill>
                  <a:prstClr val="white"/>
                </a:solidFill>
              </a:rPr>
              <a:t>solution</a:t>
            </a:r>
            <a:r>
              <a:rPr lang="de-DE" sz="2000" baseline="0" dirty="0">
                <a:solidFill>
                  <a:prstClr val="white"/>
                </a:solidFill>
              </a:rPr>
              <a:t> </a:t>
            </a:r>
            <a:r>
              <a:rPr lang="de-DE" sz="2000" baseline="0" dirty="0" err="1">
                <a:solidFill>
                  <a:prstClr val="white"/>
                </a:solidFill>
              </a:rPr>
              <a:t>probabilities</a:t>
            </a:r>
            <a:r>
              <a:rPr lang="de-DE" sz="2000" dirty="0">
                <a:solidFill>
                  <a:prstClr val="white"/>
                </a:solidFill>
              </a:rPr>
              <a:t> </a:t>
            </a:r>
            <a:r>
              <a:rPr lang="de-DE" sz="2000" dirty="0" err="1">
                <a:solidFill>
                  <a:prstClr val="white"/>
                </a:solidFill>
              </a:rPr>
              <a:t>for</a:t>
            </a:r>
            <a:r>
              <a:rPr lang="de-DE" sz="2000" dirty="0">
                <a:solidFill>
                  <a:prstClr val="white"/>
                </a:solidFill>
              </a:rPr>
              <a:t> Siegler Rules I – IV</a:t>
            </a:r>
          </a:p>
          <a:p>
            <a:pPr marL="342900" marR="0" lvl="0" indent="-342900" algn="l" defTabSz="914400" rtl="0" eaLnBrk="1" fontAlgn="auto" latinLnBrk="0" hangingPunct="1">
              <a:lnSpc>
                <a:spcPct val="90000"/>
              </a:lnSpc>
              <a:spcBef>
                <a:spcPct val="0"/>
              </a:spcBef>
              <a:spcAft>
                <a:spcPts val="0"/>
              </a:spcAft>
              <a:buClrTx/>
              <a:buSzTx/>
              <a:buFontTx/>
              <a:buChar char="-"/>
              <a:tabLst/>
              <a:defRPr/>
            </a:pPr>
            <a:endParaRPr lang="de-DE" sz="2000" baseline="0" dirty="0">
              <a:solidFill>
                <a:prstClr val="white"/>
              </a:solidFill>
            </a:endParaRPr>
          </a:p>
          <a:p>
            <a:pPr marL="342900" marR="0" lvl="0" indent="-342900" algn="l" defTabSz="914400" rtl="0" eaLnBrk="1" fontAlgn="auto" latinLnBrk="0" hangingPunct="1">
              <a:lnSpc>
                <a:spcPct val="90000"/>
              </a:lnSpc>
              <a:spcBef>
                <a:spcPct val="0"/>
              </a:spcBef>
              <a:spcAft>
                <a:spcPts val="0"/>
              </a:spcAft>
              <a:buClrTx/>
              <a:buSzTx/>
              <a:buFontTx/>
              <a:buChar char="-"/>
              <a:tabLst/>
              <a:defRPr/>
            </a:pPr>
            <a:r>
              <a:rPr lang="de-DE" sz="2000" dirty="0" err="1">
                <a:solidFill>
                  <a:prstClr val="white"/>
                </a:solidFill>
              </a:rPr>
              <a:t>Result</a:t>
            </a:r>
            <a:r>
              <a:rPr lang="de-DE" sz="2000" dirty="0">
                <a:solidFill>
                  <a:prstClr val="white"/>
                </a:solidFill>
              </a:rPr>
              <a:t>: N = 484 7th- and 8th-graders:</a:t>
            </a:r>
          </a:p>
          <a:p>
            <a:pPr marR="0" lvl="0" algn="l" defTabSz="914400" rtl="0" eaLnBrk="1" fontAlgn="auto" latinLnBrk="0" hangingPunct="1">
              <a:lnSpc>
                <a:spcPct val="90000"/>
              </a:lnSpc>
              <a:spcBef>
                <a:spcPct val="0"/>
              </a:spcBef>
              <a:spcAft>
                <a:spcPts val="0"/>
              </a:spcAft>
              <a:buClrTx/>
              <a:buSzTx/>
              <a:tabLst/>
              <a:defRPr/>
            </a:pPr>
            <a:r>
              <a:rPr lang="de-DE" sz="2000" dirty="0">
                <a:solidFill>
                  <a:prstClr val="white"/>
                </a:solidFill>
              </a:rPr>
              <a:t>Rules I and II </a:t>
            </a:r>
            <a:r>
              <a:rPr lang="de-DE" sz="2000" dirty="0" err="1">
                <a:solidFill>
                  <a:prstClr val="white"/>
                </a:solidFill>
              </a:rPr>
              <a:t>very</a:t>
            </a:r>
            <a:r>
              <a:rPr lang="de-DE" sz="2000" dirty="0">
                <a:solidFill>
                  <a:prstClr val="white"/>
                </a:solidFill>
              </a:rPr>
              <a:t> </a:t>
            </a:r>
            <a:r>
              <a:rPr lang="de-DE" sz="2000" dirty="0" err="1">
                <a:solidFill>
                  <a:prstClr val="white"/>
                </a:solidFill>
              </a:rPr>
              <a:t>consistent</a:t>
            </a:r>
            <a:r>
              <a:rPr lang="de-DE" sz="2000" dirty="0">
                <a:solidFill>
                  <a:prstClr val="white"/>
                </a:solidFill>
              </a:rPr>
              <a:t>, </a:t>
            </a:r>
            <a:r>
              <a:rPr lang="de-DE" sz="2000" dirty="0" err="1">
                <a:solidFill>
                  <a:prstClr val="white"/>
                </a:solidFill>
              </a:rPr>
              <a:t>rules</a:t>
            </a:r>
            <a:r>
              <a:rPr lang="de-DE" sz="2000" dirty="0">
                <a:solidFill>
                  <a:prstClr val="white"/>
                </a:solidFill>
              </a:rPr>
              <a:t> </a:t>
            </a:r>
            <a:r>
              <a:rPr lang="de-DE" sz="2000" dirty="0" err="1">
                <a:solidFill>
                  <a:prstClr val="white"/>
                </a:solidFill>
              </a:rPr>
              <a:t>above</a:t>
            </a:r>
            <a:r>
              <a:rPr lang="de-DE" sz="2000" dirty="0">
                <a:solidFill>
                  <a:prstClr val="white"/>
                </a:solidFill>
              </a:rPr>
              <a:t> </a:t>
            </a:r>
            <a:r>
              <a:rPr lang="de-DE" sz="2000" dirty="0" err="1">
                <a:solidFill>
                  <a:prstClr val="white"/>
                </a:solidFill>
              </a:rPr>
              <a:t>partially</a:t>
            </a:r>
            <a:endParaRPr lang="de-DE" sz="2000" baseline="0" dirty="0">
              <a:solidFill>
                <a:prstClr val="white"/>
              </a:solidFill>
            </a:endParaRPr>
          </a:p>
        </p:txBody>
      </p:sp>
    </p:spTree>
    <p:extLst>
      <p:ext uri="{BB962C8B-B14F-4D97-AF65-F5344CB8AC3E}">
        <p14:creationId xmlns:p14="http://schemas.microsoft.com/office/powerpoint/2010/main" val="367794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36"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2392143" y="290831"/>
            <a:ext cx="12985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1" y="297246"/>
            <a:ext cx="1298548"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7369" y="1789189"/>
            <a:ext cx="1538203" cy="189199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5030" y="948413"/>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
        <p:nvSpPr>
          <p:cNvPr id="28" name="Titel 1">
            <a:extLst>
              <a:ext uri="{FF2B5EF4-FFF2-40B4-BE49-F238E27FC236}">
                <a16:creationId xmlns:a16="http://schemas.microsoft.com/office/drawing/2014/main" id="{5FBF6EB6-F242-45BC-9245-68AECE5FB367}"/>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Tree>
    <p:extLst>
      <p:ext uri="{BB962C8B-B14F-4D97-AF65-F5344CB8AC3E}">
        <p14:creationId xmlns:p14="http://schemas.microsoft.com/office/powerpoint/2010/main" val="176292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627AF24D-5CD4-4E4A-ACD3-20055AB2DE93}"/>
              </a:ext>
            </a:extLst>
          </p:cNvPr>
          <p:cNvSpPr>
            <a:spLocks noGrp="1"/>
          </p:cNvSpPr>
          <p:nvPr>
            <p:ph type="ctrTitle"/>
          </p:nvPr>
        </p:nvSpPr>
        <p:spPr>
          <a:xfrm>
            <a:off x="4638177" y="-344406"/>
            <a:ext cx="2970411" cy="1265237"/>
          </a:xfrm>
        </p:spPr>
        <p:txBody>
          <a:bodyPr>
            <a:normAutofit/>
          </a:bodyPr>
          <a:lstStyle/>
          <a:p>
            <a:r>
              <a:rPr lang="en-US" dirty="0">
                <a:solidFill>
                  <a:schemeClr val="bg1"/>
                </a:solidFill>
              </a:rPr>
              <a:t>70s/80s</a:t>
            </a: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Inhelder</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&amp;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Piaget`s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Theory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of</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stage-wise</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development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952662"/>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Kikumi</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a:t>
            </a:r>
            <a:r>
              <a:rPr kumimoji="0" lang="en-US" sz="1800" b="0" i="0" u="none" strike="noStrike" kern="1200" cap="none" spc="0" normalizeH="0" baseline="0" noProof="0" dirty="0" err="1">
                <a:ln>
                  <a:noFill/>
                </a:ln>
                <a:solidFill>
                  <a:prstClr val="white"/>
                </a:solidFill>
                <a:effectLst/>
                <a:uLnTx/>
                <a:uFillTx/>
                <a:latin typeface="Arial" panose="020B0604020202020204" pitchFamily="34" charset="0"/>
                <a:ea typeface="+mj-ea"/>
                <a:cs typeface="Arial" panose="020B0604020202020204" pitchFamily="34" charset="0"/>
              </a:rPr>
              <a:t>Tatsuoka</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 (1983)</a:t>
            </a:r>
          </a:p>
        </p:txBody>
      </p:sp>
      <p:pic>
        <p:nvPicPr>
          <p:cNvPr id="2050" name="Picture 2" descr="Kikumi Tatsuoka: The Rule-Space Model for Educational Measur... | Teachers  College, Columbia University">
            <a:extLst>
              <a:ext uri="{FF2B5EF4-FFF2-40B4-BE49-F238E27FC236}">
                <a16:creationId xmlns:a16="http://schemas.microsoft.com/office/drawing/2014/main" id="{EC4284E9-7062-467D-80AD-B5AD5A0D8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7369" y="1789189"/>
            <a:ext cx="1538203" cy="1891990"/>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ular Callout 23">
            <a:extLst>
              <a:ext uri="{FF2B5EF4-FFF2-40B4-BE49-F238E27FC236}">
                <a16:creationId xmlns:a16="http://schemas.microsoft.com/office/drawing/2014/main" id="{59D9C108-1746-4853-A174-4FAB82B95246}"/>
              </a:ext>
            </a:extLst>
          </p:cNvPr>
          <p:cNvSpPr/>
          <p:nvPr/>
        </p:nvSpPr>
        <p:spPr>
          <a:xfrm>
            <a:off x="8945030" y="948413"/>
            <a:ext cx="1898174" cy="607598"/>
          </a:xfrm>
          <a:prstGeom prst="wedgeRoundRectCallout">
            <a:avLst>
              <a:gd name="adj1" fmla="val 46014"/>
              <a:gd name="adj2" fmla="val 15893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err="1">
                <a:solidFill>
                  <a:schemeClr val="bg1"/>
                </a:solidFill>
              </a:rPr>
              <a:t>I`ve</a:t>
            </a:r>
            <a:r>
              <a:rPr lang="de-CH" dirty="0">
                <a:solidFill>
                  <a:schemeClr val="bg1"/>
                </a:solidFill>
              </a:rPr>
              <a:t> </a:t>
            </a:r>
            <a:r>
              <a:rPr lang="de-CH" dirty="0" err="1">
                <a:solidFill>
                  <a:schemeClr val="bg1"/>
                </a:solidFill>
              </a:rPr>
              <a:t>got</a:t>
            </a:r>
            <a:r>
              <a:rPr lang="de-CH" dirty="0">
                <a:solidFill>
                  <a:schemeClr val="bg1"/>
                </a:solidFill>
              </a:rPr>
              <a:t> an </a:t>
            </a:r>
            <a:r>
              <a:rPr lang="de-CH" dirty="0" err="1">
                <a:solidFill>
                  <a:schemeClr val="bg1"/>
                </a:solidFill>
              </a:rPr>
              <a:t>awesome</a:t>
            </a:r>
            <a:r>
              <a:rPr lang="de-CH" dirty="0">
                <a:solidFill>
                  <a:schemeClr val="bg1"/>
                </a:solidFill>
              </a:rPr>
              <a:t> </a:t>
            </a:r>
            <a:r>
              <a:rPr lang="de-CH" dirty="0" err="1">
                <a:solidFill>
                  <a:schemeClr val="bg1"/>
                </a:solidFill>
              </a:rPr>
              <a:t>idea</a:t>
            </a:r>
            <a:r>
              <a:rPr lang="de-CH" dirty="0">
                <a:solidFill>
                  <a:schemeClr val="bg1"/>
                </a:solidFill>
              </a:rPr>
              <a:t>!</a:t>
            </a:r>
          </a:p>
        </p:txBody>
      </p:sp>
    </p:spTree>
    <p:extLst>
      <p:ext uri="{BB962C8B-B14F-4D97-AF65-F5344CB8AC3E}">
        <p14:creationId xmlns:p14="http://schemas.microsoft.com/office/powerpoint/2010/main" val="240979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Causal</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modeling</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misattribution</a:t>
            </a: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Siegler`s</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(1976)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ruled-based</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assessment</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r>
              <a:rPr kumimoji="0" lang="de-DE" sz="2400" b="0" i="0" u="none" strike="noStrike" kern="1200" cap="none" spc="0" normalizeH="0" baseline="0" noProof="0" dirty="0" err="1">
                <a:ln>
                  <a:noFill/>
                </a:ln>
                <a:solidFill>
                  <a:prstClr val="white"/>
                </a:solidFill>
                <a:effectLst/>
                <a:uLnTx/>
                <a:uFillTx/>
                <a:latin typeface="Arial" panose="020B0604020202020204"/>
                <a:ea typeface="+mn-ea"/>
                <a:cs typeface="+mn-cs"/>
              </a:rPr>
              <a:t>methodology</a:t>
            </a:r>
            <a:r>
              <a:rPr kumimoji="0" lang="de-DE" sz="24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pic>
        <p:nvPicPr>
          <p:cNvPr id="2" name="Grafik 1">
            <a:extLst>
              <a:ext uri="{FF2B5EF4-FFF2-40B4-BE49-F238E27FC236}">
                <a16:creationId xmlns:a16="http://schemas.microsoft.com/office/drawing/2014/main" id="{E262F0C2-42AF-43C5-9EB0-90833FFA52C5}"/>
              </a:ext>
            </a:extLst>
          </p:cNvPr>
          <p:cNvPicPr>
            <a:picLocks noChangeAspect="1"/>
          </p:cNvPicPr>
          <p:nvPr/>
        </p:nvPicPr>
        <p:blipFill>
          <a:blip r:embed="rId3"/>
          <a:stretch>
            <a:fillRect/>
          </a:stretch>
        </p:blipFill>
        <p:spPr>
          <a:xfrm>
            <a:off x="463105" y="3837687"/>
            <a:ext cx="4988548" cy="942171"/>
          </a:xfrm>
          <a:prstGeom prst="rect">
            <a:avLst/>
          </a:prstGeom>
        </p:spPr>
      </p:pic>
      <p:sp>
        <p:nvSpPr>
          <p:cNvPr id="3" name="Ellipse 2">
            <a:extLst>
              <a:ext uri="{FF2B5EF4-FFF2-40B4-BE49-F238E27FC236}">
                <a16:creationId xmlns:a16="http://schemas.microsoft.com/office/drawing/2014/main" id="{6CFA9961-232C-4AF6-9705-0B73007BC074}"/>
              </a:ext>
            </a:extLst>
          </p:cNvPr>
          <p:cNvSpPr/>
          <p:nvPr/>
        </p:nvSpPr>
        <p:spPr>
          <a:xfrm>
            <a:off x="436408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997C4291-DD86-420E-971A-95F8997677DB}"/>
              </a:ext>
            </a:extLst>
          </p:cNvPr>
          <p:cNvSpPr/>
          <p:nvPr/>
        </p:nvSpPr>
        <p:spPr>
          <a:xfrm>
            <a:off x="4364082" y="4019871"/>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a:extLst>
              <a:ext uri="{FF2B5EF4-FFF2-40B4-BE49-F238E27FC236}">
                <a16:creationId xmlns:a16="http://schemas.microsoft.com/office/drawing/2014/main" id="{7EBCD5AB-1D07-497A-A528-F5550B555CAB}"/>
              </a:ext>
            </a:extLst>
          </p:cNvPr>
          <p:cNvSpPr/>
          <p:nvPr/>
        </p:nvSpPr>
        <p:spPr>
          <a:xfrm>
            <a:off x="4364082" y="3927974"/>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llipse 13">
            <a:extLst>
              <a:ext uri="{FF2B5EF4-FFF2-40B4-BE49-F238E27FC236}">
                <a16:creationId xmlns:a16="http://schemas.microsoft.com/office/drawing/2014/main" id="{92D45958-E6F3-4A45-A81E-6E1EFA1803D1}"/>
              </a:ext>
            </a:extLst>
          </p:cNvPr>
          <p:cNvSpPr/>
          <p:nvPr/>
        </p:nvSpPr>
        <p:spPr>
          <a:xfrm>
            <a:off x="564242" y="411039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Ellipse 14">
            <a:extLst>
              <a:ext uri="{FF2B5EF4-FFF2-40B4-BE49-F238E27FC236}">
                <a16:creationId xmlns:a16="http://schemas.microsoft.com/office/drawing/2014/main" id="{B67CC3EB-C275-48A4-A5FD-B2E04741F952}"/>
              </a:ext>
            </a:extLst>
          </p:cNvPr>
          <p:cNvSpPr/>
          <p:nvPr/>
        </p:nvSpPr>
        <p:spPr>
          <a:xfrm>
            <a:off x="564242" y="4018957"/>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D7C8932F-8C82-4729-A62F-066453EA4662}"/>
              </a:ext>
            </a:extLst>
          </p:cNvPr>
          <p:cNvSpPr txBox="1"/>
          <p:nvPr/>
        </p:nvSpPr>
        <p:spPr>
          <a:xfrm>
            <a:off x="236428" y="3311847"/>
            <a:ext cx="6574190" cy="369332"/>
          </a:xfrm>
          <a:prstGeom prst="rect">
            <a:avLst/>
          </a:prstGeom>
          <a:noFill/>
        </p:spPr>
        <p:txBody>
          <a:bodyPr wrap="square" rtlCol="0">
            <a:spAutoFit/>
          </a:bodyPr>
          <a:lstStyle/>
          <a:p>
            <a:r>
              <a:rPr lang="de-DE" dirty="0" err="1">
                <a:solidFill>
                  <a:schemeClr val="accent2">
                    <a:lumMod val="75000"/>
                  </a:schemeClr>
                </a:solidFill>
              </a:rPr>
              <a:t>Consider</a:t>
            </a:r>
            <a:r>
              <a:rPr lang="de-DE" dirty="0">
                <a:solidFill>
                  <a:schemeClr val="accent2">
                    <a:lumMod val="75000"/>
                  </a:schemeClr>
                </a:solidFill>
              </a:rPr>
              <a:t> (1) </a:t>
            </a:r>
            <a:r>
              <a:rPr lang="de-DE" dirty="0" err="1">
                <a:solidFill>
                  <a:schemeClr val="accent2">
                    <a:lumMod val="75000"/>
                  </a:schemeClr>
                </a:solidFill>
              </a:rPr>
              <a:t>weight</a:t>
            </a:r>
            <a:r>
              <a:rPr lang="de-DE" dirty="0">
                <a:solidFill>
                  <a:schemeClr val="accent2">
                    <a:lumMod val="75000"/>
                  </a:schemeClr>
                </a:solidFill>
              </a:rPr>
              <a:t>, (2) </a:t>
            </a:r>
            <a:r>
              <a:rPr lang="de-DE" dirty="0" err="1">
                <a:solidFill>
                  <a:schemeClr val="accent2">
                    <a:lumMod val="75000"/>
                  </a:schemeClr>
                </a:solidFill>
              </a:rPr>
              <a:t>distance</a:t>
            </a:r>
            <a:r>
              <a:rPr lang="de-DE" dirty="0">
                <a:solidFill>
                  <a:schemeClr val="accent2">
                    <a:lumMod val="75000"/>
                  </a:schemeClr>
                </a:solidFill>
              </a:rPr>
              <a:t>, (3) </a:t>
            </a:r>
            <a:r>
              <a:rPr lang="de-DE" dirty="0" err="1">
                <a:solidFill>
                  <a:schemeClr val="accent2">
                    <a:lumMod val="75000"/>
                  </a:schemeClr>
                </a:solidFill>
              </a:rPr>
              <a:t>proportion</a:t>
            </a:r>
            <a:r>
              <a:rPr lang="de-DE" dirty="0">
                <a:solidFill>
                  <a:schemeClr val="accent2">
                    <a:lumMod val="75000"/>
                  </a:schemeClr>
                </a:solidFill>
              </a:rPr>
              <a:t> </a:t>
            </a:r>
            <a:r>
              <a:rPr lang="de-DE" dirty="0" err="1">
                <a:solidFill>
                  <a:schemeClr val="accent2">
                    <a:lumMod val="75000"/>
                  </a:schemeClr>
                </a:solidFill>
              </a:rPr>
              <a:t>of</a:t>
            </a:r>
            <a:r>
              <a:rPr lang="de-DE" dirty="0">
                <a:solidFill>
                  <a:schemeClr val="accent2">
                    <a:lumMod val="75000"/>
                  </a:schemeClr>
                </a:solidFill>
              </a:rPr>
              <a:t> w/d</a:t>
            </a:r>
          </a:p>
        </p:txBody>
      </p:sp>
      <p:pic>
        <p:nvPicPr>
          <p:cNvPr id="17" name="Grafik 16">
            <a:extLst>
              <a:ext uri="{FF2B5EF4-FFF2-40B4-BE49-F238E27FC236}">
                <a16:creationId xmlns:a16="http://schemas.microsoft.com/office/drawing/2014/main" id="{61E5FAA4-A93A-439B-A9B0-271AD665D977}"/>
              </a:ext>
            </a:extLst>
          </p:cNvPr>
          <p:cNvPicPr>
            <a:picLocks noChangeAspect="1"/>
          </p:cNvPicPr>
          <p:nvPr/>
        </p:nvPicPr>
        <p:blipFill>
          <a:blip r:embed="rId3"/>
          <a:stretch>
            <a:fillRect/>
          </a:stretch>
        </p:blipFill>
        <p:spPr>
          <a:xfrm>
            <a:off x="463105" y="5086083"/>
            <a:ext cx="4988548" cy="942171"/>
          </a:xfrm>
          <a:prstGeom prst="rect">
            <a:avLst/>
          </a:prstGeom>
        </p:spPr>
      </p:pic>
      <p:sp>
        <p:nvSpPr>
          <p:cNvPr id="18" name="Ellipse 17">
            <a:extLst>
              <a:ext uri="{FF2B5EF4-FFF2-40B4-BE49-F238E27FC236}">
                <a16:creationId xmlns:a16="http://schemas.microsoft.com/office/drawing/2014/main" id="{970B30DE-AF3F-4F36-9D6B-6E5D74242B80}"/>
              </a:ext>
            </a:extLst>
          </p:cNvPr>
          <p:cNvSpPr/>
          <p:nvPr/>
        </p:nvSpPr>
        <p:spPr>
          <a:xfrm>
            <a:off x="3307442" y="5358336"/>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2582C5A1-EA84-4BFE-A571-3DE3473D3F4B}"/>
              </a:ext>
            </a:extLst>
          </p:cNvPr>
          <p:cNvSpPr/>
          <p:nvPr/>
        </p:nvSpPr>
        <p:spPr>
          <a:xfrm>
            <a:off x="3307442" y="5267810"/>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371EC98F-E71F-4704-8211-966FF3DABDA3}"/>
              </a:ext>
            </a:extLst>
          </p:cNvPr>
          <p:cNvSpPr/>
          <p:nvPr/>
        </p:nvSpPr>
        <p:spPr>
          <a:xfrm>
            <a:off x="3307442" y="517591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64D7971A-80F3-42CD-B583-58A584ABE956}"/>
              </a:ext>
            </a:extLst>
          </p:cNvPr>
          <p:cNvSpPr/>
          <p:nvPr/>
        </p:nvSpPr>
        <p:spPr>
          <a:xfrm>
            <a:off x="564242" y="535879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CD67039C-2759-47A8-AD84-A133A2EDBE10}"/>
              </a:ext>
            </a:extLst>
          </p:cNvPr>
          <p:cNvSpPr/>
          <p:nvPr/>
        </p:nvSpPr>
        <p:spPr>
          <a:xfrm>
            <a:off x="564242" y="5267353"/>
            <a:ext cx="432163" cy="91440"/>
          </a:xfrm>
          <a:prstGeom prst="ellipse">
            <a:avLst/>
          </a:prstGeom>
          <a:solidFill>
            <a:schemeClr val="accent2">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Mark Wilson">
            <a:extLst>
              <a:ext uri="{FF2B5EF4-FFF2-40B4-BE49-F238E27FC236}">
                <a16:creationId xmlns:a16="http://schemas.microsoft.com/office/drawing/2014/main" id="{BFE4C3AE-EAF2-42CB-87EB-CF7B0702C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5" y="1433423"/>
            <a:ext cx="1776300" cy="148025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 Verbindung mit Pfeil 6">
            <a:extLst>
              <a:ext uri="{FF2B5EF4-FFF2-40B4-BE49-F238E27FC236}">
                <a16:creationId xmlns:a16="http://schemas.microsoft.com/office/drawing/2014/main" id="{57024CEF-4EF8-4BAA-B511-71F48B6C2D4C}"/>
              </a:ext>
            </a:extLst>
          </p:cNvPr>
          <p:cNvCxnSpPr>
            <a:cxnSpLocks/>
          </p:cNvCxnSpPr>
          <p:nvPr/>
        </p:nvCxnSpPr>
        <p:spPr>
          <a:xfrm flipH="1">
            <a:off x="5598160" y="2035983"/>
            <a:ext cx="2392090" cy="189199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F5947572-CA30-43DE-AA92-07A150F54DCA}"/>
              </a:ext>
            </a:extLst>
          </p:cNvPr>
          <p:cNvCxnSpPr>
            <a:cxnSpLocks/>
          </p:cNvCxnSpPr>
          <p:nvPr/>
        </p:nvCxnSpPr>
        <p:spPr>
          <a:xfrm flipH="1">
            <a:off x="5620298" y="2398490"/>
            <a:ext cx="2380562" cy="26875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ular Callout 23">
            <a:extLst>
              <a:ext uri="{FF2B5EF4-FFF2-40B4-BE49-F238E27FC236}">
                <a16:creationId xmlns:a16="http://schemas.microsoft.com/office/drawing/2014/main" id="{59D9C108-1746-4853-A174-4FAB82B95246}"/>
              </a:ext>
            </a:extLst>
          </p:cNvPr>
          <p:cNvSpPr/>
          <p:nvPr/>
        </p:nvSpPr>
        <p:spPr>
          <a:xfrm>
            <a:off x="9833180" y="949944"/>
            <a:ext cx="1776300" cy="607598"/>
          </a:xfrm>
          <a:prstGeom prst="wedgeRoundRectCallout">
            <a:avLst>
              <a:gd name="adj1" fmla="val -67032"/>
              <a:gd name="adj2" fmla="val 1355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dirty="0">
                <a:solidFill>
                  <a:schemeClr val="bg1"/>
                </a:solidFill>
              </a:rPr>
              <a:t>This </a:t>
            </a:r>
            <a:r>
              <a:rPr lang="de-CH" dirty="0" err="1">
                <a:solidFill>
                  <a:schemeClr val="bg1"/>
                </a:solidFill>
              </a:rPr>
              <a:t>is</a:t>
            </a:r>
            <a:r>
              <a:rPr lang="de-CH" dirty="0">
                <a:solidFill>
                  <a:schemeClr val="bg1"/>
                </a:solidFill>
              </a:rPr>
              <a:t> so cool, </a:t>
            </a:r>
            <a:r>
              <a:rPr lang="de-CH" dirty="0" err="1">
                <a:solidFill>
                  <a:schemeClr val="bg1"/>
                </a:solidFill>
              </a:rPr>
              <a:t>let`s</a:t>
            </a:r>
            <a:r>
              <a:rPr lang="de-CH" dirty="0">
                <a:solidFill>
                  <a:schemeClr val="bg1"/>
                </a:solidFill>
              </a:rPr>
              <a:t> </a:t>
            </a:r>
            <a:r>
              <a:rPr lang="de-CH" dirty="0" err="1">
                <a:solidFill>
                  <a:schemeClr val="bg1"/>
                </a:solidFill>
              </a:rPr>
              <a:t>model</a:t>
            </a:r>
            <a:r>
              <a:rPr lang="de-CH" dirty="0">
                <a:solidFill>
                  <a:schemeClr val="bg1"/>
                </a:solidFill>
              </a:rPr>
              <a:t> </a:t>
            </a:r>
            <a:r>
              <a:rPr lang="de-CH" dirty="0" err="1">
                <a:solidFill>
                  <a:schemeClr val="bg1"/>
                </a:solidFill>
              </a:rPr>
              <a:t>it!</a:t>
            </a:r>
            <a:endParaRPr lang="de-CH" dirty="0">
              <a:solidFill>
                <a:schemeClr val="bg1"/>
              </a:solidFill>
            </a:endParaRPr>
          </a:p>
        </p:txBody>
      </p:sp>
      <p:sp>
        <p:nvSpPr>
          <p:cNvPr id="36" name="Titel 1">
            <a:extLst>
              <a:ext uri="{FF2B5EF4-FFF2-40B4-BE49-F238E27FC236}">
                <a16:creationId xmlns:a16="http://schemas.microsoft.com/office/drawing/2014/main" id="{5C01C4D2-AB69-4434-9300-B3AA72058306}"/>
              </a:ext>
            </a:extLst>
          </p:cNvPr>
          <p:cNvSpPr txBox="1">
            <a:spLocks/>
          </p:cNvSpPr>
          <p:nvPr/>
        </p:nvSpPr>
        <p:spPr>
          <a:xfrm>
            <a:off x="6390356" y="1008809"/>
            <a:ext cx="2299447" cy="480760"/>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Mark Wilson (1983)</a:t>
            </a:r>
          </a:p>
        </p:txBody>
      </p:sp>
      <p:sp>
        <p:nvSpPr>
          <p:cNvPr id="28" name="Titel 27">
            <a:extLst>
              <a:ext uri="{FF2B5EF4-FFF2-40B4-BE49-F238E27FC236}">
                <a16:creationId xmlns:a16="http://schemas.microsoft.com/office/drawing/2014/main" id="{C61DC23B-E78D-4F40-A634-39DFA6E8FA94}"/>
              </a:ext>
            </a:extLst>
          </p:cNvPr>
          <p:cNvSpPr>
            <a:spLocks noGrp="1"/>
          </p:cNvSpPr>
          <p:nvPr>
            <p:ph type="ctrTitle"/>
          </p:nvPr>
        </p:nvSpPr>
        <p:spPr/>
        <p:txBody>
          <a:bodyPr/>
          <a:lstStyle/>
          <a:p>
            <a:endParaRPr lang="de-DE" dirty="0"/>
          </a:p>
        </p:txBody>
      </p:sp>
      <p:sp>
        <p:nvSpPr>
          <p:cNvPr id="37" name="Titel 1">
            <a:extLst>
              <a:ext uri="{FF2B5EF4-FFF2-40B4-BE49-F238E27FC236}">
                <a16:creationId xmlns:a16="http://schemas.microsoft.com/office/drawing/2014/main" id="{B5599F69-1F66-4E3A-820F-09F8E68099D1}"/>
              </a:ext>
            </a:extLst>
          </p:cNvPr>
          <p:cNvSpPr txBox="1">
            <a:spLocks/>
          </p:cNvSpPr>
          <p:nvPr/>
        </p:nvSpPr>
        <p:spPr>
          <a:xfrm>
            <a:off x="4638177" y="-344406"/>
            <a:ext cx="2970411" cy="1265237"/>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Take-home message</a:t>
            </a:r>
          </a:p>
        </p:txBody>
      </p:sp>
    </p:spTree>
    <p:extLst>
      <p:ext uri="{BB962C8B-B14F-4D97-AF65-F5344CB8AC3E}">
        <p14:creationId xmlns:p14="http://schemas.microsoft.com/office/powerpoint/2010/main" val="170317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9485299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014787"/>
            <a:ext cx="9144000" cy="2387600"/>
          </a:xfrm>
        </p:spPr>
        <p:txBody>
          <a:bodyPr/>
          <a:lstStyle/>
          <a:p>
            <a:r>
              <a:rPr lang="en-US" dirty="0">
                <a:solidFill>
                  <a:schemeClr val="bg1"/>
                </a:solidFill>
              </a:rPr>
              <a:t>Modeling Knowledge</a:t>
            </a:r>
          </a:p>
        </p:txBody>
      </p:sp>
      <p:sp>
        <p:nvSpPr>
          <p:cNvPr id="3" name="Untertitel 2"/>
          <p:cNvSpPr>
            <a:spLocks noGrp="1"/>
          </p:cNvSpPr>
          <p:nvPr>
            <p:ph type="subTitle" idx="1"/>
          </p:nvPr>
        </p:nvSpPr>
        <p:spPr>
          <a:xfrm>
            <a:off x="1537447" y="3439117"/>
            <a:ext cx="9144000" cy="1655762"/>
          </a:xfrm>
        </p:spPr>
        <p:txBody>
          <a:bodyPr/>
          <a:lstStyle/>
          <a:p>
            <a:r>
              <a:rPr lang="en-US" b="1" dirty="0">
                <a:solidFill>
                  <a:schemeClr val="bg1"/>
                </a:solidFill>
              </a:rPr>
              <a:t>Yesterday</a:t>
            </a:r>
          </a:p>
          <a:p>
            <a:r>
              <a:rPr lang="en-US" b="1" dirty="0">
                <a:solidFill>
                  <a:schemeClr val="bg1"/>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640541" y="3404835"/>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8139953" y="344244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cxnSp>
        <p:nvCxnSpPr>
          <p:cNvPr id="10" name="Gerade Verbindung mit Pfeil 9">
            <a:extLst>
              <a:ext uri="{FF2B5EF4-FFF2-40B4-BE49-F238E27FC236}">
                <a16:creationId xmlns:a16="http://schemas.microsoft.com/office/drawing/2014/main" id="{C0A01EEA-624E-4F1C-971A-AAE254F73236}"/>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5B78720-124A-46DE-A58E-F29E8A8C76E4}"/>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Peter Edelsbrunner</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SIG3&amp;20 Meeting Turku 2026</a:t>
            </a:r>
          </a:p>
        </p:txBody>
      </p:sp>
    </p:spTree>
    <p:extLst>
      <p:ext uri="{BB962C8B-B14F-4D97-AF65-F5344CB8AC3E}">
        <p14:creationId xmlns:p14="http://schemas.microsoft.com/office/powerpoint/2010/main" val="3677600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14360" y="839649"/>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C805EA61-D5CC-4BEC-9D6D-7DD5FFB55F30}"/>
              </a:ext>
            </a:extLst>
          </p:cNvPr>
          <p:cNvSpPr txBox="1">
            <a:spLocks/>
          </p:cNvSpPr>
          <p:nvPr/>
        </p:nvSpPr>
        <p:spPr>
          <a:xfrm>
            <a:off x="6373884" y="916068"/>
            <a:ext cx="2640456"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AutoShape 2" descr="https://ars-els-cdn-com.emedien.ub.uni-muenchen.de/content/image/1-s2.0-S1041608017302224-fx1_lrg.jpg">
            <a:extLst>
              <a:ext uri="{FF2B5EF4-FFF2-40B4-BE49-F238E27FC236}">
                <a16:creationId xmlns:a16="http://schemas.microsoft.com/office/drawing/2014/main" id="{00D1536C-FC8B-4CA2-9D06-C1968988D4D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8" name="Rechteck 7">
            <a:extLst>
              <a:ext uri="{FF2B5EF4-FFF2-40B4-BE49-F238E27FC236}">
                <a16:creationId xmlns:a16="http://schemas.microsoft.com/office/drawing/2014/main" id="{0F82378B-99DF-41F1-8BCF-F1AB8687A6FD}"/>
              </a:ext>
            </a:extLst>
          </p:cNvPr>
          <p:cNvSpPr/>
          <p:nvPr/>
        </p:nvSpPr>
        <p:spPr>
          <a:xfrm>
            <a:off x="962914"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1</a:t>
            </a:r>
          </a:p>
        </p:txBody>
      </p:sp>
      <p:sp>
        <p:nvSpPr>
          <p:cNvPr id="21" name="Rechteck 20">
            <a:extLst>
              <a:ext uri="{FF2B5EF4-FFF2-40B4-BE49-F238E27FC236}">
                <a16:creationId xmlns:a16="http://schemas.microsoft.com/office/drawing/2014/main" id="{55D32FDA-B7F7-4081-B4E4-6385592FA7D9}"/>
              </a:ext>
            </a:extLst>
          </p:cNvPr>
          <p:cNvSpPr/>
          <p:nvPr/>
        </p:nvSpPr>
        <p:spPr>
          <a:xfrm>
            <a:off x="2420417" y="2426005"/>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a:t>
            </a:r>
          </a:p>
        </p:txBody>
      </p:sp>
      <p:sp>
        <p:nvSpPr>
          <p:cNvPr id="22" name="Rechteck 21">
            <a:extLst>
              <a:ext uri="{FF2B5EF4-FFF2-40B4-BE49-F238E27FC236}">
                <a16:creationId xmlns:a16="http://schemas.microsoft.com/office/drawing/2014/main" id="{4F0EE8BF-1D44-4CC5-A07E-AFE8CA0115C7}"/>
              </a:ext>
            </a:extLst>
          </p:cNvPr>
          <p:cNvSpPr/>
          <p:nvPr/>
        </p:nvSpPr>
        <p:spPr>
          <a:xfrm>
            <a:off x="3824364" y="2426004"/>
            <a:ext cx="1150548" cy="63526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bg1"/>
                </a:solidFill>
              </a:rPr>
              <a:t>Item i</a:t>
            </a:r>
          </a:p>
        </p:txBody>
      </p:sp>
      <p:sp>
        <p:nvSpPr>
          <p:cNvPr id="9" name="Ellipse 8">
            <a:extLst>
              <a:ext uri="{FF2B5EF4-FFF2-40B4-BE49-F238E27FC236}">
                <a16:creationId xmlns:a16="http://schemas.microsoft.com/office/drawing/2014/main" id="{73656221-61D3-4D02-8B4E-44727626F4AE}"/>
              </a:ext>
            </a:extLst>
          </p:cNvPr>
          <p:cNvSpPr/>
          <p:nvPr/>
        </p:nvSpPr>
        <p:spPr>
          <a:xfrm>
            <a:off x="2366861" y="1006219"/>
            <a:ext cx="1257661" cy="659973"/>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Factor</a:t>
            </a:r>
            <a:endParaRPr lang="de-DE" dirty="0"/>
          </a:p>
        </p:txBody>
      </p:sp>
      <p:cxnSp>
        <p:nvCxnSpPr>
          <p:cNvPr id="11" name="Gerade Verbindung mit Pfeil 10">
            <a:extLst>
              <a:ext uri="{FF2B5EF4-FFF2-40B4-BE49-F238E27FC236}">
                <a16:creationId xmlns:a16="http://schemas.microsoft.com/office/drawing/2014/main" id="{4E69874D-E49A-43BB-ADA8-4E22DBDAC019}"/>
              </a:ext>
            </a:extLst>
          </p:cNvPr>
          <p:cNvCxnSpPr>
            <a:stCxn id="9" idx="3"/>
            <a:endCxn id="8" idx="0"/>
          </p:cNvCxnSpPr>
          <p:nvPr/>
        </p:nvCxnSpPr>
        <p:spPr>
          <a:xfrm flipH="1">
            <a:off x="1538188" y="1569541"/>
            <a:ext cx="1012853" cy="856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BBA6D3AA-3A07-4D16-8472-D0C6957AA186}"/>
              </a:ext>
            </a:extLst>
          </p:cNvPr>
          <p:cNvCxnSpPr>
            <a:cxnSpLocks/>
            <a:stCxn id="9" idx="4"/>
            <a:endCxn id="21" idx="0"/>
          </p:cNvCxnSpPr>
          <p:nvPr/>
        </p:nvCxnSpPr>
        <p:spPr>
          <a:xfrm flipH="1">
            <a:off x="2995691" y="1666192"/>
            <a:ext cx="1" cy="7598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E0E7A487-7F3E-4FBA-9FF6-B943683F457C}"/>
              </a:ext>
            </a:extLst>
          </p:cNvPr>
          <p:cNvCxnSpPr>
            <a:cxnSpLocks/>
            <a:stCxn id="9" idx="5"/>
            <a:endCxn id="22" idx="0"/>
          </p:cNvCxnSpPr>
          <p:nvPr/>
        </p:nvCxnSpPr>
        <p:spPr>
          <a:xfrm>
            <a:off x="3440342" y="1569541"/>
            <a:ext cx="959296" cy="8564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6" name="Picture 2" descr="C:\local user data\Mixture Artikel\me.PNG">
            <a:extLst>
              <a:ext uri="{FF2B5EF4-FFF2-40B4-BE49-F238E27FC236}">
                <a16:creationId xmlns:a16="http://schemas.microsoft.com/office/drawing/2014/main" id="{6055B2C6-69A3-4007-B98C-BDA381ACAB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39388" y="1129153"/>
            <a:ext cx="2995198" cy="2571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63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8" grpId="0" animBg="1"/>
      <p:bldP spid="21" grpId="0" animBg="1"/>
      <p:bldP spid="22"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feld 5">
            <a:extLst>
              <a:ext uri="{FF2B5EF4-FFF2-40B4-BE49-F238E27FC236}">
                <a16:creationId xmlns:a16="http://schemas.microsoft.com/office/drawing/2014/main" id="{56E4AC62-260F-4341-88EB-05B87AB569D7}"/>
              </a:ext>
            </a:extLst>
          </p:cNvPr>
          <p:cNvSpPr txBox="1"/>
          <p:nvPr/>
        </p:nvSpPr>
        <p:spPr>
          <a:xfrm>
            <a:off x="1856560" y="1559719"/>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pic>
        <p:nvPicPr>
          <p:cNvPr id="7" name="Picture 5">
            <a:extLst>
              <a:ext uri="{FF2B5EF4-FFF2-40B4-BE49-F238E27FC236}">
                <a16:creationId xmlns:a16="http://schemas.microsoft.com/office/drawing/2014/main" id="{EDE7F5BC-4AC5-4865-8D06-836C90C9A3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3633" y="2781792"/>
            <a:ext cx="1671637" cy="186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feld 7">
            <a:extLst>
              <a:ext uri="{FF2B5EF4-FFF2-40B4-BE49-F238E27FC236}">
                <a16:creationId xmlns:a16="http://schemas.microsoft.com/office/drawing/2014/main" id="{E412C08A-F14F-43C9-B583-4144BF034191}"/>
              </a:ext>
            </a:extLst>
          </p:cNvPr>
          <p:cNvSpPr txBox="1"/>
          <p:nvPr/>
        </p:nvSpPr>
        <p:spPr>
          <a:xfrm>
            <a:off x="2805452" y="5127706"/>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9" name="Textfeld 8">
            <a:extLst>
              <a:ext uri="{FF2B5EF4-FFF2-40B4-BE49-F238E27FC236}">
                <a16:creationId xmlns:a16="http://schemas.microsoft.com/office/drawing/2014/main" id="{000613E0-53E7-4DAC-BFBC-CB9D710BB27E}"/>
              </a:ext>
            </a:extLst>
          </p:cNvPr>
          <p:cNvSpPr txBox="1"/>
          <p:nvPr/>
        </p:nvSpPr>
        <p:spPr>
          <a:xfrm>
            <a:off x="5745956" y="4943039"/>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10" name="Textfeld 9">
            <a:extLst>
              <a:ext uri="{FF2B5EF4-FFF2-40B4-BE49-F238E27FC236}">
                <a16:creationId xmlns:a16="http://schemas.microsoft.com/office/drawing/2014/main" id="{EA6BB3C9-F84D-4223-9B15-6E8DC35AA0B6}"/>
              </a:ext>
            </a:extLst>
          </p:cNvPr>
          <p:cNvSpPr txBox="1"/>
          <p:nvPr/>
        </p:nvSpPr>
        <p:spPr>
          <a:xfrm>
            <a:off x="2805452" y="2162571"/>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11" name="Textfeld 10">
            <a:extLst>
              <a:ext uri="{FF2B5EF4-FFF2-40B4-BE49-F238E27FC236}">
                <a16:creationId xmlns:a16="http://schemas.microsoft.com/office/drawing/2014/main" id="{518E7B23-3D59-45B5-8EC7-4DC3CE025E82}"/>
              </a:ext>
            </a:extLst>
          </p:cNvPr>
          <p:cNvSpPr txBox="1"/>
          <p:nvPr/>
        </p:nvSpPr>
        <p:spPr>
          <a:xfrm>
            <a:off x="5853452" y="2159566"/>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12" name="Textfeld 11">
            <a:extLst>
              <a:ext uri="{FF2B5EF4-FFF2-40B4-BE49-F238E27FC236}">
                <a16:creationId xmlns:a16="http://schemas.microsoft.com/office/drawing/2014/main" id="{BC8ACA6D-14DA-467F-BEA1-F45CA098B2A8}"/>
              </a:ext>
            </a:extLst>
          </p:cNvPr>
          <p:cNvSpPr txBox="1"/>
          <p:nvPr/>
        </p:nvSpPr>
        <p:spPr>
          <a:xfrm>
            <a:off x="8722518" y="2177035"/>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13" name="Textfeld 12">
            <a:extLst>
              <a:ext uri="{FF2B5EF4-FFF2-40B4-BE49-F238E27FC236}">
                <a16:creationId xmlns:a16="http://schemas.microsoft.com/office/drawing/2014/main" id="{9D1DC495-1A80-458B-937B-BCB86628B8F0}"/>
              </a:ext>
            </a:extLst>
          </p:cNvPr>
          <p:cNvSpPr txBox="1"/>
          <p:nvPr/>
        </p:nvSpPr>
        <p:spPr>
          <a:xfrm>
            <a:off x="8722518" y="4940034"/>
            <a:ext cx="3048000" cy="461665"/>
          </a:xfrm>
          <a:prstGeom prst="rect">
            <a:avLst/>
          </a:prstGeom>
          <a:noFill/>
        </p:spPr>
        <p:txBody>
          <a:bodyPr wrap="square" rtlCol="0">
            <a:spAutoFit/>
          </a:bodyPr>
          <a:lstStyle/>
          <a:p>
            <a:pPr algn="ctr"/>
            <a:r>
              <a:rPr lang="de-DE" sz="2400" i="1">
                <a:solidFill>
                  <a:schemeClr val="bg1"/>
                </a:solidFill>
              </a:rPr>
              <a:t>Epistemic Beliefs</a:t>
            </a:r>
            <a:endParaRPr lang="de-DE" sz="2400" i="1" dirty="0">
              <a:solidFill>
                <a:schemeClr val="bg1"/>
              </a:solidFill>
            </a:endParaRPr>
          </a:p>
        </p:txBody>
      </p:sp>
      <p:pic>
        <p:nvPicPr>
          <p:cNvPr id="14" name="Grafik 13">
            <a:extLst>
              <a:ext uri="{FF2B5EF4-FFF2-40B4-BE49-F238E27FC236}">
                <a16:creationId xmlns:a16="http://schemas.microsoft.com/office/drawing/2014/main" id="{841D6703-29D0-4213-BDC8-F753F430FF1D}"/>
              </a:ext>
            </a:extLst>
          </p:cNvPr>
          <p:cNvPicPr>
            <a:picLocks noChangeAspect="1"/>
          </p:cNvPicPr>
          <p:nvPr/>
        </p:nvPicPr>
        <p:blipFill>
          <a:blip r:embed="rId4"/>
          <a:stretch>
            <a:fillRect/>
          </a:stretch>
        </p:blipFill>
        <p:spPr>
          <a:xfrm>
            <a:off x="5944620" y="2896363"/>
            <a:ext cx="2650671" cy="1511711"/>
          </a:xfrm>
          <a:prstGeom prst="rect">
            <a:avLst/>
          </a:prstGeom>
        </p:spPr>
      </p:pic>
      <p:pic>
        <p:nvPicPr>
          <p:cNvPr id="15" name="Grafik 14">
            <a:extLst>
              <a:ext uri="{FF2B5EF4-FFF2-40B4-BE49-F238E27FC236}">
                <a16:creationId xmlns:a16="http://schemas.microsoft.com/office/drawing/2014/main" id="{F4E8F175-AFC0-4CB7-AD10-B6B72C292DA3}"/>
              </a:ext>
            </a:extLst>
          </p:cNvPr>
          <p:cNvPicPr>
            <a:picLocks noChangeAspect="1"/>
          </p:cNvPicPr>
          <p:nvPr/>
        </p:nvPicPr>
        <p:blipFill>
          <a:blip r:embed="rId5"/>
          <a:stretch>
            <a:fillRect/>
          </a:stretch>
        </p:blipFill>
        <p:spPr>
          <a:xfrm>
            <a:off x="9592680" y="2703852"/>
            <a:ext cx="1307675" cy="2018018"/>
          </a:xfrm>
          <a:prstGeom prst="rect">
            <a:avLst/>
          </a:prstGeom>
        </p:spPr>
      </p:pic>
      <p:pic>
        <p:nvPicPr>
          <p:cNvPr id="16" name="Grafik 15">
            <a:extLst>
              <a:ext uri="{FF2B5EF4-FFF2-40B4-BE49-F238E27FC236}">
                <a16:creationId xmlns:a16="http://schemas.microsoft.com/office/drawing/2014/main" id="{F47B9B9C-7AA1-4C79-A5DA-3D9DC756C18A}"/>
              </a:ext>
            </a:extLst>
          </p:cNvPr>
          <p:cNvPicPr>
            <a:picLocks noChangeAspect="1"/>
          </p:cNvPicPr>
          <p:nvPr/>
        </p:nvPicPr>
        <p:blipFill>
          <a:blip r:embed="rId6"/>
          <a:stretch>
            <a:fillRect/>
          </a:stretch>
        </p:blipFill>
        <p:spPr>
          <a:xfrm>
            <a:off x="617076" y="2781792"/>
            <a:ext cx="1879168" cy="1879168"/>
          </a:xfrm>
          <a:prstGeom prst="rect">
            <a:avLst/>
          </a:prstGeom>
        </p:spPr>
      </p:pic>
      <p:sp>
        <p:nvSpPr>
          <p:cNvPr id="17" name="Textfeld 16">
            <a:extLst>
              <a:ext uri="{FF2B5EF4-FFF2-40B4-BE49-F238E27FC236}">
                <a16:creationId xmlns:a16="http://schemas.microsoft.com/office/drawing/2014/main" id="{B0305800-3679-47B9-9A2F-599FBD75E249}"/>
              </a:ext>
            </a:extLst>
          </p:cNvPr>
          <p:cNvSpPr txBox="1"/>
          <p:nvPr/>
        </p:nvSpPr>
        <p:spPr>
          <a:xfrm>
            <a:off x="-63614" y="2156045"/>
            <a:ext cx="3048000" cy="461665"/>
          </a:xfrm>
          <a:prstGeom prst="rect">
            <a:avLst/>
          </a:prstGeom>
          <a:noFill/>
        </p:spPr>
        <p:txBody>
          <a:bodyPr wrap="square" rtlCol="0">
            <a:spAutoFit/>
          </a:bodyPr>
          <a:lstStyle/>
          <a:p>
            <a:pPr algn="ctr"/>
            <a:r>
              <a:rPr lang="de-DE" sz="2400" dirty="0" err="1">
                <a:solidFill>
                  <a:schemeClr val="bg1"/>
                </a:solidFill>
              </a:rPr>
              <a:t>Genetics</a:t>
            </a:r>
            <a:endParaRPr lang="de-DE" sz="2400" dirty="0">
              <a:solidFill>
                <a:schemeClr val="bg1"/>
              </a:solidFill>
            </a:endParaRPr>
          </a:p>
        </p:txBody>
      </p:sp>
      <p:sp>
        <p:nvSpPr>
          <p:cNvPr id="18" name="Textfeld 17">
            <a:extLst>
              <a:ext uri="{FF2B5EF4-FFF2-40B4-BE49-F238E27FC236}">
                <a16:creationId xmlns:a16="http://schemas.microsoft.com/office/drawing/2014/main" id="{FAC4DA17-6663-4F17-9909-D9D62F0CDBC8}"/>
              </a:ext>
            </a:extLst>
          </p:cNvPr>
          <p:cNvSpPr txBox="1"/>
          <p:nvPr/>
        </p:nvSpPr>
        <p:spPr>
          <a:xfrm>
            <a:off x="-121274" y="5113171"/>
            <a:ext cx="3048000" cy="461665"/>
          </a:xfrm>
          <a:prstGeom prst="rect">
            <a:avLst/>
          </a:prstGeom>
          <a:noFill/>
        </p:spPr>
        <p:txBody>
          <a:bodyPr wrap="square" rtlCol="0">
            <a:spAutoFit/>
          </a:bodyPr>
          <a:lstStyle/>
          <a:p>
            <a:pPr algn="ctr"/>
            <a:r>
              <a:rPr lang="de-DE" sz="2400" dirty="0">
                <a:solidFill>
                  <a:schemeClr val="bg1"/>
                </a:solidFill>
              </a:rPr>
              <a:t>The </a:t>
            </a:r>
            <a:r>
              <a:rPr lang="de-DE" sz="2400" i="1" dirty="0">
                <a:solidFill>
                  <a:schemeClr val="bg1"/>
                </a:solidFill>
              </a:rPr>
              <a:t>Drosophila</a:t>
            </a:r>
          </a:p>
        </p:txBody>
      </p:sp>
      <p:sp>
        <p:nvSpPr>
          <p:cNvPr id="19" name="Textfeld 18">
            <a:extLst>
              <a:ext uri="{FF2B5EF4-FFF2-40B4-BE49-F238E27FC236}">
                <a16:creationId xmlns:a16="http://schemas.microsoft.com/office/drawing/2014/main" id="{AADBFC5B-48C2-4833-839A-3B70B81CF6DE}"/>
              </a:ext>
            </a:extLst>
          </p:cNvPr>
          <p:cNvSpPr txBox="1"/>
          <p:nvPr/>
        </p:nvSpPr>
        <p:spPr>
          <a:xfrm>
            <a:off x="6096000" y="5675140"/>
            <a:ext cx="3172161" cy="1200329"/>
          </a:xfrm>
          <a:prstGeom prst="rect">
            <a:avLst/>
          </a:prstGeom>
          <a:noFill/>
        </p:spPr>
        <p:txBody>
          <a:bodyPr wrap="square" rtlCol="0">
            <a:spAutoFit/>
          </a:bodyPr>
          <a:lstStyle/>
          <a:p>
            <a:r>
              <a:rPr lang="de-DE" dirty="0">
                <a:solidFill>
                  <a:schemeClr val="bg1"/>
                </a:solidFill>
              </a:rPr>
              <a:t>Case &amp; Fry (1973)</a:t>
            </a:r>
          </a:p>
          <a:p>
            <a:r>
              <a:rPr lang="de-DE" dirty="0">
                <a:solidFill>
                  <a:schemeClr val="bg1"/>
                </a:solidFill>
              </a:rPr>
              <a:t>Siegler et al. (1973)</a:t>
            </a:r>
          </a:p>
          <a:p>
            <a:r>
              <a:rPr lang="de-DE" dirty="0" err="1">
                <a:solidFill>
                  <a:schemeClr val="bg1"/>
                </a:solidFill>
              </a:rPr>
              <a:t>Klahr</a:t>
            </a:r>
            <a:r>
              <a:rPr lang="de-DE" dirty="0">
                <a:solidFill>
                  <a:schemeClr val="bg1"/>
                </a:solidFill>
              </a:rPr>
              <a:t> &amp; Chen (1999)</a:t>
            </a:r>
          </a:p>
          <a:p>
            <a:r>
              <a:rPr lang="de-DE" dirty="0">
                <a:solidFill>
                  <a:schemeClr val="bg1"/>
                </a:solidFill>
              </a:rPr>
              <a:t>Schwichow et al. (2016)</a:t>
            </a:r>
          </a:p>
        </p:txBody>
      </p:sp>
      <p:sp>
        <p:nvSpPr>
          <p:cNvPr id="20" name="Textfeld 19">
            <a:extLst>
              <a:ext uri="{FF2B5EF4-FFF2-40B4-BE49-F238E27FC236}">
                <a16:creationId xmlns:a16="http://schemas.microsoft.com/office/drawing/2014/main" id="{4B0A8C49-A62B-4586-88AA-E88468102786}"/>
              </a:ext>
            </a:extLst>
          </p:cNvPr>
          <p:cNvSpPr txBox="1"/>
          <p:nvPr/>
        </p:nvSpPr>
        <p:spPr>
          <a:xfrm>
            <a:off x="2820559" y="5676225"/>
            <a:ext cx="3349724" cy="923330"/>
          </a:xfrm>
          <a:prstGeom prst="rect">
            <a:avLst/>
          </a:prstGeom>
          <a:noFill/>
        </p:spPr>
        <p:txBody>
          <a:bodyPr wrap="square" rtlCol="0">
            <a:spAutoFit/>
          </a:bodyPr>
          <a:lstStyle/>
          <a:p>
            <a:r>
              <a:rPr lang="de-DE" dirty="0">
                <a:solidFill>
                  <a:schemeClr val="bg1"/>
                </a:solidFill>
              </a:rPr>
              <a:t>Linn &amp; Peterson (1973)</a:t>
            </a:r>
          </a:p>
          <a:p>
            <a:r>
              <a:rPr lang="de-DE" dirty="0">
                <a:solidFill>
                  <a:schemeClr val="bg1"/>
                </a:solidFill>
              </a:rPr>
              <a:t>Hardy et al. (2006)</a:t>
            </a:r>
          </a:p>
          <a:p>
            <a:r>
              <a:rPr lang="de-DE" dirty="0">
                <a:solidFill>
                  <a:schemeClr val="bg1"/>
                </a:solidFill>
              </a:rPr>
              <a:t>Schwichow &amp; </a:t>
            </a:r>
            <a:r>
              <a:rPr lang="de-DE" dirty="0" err="1">
                <a:solidFill>
                  <a:schemeClr val="bg1"/>
                </a:solidFill>
              </a:rPr>
              <a:t>Zoupidis</a:t>
            </a:r>
            <a:r>
              <a:rPr lang="de-DE" dirty="0">
                <a:solidFill>
                  <a:schemeClr val="bg1"/>
                </a:solidFill>
              </a:rPr>
              <a:t> (2014)</a:t>
            </a:r>
          </a:p>
        </p:txBody>
      </p:sp>
      <p:sp>
        <p:nvSpPr>
          <p:cNvPr id="21" name="Textfeld 20">
            <a:extLst>
              <a:ext uri="{FF2B5EF4-FFF2-40B4-BE49-F238E27FC236}">
                <a16:creationId xmlns:a16="http://schemas.microsoft.com/office/drawing/2014/main" id="{0709C211-22A2-42BB-B590-C09A8278187D}"/>
              </a:ext>
            </a:extLst>
          </p:cNvPr>
          <p:cNvSpPr txBox="1"/>
          <p:nvPr/>
        </p:nvSpPr>
        <p:spPr>
          <a:xfrm>
            <a:off x="208364" y="5657715"/>
            <a:ext cx="3349724" cy="369332"/>
          </a:xfrm>
          <a:prstGeom prst="rect">
            <a:avLst/>
          </a:prstGeom>
          <a:noFill/>
        </p:spPr>
        <p:txBody>
          <a:bodyPr wrap="square" rtlCol="0">
            <a:spAutoFit/>
          </a:bodyPr>
          <a:lstStyle/>
          <a:p>
            <a:r>
              <a:rPr lang="de-DE" dirty="0">
                <a:solidFill>
                  <a:schemeClr val="bg1"/>
                </a:solidFill>
              </a:rPr>
              <a:t>Nüsslein-Volhard (1977)</a:t>
            </a:r>
          </a:p>
        </p:txBody>
      </p:sp>
      <p:sp>
        <p:nvSpPr>
          <p:cNvPr id="22" name="Textfeld 21">
            <a:extLst>
              <a:ext uri="{FF2B5EF4-FFF2-40B4-BE49-F238E27FC236}">
                <a16:creationId xmlns:a16="http://schemas.microsoft.com/office/drawing/2014/main" id="{1A5D986C-62AF-4399-9C8B-3D64BBBEDE45}"/>
              </a:ext>
            </a:extLst>
          </p:cNvPr>
          <p:cNvSpPr txBox="1"/>
          <p:nvPr/>
        </p:nvSpPr>
        <p:spPr>
          <a:xfrm>
            <a:off x="9083453" y="5657715"/>
            <a:ext cx="3172161" cy="923330"/>
          </a:xfrm>
          <a:prstGeom prst="rect">
            <a:avLst/>
          </a:prstGeom>
          <a:noFill/>
        </p:spPr>
        <p:txBody>
          <a:bodyPr wrap="square" rtlCol="0">
            <a:spAutoFit/>
          </a:bodyPr>
          <a:lstStyle/>
          <a:p>
            <a:r>
              <a:rPr lang="de-DE" dirty="0">
                <a:solidFill>
                  <a:schemeClr val="bg1"/>
                </a:solidFill>
              </a:rPr>
              <a:t>Perry (1970)</a:t>
            </a:r>
          </a:p>
          <a:p>
            <a:r>
              <a:rPr lang="de-DE" dirty="0">
                <a:solidFill>
                  <a:schemeClr val="bg1"/>
                </a:solidFill>
              </a:rPr>
              <a:t>Schwartz et al. (2004)</a:t>
            </a:r>
          </a:p>
          <a:p>
            <a:r>
              <a:rPr lang="de-DE" dirty="0" err="1">
                <a:solidFill>
                  <a:schemeClr val="bg1"/>
                </a:solidFill>
              </a:rPr>
              <a:t>Cartiff</a:t>
            </a:r>
            <a:r>
              <a:rPr lang="de-DE" dirty="0">
                <a:solidFill>
                  <a:schemeClr val="bg1"/>
                </a:solidFill>
              </a:rPr>
              <a:t> et al. (2021)</a:t>
            </a:r>
          </a:p>
        </p:txBody>
      </p:sp>
      <p:sp>
        <p:nvSpPr>
          <p:cNvPr id="24" name="Titel 1">
            <a:extLst>
              <a:ext uri="{FF2B5EF4-FFF2-40B4-BE49-F238E27FC236}">
                <a16:creationId xmlns:a16="http://schemas.microsoft.com/office/drawing/2014/main" id="{7BE84977-9484-4700-8963-7F80B5B8A1AE}"/>
              </a:ext>
            </a:extLst>
          </p:cNvPr>
          <p:cNvSpPr>
            <a:spLocks noGrp="1"/>
          </p:cNvSpPr>
          <p:nvPr>
            <p:ph type="ctrTitle"/>
          </p:nvPr>
        </p:nvSpPr>
        <p:spPr>
          <a:xfrm>
            <a:off x="4882243" y="-200960"/>
            <a:ext cx="2427514" cy="1265237"/>
          </a:xfrm>
        </p:spPr>
        <p:txBody>
          <a:bodyPr/>
          <a:lstStyle/>
          <a:p>
            <a:r>
              <a:rPr lang="en-US" dirty="0">
                <a:solidFill>
                  <a:schemeClr val="bg1"/>
                </a:solidFill>
              </a:rPr>
              <a:t>70s</a:t>
            </a:r>
          </a:p>
        </p:txBody>
      </p:sp>
      <p:sp>
        <p:nvSpPr>
          <p:cNvPr id="25" name="Rechteck: abgerundete Ecken 24">
            <a:extLst>
              <a:ext uri="{FF2B5EF4-FFF2-40B4-BE49-F238E27FC236}">
                <a16:creationId xmlns:a16="http://schemas.microsoft.com/office/drawing/2014/main" id="{241C9945-5CAB-4B04-BC8E-E91DC9891C3D}"/>
              </a:ext>
            </a:extLst>
          </p:cNvPr>
          <p:cNvSpPr/>
          <p:nvPr/>
        </p:nvSpPr>
        <p:spPr>
          <a:xfrm>
            <a:off x="5924890" y="2173234"/>
            <a:ext cx="2969592" cy="466571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5953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7" grpId="0"/>
      <p:bldP spid="18" grpId="0"/>
      <p:bldP spid="25"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Rechteck: abgerundete Ecken 24">
            <a:extLst>
              <a:ext uri="{FF2B5EF4-FFF2-40B4-BE49-F238E27FC236}">
                <a16:creationId xmlns:a16="http://schemas.microsoft.com/office/drawing/2014/main" id="{FBDAAAC6-07F3-4098-9C5F-50EAFC67992E}"/>
              </a:ext>
            </a:extLst>
          </p:cNvPr>
          <p:cNvSpPr/>
          <p:nvPr/>
        </p:nvSpPr>
        <p:spPr>
          <a:xfrm>
            <a:off x="121874" y="778006"/>
            <a:ext cx="5839087" cy="5721105"/>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 name="Titel 1">
            <a:extLst>
              <a:ext uri="{FF2B5EF4-FFF2-40B4-BE49-F238E27FC236}">
                <a16:creationId xmlns:a16="http://schemas.microsoft.com/office/drawing/2014/main" id="{57B74541-141C-4768-B2F1-7EEC36D80267}"/>
              </a:ext>
            </a:extLst>
          </p:cNvPr>
          <p:cNvSpPr txBox="1">
            <a:spLocks/>
          </p:cNvSpPr>
          <p:nvPr/>
        </p:nvSpPr>
        <p:spPr>
          <a:xfrm>
            <a:off x="1891693"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Theory</a:t>
            </a:r>
          </a:p>
        </p:txBody>
      </p:sp>
      <p:sp>
        <p:nvSpPr>
          <p:cNvPr id="30" name="Titel 1">
            <a:extLst>
              <a:ext uri="{FF2B5EF4-FFF2-40B4-BE49-F238E27FC236}">
                <a16:creationId xmlns:a16="http://schemas.microsoft.com/office/drawing/2014/main" id="{6C4F2071-969E-4B99-9CEB-D6379FCD6A56}"/>
              </a:ext>
            </a:extLst>
          </p:cNvPr>
          <p:cNvSpPr txBox="1">
            <a:spLocks/>
          </p:cNvSpPr>
          <p:nvPr/>
        </p:nvSpPr>
        <p:spPr>
          <a:xfrm>
            <a:off x="8000860" y="297246"/>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Model</a:t>
            </a:r>
          </a:p>
        </p:txBody>
      </p:sp>
      <p:sp>
        <p:nvSpPr>
          <p:cNvPr id="31" name="Rechteck: abgerundete Ecken 30">
            <a:extLst>
              <a:ext uri="{FF2B5EF4-FFF2-40B4-BE49-F238E27FC236}">
                <a16:creationId xmlns:a16="http://schemas.microsoft.com/office/drawing/2014/main" id="{C4811E05-9775-4F12-8866-7309BE8D1129}"/>
              </a:ext>
            </a:extLst>
          </p:cNvPr>
          <p:cNvSpPr/>
          <p:nvPr/>
        </p:nvSpPr>
        <p:spPr>
          <a:xfrm>
            <a:off x="6231432" y="778005"/>
            <a:ext cx="5838693" cy="5721105"/>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itel 1">
            <a:extLst>
              <a:ext uri="{FF2B5EF4-FFF2-40B4-BE49-F238E27FC236}">
                <a16:creationId xmlns:a16="http://schemas.microsoft.com/office/drawing/2014/main" id="{627AF24D-5CD4-4E4A-ACD3-20055AB2DE93}"/>
              </a:ext>
            </a:extLst>
          </p:cNvPr>
          <p:cNvSpPr>
            <a:spLocks noGrp="1"/>
          </p:cNvSpPr>
          <p:nvPr>
            <p:ph type="ctrTitle"/>
          </p:nvPr>
        </p:nvSpPr>
        <p:spPr>
          <a:xfrm>
            <a:off x="4882243" y="-200960"/>
            <a:ext cx="2427514" cy="1265237"/>
          </a:xfrm>
        </p:spPr>
        <p:txBody>
          <a:bodyPr/>
          <a:lstStyle/>
          <a:p>
            <a:r>
              <a:rPr lang="en-US" dirty="0">
                <a:solidFill>
                  <a:schemeClr val="bg1"/>
                </a:solidFill>
              </a:rPr>
              <a:t>70s</a:t>
            </a:r>
          </a:p>
        </p:txBody>
      </p:sp>
      <p:sp>
        <p:nvSpPr>
          <p:cNvPr id="33" name="Textfeld 32">
            <a:extLst>
              <a:ext uri="{FF2B5EF4-FFF2-40B4-BE49-F238E27FC236}">
                <a16:creationId xmlns:a16="http://schemas.microsoft.com/office/drawing/2014/main" id="{6B5B63F4-0802-47B4-85D1-B36D307DB084}"/>
              </a:ext>
            </a:extLst>
          </p:cNvPr>
          <p:cNvSpPr txBox="1"/>
          <p:nvPr/>
        </p:nvSpPr>
        <p:spPr>
          <a:xfrm>
            <a:off x="477982" y="1204986"/>
            <a:ext cx="4717473" cy="830997"/>
          </a:xfrm>
          <a:prstGeom prst="rect">
            <a:avLst/>
          </a:prstGeom>
          <a:noFill/>
        </p:spPr>
        <p:txBody>
          <a:bodyPr wrap="square" rtlCol="0">
            <a:spAutoFit/>
          </a:bodyPr>
          <a:lstStyle/>
          <a:p>
            <a:r>
              <a:rPr lang="de-DE" sz="2400" dirty="0" err="1">
                <a:solidFill>
                  <a:schemeClr val="bg1"/>
                </a:solidFill>
              </a:rPr>
              <a:t>Inhelder</a:t>
            </a:r>
            <a:r>
              <a:rPr lang="de-DE" sz="2400" dirty="0">
                <a:solidFill>
                  <a:schemeClr val="bg1"/>
                </a:solidFill>
              </a:rPr>
              <a:t> &amp; </a:t>
            </a:r>
            <a:r>
              <a:rPr lang="de-DE" sz="2400" dirty="0" err="1">
                <a:solidFill>
                  <a:schemeClr val="bg1"/>
                </a:solidFill>
              </a:rPr>
              <a:t>Piaget`s</a:t>
            </a:r>
            <a:r>
              <a:rPr lang="de-DE" sz="2400" dirty="0">
                <a:solidFill>
                  <a:schemeClr val="bg1"/>
                </a:solidFill>
              </a:rPr>
              <a:t> Theory </a:t>
            </a:r>
            <a:r>
              <a:rPr lang="de-DE" sz="2400" dirty="0" err="1">
                <a:solidFill>
                  <a:schemeClr val="bg1"/>
                </a:solidFill>
              </a:rPr>
              <a:t>of</a:t>
            </a:r>
            <a:r>
              <a:rPr lang="de-DE" sz="2400" dirty="0">
                <a:solidFill>
                  <a:schemeClr val="bg1"/>
                </a:solidFill>
              </a:rPr>
              <a:t> </a:t>
            </a:r>
            <a:r>
              <a:rPr lang="de-DE" sz="2400" dirty="0" err="1">
                <a:solidFill>
                  <a:schemeClr val="bg1"/>
                </a:solidFill>
              </a:rPr>
              <a:t>stage-wise</a:t>
            </a:r>
            <a:r>
              <a:rPr lang="de-DE" sz="2400" dirty="0">
                <a:solidFill>
                  <a:schemeClr val="bg1"/>
                </a:solidFill>
              </a:rPr>
              <a:t> </a:t>
            </a:r>
            <a:r>
              <a:rPr lang="de-DE" sz="2400" dirty="0" err="1">
                <a:solidFill>
                  <a:schemeClr val="bg1"/>
                </a:solidFill>
              </a:rPr>
              <a:t>development</a:t>
            </a:r>
            <a:r>
              <a:rPr lang="de-DE" sz="2400" dirty="0">
                <a:solidFill>
                  <a:schemeClr val="bg1"/>
                </a:solidFill>
              </a:rPr>
              <a:t> (1958)</a:t>
            </a:r>
          </a:p>
        </p:txBody>
      </p:sp>
      <p:sp>
        <p:nvSpPr>
          <p:cNvPr id="34" name="Textfeld 33">
            <a:extLst>
              <a:ext uri="{FF2B5EF4-FFF2-40B4-BE49-F238E27FC236}">
                <a16:creationId xmlns:a16="http://schemas.microsoft.com/office/drawing/2014/main" id="{4C54C998-43ED-4FD7-80F1-1D354FDF34A3}"/>
              </a:ext>
            </a:extLst>
          </p:cNvPr>
          <p:cNvSpPr txBox="1"/>
          <p:nvPr/>
        </p:nvSpPr>
        <p:spPr>
          <a:xfrm>
            <a:off x="477982" y="2398490"/>
            <a:ext cx="4717473" cy="461665"/>
          </a:xfrm>
          <a:prstGeom prst="rect">
            <a:avLst/>
          </a:prstGeom>
          <a:noFill/>
        </p:spPr>
        <p:txBody>
          <a:bodyPr wrap="square" rtlCol="0">
            <a:spAutoFit/>
          </a:bodyPr>
          <a:lstStyle/>
          <a:p>
            <a:r>
              <a:rPr lang="de-DE" sz="2400" dirty="0" err="1">
                <a:solidFill>
                  <a:schemeClr val="bg1"/>
                </a:solidFill>
              </a:rPr>
              <a:t>Siegler`s</a:t>
            </a:r>
            <a:r>
              <a:rPr lang="de-DE" sz="2400" dirty="0">
                <a:solidFill>
                  <a:schemeClr val="bg1"/>
                </a:solidFill>
              </a:rPr>
              <a:t> (1958)</a:t>
            </a:r>
          </a:p>
        </p:txBody>
      </p:sp>
    </p:spTree>
    <p:extLst>
      <p:ext uri="{BB962C8B-B14F-4D97-AF65-F5344CB8AC3E}">
        <p14:creationId xmlns:p14="http://schemas.microsoft.com/office/powerpoint/2010/main" val="17260202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The foundations of educational research: Individual items and the sum score</a:t>
            </a:r>
          </a:p>
        </p:txBody>
      </p:sp>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2677656"/>
          </a:xfrm>
          <a:prstGeom prst="rect">
            <a:avLst/>
          </a:prstGeom>
          <a:noFill/>
        </p:spPr>
        <p:txBody>
          <a:bodyPr wrap="square" rtlCol="0">
            <a:spAutoFit/>
          </a:bodyPr>
          <a:lstStyle/>
          <a:p>
            <a:r>
              <a:rPr lang="de-DE" sz="2400" dirty="0">
                <a:solidFill>
                  <a:schemeClr val="bg1"/>
                </a:solidFill>
              </a:rPr>
              <a:t>70s-80s: </a:t>
            </a:r>
            <a:r>
              <a:rPr lang="de-DE" sz="2400" dirty="0" err="1">
                <a:solidFill>
                  <a:schemeClr val="bg1"/>
                </a:solidFill>
              </a:rPr>
              <a:t>Learners`progressions</a:t>
            </a:r>
            <a:r>
              <a:rPr lang="de-DE" sz="2400" dirty="0">
                <a:solidFill>
                  <a:schemeClr val="bg1"/>
                </a:solidFill>
              </a:rPr>
              <a:t> </a:t>
            </a:r>
            <a:r>
              <a:rPr lang="de-DE" sz="2400" dirty="0" err="1">
                <a:solidFill>
                  <a:schemeClr val="bg1"/>
                </a:solidFill>
              </a:rPr>
              <a:t>through</a:t>
            </a:r>
            <a:r>
              <a:rPr lang="de-DE" sz="2400" dirty="0">
                <a:solidFill>
                  <a:schemeClr val="bg1"/>
                </a:solidFill>
              </a:rPr>
              <a:t> individual </a:t>
            </a:r>
            <a:r>
              <a:rPr lang="de-DE" sz="2400" dirty="0" err="1">
                <a:solidFill>
                  <a:schemeClr val="bg1"/>
                </a:solidFill>
              </a:rPr>
              <a:t>items</a:t>
            </a:r>
            <a:r>
              <a:rPr lang="de-DE" sz="2400" dirty="0">
                <a:solidFill>
                  <a:schemeClr val="bg1"/>
                </a:solidFill>
              </a:rPr>
              <a:t>/</a:t>
            </a:r>
            <a:r>
              <a:rPr lang="de-DE" sz="2400" dirty="0" err="1">
                <a:solidFill>
                  <a:schemeClr val="bg1"/>
                </a:solidFill>
              </a:rPr>
              <a:t>tasks</a:t>
            </a:r>
            <a:endParaRPr lang="de-DE" sz="2400" dirty="0">
              <a:solidFill>
                <a:schemeClr val="bg1"/>
              </a:solidFill>
            </a:endParaRPr>
          </a:p>
          <a:p>
            <a:endParaRPr lang="de-DE" sz="2400" dirty="0">
              <a:solidFill>
                <a:schemeClr val="bg1"/>
              </a:solidFill>
            </a:endParaRPr>
          </a:p>
          <a:p>
            <a:r>
              <a:rPr lang="de-DE" sz="2400" dirty="0">
                <a:solidFill>
                  <a:schemeClr val="bg1"/>
                </a:solidFill>
              </a:rPr>
              <a:t>Multiple </a:t>
            </a:r>
            <a:r>
              <a:rPr lang="de-DE" sz="2400" dirty="0" err="1">
                <a:solidFill>
                  <a:schemeClr val="bg1"/>
                </a:solidFill>
              </a:rPr>
              <a:t>items</a:t>
            </a:r>
            <a:r>
              <a:rPr lang="de-DE" sz="2400" dirty="0">
                <a:solidFill>
                  <a:schemeClr val="bg1"/>
                </a:solidFill>
              </a:rPr>
              <a:t>: </a:t>
            </a:r>
            <a:r>
              <a:rPr lang="de-DE" sz="2400" dirty="0" err="1">
                <a:solidFill>
                  <a:schemeClr val="bg1"/>
                </a:solidFill>
              </a:rPr>
              <a:t>Sum</a:t>
            </a:r>
            <a:r>
              <a:rPr lang="de-DE" sz="2400" dirty="0">
                <a:solidFill>
                  <a:schemeClr val="bg1"/>
                </a:solidFill>
              </a:rPr>
              <a:t> (</a:t>
            </a:r>
            <a:r>
              <a:rPr lang="de-DE" sz="2400" dirty="0" err="1">
                <a:solidFill>
                  <a:schemeClr val="bg1"/>
                </a:solidFill>
              </a:rPr>
              <a:t>or</a:t>
            </a:r>
            <a:r>
              <a:rPr lang="de-DE" sz="2400" dirty="0">
                <a:solidFill>
                  <a:schemeClr val="bg1"/>
                </a:solidFill>
              </a:rPr>
              <a:t> </a:t>
            </a:r>
            <a:r>
              <a:rPr lang="de-DE" sz="2400" dirty="0" err="1">
                <a:solidFill>
                  <a:schemeClr val="bg1"/>
                </a:solidFill>
              </a:rPr>
              <a:t>mean</a:t>
            </a:r>
            <a:r>
              <a:rPr lang="de-DE" sz="2400" dirty="0">
                <a:solidFill>
                  <a:schemeClr val="bg1"/>
                </a:solidFill>
              </a:rPr>
              <a:t>) score</a:t>
            </a:r>
          </a:p>
          <a:p>
            <a:endParaRPr lang="de-DE" sz="2400" dirty="0">
              <a:solidFill>
                <a:schemeClr val="bg1"/>
              </a:solidFill>
            </a:endParaRPr>
          </a:p>
          <a:p>
            <a:r>
              <a:rPr lang="de-DE" sz="2400" dirty="0">
                <a:solidFill>
                  <a:schemeClr val="bg1"/>
                </a:solidFill>
              </a:rPr>
              <a:t>Split-half </a:t>
            </a:r>
            <a:r>
              <a:rPr lang="de-DE" sz="2400" dirty="0" err="1">
                <a:solidFill>
                  <a:schemeClr val="bg1"/>
                </a:solidFill>
              </a:rPr>
              <a:t>reliability</a:t>
            </a:r>
            <a:endParaRPr lang="de-DE" sz="2400" dirty="0">
              <a:solidFill>
                <a:schemeClr val="bg1"/>
              </a:solidFill>
            </a:endParaRPr>
          </a:p>
          <a:p>
            <a:endParaRPr lang="de-DE" sz="2400" dirty="0">
              <a:solidFill>
                <a:schemeClr val="bg1"/>
              </a:solidFill>
            </a:endParaRPr>
          </a:p>
          <a:p>
            <a:r>
              <a:rPr lang="de-DE" sz="2400" dirty="0">
                <a:solidFill>
                  <a:schemeClr val="bg1"/>
                </a:solidFill>
              </a:rPr>
              <a:t>Little </a:t>
            </a:r>
            <a:r>
              <a:rPr lang="de-DE" sz="2400" dirty="0" err="1">
                <a:solidFill>
                  <a:schemeClr val="bg1"/>
                </a:solidFill>
              </a:rPr>
              <a:t>validity</a:t>
            </a:r>
            <a:r>
              <a:rPr lang="de-DE" sz="2400" dirty="0">
                <a:solidFill>
                  <a:schemeClr val="bg1"/>
                </a:solidFill>
              </a:rPr>
              <a:t> </a:t>
            </a:r>
            <a:r>
              <a:rPr lang="de-DE" sz="2400" dirty="0" err="1">
                <a:solidFill>
                  <a:schemeClr val="bg1"/>
                </a:solidFill>
              </a:rPr>
              <a:t>evidence</a:t>
            </a:r>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521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2493489" y="527119"/>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Piaget </a:t>
            </a:r>
            <a:r>
              <a:rPr lang="de-DE" dirty="0" err="1"/>
              <a:t>stages</a:t>
            </a:r>
            <a:endParaRPr lang="de-DE" dirty="0"/>
          </a:p>
        </p:txBody>
      </p:sp>
      <p:sp>
        <p:nvSpPr>
          <p:cNvPr id="11" name="Rechteck 10">
            <a:extLst>
              <a:ext uri="{FF2B5EF4-FFF2-40B4-BE49-F238E27FC236}">
                <a16:creationId xmlns:a16="http://schemas.microsoft.com/office/drawing/2014/main" id="{2EA16BD6-66AF-499A-8EB2-C7C8A8FF963F}"/>
              </a:ext>
            </a:extLst>
          </p:cNvPr>
          <p:cNvSpPr/>
          <p:nvPr/>
        </p:nvSpPr>
        <p:spPr>
          <a:xfrm>
            <a:off x="6394150" y="110346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Continous</a:t>
            </a:r>
            <a:r>
              <a:rPr lang="de-DE" dirty="0"/>
              <a:t> </a:t>
            </a:r>
            <a:r>
              <a:rPr lang="de-DE" dirty="0" err="1"/>
              <a:t>knowledge</a:t>
            </a:r>
            <a:r>
              <a:rPr lang="de-DE" dirty="0"/>
              <a:t> </a:t>
            </a:r>
            <a:r>
              <a:rPr lang="de-DE" dirty="0" err="1"/>
              <a:t>scores</a:t>
            </a:r>
            <a:endParaRPr lang="de-DE" dirty="0"/>
          </a:p>
        </p:txBody>
      </p:sp>
      <p:sp>
        <p:nvSpPr>
          <p:cNvPr id="12" name="Rechteck 11">
            <a:extLst>
              <a:ext uri="{FF2B5EF4-FFF2-40B4-BE49-F238E27FC236}">
                <a16:creationId xmlns:a16="http://schemas.microsoft.com/office/drawing/2014/main" id="{449C5637-DAD2-46C5-A67B-4B9505F3755B}"/>
              </a:ext>
            </a:extLst>
          </p:cNvPr>
          <p:cNvSpPr/>
          <p:nvPr/>
        </p:nvSpPr>
        <p:spPr>
          <a:xfrm>
            <a:off x="8150728" y="866918"/>
            <a:ext cx="1737756"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 </a:t>
            </a:r>
            <a:r>
              <a:rPr lang="de-DE" dirty="0" err="1"/>
              <a:t>theory</a:t>
            </a:r>
            <a:r>
              <a:rPr lang="de-DE" dirty="0"/>
              <a:t> (</a:t>
            </a:r>
            <a:r>
              <a:rPr lang="de-DE" dirty="0" err="1"/>
              <a:t>Saltus</a:t>
            </a:r>
            <a:r>
              <a:rPr lang="de-DE" dirty="0"/>
              <a:t>, Wilson 1985/1989)</a:t>
            </a:r>
          </a:p>
        </p:txBody>
      </p:sp>
      <p:sp>
        <p:nvSpPr>
          <p:cNvPr id="13" name="Rechteck 12">
            <a:extLst>
              <a:ext uri="{FF2B5EF4-FFF2-40B4-BE49-F238E27FC236}">
                <a16:creationId xmlns:a16="http://schemas.microsoft.com/office/drawing/2014/main" id="{546F819F-F046-409F-AD61-1051F6E5DDE2}"/>
              </a:ext>
            </a:extLst>
          </p:cNvPr>
          <p:cNvSpPr/>
          <p:nvPr/>
        </p:nvSpPr>
        <p:spPr>
          <a:xfrm>
            <a:off x="8186461" y="6391085"/>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Factor</a:t>
            </a:r>
            <a:r>
              <a:rPr lang="de-DE" dirty="0"/>
              <a:t> </a:t>
            </a:r>
            <a:r>
              <a:rPr lang="de-DE" dirty="0" err="1"/>
              <a:t>analysis</a:t>
            </a:r>
            <a:endParaRPr lang="de-DE" dirty="0"/>
          </a:p>
        </p:txBody>
      </p:sp>
      <p:sp>
        <p:nvSpPr>
          <p:cNvPr id="14" name="Rechteck 13">
            <a:extLst>
              <a:ext uri="{FF2B5EF4-FFF2-40B4-BE49-F238E27FC236}">
                <a16:creationId xmlns:a16="http://schemas.microsoft.com/office/drawing/2014/main" id="{377BC8CD-CA9E-4A15-AEC6-ABB32964FEEC}"/>
              </a:ext>
            </a:extLst>
          </p:cNvPr>
          <p:cNvSpPr/>
          <p:nvPr/>
        </p:nvSpPr>
        <p:spPr>
          <a:xfrm>
            <a:off x="9019607" y="2309027"/>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Cognitive</a:t>
            </a:r>
            <a:r>
              <a:rPr lang="de-DE" dirty="0"/>
              <a:t> </a:t>
            </a:r>
            <a:r>
              <a:rPr lang="de-DE" dirty="0" err="1"/>
              <a:t>diagnosis</a:t>
            </a:r>
            <a:r>
              <a:rPr lang="de-DE" dirty="0"/>
              <a:t> </a:t>
            </a:r>
            <a:r>
              <a:rPr lang="de-DE" dirty="0" err="1"/>
              <a:t>modeling</a:t>
            </a:r>
            <a:r>
              <a:rPr lang="de-DE" dirty="0"/>
              <a:t> (</a:t>
            </a:r>
            <a:r>
              <a:rPr lang="de-DE" dirty="0" err="1"/>
              <a:t>Tasuoka</a:t>
            </a:r>
            <a:r>
              <a:rPr lang="de-DE" dirty="0"/>
              <a:t>, 1983 </a:t>
            </a:r>
            <a:r>
              <a:rPr lang="de-DE" dirty="0" err="1"/>
              <a:t>rule</a:t>
            </a:r>
            <a:r>
              <a:rPr lang="de-DE" dirty="0"/>
              <a:t> </a:t>
            </a:r>
            <a:r>
              <a:rPr lang="de-DE" dirty="0" err="1"/>
              <a:t>space</a:t>
            </a:r>
            <a:r>
              <a:rPr lang="de-DE" dirty="0"/>
              <a:t>)</a:t>
            </a:r>
          </a:p>
        </p:txBody>
      </p:sp>
      <p:sp>
        <p:nvSpPr>
          <p:cNvPr id="15" name="Rechteck 14">
            <a:extLst>
              <a:ext uri="{FF2B5EF4-FFF2-40B4-BE49-F238E27FC236}">
                <a16:creationId xmlns:a16="http://schemas.microsoft.com/office/drawing/2014/main" id="{8A624403-7621-41D0-9ECA-D67D7D7BE0C8}"/>
              </a:ext>
            </a:extLst>
          </p:cNvPr>
          <p:cNvSpPr/>
          <p:nvPr/>
        </p:nvSpPr>
        <p:spPr>
          <a:xfrm>
            <a:off x="10731552" y="2309027"/>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 </a:t>
            </a:r>
            <a:r>
              <a:rPr lang="de-DE" dirty="0" err="1"/>
              <a:t>space</a:t>
            </a:r>
            <a:r>
              <a:rPr lang="de-DE" dirty="0"/>
              <a:t> </a:t>
            </a:r>
            <a:r>
              <a:rPr lang="de-DE" dirty="0" err="1"/>
              <a:t>theory</a:t>
            </a:r>
            <a:r>
              <a:rPr lang="de-DE" dirty="0"/>
              <a:t> (</a:t>
            </a:r>
            <a:r>
              <a:rPr lang="de-DE" dirty="0" err="1"/>
              <a:t>Falmagne</a:t>
            </a:r>
            <a:r>
              <a:rPr lang="de-DE" dirty="0"/>
              <a:t>, 1985)</a:t>
            </a:r>
          </a:p>
        </p:txBody>
      </p:sp>
      <p:sp>
        <p:nvSpPr>
          <p:cNvPr id="16" name="Rechteck 15">
            <a:extLst>
              <a:ext uri="{FF2B5EF4-FFF2-40B4-BE49-F238E27FC236}">
                <a16:creationId xmlns:a16="http://schemas.microsoft.com/office/drawing/2014/main" id="{3DD7F954-99FD-4990-A37B-528D18B6A09F}"/>
              </a:ext>
            </a:extLst>
          </p:cNvPr>
          <p:cNvSpPr/>
          <p:nvPr/>
        </p:nvSpPr>
        <p:spPr>
          <a:xfrm>
            <a:off x="6394150" y="2309027"/>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t>
            </a:r>
            <a:r>
              <a:rPr lang="de-DE" dirty="0" err="1"/>
              <a:t>Constrained</a:t>
            </a:r>
            <a:r>
              <a:rPr lang="de-DE" dirty="0"/>
              <a:t>) latent </a:t>
            </a:r>
            <a:r>
              <a:rPr lang="de-DE" dirty="0" err="1"/>
              <a:t>class</a:t>
            </a:r>
            <a:r>
              <a:rPr lang="de-DE" dirty="0"/>
              <a:t> </a:t>
            </a:r>
            <a:r>
              <a:rPr lang="de-DE" dirty="0" err="1"/>
              <a:t>analysis</a:t>
            </a:r>
            <a:endParaRPr lang="de-DE" dirty="0"/>
          </a:p>
        </p:txBody>
      </p:sp>
      <p:sp>
        <p:nvSpPr>
          <p:cNvPr id="17" name="Rechteck 16">
            <a:extLst>
              <a:ext uri="{FF2B5EF4-FFF2-40B4-BE49-F238E27FC236}">
                <a16:creationId xmlns:a16="http://schemas.microsoft.com/office/drawing/2014/main" id="{DB26B9DC-8782-439E-9577-EFEC39EA1A11}"/>
              </a:ext>
            </a:extLst>
          </p:cNvPr>
          <p:cNvSpPr/>
          <p:nvPr/>
        </p:nvSpPr>
        <p:spPr>
          <a:xfrm>
            <a:off x="7781056" y="2606545"/>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Hidden </a:t>
            </a:r>
            <a:r>
              <a:rPr lang="de-DE" dirty="0" err="1"/>
              <a:t>markov</a:t>
            </a:r>
            <a:r>
              <a:rPr lang="de-DE" dirty="0"/>
              <a:t> </a:t>
            </a:r>
            <a:r>
              <a:rPr lang="de-DE" dirty="0" err="1"/>
              <a:t>models</a:t>
            </a:r>
            <a:endParaRPr lang="de-DE" dirty="0"/>
          </a:p>
        </p:txBody>
      </p:sp>
      <p:sp>
        <p:nvSpPr>
          <p:cNvPr id="18" name="Rechteck 17">
            <a:extLst>
              <a:ext uri="{FF2B5EF4-FFF2-40B4-BE49-F238E27FC236}">
                <a16:creationId xmlns:a16="http://schemas.microsoft.com/office/drawing/2014/main" id="{6B63E15A-8E5F-422D-ABDA-AED960D81446}"/>
              </a:ext>
            </a:extLst>
          </p:cNvPr>
          <p:cNvSpPr/>
          <p:nvPr/>
        </p:nvSpPr>
        <p:spPr>
          <a:xfrm>
            <a:off x="6394150" y="396219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Latent </a:t>
            </a:r>
            <a:r>
              <a:rPr lang="de-DE" dirty="0" err="1"/>
              <a:t>transition</a:t>
            </a:r>
            <a:r>
              <a:rPr lang="de-DE" dirty="0"/>
              <a:t> </a:t>
            </a:r>
            <a:r>
              <a:rPr lang="de-DE" dirty="0" err="1"/>
              <a:t>analysis</a:t>
            </a:r>
            <a:endParaRPr lang="de-DE" dirty="0"/>
          </a:p>
        </p:txBody>
      </p:sp>
      <p:sp>
        <p:nvSpPr>
          <p:cNvPr id="21" name="Rechteck 20">
            <a:extLst>
              <a:ext uri="{FF2B5EF4-FFF2-40B4-BE49-F238E27FC236}">
                <a16:creationId xmlns:a16="http://schemas.microsoft.com/office/drawing/2014/main" id="{8E51A3A6-A4F9-44A7-A738-3A4576C190A6}"/>
              </a:ext>
            </a:extLst>
          </p:cNvPr>
          <p:cNvSpPr/>
          <p:nvPr/>
        </p:nvSpPr>
        <p:spPr>
          <a:xfrm>
            <a:off x="661566" y="2375457"/>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Siegler </a:t>
            </a:r>
            <a:r>
              <a:rPr lang="de-DE" dirty="0" err="1"/>
              <a:t>three</a:t>
            </a:r>
            <a:r>
              <a:rPr lang="de-DE" dirty="0"/>
              <a:t> </a:t>
            </a:r>
            <a:r>
              <a:rPr lang="de-DE" dirty="0" err="1"/>
              <a:t>stages</a:t>
            </a:r>
            <a:endParaRPr lang="de-DE" dirty="0"/>
          </a:p>
        </p:txBody>
      </p:sp>
      <p:sp>
        <p:nvSpPr>
          <p:cNvPr id="23" name="Rechteck 22">
            <a:extLst>
              <a:ext uri="{FF2B5EF4-FFF2-40B4-BE49-F238E27FC236}">
                <a16:creationId xmlns:a16="http://schemas.microsoft.com/office/drawing/2014/main" id="{175DD27B-2F7C-4146-A6CC-38F0CB97E5E0}"/>
              </a:ext>
            </a:extLst>
          </p:cNvPr>
          <p:cNvSpPr/>
          <p:nvPr/>
        </p:nvSpPr>
        <p:spPr>
          <a:xfrm>
            <a:off x="195941" y="3962190"/>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Vosniadou Framework </a:t>
            </a:r>
            <a:r>
              <a:rPr lang="de-DE" dirty="0" err="1"/>
              <a:t>theories</a:t>
            </a:r>
            <a:endParaRPr lang="de-DE" dirty="0"/>
          </a:p>
        </p:txBody>
      </p:sp>
      <p:sp>
        <p:nvSpPr>
          <p:cNvPr id="24" name="Rechteck 23">
            <a:extLst>
              <a:ext uri="{FF2B5EF4-FFF2-40B4-BE49-F238E27FC236}">
                <a16:creationId xmlns:a16="http://schemas.microsoft.com/office/drawing/2014/main" id="{D5066DE7-C779-4A86-98CD-DF1AF47C804D}"/>
              </a:ext>
            </a:extLst>
          </p:cNvPr>
          <p:cNvSpPr/>
          <p:nvPr/>
        </p:nvSpPr>
        <p:spPr>
          <a:xfrm>
            <a:off x="2174677" y="3962190"/>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diSessa</a:t>
            </a:r>
            <a:r>
              <a:rPr lang="de-DE" dirty="0"/>
              <a:t> p-</a:t>
            </a:r>
            <a:r>
              <a:rPr lang="de-DE" dirty="0" err="1"/>
              <a:t>prims</a:t>
            </a:r>
            <a:endParaRPr lang="de-DE" dirty="0"/>
          </a:p>
        </p:txBody>
      </p:sp>
      <p:sp>
        <p:nvSpPr>
          <p:cNvPr id="25" name="Rechteck 24">
            <a:extLst>
              <a:ext uri="{FF2B5EF4-FFF2-40B4-BE49-F238E27FC236}">
                <a16:creationId xmlns:a16="http://schemas.microsoft.com/office/drawing/2014/main" id="{C5867E67-6515-4EB7-A4FB-78FE57126555}"/>
              </a:ext>
            </a:extLst>
          </p:cNvPr>
          <p:cNvSpPr/>
          <p:nvPr/>
        </p:nvSpPr>
        <p:spPr>
          <a:xfrm>
            <a:off x="1804744" y="5548923"/>
            <a:ext cx="1608803"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Shtulman</a:t>
            </a:r>
            <a:r>
              <a:rPr lang="de-DE" dirty="0"/>
              <a:t> </a:t>
            </a:r>
          </a:p>
        </p:txBody>
      </p:sp>
      <p:sp>
        <p:nvSpPr>
          <p:cNvPr id="26" name="Rechteck 25">
            <a:extLst>
              <a:ext uri="{FF2B5EF4-FFF2-40B4-BE49-F238E27FC236}">
                <a16:creationId xmlns:a16="http://schemas.microsoft.com/office/drawing/2014/main" id="{BAEE22C6-3636-4E6B-ACB7-BD5E16E1D3ED}"/>
              </a:ext>
            </a:extLst>
          </p:cNvPr>
          <p:cNvSpPr/>
          <p:nvPr/>
        </p:nvSpPr>
        <p:spPr>
          <a:xfrm>
            <a:off x="6828934" y="5448508"/>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Diffusion </a:t>
            </a:r>
            <a:r>
              <a:rPr lang="de-DE" dirty="0" err="1"/>
              <a:t>modeling</a:t>
            </a:r>
            <a:endParaRPr lang="de-DE" dirty="0"/>
          </a:p>
        </p:txBody>
      </p:sp>
      <p:sp>
        <p:nvSpPr>
          <p:cNvPr id="27" name="Rechteck 26">
            <a:extLst>
              <a:ext uri="{FF2B5EF4-FFF2-40B4-BE49-F238E27FC236}">
                <a16:creationId xmlns:a16="http://schemas.microsoft.com/office/drawing/2014/main" id="{E7F05195-909F-4343-9F6E-1FCCF2BF950B}"/>
              </a:ext>
            </a:extLst>
          </p:cNvPr>
          <p:cNvSpPr/>
          <p:nvPr/>
        </p:nvSpPr>
        <p:spPr>
          <a:xfrm>
            <a:off x="8742955" y="5448508"/>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Bayesian</a:t>
            </a:r>
            <a:r>
              <a:rPr lang="de-DE" dirty="0"/>
              <a:t> </a:t>
            </a:r>
            <a:r>
              <a:rPr lang="de-DE" dirty="0" err="1"/>
              <a:t>modeling</a:t>
            </a:r>
            <a:r>
              <a:rPr lang="de-DE" dirty="0"/>
              <a:t> (</a:t>
            </a:r>
            <a:r>
              <a:rPr lang="de-DE" dirty="0" err="1"/>
              <a:t>Shtulman</a:t>
            </a:r>
            <a:r>
              <a:rPr lang="de-DE" dirty="0"/>
              <a:t>, Reinhold,…)</a:t>
            </a:r>
          </a:p>
        </p:txBody>
      </p:sp>
      <p:cxnSp>
        <p:nvCxnSpPr>
          <p:cNvPr id="9" name="Gerade Verbindung mit Pfeil 8">
            <a:extLst>
              <a:ext uri="{FF2B5EF4-FFF2-40B4-BE49-F238E27FC236}">
                <a16:creationId xmlns:a16="http://schemas.microsoft.com/office/drawing/2014/main" id="{6BDD1E7B-31F2-40FD-8CA9-A683CF50CD23}"/>
              </a:ext>
            </a:extLst>
          </p:cNvPr>
          <p:cNvCxnSpPr/>
          <p:nvPr/>
        </p:nvCxnSpPr>
        <p:spPr>
          <a:xfrm>
            <a:off x="3783480" y="5973466"/>
            <a:ext cx="271892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25A22465-2280-478B-8B7F-B951D455F55C}"/>
              </a:ext>
            </a:extLst>
          </p:cNvPr>
          <p:cNvCxnSpPr/>
          <p:nvPr/>
        </p:nvCxnSpPr>
        <p:spPr>
          <a:xfrm>
            <a:off x="3783480" y="4424414"/>
            <a:ext cx="271892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57527F9E-3547-4EE3-BE24-376F0C7CDBD7}"/>
              </a:ext>
            </a:extLst>
          </p:cNvPr>
          <p:cNvCxnSpPr>
            <a:cxnSpLocks/>
          </p:cNvCxnSpPr>
          <p:nvPr/>
        </p:nvCxnSpPr>
        <p:spPr>
          <a:xfrm>
            <a:off x="2174677" y="2820445"/>
            <a:ext cx="432772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9BA7A112-C4EB-4B28-B02B-22EE50E79885}"/>
              </a:ext>
            </a:extLst>
          </p:cNvPr>
          <p:cNvCxnSpPr>
            <a:cxnSpLocks/>
            <a:stCxn id="19" idx="3"/>
          </p:cNvCxnSpPr>
          <p:nvPr/>
        </p:nvCxnSpPr>
        <p:spPr>
          <a:xfrm>
            <a:off x="3953937" y="951662"/>
            <a:ext cx="428412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883C687E-65D2-4C4B-A99F-6916A4AB9206}"/>
              </a:ext>
            </a:extLst>
          </p:cNvPr>
          <p:cNvSpPr txBox="1"/>
          <p:nvPr/>
        </p:nvSpPr>
        <p:spPr>
          <a:xfrm>
            <a:off x="12361846" y="-269155"/>
            <a:ext cx="1805685" cy="8679299"/>
          </a:xfrm>
          <a:prstGeom prst="rect">
            <a:avLst/>
          </a:prstGeom>
          <a:noFill/>
        </p:spPr>
        <p:txBody>
          <a:bodyPr wrap="square" rtlCol="0">
            <a:spAutoFit/>
          </a:bodyPr>
          <a:lstStyle/>
          <a:p>
            <a:r>
              <a:rPr lang="de-DE" dirty="0" err="1"/>
              <a:t>Conclusion</a:t>
            </a:r>
            <a:r>
              <a:rPr lang="de-DE" dirty="0"/>
              <a:t> 1:</a:t>
            </a:r>
          </a:p>
          <a:p>
            <a:r>
              <a:rPr lang="de-DE" dirty="0" err="1"/>
              <a:t>Exporting</a:t>
            </a:r>
            <a:r>
              <a:rPr lang="de-DE" dirty="0"/>
              <a:t> </a:t>
            </a:r>
            <a:r>
              <a:rPr lang="de-DE" dirty="0" err="1"/>
              <a:t>theory</a:t>
            </a:r>
            <a:r>
              <a:rPr lang="de-DE" dirty="0"/>
              <a:t> </a:t>
            </a:r>
            <a:r>
              <a:rPr lang="de-DE" dirty="0" err="1"/>
              <a:t>into</a:t>
            </a:r>
            <a:r>
              <a:rPr lang="de-DE" dirty="0"/>
              <a:t> </a:t>
            </a:r>
            <a:r>
              <a:rPr lang="de-DE" dirty="0" err="1"/>
              <a:t>statistics</a:t>
            </a:r>
            <a:r>
              <a:rPr lang="de-DE" dirty="0"/>
              <a:t>:</a:t>
            </a:r>
          </a:p>
          <a:p>
            <a:r>
              <a:rPr lang="de-DE" dirty="0"/>
              <a:t>Statistical </a:t>
            </a:r>
            <a:r>
              <a:rPr lang="de-DE" dirty="0" err="1"/>
              <a:t>models</a:t>
            </a:r>
            <a:r>
              <a:rPr lang="de-DE" dirty="0"/>
              <a:t> </a:t>
            </a:r>
            <a:r>
              <a:rPr lang="de-DE" dirty="0" err="1"/>
              <a:t>make</a:t>
            </a:r>
            <a:r>
              <a:rPr lang="de-DE" dirty="0"/>
              <a:t> </a:t>
            </a:r>
            <a:r>
              <a:rPr lang="de-DE" dirty="0" err="1"/>
              <a:t>psychological</a:t>
            </a:r>
            <a:r>
              <a:rPr lang="de-DE" dirty="0"/>
              <a:t> </a:t>
            </a:r>
            <a:r>
              <a:rPr lang="de-DE" dirty="0" err="1"/>
              <a:t>theories</a:t>
            </a:r>
            <a:r>
              <a:rPr lang="de-DE" dirty="0"/>
              <a:t> </a:t>
            </a:r>
            <a:r>
              <a:rPr lang="de-DE" dirty="0" err="1"/>
              <a:t>about</a:t>
            </a:r>
            <a:r>
              <a:rPr lang="de-DE" dirty="0"/>
              <a:t> </a:t>
            </a:r>
            <a:r>
              <a:rPr lang="de-DE" dirty="0" err="1"/>
              <a:t>educational</a:t>
            </a:r>
            <a:r>
              <a:rPr lang="de-DE" dirty="0"/>
              <a:t> </a:t>
            </a:r>
            <a:r>
              <a:rPr lang="de-DE" dirty="0" err="1"/>
              <a:t>phenomena</a:t>
            </a:r>
            <a:r>
              <a:rPr lang="de-DE" dirty="0"/>
              <a:t> </a:t>
            </a:r>
            <a:r>
              <a:rPr lang="de-DE" dirty="0" err="1"/>
              <a:t>testable</a:t>
            </a:r>
            <a:r>
              <a:rPr lang="de-DE" dirty="0"/>
              <a:t>; </a:t>
            </a:r>
            <a:r>
              <a:rPr lang="de-DE" dirty="0" err="1"/>
              <a:t>Wislon</a:t>
            </a:r>
            <a:r>
              <a:rPr lang="de-DE" dirty="0"/>
              <a:t> </a:t>
            </a:r>
            <a:r>
              <a:rPr lang="de-DE" dirty="0" err="1"/>
              <a:t>rejected</a:t>
            </a:r>
            <a:r>
              <a:rPr lang="de-DE" dirty="0"/>
              <a:t> </a:t>
            </a:r>
            <a:r>
              <a:rPr lang="de-DE" dirty="0" err="1"/>
              <a:t>clear</a:t>
            </a:r>
            <a:r>
              <a:rPr lang="de-DE" dirty="0"/>
              <a:t> </a:t>
            </a:r>
            <a:r>
              <a:rPr lang="de-DE" dirty="0" err="1"/>
              <a:t>separation</a:t>
            </a:r>
            <a:r>
              <a:rPr lang="de-DE" dirty="0"/>
              <a:t> </a:t>
            </a:r>
            <a:r>
              <a:rPr lang="de-DE" dirty="0" err="1"/>
              <a:t>of</a:t>
            </a:r>
            <a:r>
              <a:rPr lang="de-DE" dirty="0"/>
              <a:t> </a:t>
            </a:r>
            <a:r>
              <a:rPr lang="de-DE" dirty="0" err="1"/>
              <a:t>the</a:t>
            </a:r>
            <a:r>
              <a:rPr lang="de-DE" dirty="0"/>
              <a:t> Piaget </a:t>
            </a:r>
            <a:r>
              <a:rPr lang="de-DE" dirty="0" err="1"/>
              <a:t>stages</a:t>
            </a:r>
            <a:r>
              <a:rPr lang="de-DE" dirty="0"/>
              <a:t> (1985/1989 </a:t>
            </a:r>
            <a:r>
              <a:rPr lang="de-DE" dirty="0" err="1"/>
              <a:t>Saltus</a:t>
            </a:r>
            <a:r>
              <a:rPr lang="de-DE" dirty="0"/>
              <a:t>), Edelsbrunner </a:t>
            </a:r>
            <a:r>
              <a:rPr lang="de-DE" dirty="0" err="1"/>
              <a:t>rejects</a:t>
            </a:r>
            <a:r>
              <a:rPr lang="de-DE" dirty="0"/>
              <a:t> </a:t>
            </a:r>
            <a:r>
              <a:rPr lang="de-DE" dirty="0" err="1"/>
              <a:t>the</a:t>
            </a:r>
            <a:r>
              <a:rPr lang="de-DE" dirty="0"/>
              <a:t> </a:t>
            </a:r>
            <a:r>
              <a:rPr lang="de-DE" dirty="0" err="1"/>
              <a:t>inhibition</a:t>
            </a:r>
            <a:r>
              <a:rPr lang="de-DE" dirty="0"/>
              <a:t>-explanation </a:t>
            </a:r>
            <a:r>
              <a:rPr lang="de-DE" dirty="0" err="1"/>
              <a:t>of</a:t>
            </a:r>
            <a:r>
              <a:rPr lang="de-DE" dirty="0"/>
              <a:t> </a:t>
            </a:r>
            <a:r>
              <a:rPr lang="de-DE" dirty="0" err="1"/>
              <a:t>conceptual</a:t>
            </a:r>
            <a:r>
              <a:rPr lang="de-DE" dirty="0"/>
              <a:t> </a:t>
            </a:r>
            <a:r>
              <a:rPr lang="de-DE" dirty="0" err="1"/>
              <a:t>co-activation</a:t>
            </a:r>
            <a:r>
              <a:rPr lang="de-DE" dirty="0"/>
              <a:t>; Jansen/Visser </a:t>
            </a:r>
            <a:r>
              <a:rPr lang="de-DE" dirty="0" err="1"/>
              <a:t>did</a:t>
            </a:r>
            <a:r>
              <a:rPr lang="de-DE" dirty="0"/>
              <a:t> not find all </a:t>
            </a:r>
            <a:r>
              <a:rPr lang="de-DE" dirty="0" err="1"/>
              <a:t>rules</a:t>
            </a:r>
            <a:r>
              <a:rPr lang="de-DE" dirty="0"/>
              <a:t> </a:t>
            </a:r>
            <a:r>
              <a:rPr lang="de-DE" dirty="0" err="1"/>
              <a:t>by</a:t>
            </a:r>
            <a:r>
              <a:rPr lang="de-DE" dirty="0"/>
              <a:t> Siegler (?) but </a:t>
            </a:r>
            <a:r>
              <a:rPr lang="de-DE" dirty="0" err="1"/>
              <a:t>another</a:t>
            </a:r>
            <a:r>
              <a:rPr lang="de-DE" dirty="0"/>
              <a:t> </a:t>
            </a:r>
            <a:r>
              <a:rPr lang="de-DE" dirty="0" err="1"/>
              <a:t>one</a:t>
            </a:r>
            <a:r>
              <a:rPr lang="de-DE" dirty="0"/>
              <a:t> (?)</a:t>
            </a:r>
          </a:p>
          <a:p>
            <a:endParaRPr lang="de-DE" dirty="0"/>
          </a:p>
          <a:p>
            <a:endParaRPr lang="de-DE" dirty="0"/>
          </a:p>
          <a:p>
            <a:endParaRPr lang="de-DE" dirty="0"/>
          </a:p>
        </p:txBody>
      </p:sp>
      <p:sp>
        <p:nvSpPr>
          <p:cNvPr id="34" name="Rechteck 33">
            <a:extLst>
              <a:ext uri="{FF2B5EF4-FFF2-40B4-BE49-F238E27FC236}">
                <a16:creationId xmlns:a16="http://schemas.microsoft.com/office/drawing/2014/main" id="{237CAE41-D35A-4EEE-9ED8-A301A2FA5459}"/>
              </a:ext>
            </a:extLst>
          </p:cNvPr>
          <p:cNvSpPr/>
          <p:nvPr/>
        </p:nvSpPr>
        <p:spPr>
          <a:xfrm>
            <a:off x="10566573" y="5467140"/>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t>
            </a:r>
            <a:r>
              <a:rPr lang="de-DE" dirty="0" err="1"/>
              <a:t>knowledge</a:t>
            </a:r>
            <a:r>
              <a:rPr lang="de-DE" dirty="0"/>
              <a:t> </a:t>
            </a:r>
            <a:r>
              <a:rPr lang="de-DE" dirty="0" err="1"/>
              <a:t>tracing</a:t>
            </a:r>
            <a:r>
              <a:rPr lang="de-DE" dirty="0"/>
              <a:t>??</a:t>
            </a:r>
          </a:p>
        </p:txBody>
      </p:sp>
      <p:sp>
        <p:nvSpPr>
          <p:cNvPr id="35" name="Textfeld 34">
            <a:extLst>
              <a:ext uri="{FF2B5EF4-FFF2-40B4-BE49-F238E27FC236}">
                <a16:creationId xmlns:a16="http://schemas.microsoft.com/office/drawing/2014/main" id="{22B718FE-CA79-4C7F-8354-1E100AE3F425}"/>
              </a:ext>
            </a:extLst>
          </p:cNvPr>
          <p:cNvSpPr txBox="1"/>
          <p:nvPr/>
        </p:nvSpPr>
        <p:spPr>
          <a:xfrm>
            <a:off x="13975078" y="-308798"/>
            <a:ext cx="1805685" cy="2862322"/>
          </a:xfrm>
          <a:prstGeom prst="rect">
            <a:avLst/>
          </a:prstGeom>
          <a:noFill/>
        </p:spPr>
        <p:txBody>
          <a:bodyPr wrap="square" rtlCol="0">
            <a:spAutoFit/>
          </a:bodyPr>
          <a:lstStyle/>
          <a:p>
            <a:r>
              <a:rPr lang="de-DE" dirty="0"/>
              <a:t>Future outlook:</a:t>
            </a:r>
          </a:p>
          <a:p>
            <a:r>
              <a:rPr lang="de-DE" dirty="0"/>
              <a:t>- </a:t>
            </a:r>
            <a:r>
              <a:rPr lang="de-DE" dirty="0" err="1"/>
              <a:t>Stronger</a:t>
            </a:r>
            <a:r>
              <a:rPr lang="de-DE" dirty="0"/>
              <a:t> </a:t>
            </a:r>
            <a:r>
              <a:rPr lang="de-DE" dirty="0" err="1"/>
              <a:t>testability</a:t>
            </a:r>
            <a:r>
              <a:rPr lang="de-DE" dirty="0"/>
              <a:t> </a:t>
            </a:r>
            <a:r>
              <a:rPr lang="de-DE" dirty="0" err="1"/>
              <a:t>through</a:t>
            </a:r>
            <a:r>
              <a:rPr lang="de-DE" dirty="0"/>
              <a:t> formal and </a:t>
            </a:r>
            <a:r>
              <a:rPr lang="de-DE" dirty="0" err="1"/>
              <a:t>computational</a:t>
            </a:r>
            <a:r>
              <a:rPr lang="de-DE" dirty="0"/>
              <a:t> </a:t>
            </a:r>
            <a:r>
              <a:rPr lang="de-DE" dirty="0" err="1"/>
              <a:t>modeling</a:t>
            </a:r>
            <a:endParaRPr lang="de-DE" dirty="0"/>
          </a:p>
          <a:p>
            <a:endParaRPr lang="de-DE" dirty="0"/>
          </a:p>
          <a:p>
            <a:endParaRPr lang="de-DE" dirty="0"/>
          </a:p>
          <a:p>
            <a:endParaRPr lang="de-DE" dirty="0"/>
          </a:p>
        </p:txBody>
      </p:sp>
      <p:sp>
        <p:nvSpPr>
          <p:cNvPr id="36" name="Textfeld 35">
            <a:extLst>
              <a:ext uri="{FF2B5EF4-FFF2-40B4-BE49-F238E27FC236}">
                <a16:creationId xmlns:a16="http://schemas.microsoft.com/office/drawing/2014/main" id="{7FD599DE-952C-4055-AA25-9265CC6A7CF6}"/>
              </a:ext>
            </a:extLst>
          </p:cNvPr>
          <p:cNvSpPr txBox="1"/>
          <p:nvPr/>
        </p:nvSpPr>
        <p:spPr>
          <a:xfrm>
            <a:off x="16043633" y="-269155"/>
            <a:ext cx="1805685" cy="2308324"/>
          </a:xfrm>
          <a:prstGeom prst="rect">
            <a:avLst/>
          </a:prstGeom>
          <a:noFill/>
        </p:spPr>
        <p:txBody>
          <a:bodyPr wrap="square" rtlCol="0">
            <a:spAutoFit/>
          </a:bodyPr>
          <a:lstStyle/>
          <a:p>
            <a:r>
              <a:rPr lang="de-DE" dirty="0" err="1"/>
              <a:t>Conclusion</a:t>
            </a:r>
            <a:r>
              <a:rPr lang="de-DE" dirty="0"/>
              <a:t> 2:</a:t>
            </a:r>
          </a:p>
          <a:p>
            <a:r>
              <a:rPr lang="de-DE" dirty="0" err="1"/>
              <a:t>If</a:t>
            </a:r>
            <a:r>
              <a:rPr lang="de-DE" dirty="0"/>
              <a:t> </a:t>
            </a:r>
            <a:r>
              <a:rPr lang="de-DE" dirty="0" err="1"/>
              <a:t>your</a:t>
            </a:r>
            <a:r>
              <a:rPr lang="de-DE" dirty="0"/>
              <a:t> </a:t>
            </a:r>
            <a:r>
              <a:rPr lang="de-DE" dirty="0" err="1"/>
              <a:t>model</a:t>
            </a:r>
            <a:r>
              <a:rPr lang="de-DE" dirty="0"/>
              <a:t> </a:t>
            </a:r>
            <a:r>
              <a:rPr lang="de-DE" dirty="0" err="1"/>
              <a:t>does</a:t>
            </a:r>
            <a:r>
              <a:rPr lang="de-DE" dirty="0"/>
              <a:t> not fit, </a:t>
            </a:r>
            <a:r>
              <a:rPr lang="de-DE" dirty="0" err="1"/>
              <a:t>your</a:t>
            </a:r>
            <a:r>
              <a:rPr lang="de-DE" dirty="0"/>
              <a:t> </a:t>
            </a:r>
            <a:r>
              <a:rPr lang="de-DE" dirty="0" err="1"/>
              <a:t>model</a:t>
            </a:r>
            <a:r>
              <a:rPr lang="de-DE" dirty="0"/>
              <a:t> </a:t>
            </a:r>
            <a:r>
              <a:rPr lang="de-DE" dirty="0" err="1"/>
              <a:t>may</a:t>
            </a:r>
            <a:r>
              <a:rPr lang="de-DE" dirty="0"/>
              <a:t> </a:t>
            </a:r>
            <a:r>
              <a:rPr lang="de-DE" dirty="0" err="1"/>
              <a:t>be</a:t>
            </a:r>
            <a:r>
              <a:rPr lang="de-DE" dirty="0"/>
              <a:t> </a:t>
            </a:r>
            <a:r>
              <a:rPr lang="de-DE" dirty="0" err="1"/>
              <a:t>wrong</a:t>
            </a:r>
            <a:endParaRPr lang="de-DE" dirty="0"/>
          </a:p>
          <a:p>
            <a:endParaRPr lang="de-DE" dirty="0"/>
          </a:p>
          <a:p>
            <a:endParaRPr lang="de-DE" dirty="0"/>
          </a:p>
          <a:p>
            <a:endParaRPr lang="de-DE" dirty="0"/>
          </a:p>
        </p:txBody>
      </p:sp>
      <p:sp>
        <p:nvSpPr>
          <p:cNvPr id="37" name="Textfeld 36">
            <a:extLst>
              <a:ext uri="{FF2B5EF4-FFF2-40B4-BE49-F238E27FC236}">
                <a16:creationId xmlns:a16="http://schemas.microsoft.com/office/drawing/2014/main" id="{CCCACCF6-BB3D-43BF-93E6-B9B88FBCEE39}"/>
              </a:ext>
            </a:extLst>
          </p:cNvPr>
          <p:cNvSpPr txBox="1"/>
          <p:nvPr/>
        </p:nvSpPr>
        <p:spPr>
          <a:xfrm>
            <a:off x="17656865" y="-308798"/>
            <a:ext cx="1805685" cy="1200329"/>
          </a:xfrm>
          <a:prstGeom prst="rect">
            <a:avLst/>
          </a:prstGeom>
          <a:noFill/>
        </p:spPr>
        <p:txBody>
          <a:bodyPr wrap="square" rtlCol="0">
            <a:spAutoFit/>
          </a:bodyPr>
          <a:lstStyle/>
          <a:p>
            <a:r>
              <a:rPr lang="de-DE" dirty="0"/>
              <a:t>Future outlook:</a:t>
            </a:r>
          </a:p>
          <a:p>
            <a:r>
              <a:rPr lang="de-DE" dirty="0"/>
              <a:t>Intentional </a:t>
            </a:r>
            <a:r>
              <a:rPr lang="de-DE" dirty="0" err="1"/>
              <a:t>misspecification</a:t>
            </a:r>
            <a:endParaRPr lang="de-DE" dirty="0"/>
          </a:p>
          <a:p>
            <a:endParaRPr lang="de-DE" dirty="0"/>
          </a:p>
        </p:txBody>
      </p:sp>
      <p:sp>
        <p:nvSpPr>
          <p:cNvPr id="42" name="Rechteck 41">
            <a:extLst>
              <a:ext uri="{FF2B5EF4-FFF2-40B4-BE49-F238E27FC236}">
                <a16:creationId xmlns:a16="http://schemas.microsoft.com/office/drawing/2014/main" id="{1FE9B400-8B3D-46A9-94F5-8C6357EDAB44}"/>
              </a:ext>
            </a:extLst>
          </p:cNvPr>
          <p:cNvSpPr/>
          <p:nvPr/>
        </p:nvSpPr>
        <p:spPr>
          <a:xfrm>
            <a:off x="-1516093" y="3127037"/>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Rasch </a:t>
            </a:r>
            <a:r>
              <a:rPr lang="de-DE" dirty="0" err="1">
                <a:solidFill>
                  <a:schemeClr val="tx1"/>
                </a:solidFill>
              </a:rPr>
              <a:t>modeling</a:t>
            </a:r>
            <a:endParaRPr lang="de-DE" dirty="0">
              <a:solidFill>
                <a:schemeClr val="tx1"/>
              </a:solidFill>
            </a:endParaRPr>
          </a:p>
        </p:txBody>
      </p:sp>
      <p:sp>
        <p:nvSpPr>
          <p:cNvPr id="43" name="Rechteck 42">
            <a:extLst>
              <a:ext uri="{FF2B5EF4-FFF2-40B4-BE49-F238E27FC236}">
                <a16:creationId xmlns:a16="http://schemas.microsoft.com/office/drawing/2014/main" id="{C85A746B-D84F-48B0-B2FA-52590E6CAFB4}"/>
              </a:ext>
            </a:extLst>
          </p:cNvPr>
          <p:cNvSpPr/>
          <p:nvPr/>
        </p:nvSpPr>
        <p:spPr>
          <a:xfrm>
            <a:off x="-5858342" y="3047304"/>
            <a:ext cx="160880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Competence </a:t>
            </a:r>
            <a:r>
              <a:rPr lang="de-DE" dirty="0" err="1">
                <a:solidFill>
                  <a:schemeClr val="tx1"/>
                </a:solidFill>
              </a:rPr>
              <a:t>models</a:t>
            </a:r>
            <a:endParaRPr lang="de-DE" dirty="0">
              <a:solidFill>
                <a:schemeClr val="tx1"/>
              </a:solidFill>
            </a:endParaRPr>
          </a:p>
        </p:txBody>
      </p:sp>
      <p:cxnSp>
        <p:nvCxnSpPr>
          <p:cNvPr id="45" name="Gerade Verbindung mit Pfeil 44">
            <a:extLst>
              <a:ext uri="{FF2B5EF4-FFF2-40B4-BE49-F238E27FC236}">
                <a16:creationId xmlns:a16="http://schemas.microsoft.com/office/drawing/2014/main" id="{EA407874-90E3-4C6E-B660-C323461F4740}"/>
              </a:ext>
            </a:extLst>
          </p:cNvPr>
          <p:cNvCxnSpPr/>
          <p:nvPr/>
        </p:nvCxnSpPr>
        <p:spPr>
          <a:xfrm>
            <a:off x="-4245110" y="3575328"/>
            <a:ext cx="2718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Untertitel 2">
            <a:extLst>
              <a:ext uri="{FF2B5EF4-FFF2-40B4-BE49-F238E27FC236}">
                <a16:creationId xmlns:a16="http://schemas.microsoft.com/office/drawing/2014/main" id="{7322FFCA-2641-471B-9D74-5EB949CF6346}"/>
              </a:ext>
            </a:extLst>
          </p:cNvPr>
          <p:cNvSpPr txBox="1">
            <a:spLocks/>
          </p:cNvSpPr>
          <p:nvPr/>
        </p:nvSpPr>
        <p:spPr>
          <a:xfrm>
            <a:off x="2184839" y="78434"/>
            <a:ext cx="9151573"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solidFill>
                  <a:schemeClr val="bg1"/>
                </a:solidFill>
              </a:rPr>
              <a:t>Statistical modeling testing our theories of knowledge</a:t>
            </a:r>
            <a:endParaRPr lang="en-US" sz="2800" dirty="0">
              <a:solidFill>
                <a:schemeClr val="bg2">
                  <a:lumMod val="50000"/>
                </a:schemeClr>
              </a:solidFill>
            </a:endParaRPr>
          </a:p>
        </p:txBody>
      </p:sp>
      <p:sp>
        <p:nvSpPr>
          <p:cNvPr id="47" name="Textfeld 46">
            <a:extLst>
              <a:ext uri="{FF2B5EF4-FFF2-40B4-BE49-F238E27FC236}">
                <a16:creationId xmlns:a16="http://schemas.microsoft.com/office/drawing/2014/main" id="{20A04510-A1CE-477A-AF0B-83FDB3F744A7}"/>
              </a:ext>
            </a:extLst>
          </p:cNvPr>
          <p:cNvSpPr txBox="1"/>
          <p:nvPr/>
        </p:nvSpPr>
        <p:spPr>
          <a:xfrm>
            <a:off x="19960313" y="-294014"/>
            <a:ext cx="1970047" cy="1200329"/>
          </a:xfrm>
          <a:prstGeom prst="rect">
            <a:avLst/>
          </a:prstGeom>
          <a:noFill/>
        </p:spPr>
        <p:txBody>
          <a:bodyPr wrap="square" rtlCol="0">
            <a:spAutoFit/>
          </a:bodyPr>
          <a:lstStyle/>
          <a:p>
            <a:r>
              <a:rPr lang="de-DE" dirty="0" err="1"/>
              <a:t>Conclusion</a:t>
            </a:r>
            <a:r>
              <a:rPr lang="de-DE" dirty="0"/>
              <a:t> 3:</a:t>
            </a:r>
          </a:p>
          <a:p>
            <a:r>
              <a:rPr lang="de-DE" dirty="0"/>
              <a:t>Item </a:t>
            </a:r>
            <a:r>
              <a:rPr lang="de-DE" dirty="0" err="1"/>
              <a:t>intercorrelations</a:t>
            </a:r>
            <a:endParaRPr lang="de-DE" dirty="0"/>
          </a:p>
          <a:p>
            <a:endParaRPr lang="de-DE" dirty="0"/>
          </a:p>
        </p:txBody>
      </p:sp>
      <p:sp>
        <p:nvSpPr>
          <p:cNvPr id="48" name="Textfeld 47">
            <a:extLst>
              <a:ext uri="{FF2B5EF4-FFF2-40B4-BE49-F238E27FC236}">
                <a16:creationId xmlns:a16="http://schemas.microsoft.com/office/drawing/2014/main" id="{503B3E84-5F46-4C68-9859-35A639860FB5}"/>
              </a:ext>
            </a:extLst>
          </p:cNvPr>
          <p:cNvSpPr txBox="1"/>
          <p:nvPr/>
        </p:nvSpPr>
        <p:spPr>
          <a:xfrm>
            <a:off x="21573545" y="-302274"/>
            <a:ext cx="1805685" cy="1754326"/>
          </a:xfrm>
          <a:prstGeom prst="rect">
            <a:avLst/>
          </a:prstGeom>
          <a:noFill/>
        </p:spPr>
        <p:txBody>
          <a:bodyPr wrap="square" rtlCol="0">
            <a:spAutoFit/>
          </a:bodyPr>
          <a:lstStyle/>
          <a:p>
            <a:r>
              <a:rPr lang="de-DE" dirty="0"/>
              <a:t>Future outlook:</a:t>
            </a:r>
          </a:p>
          <a:p>
            <a:r>
              <a:rPr lang="de-DE" dirty="0" err="1"/>
              <a:t>Develop</a:t>
            </a:r>
            <a:r>
              <a:rPr lang="de-DE" dirty="0"/>
              <a:t> and </a:t>
            </a:r>
            <a:r>
              <a:rPr lang="de-DE" dirty="0" err="1"/>
              <a:t>test</a:t>
            </a:r>
            <a:r>
              <a:rPr lang="de-DE" dirty="0"/>
              <a:t> </a:t>
            </a:r>
            <a:r>
              <a:rPr lang="de-DE" dirty="0" err="1"/>
              <a:t>theories</a:t>
            </a:r>
            <a:r>
              <a:rPr lang="de-DE" dirty="0"/>
              <a:t> </a:t>
            </a:r>
            <a:r>
              <a:rPr lang="de-DE" dirty="0" err="1"/>
              <a:t>about</a:t>
            </a:r>
            <a:r>
              <a:rPr lang="de-DE" dirty="0"/>
              <a:t> </a:t>
            </a:r>
            <a:r>
              <a:rPr lang="de-DE" dirty="0" err="1"/>
              <a:t>their</a:t>
            </a:r>
            <a:r>
              <a:rPr lang="de-DE" dirty="0"/>
              <a:t> </a:t>
            </a:r>
            <a:r>
              <a:rPr lang="de-DE" dirty="0" err="1"/>
              <a:t>occurrence</a:t>
            </a:r>
            <a:endParaRPr lang="de-DE" dirty="0"/>
          </a:p>
          <a:p>
            <a:endParaRPr lang="de-DE" dirty="0"/>
          </a:p>
        </p:txBody>
      </p:sp>
      <p:sp>
        <p:nvSpPr>
          <p:cNvPr id="49" name="Rechteck 48">
            <a:extLst>
              <a:ext uri="{FF2B5EF4-FFF2-40B4-BE49-F238E27FC236}">
                <a16:creationId xmlns:a16="http://schemas.microsoft.com/office/drawing/2014/main" id="{AA901C7E-9953-4895-B6EB-2A5267D414C2}"/>
              </a:ext>
            </a:extLst>
          </p:cNvPr>
          <p:cNvSpPr/>
          <p:nvPr/>
        </p:nvSpPr>
        <p:spPr>
          <a:xfrm>
            <a:off x="-1516093" y="4220784"/>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Rasch </a:t>
            </a:r>
            <a:r>
              <a:rPr lang="de-DE" dirty="0" err="1">
                <a:solidFill>
                  <a:schemeClr val="tx1"/>
                </a:solidFill>
              </a:rPr>
              <a:t>modeling</a:t>
            </a:r>
            <a:r>
              <a:rPr lang="de-DE" dirty="0">
                <a:solidFill>
                  <a:schemeClr val="tx1"/>
                </a:solidFill>
              </a:rPr>
              <a:t> (FA)</a:t>
            </a:r>
          </a:p>
        </p:txBody>
      </p:sp>
      <p:sp>
        <p:nvSpPr>
          <p:cNvPr id="50" name="Rechteck 49">
            <a:extLst>
              <a:ext uri="{FF2B5EF4-FFF2-40B4-BE49-F238E27FC236}">
                <a16:creationId xmlns:a16="http://schemas.microsoft.com/office/drawing/2014/main" id="{1C3E006A-1C54-40C7-96A1-50B95DD5A1A0}"/>
              </a:ext>
            </a:extLst>
          </p:cNvPr>
          <p:cNvSpPr/>
          <p:nvPr/>
        </p:nvSpPr>
        <p:spPr>
          <a:xfrm>
            <a:off x="-5750264" y="4220784"/>
            <a:ext cx="160880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Scientific </a:t>
            </a:r>
            <a:r>
              <a:rPr lang="de-DE" dirty="0" err="1">
                <a:solidFill>
                  <a:schemeClr val="tx1"/>
                </a:solidFill>
              </a:rPr>
              <a:t>reasoning</a:t>
            </a:r>
            <a:r>
              <a:rPr lang="de-DE" dirty="0">
                <a:solidFill>
                  <a:schemeClr val="tx1"/>
                </a:solidFill>
              </a:rPr>
              <a:t> :(</a:t>
            </a:r>
          </a:p>
        </p:txBody>
      </p:sp>
      <p:cxnSp>
        <p:nvCxnSpPr>
          <p:cNvPr id="51" name="Gerade Verbindung mit Pfeil 50">
            <a:extLst>
              <a:ext uri="{FF2B5EF4-FFF2-40B4-BE49-F238E27FC236}">
                <a16:creationId xmlns:a16="http://schemas.microsoft.com/office/drawing/2014/main" id="{60C38C16-E91A-4AD5-9DDD-6094E36D498B}"/>
              </a:ext>
            </a:extLst>
          </p:cNvPr>
          <p:cNvCxnSpPr>
            <a:cxnSpLocks/>
            <a:stCxn id="49" idx="1"/>
            <a:endCxn id="50" idx="3"/>
          </p:cNvCxnSpPr>
          <p:nvPr/>
        </p:nvCxnSpPr>
        <p:spPr>
          <a:xfrm flipH="1">
            <a:off x="-4141461" y="4645327"/>
            <a:ext cx="2625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B4C0C823-1C60-42AE-A91E-2070C2A15ADF}"/>
              </a:ext>
            </a:extLst>
          </p:cNvPr>
          <p:cNvSpPr txBox="1"/>
          <p:nvPr/>
        </p:nvSpPr>
        <p:spPr>
          <a:xfrm>
            <a:off x="9997440" y="6582216"/>
            <a:ext cx="1805685" cy="3970318"/>
          </a:xfrm>
          <a:prstGeom prst="rect">
            <a:avLst/>
          </a:prstGeom>
          <a:noFill/>
        </p:spPr>
        <p:txBody>
          <a:bodyPr wrap="square" rtlCol="0">
            <a:spAutoFit/>
          </a:bodyPr>
          <a:lstStyle/>
          <a:p>
            <a:r>
              <a:rPr lang="de-DE" dirty="0"/>
              <a:t>The </a:t>
            </a:r>
            <a:r>
              <a:rPr lang="de-DE" dirty="0" err="1"/>
              <a:t>problem</a:t>
            </a:r>
            <a:r>
              <a:rPr lang="de-DE" dirty="0"/>
              <a:t> </a:t>
            </a:r>
            <a:r>
              <a:rPr lang="de-DE" dirty="0" err="1"/>
              <a:t>child</a:t>
            </a:r>
            <a:r>
              <a:rPr lang="de-DE" dirty="0"/>
              <a:t>… </a:t>
            </a:r>
            <a:r>
              <a:rPr lang="de-DE" dirty="0" err="1"/>
              <a:t>only</a:t>
            </a:r>
            <a:r>
              <a:rPr lang="de-DE" dirty="0"/>
              <a:t> meta-</a:t>
            </a:r>
            <a:r>
              <a:rPr lang="de-DE" dirty="0" err="1"/>
              <a:t>theory</a:t>
            </a:r>
            <a:r>
              <a:rPr lang="de-DE" dirty="0"/>
              <a:t> </a:t>
            </a:r>
            <a:r>
              <a:rPr lang="de-DE" dirty="0" err="1"/>
              <a:t>ever</a:t>
            </a:r>
            <a:r>
              <a:rPr lang="de-DE" dirty="0"/>
              <a:t> </a:t>
            </a:r>
            <a:r>
              <a:rPr lang="de-DE" dirty="0" err="1"/>
              <a:t>imported</a:t>
            </a:r>
            <a:r>
              <a:rPr lang="de-DE" dirty="0"/>
              <a:t> </a:t>
            </a:r>
            <a:r>
              <a:rPr lang="de-DE" dirty="0" err="1"/>
              <a:t>from</a:t>
            </a:r>
            <a:r>
              <a:rPr lang="de-DE" dirty="0"/>
              <a:t> </a:t>
            </a:r>
            <a:r>
              <a:rPr lang="de-DE" dirty="0" err="1"/>
              <a:t>stat</a:t>
            </a:r>
            <a:r>
              <a:rPr lang="de-DE" dirty="0"/>
              <a:t> </a:t>
            </a:r>
            <a:r>
              <a:rPr lang="de-DE" dirty="0" err="1"/>
              <a:t>methodlogy</a:t>
            </a:r>
            <a:r>
              <a:rPr lang="de-DE" dirty="0"/>
              <a:t> </a:t>
            </a:r>
            <a:r>
              <a:rPr lang="de-DE" dirty="0" err="1"/>
              <a:t>into</a:t>
            </a:r>
            <a:r>
              <a:rPr lang="de-DE" dirty="0"/>
              <a:t> </a:t>
            </a:r>
            <a:r>
              <a:rPr lang="de-DE" dirty="0" err="1"/>
              <a:t>educational</a:t>
            </a:r>
            <a:r>
              <a:rPr lang="de-DE" dirty="0"/>
              <a:t> </a:t>
            </a:r>
            <a:r>
              <a:rPr lang="de-DE" dirty="0" err="1"/>
              <a:t>research</a:t>
            </a:r>
            <a:r>
              <a:rPr lang="de-DE" dirty="0"/>
              <a:t>? Model fit Roberts </a:t>
            </a:r>
            <a:r>
              <a:rPr lang="de-DE" dirty="0" err="1"/>
              <a:t>Pashler</a:t>
            </a:r>
            <a:r>
              <a:rPr lang="de-DE" dirty="0"/>
              <a:t>, etc.</a:t>
            </a:r>
          </a:p>
          <a:p>
            <a:r>
              <a:rPr lang="de-DE" dirty="0" err="1"/>
              <a:t>Sum</a:t>
            </a:r>
            <a:r>
              <a:rPr lang="de-DE" dirty="0"/>
              <a:t> score </a:t>
            </a:r>
            <a:r>
              <a:rPr lang="de-DE" dirty="0" err="1"/>
              <a:t>debate</a:t>
            </a:r>
            <a:r>
              <a:rPr lang="de-DE" dirty="0"/>
              <a:t>, Alpha </a:t>
            </a:r>
            <a:r>
              <a:rPr lang="de-DE" dirty="0" err="1"/>
              <a:t>debate</a:t>
            </a:r>
            <a:r>
              <a:rPr lang="de-DE" dirty="0"/>
              <a:t>,…</a:t>
            </a:r>
          </a:p>
        </p:txBody>
      </p:sp>
      <p:sp>
        <p:nvSpPr>
          <p:cNvPr id="57" name="Rechteck 56">
            <a:extLst>
              <a:ext uri="{FF2B5EF4-FFF2-40B4-BE49-F238E27FC236}">
                <a16:creationId xmlns:a16="http://schemas.microsoft.com/office/drawing/2014/main" id="{D9506EF4-A3A6-4617-83D5-F6B152876CEE}"/>
              </a:ext>
            </a:extLst>
          </p:cNvPr>
          <p:cNvSpPr/>
          <p:nvPr/>
        </p:nvSpPr>
        <p:spPr>
          <a:xfrm>
            <a:off x="-1662873" y="5541999"/>
            <a:ext cx="146044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Network </a:t>
            </a:r>
            <a:r>
              <a:rPr lang="de-DE" dirty="0" err="1">
                <a:solidFill>
                  <a:schemeClr val="tx1"/>
                </a:solidFill>
              </a:rPr>
              <a:t>modeling</a:t>
            </a:r>
            <a:endParaRPr lang="de-DE" dirty="0">
              <a:solidFill>
                <a:schemeClr val="tx1"/>
              </a:solidFill>
            </a:endParaRPr>
          </a:p>
        </p:txBody>
      </p:sp>
    </p:spTree>
    <p:extLst>
      <p:ext uri="{BB962C8B-B14F-4D97-AF65-F5344CB8AC3E}">
        <p14:creationId xmlns:p14="http://schemas.microsoft.com/office/powerpoint/2010/main" val="28763072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Educational research goes textbook: Cronbach`s Alpha and Factor analysis</a:t>
            </a:r>
          </a:p>
        </p:txBody>
      </p:sp>
      <p:sp>
        <p:nvSpPr>
          <p:cNvPr id="3" name="Untertitel 2"/>
          <p:cNvSpPr>
            <a:spLocks noGrp="1"/>
          </p:cNvSpPr>
          <p:nvPr>
            <p:ph type="subTitle" idx="1"/>
          </p:nvPr>
        </p:nvSpPr>
        <p:spPr>
          <a:xfrm>
            <a:off x="195941" y="294482"/>
            <a:ext cx="1687285" cy="1655762"/>
          </a:xfrm>
        </p:spPr>
        <p:txBody>
          <a:bodyPr/>
          <a:lstStyle/>
          <a:p>
            <a:r>
              <a:rPr lang="en-US" b="1" dirty="0">
                <a:solidFill>
                  <a:schemeClr val="bg1"/>
                </a:solidFill>
              </a:rPr>
              <a:t>Yesterday</a:t>
            </a:r>
          </a:p>
          <a:p>
            <a:r>
              <a:rPr lang="en-US" dirty="0">
                <a:solidFill>
                  <a:schemeClr val="bg2">
                    <a:lumMod val="50000"/>
                  </a:schemeClr>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2677656"/>
          </a:xfrm>
          <a:prstGeom prst="rect">
            <a:avLst/>
          </a:prstGeom>
          <a:noFill/>
        </p:spPr>
        <p:txBody>
          <a:bodyPr wrap="square" rtlCol="0">
            <a:spAutoFit/>
          </a:bodyPr>
          <a:lstStyle/>
          <a:p>
            <a:r>
              <a:rPr lang="de-DE" sz="2400" dirty="0">
                <a:solidFill>
                  <a:schemeClr val="bg1"/>
                </a:solidFill>
              </a:rPr>
              <a:t>70s-80s: </a:t>
            </a:r>
            <a:r>
              <a:rPr lang="de-DE" sz="2400" dirty="0" err="1">
                <a:solidFill>
                  <a:schemeClr val="bg1"/>
                </a:solidFill>
              </a:rPr>
              <a:t>Learners`progressions</a:t>
            </a:r>
            <a:r>
              <a:rPr lang="de-DE" sz="2400" dirty="0">
                <a:solidFill>
                  <a:schemeClr val="bg1"/>
                </a:solidFill>
              </a:rPr>
              <a:t> </a:t>
            </a:r>
            <a:r>
              <a:rPr lang="de-DE" sz="2400" dirty="0" err="1">
                <a:solidFill>
                  <a:schemeClr val="bg1"/>
                </a:solidFill>
              </a:rPr>
              <a:t>through</a:t>
            </a:r>
            <a:r>
              <a:rPr lang="de-DE" sz="2400" dirty="0">
                <a:solidFill>
                  <a:schemeClr val="bg1"/>
                </a:solidFill>
              </a:rPr>
              <a:t> individual </a:t>
            </a:r>
            <a:r>
              <a:rPr lang="de-DE" sz="2400" dirty="0" err="1">
                <a:solidFill>
                  <a:schemeClr val="bg1"/>
                </a:solidFill>
              </a:rPr>
              <a:t>items</a:t>
            </a:r>
            <a:r>
              <a:rPr lang="de-DE" sz="2400" dirty="0">
                <a:solidFill>
                  <a:schemeClr val="bg1"/>
                </a:solidFill>
              </a:rPr>
              <a:t>/</a:t>
            </a:r>
            <a:r>
              <a:rPr lang="de-DE" sz="2400" dirty="0" err="1">
                <a:solidFill>
                  <a:schemeClr val="bg1"/>
                </a:solidFill>
              </a:rPr>
              <a:t>tasks</a:t>
            </a:r>
            <a:endParaRPr lang="de-DE" sz="2400" dirty="0">
              <a:solidFill>
                <a:schemeClr val="bg1"/>
              </a:solidFill>
            </a:endParaRPr>
          </a:p>
          <a:p>
            <a:endParaRPr lang="de-DE" sz="2400" dirty="0">
              <a:solidFill>
                <a:schemeClr val="bg1"/>
              </a:solidFill>
            </a:endParaRPr>
          </a:p>
          <a:p>
            <a:r>
              <a:rPr lang="de-DE" sz="2400" dirty="0">
                <a:solidFill>
                  <a:schemeClr val="bg1"/>
                </a:solidFill>
              </a:rPr>
              <a:t>Multiple </a:t>
            </a:r>
            <a:r>
              <a:rPr lang="de-DE" sz="2400" dirty="0" err="1">
                <a:solidFill>
                  <a:schemeClr val="bg1"/>
                </a:solidFill>
              </a:rPr>
              <a:t>items</a:t>
            </a:r>
            <a:r>
              <a:rPr lang="de-DE" sz="2400" dirty="0">
                <a:solidFill>
                  <a:schemeClr val="bg1"/>
                </a:solidFill>
              </a:rPr>
              <a:t>: </a:t>
            </a:r>
            <a:r>
              <a:rPr lang="de-DE" sz="2400" dirty="0" err="1">
                <a:solidFill>
                  <a:schemeClr val="bg1"/>
                </a:solidFill>
              </a:rPr>
              <a:t>Sum</a:t>
            </a:r>
            <a:r>
              <a:rPr lang="de-DE" sz="2400" dirty="0">
                <a:solidFill>
                  <a:schemeClr val="bg1"/>
                </a:solidFill>
              </a:rPr>
              <a:t> (</a:t>
            </a:r>
            <a:r>
              <a:rPr lang="de-DE" sz="2400" dirty="0" err="1">
                <a:solidFill>
                  <a:schemeClr val="bg1"/>
                </a:solidFill>
              </a:rPr>
              <a:t>or</a:t>
            </a:r>
            <a:r>
              <a:rPr lang="de-DE" sz="2400" dirty="0">
                <a:solidFill>
                  <a:schemeClr val="bg1"/>
                </a:solidFill>
              </a:rPr>
              <a:t> </a:t>
            </a:r>
            <a:r>
              <a:rPr lang="de-DE" sz="2400" dirty="0" err="1">
                <a:solidFill>
                  <a:schemeClr val="bg1"/>
                </a:solidFill>
              </a:rPr>
              <a:t>mean</a:t>
            </a:r>
            <a:r>
              <a:rPr lang="de-DE" sz="2400" dirty="0">
                <a:solidFill>
                  <a:schemeClr val="bg1"/>
                </a:solidFill>
              </a:rPr>
              <a:t>) score</a:t>
            </a:r>
          </a:p>
          <a:p>
            <a:endParaRPr lang="de-DE" sz="2400" dirty="0">
              <a:solidFill>
                <a:schemeClr val="bg1"/>
              </a:solidFill>
            </a:endParaRPr>
          </a:p>
          <a:p>
            <a:r>
              <a:rPr lang="de-DE" sz="2400" dirty="0">
                <a:solidFill>
                  <a:schemeClr val="bg1"/>
                </a:solidFill>
              </a:rPr>
              <a:t>Split-half </a:t>
            </a:r>
            <a:r>
              <a:rPr lang="de-DE" sz="2400" dirty="0" err="1">
                <a:solidFill>
                  <a:schemeClr val="bg1"/>
                </a:solidFill>
              </a:rPr>
              <a:t>reliability</a:t>
            </a:r>
            <a:endParaRPr lang="de-DE" sz="2400" dirty="0">
              <a:solidFill>
                <a:schemeClr val="bg1"/>
              </a:solidFill>
            </a:endParaRPr>
          </a:p>
          <a:p>
            <a:endParaRPr lang="de-DE" sz="2400" dirty="0">
              <a:solidFill>
                <a:schemeClr val="bg1"/>
              </a:solidFill>
            </a:endParaRPr>
          </a:p>
          <a:p>
            <a:r>
              <a:rPr lang="de-DE" sz="2400" dirty="0">
                <a:solidFill>
                  <a:schemeClr val="bg1"/>
                </a:solidFill>
              </a:rPr>
              <a:t>Little </a:t>
            </a:r>
            <a:r>
              <a:rPr lang="de-DE" sz="2400" dirty="0" err="1">
                <a:solidFill>
                  <a:schemeClr val="bg1"/>
                </a:solidFill>
              </a:rPr>
              <a:t>validity</a:t>
            </a:r>
            <a:r>
              <a:rPr lang="de-DE" sz="2400" dirty="0">
                <a:solidFill>
                  <a:schemeClr val="bg1"/>
                </a:solidFill>
              </a:rPr>
              <a:t> </a:t>
            </a:r>
            <a:r>
              <a:rPr lang="de-DE" sz="2400" dirty="0" err="1">
                <a:solidFill>
                  <a:schemeClr val="bg1"/>
                </a:solidFill>
              </a:rPr>
              <a:t>evidence</a:t>
            </a:r>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83428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Beyond the textbook: Adapting models to theories</a:t>
            </a:r>
          </a:p>
        </p:txBody>
      </p:sp>
      <p:sp>
        <p:nvSpPr>
          <p:cNvPr id="3" name="Untertitel 2"/>
          <p:cNvSpPr>
            <a:spLocks noGrp="1"/>
          </p:cNvSpPr>
          <p:nvPr>
            <p:ph type="subTitle" idx="1"/>
          </p:nvPr>
        </p:nvSpPr>
        <p:spPr>
          <a:xfrm>
            <a:off x="195941" y="294482"/>
            <a:ext cx="1687285" cy="1655762"/>
          </a:xfrm>
        </p:spPr>
        <p:txBody>
          <a:bodyPr/>
          <a:lstStyle/>
          <a:p>
            <a:r>
              <a:rPr lang="en-US" dirty="0">
                <a:solidFill>
                  <a:schemeClr val="bg2">
                    <a:lumMod val="50000"/>
                  </a:schemeClr>
                </a:solidFill>
              </a:rPr>
              <a:t>Yesterday</a:t>
            </a:r>
          </a:p>
          <a:p>
            <a:r>
              <a:rPr lang="en-US" b="1" dirty="0">
                <a:solidFill>
                  <a:schemeClr val="bg1"/>
                </a:solidFill>
              </a:rPr>
              <a:t>Today</a:t>
            </a:r>
          </a:p>
          <a:p>
            <a:r>
              <a:rPr lang="en-US" dirty="0">
                <a:solidFill>
                  <a:schemeClr val="bg2">
                    <a:lumMod val="50000"/>
                  </a:schemeClr>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1938992"/>
          </a:xfrm>
          <a:prstGeom prst="rect">
            <a:avLst/>
          </a:prstGeom>
          <a:noFill/>
        </p:spPr>
        <p:txBody>
          <a:bodyPr wrap="square" rtlCol="0">
            <a:spAutoFit/>
          </a:bodyPr>
          <a:lstStyle/>
          <a:p>
            <a:r>
              <a:rPr lang="de-DE" sz="2400" dirty="0" err="1">
                <a:solidFill>
                  <a:schemeClr val="bg1"/>
                </a:solidFill>
              </a:rPr>
              <a:t>Abandoning</a:t>
            </a:r>
            <a:r>
              <a:rPr lang="de-DE" sz="2400" dirty="0">
                <a:solidFill>
                  <a:schemeClr val="bg1"/>
                </a:solidFill>
              </a:rPr>
              <a:t> </a:t>
            </a:r>
            <a:r>
              <a:rPr lang="de-DE" sz="2400" dirty="0" err="1">
                <a:solidFill>
                  <a:schemeClr val="bg1"/>
                </a:solidFill>
              </a:rPr>
              <a:t>Cronbach`s</a:t>
            </a:r>
            <a:r>
              <a:rPr lang="de-DE" sz="2400" dirty="0">
                <a:solidFill>
                  <a:schemeClr val="bg1"/>
                </a:solidFill>
              </a:rPr>
              <a:t> Alpha</a:t>
            </a:r>
          </a:p>
          <a:p>
            <a:endParaRPr lang="de-DE" sz="2400" dirty="0">
              <a:solidFill>
                <a:schemeClr val="bg1"/>
              </a:solidFill>
            </a:endParaRPr>
          </a:p>
          <a:p>
            <a:r>
              <a:rPr lang="de-DE" sz="2400" dirty="0" err="1">
                <a:solidFill>
                  <a:schemeClr val="bg1"/>
                </a:solidFill>
              </a:rPr>
              <a:t>Abandoning</a:t>
            </a:r>
            <a:r>
              <a:rPr lang="de-DE" sz="2400" dirty="0">
                <a:solidFill>
                  <a:schemeClr val="bg1"/>
                </a:solidFill>
              </a:rPr>
              <a:t> </a:t>
            </a:r>
            <a:r>
              <a:rPr lang="de-DE" sz="2400" dirty="0" err="1">
                <a:solidFill>
                  <a:schemeClr val="bg1"/>
                </a:solidFill>
              </a:rPr>
              <a:t>measurement</a:t>
            </a:r>
            <a:r>
              <a:rPr lang="de-DE" sz="2400" dirty="0">
                <a:solidFill>
                  <a:schemeClr val="bg1"/>
                </a:solidFill>
              </a:rPr>
              <a:t> </a:t>
            </a:r>
            <a:r>
              <a:rPr lang="de-DE" sz="2400" dirty="0" err="1">
                <a:solidFill>
                  <a:schemeClr val="bg1"/>
                </a:solidFill>
              </a:rPr>
              <a:t>invariance</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7938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656532" y="194910"/>
            <a:ext cx="10139499" cy="1265237"/>
          </a:xfrm>
        </p:spPr>
        <p:txBody>
          <a:bodyPr>
            <a:noAutofit/>
          </a:bodyPr>
          <a:lstStyle/>
          <a:p>
            <a:r>
              <a:rPr lang="en-US" sz="4000" dirty="0">
                <a:solidFill>
                  <a:schemeClr val="bg1"/>
                </a:solidFill>
              </a:rPr>
              <a:t>Beyond the textbook: Adapting models to theories</a:t>
            </a:r>
          </a:p>
        </p:txBody>
      </p:sp>
      <p:sp>
        <p:nvSpPr>
          <p:cNvPr id="3" name="Untertitel 2"/>
          <p:cNvSpPr>
            <a:spLocks noGrp="1"/>
          </p:cNvSpPr>
          <p:nvPr>
            <p:ph type="subTitle" idx="1"/>
          </p:nvPr>
        </p:nvSpPr>
        <p:spPr>
          <a:xfrm>
            <a:off x="195941" y="294482"/>
            <a:ext cx="1687285" cy="1655762"/>
          </a:xfrm>
        </p:spPr>
        <p:txBody>
          <a:bodyPr/>
          <a:lstStyle/>
          <a:p>
            <a:r>
              <a:rPr lang="en-US" dirty="0">
                <a:solidFill>
                  <a:schemeClr val="bg2">
                    <a:lumMod val="50000"/>
                  </a:schemeClr>
                </a:solidFill>
              </a:rPr>
              <a:t>Yesterday</a:t>
            </a:r>
          </a:p>
          <a:p>
            <a:r>
              <a:rPr lang="en-US" dirty="0">
                <a:solidFill>
                  <a:schemeClr val="bg2">
                    <a:lumMod val="50000"/>
                  </a:schemeClr>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feld 3">
            <a:extLst>
              <a:ext uri="{FF2B5EF4-FFF2-40B4-BE49-F238E27FC236}">
                <a16:creationId xmlns:a16="http://schemas.microsoft.com/office/drawing/2014/main" id="{7A72C6DF-2007-4DA4-8CE7-50C7B90E1FC7}"/>
              </a:ext>
            </a:extLst>
          </p:cNvPr>
          <p:cNvSpPr txBox="1"/>
          <p:nvPr/>
        </p:nvSpPr>
        <p:spPr>
          <a:xfrm>
            <a:off x="582383" y="2525982"/>
            <a:ext cx="8675917" cy="1938992"/>
          </a:xfrm>
          <a:prstGeom prst="rect">
            <a:avLst/>
          </a:prstGeom>
          <a:noFill/>
        </p:spPr>
        <p:txBody>
          <a:bodyPr wrap="square" rtlCol="0">
            <a:spAutoFit/>
          </a:bodyPr>
          <a:lstStyle/>
          <a:p>
            <a:r>
              <a:rPr lang="de-DE" sz="2400" dirty="0" err="1">
                <a:solidFill>
                  <a:schemeClr val="bg1"/>
                </a:solidFill>
              </a:rPr>
              <a:t>Abandoning</a:t>
            </a:r>
            <a:r>
              <a:rPr lang="de-DE" sz="2400" dirty="0">
                <a:solidFill>
                  <a:schemeClr val="bg1"/>
                </a:solidFill>
              </a:rPr>
              <a:t> </a:t>
            </a:r>
            <a:r>
              <a:rPr lang="de-DE" sz="2400" dirty="0" err="1">
                <a:solidFill>
                  <a:schemeClr val="bg1"/>
                </a:solidFill>
              </a:rPr>
              <a:t>Cronbach`s</a:t>
            </a:r>
            <a:r>
              <a:rPr lang="de-DE" sz="2400" dirty="0">
                <a:solidFill>
                  <a:schemeClr val="bg1"/>
                </a:solidFill>
              </a:rPr>
              <a:t> Alpha</a:t>
            </a:r>
          </a:p>
          <a:p>
            <a:endParaRPr lang="de-DE" sz="2400" dirty="0">
              <a:solidFill>
                <a:schemeClr val="bg1"/>
              </a:solidFill>
            </a:endParaRPr>
          </a:p>
          <a:p>
            <a:r>
              <a:rPr lang="de-DE" sz="2400" dirty="0" err="1">
                <a:solidFill>
                  <a:schemeClr val="bg1"/>
                </a:solidFill>
              </a:rPr>
              <a:t>Abandoning</a:t>
            </a:r>
            <a:r>
              <a:rPr lang="de-DE" sz="2400" dirty="0">
                <a:solidFill>
                  <a:schemeClr val="bg1"/>
                </a:solidFill>
              </a:rPr>
              <a:t> </a:t>
            </a:r>
            <a:r>
              <a:rPr lang="de-DE" sz="2400" dirty="0" err="1">
                <a:solidFill>
                  <a:schemeClr val="bg1"/>
                </a:solidFill>
              </a:rPr>
              <a:t>measurement</a:t>
            </a:r>
            <a:r>
              <a:rPr lang="de-DE" sz="2400" dirty="0">
                <a:solidFill>
                  <a:schemeClr val="bg1"/>
                </a:solidFill>
              </a:rPr>
              <a:t> </a:t>
            </a:r>
            <a:r>
              <a:rPr lang="de-DE" sz="2400" dirty="0" err="1">
                <a:solidFill>
                  <a:schemeClr val="bg1"/>
                </a:solidFill>
              </a:rPr>
              <a:t>invariance</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p:txBody>
      </p:sp>
      <p:sp>
        <p:nvSpPr>
          <p:cNvPr id="19" name="Rechteck 18">
            <a:extLst>
              <a:ext uri="{FF2B5EF4-FFF2-40B4-BE49-F238E27FC236}">
                <a16:creationId xmlns:a16="http://schemas.microsoft.com/office/drawing/2014/main" id="{CC551701-5704-4430-8C2C-71C36E46816E}"/>
              </a:ext>
            </a:extLst>
          </p:cNvPr>
          <p:cNvSpPr/>
          <p:nvPr/>
        </p:nvSpPr>
        <p:spPr>
          <a:xfrm>
            <a:off x="6340727" y="5568043"/>
            <a:ext cx="1460448" cy="8490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Item </a:t>
            </a:r>
            <a:r>
              <a:rPr lang="de-DE" dirty="0" err="1"/>
              <a:t>response</a:t>
            </a:r>
            <a:r>
              <a:rPr lang="de-DE" dirty="0"/>
              <a:t>(s)</a:t>
            </a:r>
          </a:p>
        </p:txBody>
      </p:sp>
      <p:sp>
        <p:nvSpPr>
          <p:cNvPr id="20" name="Ellipse 19">
            <a:extLst>
              <a:ext uri="{FF2B5EF4-FFF2-40B4-BE49-F238E27FC236}">
                <a16:creationId xmlns:a16="http://schemas.microsoft.com/office/drawing/2014/main" id="{7696A3F9-0305-4F68-88F2-C1A862FAC036}"/>
              </a:ext>
            </a:extLst>
          </p:cNvPr>
          <p:cNvSpPr/>
          <p:nvPr/>
        </p:nvSpPr>
        <p:spPr>
          <a:xfrm>
            <a:off x="6096000" y="3429000"/>
            <a:ext cx="1949902" cy="84908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Knowledge</a:t>
            </a:r>
          </a:p>
        </p:txBody>
      </p:sp>
      <p:cxnSp>
        <p:nvCxnSpPr>
          <p:cNvPr id="22" name="Gerade Verbindung mit Pfeil 21">
            <a:extLst>
              <a:ext uri="{FF2B5EF4-FFF2-40B4-BE49-F238E27FC236}">
                <a16:creationId xmlns:a16="http://schemas.microsoft.com/office/drawing/2014/main" id="{62EE7679-CADC-4AB2-BA90-441D8BAC9402}"/>
              </a:ext>
            </a:extLst>
          </p:cNvPr>
          <p:cNvCxnSpPr>
            <a:cxnSpLocks/>
            <a:stCxn id="20" idx="4"/>
            <a:endCxn id="19" idx="0"/>
          </p:cNvCxnSpPr>
          <p:nvPr/>
        </p:nvCxnSpPr>
        <p:spPr>
          <a:xfrm>
            <a:off x="7070951" y="4278086"/>
            <a:ext cx="0" cy="12899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8609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hteck 8">
            <a:extLst>
              <a:ext uri="{FF2B5EF4-FFF2-40B4-BE49-F238E27FC236}">
                <a16:creationId xmlns:a16="http://schemas.microsoft.com/office/drawing/2014/main" id="{AD9EC4AB-F302-4CA2-95B7-123AC1C5F26C}"/>
              </a:ext>
            </a:extLst>
          </p:cNvPr>
          <p:cNvSpPr/>
          <p:nvPr/>
        </p:nvSpPr>
        <p:spPr>
          <a:xfrm>
            <a:off x="2781299" y="2939144"/>
            <a:ext cx="1828800" cy="94705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accent1">
                    <a:lumMod val="75000"/>
                  </a:schemeClr>
                </a:solidFill>
              </a:rPr>
              <a:t>Pretest</a:t>
            </a:r>
          </a:p>
        </p:txBody>
      </p:sp>
      <p:sp>
        <p:nvSpPr>
          <p:cNvPr id="10" name="Rechteck 9">
            <a:extLst>
              <a:ext uri="{FF2B5EF4-FFF2-40B4-BE49-F238E27FC236}">
                <a16:creationId xmlns:a16="http://schemas.microsoft.com/office/drawing/2014/main" id="{58F43036-6E28-4EBA-87D1-06250F2616BB}"/>
              </a:ext>
            </a:extLst>
          </p:cNvPr>
          <p:cNvSpPr/>
          <p:nvPr/>
        </p:nvSpPr>
        <p:spPr>
          <a:xfrm>
            <a:off x="7581901" y="2955471"/>
            <a:ext cx="1828800" cy="94705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t>Posttest</a:t>
            </a:r>
          </a:p>
        </p:txBody>
      </p:sp>
      <p:sp>
        <p:nvSpPr>
          <p:cNvPr id="11" name="Ellipse 10">
            <a:extLst>
              <a:ext uri="{FF2B5EF4-FFF2-40B4-BE49-F238E27FC236}">
                <a16:creationId xmlns:a16="http://schemas.microsoft.com/office/drawing/2014/main" id="{FFB92932-62E6-4A31-9D46-C59AAD8C5618}"/>
              </a:ext>
            </a:extLst>
          </p:cNvPr>
          <p:cNvSpPr/>
          <p:nvPr/>
        </p:nvSpPr>
        <p:spPr>
          <a:xfrm>
            <a:off x="7581901" y="4604657"/>
            <a:ext cx="1828800" cy="130628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t>Change</a:t>
            </a:r>
          </a:p>
        </p:txBody>
      </p:sp>
      <p:cxnSp>
        <p:nvCxnSpPr>
          <p:cNvPr id="13" name="Gerade Verbindung mit Pfeil 12">
            <a:extLst>
              <a:ext uri="{FF2B5EF4-FFF2-40B4-BE49-F238E27FC236}">
                <a16:creationId xmlns:a16="http://schemas.microsoft.com/office/drawing/2014/main" id="{0B8F9E23-7252-4BCF-988D-19231FE46503}"/>
              </a:ext>
            </a:extLst>
          </p:cNvPr>
          <p:cNvCxnSpPr>
            <a:stCxn id="11" idx="0"/>
            <a:endCxn id="10" idx="2"/>
          </p:cNvCxnSpPr>
          <p:nvPr/>
        </p:nvCxnSpPr>
        <p:spPr>
          <a:xfrm flipV="1">
            <a:off x="8496301" y="3902528"/>
            <a:ext cx="0" cy="70212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28FB9D92-2A42-49DD-9879-7339B58D91D4}"/>
              </a:ext>
            </a:extLst>
          </p:cNvPr>
          <p:cNvCxnSpPr>
            <a:cxnSpLocks/>
            <a:stCxn id="9" idx="3"/>
            <a:endCxn id="10" idx="1"/>
          </p:cNvCxnSpPr>
          <p:nvPr/>
        </p:nvCxnSpPr>
        <p:spPr>
          <a:xfrm>
            <a:off x="4610099" y="3412673"/>
            <a:ext cx="2971802" cy="1632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9BB3025A-7E55-4F4A-B7D9-46D57B667952}"/>
              </a:ext>
            </a:extLst>
          </p:cNvPr>
          <p:cNvSpPr txBox="1"/>
          <p:nvPr/>
        </p:nvSpPr>
        <p:spPr>
          <a:xfrm>
            <a:off x="499110" y="1606249"/>
            <a:ext cx="5799909" cy="1569660"/>
          </a:xfrm>
          <a:prstGeom prst="rect">
            <a:avLst/>
          </a:prstGeom>
          <a:noFill/>
        </p:spPr>
        <p:txBody>
          <a:bodyPr wrap="square" rtlCol="0">
            <a:spAutoFit/>
          </a:bodyPr>
          <a:lstStyle/>
          <a:p>
            <a:r>
              <a:rPr lang="de-DE" sz="2400" dirty="0">
                <a:solidFill>
                  <a:schemeClr val="bg1"/>
                </a:solidFill>
              </a:rPr>
              <a:t>(1) </a:t>
            </a:r>
            <a:r>
              <a:rPr lang="de-DE" sz="2400" i="1" dirty="0" err="1">
                <a:solidFill>
                  <a:schemeClr val="bg1"/>
                </a:solidFill>
              </a:rPr>
              <a:t>What</a:t>
            </a:r>
            <a:r>
              <a:rPr lang="de-DE" sz="2400" i="1" dirty="0">
                <a:solidFill>
                  <a:schemeClr val="bg1"/>
                </a:solidFill>
              </a:rPr>
              <a:t> </a:t>
            </a:r>
            <a:r>
              <a:rPr lang="de-DE" sz="2400" i="1" dirty="0" err="1">
                <a:solidFill>
                  <a:schemeClr val="bg1"/>
                </a:solidFill>
              </a:rPr>
              <a:t>are</a:t>
            </a:r>
            <a:r>
              <a:rPr lang="de-DE" sz="2400" i="1" dirty="0">
                <a:solidFill>
                  <a:schemeClr val="bg1"/>
                </a:solidFill>
              </a:rPr>
              <a:t> </a:t>
            </a:r>
            <a:r>
              <a:rPr lang="de-DE" sz="2400" i="1" dirty="0" err="1">
                <a:solidFill>
                  <a:schemeClr val="bg1"/>
                </a:solidFill>
              </a:rPr>
              <a:t>the</a:t>
            </a:r>
            <a:r>
              <a:rPr lang="de-DE" sz="2400" i="1" dirty="0">
                <a:solidFill>
                  <a:schemeClr val="bg1"/>
                </a:solidFill>
              </a:rPr>
              <a:t> </a:t>
            </a:r>
            <a:r>
              <a:rPr lang="de-DE" sz="2400" i="1" dirty="0" err="1">
                <a:solidFill>
                  <a:schemeClr val="bg1"/>
                </a:solidFill>
              </a:rPr>
              <a:t>characteristics</a:t>
            </a:r>
            <a:r>
              <a:rPr lang="de-DE" sz="2400" i="1" dirty="0">
                <a:solidFill>
                  <a:schemeClr val="bg1"/>
                </a:solidFill>
              </a:rPr>
              <a:t> </a:t>
            </a:r>
            <a:r>
              <a:rPr lang="de-DE" sz="2400" i="1" dirty="0" err="1">
                <a:solidFill>
                  <a:schemeClr val="bg1"/>
                </a:solidFill>
              </a:rPr>
              <a:t>of</a:t>
            </a:r>
            <a:r>
              <a:rPr lang="de-DE" sz="2400" i="1" dirty="0">
                <a:solidFill>
                  <a:schemeClr val="bg1"/>
                </a:solidFill>
              </a:rPr>
              <a:t> </a:t>
            </a:r>
            <a:r>
              <a:rPr lang="de-DE" sz="2400" i="1" dirty="0" err="1">
                <a:solidFill>
                  <a:schemeClr val="bg1"/>
                </a:solidFill>
              </a:rPr>
              <a:t>learners</a:t>
            </a:r>
            <a:r>
              <a:rPr lang="de-DE" sz="2400" i="1" dirty="0">
                <a:solidFill>
                  <a:schemeClr val="bg1"/>
                </a:solidFill>
              </a:rPr>
              <a:t>` </a:t>
            </a:r>
            <a:r>
              <a:rPr lang="de-DE" sz="2400" i="1" dirty="0">
                <a:solidFill>
                  <a:schemeClr val="accent1">
                    <a:lumMod val="75000"/>
                  </a:schemeClr>
                </a:solidFill>
              </a:rPr>
              <a:t>initial </a:t>
            </a:r>
            <a:r>
              <a:rPr lang="de-DE" sz="2400" i="1" dirty="0" err="1">
                <a:solidFill>
                  <a:schemeClr val="accent1">
                    <a:lumMod val="75000"/>
                  </a:schemeClr>
                </a:solidFill>
              </a:rPr>
              <a:t>knowledge</a:t>
            </a:r>
            <a:r>
              <a:rPr lang="de-DE" sz="2400" i="1" dirty="0">
                <a:solidFill>
                  <a:schemeClr val="accent1">
                    <a:lumMod val="75000"/>
                  </a:schemeClr>
                </a:solidFill>
              </a:rPr>
              <a:t> </a:t>
            </a:r>
            <a:r>
              <a:rPr lang="de-DE" sz="2400" i="1" dirty="0" err="1">
                <a:solidFill>
                  <a:schemeClr val="bg1"/>
                </a:solidFill>
              </a:rPr>
              <a:t>before</a:t>
            </a:r>
            <a:r>
              <a:rPr lang="de-DE" sz="2400" i="1" dirty="0">
                <a:solidFill>
                  <a:schemeClr val="bg1"/>
                </a:solidFill>
              </a:rPr>
              <a:t> </a:t>
            </a:r>
            <a:r>
              <a:rPr lang="de-DE" sz="2400" i="1" dirty="0" err="1">
                <a:solidFill>
                  <a:schemeClr val="bg1"/>
                </a:solidFill>
              </a:rPr>
              <a:t>they</a:t>
            </a:r>
            <a:r>
              <a:rPr lang="de-DE" sz="2400" i="1" dirty="0">
                <a:solidFill>
                  <a:schemeClr val="bg1"/>
                </a:solidFill>
              </a:rPr>
              <a:t> </a:t>
            </a:r>
            <a:r>
              <a:rPr lang="de-DE" sz="2400" i="1" dirty="0" err="1">
                <a:solidFill>
                  <a:schemeClr val="bg1"/>
                </a:solidFill>
              </a:rPr>
              <a:t>undergo</a:t>
            </a:r>
            <a:r>
              <a:rPr lang="de-DE" sz="2400" i="1" dirty="0">
                <a:solidFill>
                  <a:schemeClr val="bg1"/>
                </a:solidFill>
              </a:rPr>
              <a:t> </a:t>
            </a:r>
            <a:r>
              <a:rPr lang="de-DE" sz="2400" i="1" dirty="0" err="1">
                <a:solidFill>
                  <a:schemeClr val="bg1"/>
                </a:solidFill>
              </a:rPr>
              <a:t>instruction</a:t>
            </a:r>
            <a:r>
              <a:rPr lang="de-DE" sz="2400" i="1" dirty="0">
                <a:solidFill>
                  <a:schemeClr val="bg1"/>
                </a:solidFill>
              </a:rPr>
              <a:t>, </a:t>
            </a:r>
            <a:r>
              <a:rPr lang="de-DE" sz="2400" i="1" dirty="0" err="1">
                <a:solidFill>
                  <a:schemeClr val="bg1"/>
                </a:solidFill>
              </a:rPr>
              <a:t>learning</a:t>
            </a:r>
            <a:r>
              <a:rPr lang="de-DE" sz="2400" i="1" dirty="0">
                <a:solidFill>
                  <a:schemeClr val="bg1"/>
                </a:solidFill>
              </a:rPr>
              <a:t>, </a:t>
            </a:r>
            <a:r>
              <a:rPr lang="de-DE" sz="2400" i="1" dirty="0" err="1">
                <a:solidFill>
                  <a:schemeClr val="bg1"/>
                </a:solidFill>
              </a:rPr>
              <a:t>or</a:t>
            </a:r>
            <a:r>
              <a:rPr lang="de-DE" sz="2400" i="1" dirty="0">
                <a:solidFill>
                  <a:schemeClr val="bg1"/>
                </a:solidFill>
              </a:rPr>
              <a:t> </a:t>
            </a:r>
            <a:r>
              <a:rPr lang="de-DE" sz="2400" i="1" dirty="0" err="1">
                <a:solidFill>
                  <a:schemeClr val="bg1"/>
                </a:solidFill>
              </a:rPr>
              <a:t>development</a:t>
            </a:r>
            <a:r>
              <a:rPr lang="de-DE" sz="2400" i="1" dirty="0">
                <a:solidFill>
                  <a:schemeClr val="bg1"/>
                </a:solidFill>
              </a:rPr>
              <a:t>?</a:t>
            </a:r>
          </a:p>
        </p:txBody>
      </p:sp>
      <p:sp>
        <p:nvSpPr>
          <p:cNvPr id="23" name="Textfeld 22">
            <a:extLst>
              <a:ext uri="{FF2B5EF4-FFF2-40B4-BE49-F238E27FC236}">
                <a16:creationId xmlns:a16="http://schemas.microsoft.com/office/drawing/2014/main" id="{EA960C18-D5A7-4FB1-AAE9-3A8B17A8BA9F}"/>
              </a:ext>
            </a:extLst>
          </p:cNvPr>
          <p:cNvSpPr txBox="1"/>
          <p:nvPr/>
        </p:nvSpPr>
        <p:spPr>
          <a:xfrm>
            <a:off x="6542859" y="1600200"/>
            <a:ext cx="5649141" cy="1200329"/>
          </a:xfrm>
          <a:prstGeom prst="rect">
            <a:avLst/>
          </a:prstGeom>
          <a:noFill/>
        </p:spPr>
        <p:txBody>
          <a:bodyPr wrap="square" rtlCol="0">
            <a:spAutoFit/>
          </a:bodyPr>
          <a:lstStyle/>
          <a:p>
            <a:r>
              <a:rPr lang="de-DE" sz="2400" dirty="0">
                <a:solidFill>
                  <a:schemeClr val="bg1"/>
                </a:solidFill>
              </a:rPr>
              <a:t>(2) </a:t>
            </a:r>
            <a:r>
              <a:rPr lang="de-DE" sz="2400" i="1" dirty="0" err="1">
                <a:solidFill>
                  <a:schemeClr val="bg1"/>
                </a:solidFill>
              </a:rPr>
              <a:t>How</a:t>
            </a:r>
            <a:r>
              <a:rPr lang="de-DE" sz="2400" i="1" dirty="0">
                <a:solidFill>
                  <a:schemeClr val="bg1"/>
                </a:solidFill>
              </a:rPr>
              <a:t> </a:t>
            </a:r>
            <a:r>
              <a:rPr lang="de-DE" sz="2400" i="1" dirty="0" err="1">
                <a:solidFill>
                  <a:schemeClr val="bg1"/>
                </a:solidFill>
              </a:rPr>
              <a:t>does</a:t>
            </a:r>
            <a:r>
              <a:rPr lang="de-DE" sz="2400" i="1" dirty="0">
                <a:solidFill>
                  <a:schemeClr val="bg1"/>
                </a:solidFill>
              </a:rPr>
              <a:t> </a:t>
            </a:r>
            <a:r>
              <a:rPr lang="de-DE" sz="2400" i="1" dirty="0" err="1">
                <a:solidFill>
                  <a:schemeClr val="bg1"/>
                </a:solidFill>
              </a:rPr>
              <a:t>learners</a:t>
            </a:r>
            <a:r>
              <a:rPr lang="de-DE" sz="2400" i="1" dirty="0">
                <a:solidFill>
                  <a:schemeClr val="bg1"/>
                </a:solidFill>
              </a:rPr>
              <a:t>` </a:t>
            </a:r>
            <a:r>
              <a:rPr lang="de-DE" sz="2400" i="1" dirty="0" err="1">
                <a:solidFill>
                  <a:schemeClr val="bg1"/>
                </a:solidFill>
              </a:rPr>
              <a:t>knowledge</a:t>
            </a:r>
            <a:r>
              <a:rPr lang="de-DE" sz="2400" i="1" dirty="0">
                <a:solidFill>
                  <a:schemeClr val="bg1"/>
                </a:solidFill>
              </a:rPr>
              <a:t> after </a:t>
            </a:r>
            <a:r>
              <a:rPr lang="de-DE" sz="2400" i="1" dirty="0" err="1">
                <a:solidFill>
                  <a:schemeClr val="bg1"/>
                </a:solidFill>
              </a:rPr>
              <a:t>instruction</a:t>
            </a:r>
            <a:r>
              <a:rPr lang="de-DE" sz="2400" i="1" dirty="0">
                <a:solidFill>
                  <a:schemeClr val="bg1"/>
                </a:solidFill>
              </a:rPr>
              <a:t>, </a:t>
            </a:r>
            <a:r>
              <a:rPr lang="de-DE" sz="2400" i="1" dirty="0" err="1">
                <a:solidFill>
                  <a:schemeClr val="bg1"/>
                </a:solidFill>
              </a:rPr>
              <a:t>learning</a:t>
            </a:r>
            <a:r>
              <a:rPr lang="de-DE" sz="2400" i="1" dirty="0">
                <a:solidFill>
                  <a:schemeClr val="bg1"/>
                </a:solidFill>
              </a:rPr>
              <a:t>, </a:t>
            </a:r>
            <a:r>
              <a:rPr lang="de-DE" sz="2400" i="1" dirty="0" err="1">
                <a:solidFill>
                  <a:schemeClr val="bg1"/>
                </a:solidFill>
              </a:rPr>
              <a:t>or</a:t>
            </a:r>
            <a:r>
              <a:rPr lang="de-DE" sz="2400" i="1" dirty="0">
                <a:solidFill>
                  <a:schemeClr val="bg1"/>
                </a:solidFill>
              </a:rPr>
              <a:t> </a:t>
            </a:r>
            <a:r>
              <a:rPr lang="de-DE" sz="2400" i="1" dirty="0" err="1">
                <a:solidFill>
                  <a:schemeClr val="bg1"/>
                </a:solidFill>
              </a:rPr>
              <a:t>development</a:t>
            </a:r>
            <a:r>
              <a:rPr lang="de-DE" sz="2400" i="1" dirty="0">
                <a:solidFill>
                  <a:schemeClr val="bg1"/>
                </a:solidFill>
              </a:rPr>
              <a:t> </a:t>
            </a:r>
            <a:r>
              <a:rPr lang="de-DE" sz="2400" i="1" dirty="0" err="1">
                <a:solidFill>
                  <a:schemeClr val="bg1"/>
                </a:solidFill>
              </a:rPr>
              <a:t>differ</a:t>
            </a:r>
            <a:r>
              <a:rPr lang="de-DE" sz="2400" i="1" dirty="0">
                <a:solidFill>
                  <a:schemeClr val="bg1"/>
                </a:solidFill>
              </a:rPr>
              <a:t> </a:t>
            </a:r>
            <a:r>
              <a:rPr lang="de-DE" sz="2400" i="1" dirty="0" err="1">
                <a:solidFill>
                  <a:schemeClr val="bg1"/>
                </a:solidFill>
              </a:rPr>
              <a:t>from</a:t>
            </a:r>
            <a:r>
              <a:rPr lang="de-DE" sz="2400" i="1" dirty="0">
                <a:solidFill>
                  <a:schemeClr val="bg1"/>
                </a:solidFill>
              </a:rPr>
              <a:t> </a:t>
            </a:r>
            <a:r>
              <a:rPr lang="de-DE" sz="2400" i="1" dirty="0" err="1">
                <a:solidFill>
                  <a:schemeClr val="bg1"/>
                </a:solidFill>
              </a:rPr>
              <a:t>their</a:t>
            </a:r>
            <a:r>
              <a:rPr lang="de-DE" sz="2400" i="1" dirty="0">
                <a:solidFill>
                  <a:schemeClr val="bg1"/>
                </a:solidFill>
              </a:rPr>
              <a:t> initial </a:t>
            </a:r>
            <a:r>
              <a:rPr lang="de-DE" sz="2400" i="1" dirty="0" err="1">
                <a:solidFill>
                  <a:schemeClr val="bg1"/>
                </a:solidFill>
              </a:rPr>
              <a:t>knowledge</a:t>
            </a:r>
            <a:r>
              <a:rPr lang="de-DE" sz="2400" i="1" dirty="0">
                <a:solidFill>
                  <a:schemeClr val="bg1"/>
                </a:solidFill>
              </a:rPr>
              <a:t>?</a:t>
            </a:r>
          </a:p>
        </p:txBody>
      </p:sp>
      <p:sp>
        <p:nvSpPr>
          <p:cNvPr id="24" name="Textfeld 23">
            <a:extLst>
              <a:ext uri="{FF2B5EF4-FFF2-40B4-BE49-F238E27FC236}">
                <a16:creationId xmlns:a16="http://schemas.microsoft.com/office/drawing/2014/main" id="{F6605ABB-9451-4FE2-86E9-B344E32BC51F}"/>
              </a:ext>
            </a:extLst>
          </p:cNvPr>
          <p:cNvSpPr txBox="1"/>
          <p:nvPr/>
        </p:nvSpPr>
        <p:spPr>
          <a:xfrm>
            <a:off x="2781299" y="4836252"/>
            <a:ext cx="5649141" cy="830997"/>
          </a:xfrm>
          <a:prstGeom prst="rect">
            <a:avLst/>
          </a:prstGeom>
          <a:noFill/>
        </p:spPr>
        <p:txBody>
          <a:bodyPr wrap="square" rtlCol="0">
            <a:spAutoFit/>
          </a:bodyPr>
          <a:lstStyle/>
          <a:p>
            <a:r>
              <a:rPr lang="de-DE" sz="2400" dirty="0">
                <a:solidFill>
                  <a:schemeClr val="bg1"/>
                </a:solidFill>
              </a:rPr>
              <a:t>(3) </a:t>
            </a:r>
            <a:r>
              <a:rPr lang="de-DE" sz="2400" i="1" dirty="0" err="1">
                <a:solidFill>
                  <a:schemeClr val="bg1"/>
                </a:solidFill>
              </a:rPr>
              <a:t>What</a:t>
            </a:r>
            <a:r>
              <a:rPr lang="de-DE" sz="2400" i="1" dirty="0">
                <a:solidFill>
                  <a:schemeClr val="bg1"/>
                </a:solidFill>
              </a:rPr>
              <a:t> </a:t>
            </a:r>
            <a:r>
              <a:rPr lang="de-DE" sz="2400" i="1" dirty="0" err="1">
                <a:solidFill>
                  <a:schemeClr val="bg1"/>
                </a:solidFill>
              </a:rPr>
              <a:t>are</a:t>
            </a:r>
            <a:r>
              <a:rPr lang="de-DE" sz="2400" i="1" dirty="0">
                <a:solidFill>
                  <a:schemeClr val="bg1"/>
                </a:solidFill>
              </a:rPr>
              <a:t> </a:t>
            </a:r>
            <a:r>
              <a:rPr lang="de-DE" sz="2400" i="1" dirty="0" err="1">
                <a:solidFill>
                  <a:schemeClr val="bg1"/>
                </a:solidFill>
              </a:rPr>
              <a:t>the</a:t>
            </a:r>
            <a:r>
              <a:rPr lang="de-DE" sz="2400" i="1" dirty="0">
                <a:solidFill>
                  <a:schemeClr val="bg1"/>
                </a:solidFill>
              </a:rPr>
              <a:t> </a:t>
            </a:r>
            <a:r>
              <a:rPr lang="de-DE" sz="2400" i="1" dirty="0" err="1">
                <a:solidFill>
                  <a:schemeClr val="bg1"/>
                </a:solidFill>
              </a:rPr>
              <a:t>mechanisms</a:t>
            </a:r>
            <a:r>
              <a:rPr lang="de-DE" sz="2400" i="1" dirty="0">
                <a:solidFill>
                  <a:schemeClr val="bg1"/>
                </a:solidFill>
              </a:rPr>
              <a:t> and </a:t>
            </a:r>
            <a:r>
              <a:rPr lang="de-DE" sz="2400" i="1" dirty="0" err="1">
                <a:solidFill>
                  <a:schemeClr val="bg1"/>
                </a:solidFill>
              </a:rPr>
              <a:t>processes</a:t>
            </a:r>
            <a:r>
              <a:rPr lang="de-DE" sz="2400" i="1" dirty="0">
                <a:solidFill>
                  <a:schemeClr val="bg1"/>
                </a:solidFill>
              </a:rPr>
              <a:t> </a:t>
            </a:r>
            <a:r>
              <a:rPr lang="de-DE" sz="2400" i="1" dirty="0" err="1">
                <a:solidFill>
                  <a:schemeClr val="bg1"/>
                </a:solidFill>
              </a:rPr>
              <a:t>characterizing</a:t>
            </a:r>
            <a:r>
              <a:rPr lang="de-DE" sz="2400" i="1" dirty="0">
                <a:solidFill>
                  <a:schemeClr val="bg1"/>
                </a:solidFill>
              </a:rPr>
              <a:t> </a:t>
            </a:r>
            <a:r>
              <a:rPr lang="de-DE" sz="2400" i="1" dirty="0" err="1">
                <a:solidFill>
                  <a:schemeClr val="bg1"/>
                </a:solidFill>
              </a:rPr>
              <a:t>change</a:t>
            </a:r>
            <a:r>
              <a:rPr lang="de-DE" sz="2400" i="1" dirty="0">
                <a:solidFill>
                  <a:schemeClr val="bg1"/>
                </a:solidFill>
              </a:rPr>
              <a:t>?</a:t>
            </a: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Tree>
    <p:extLst>
      <p:ext uri="{BB962C8B-B14F-4D97-AF65-F5344CB8AC3E}">
        <p14:creationId xmlns:p14="http://schemas.microsoft.com/office/powerpoint/2010/main" val="3810573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 name="Textfeld 21">
            <a:extLst>
              <a:ext uri="{FF2B5EF4-FFF2-40B4-BE49-F238E27FC236}">
                <a16:creationId xmlns:a16="http://schemas.microsoft.com/office/drawing/2014/main" id="{9BB3025A-7E55-4F4A-B7D9-46D57B667952}"/>
              </a:ext>
            </a:extLst>
          </p:cNvPr>
          <p:cNvSpPr txBox="1"/>
          <p:nvPr/>
        </p:nvSpPr>
        <p:spPr>
          <a:xfrm>
            <a:off x="374063" y="1363972"/>
            <a:ext cx="6800460" cy="461665"/>
          </a:xfrm>
          <a:prstGeom prst="rect">
            <a:avLst/>
          </a:prstGeom>
          <a:noFill/>
        </p:spPr>
        <p:txBody>
          <a:bodyPr wrap="square" rtlCol="0">
            <a:spAutoFit/>
          </a:bodyPr>
          <a:lstStyle/>
          <a:p>
            <a:r>
              <a:rPr lang="de-DE" sz="2400" dirty="0">
                <a:solidFill>
                  <a:schemeClr val="bg1"/>
                </a:solidFill>
              </a:rPr>
              <a:t>Level 1: The intuitive </a:t>
            </a:r>
            <a:r>
              <a:rPr lang="de-DE" sz="2400" dirty="0" err="1">
                <a:solidFill>
                  <a:schemeClr val="bg1"/>
                </a:solidFill>
              </a:rPr>
              <a:t>approach</a:t>
            </a:r>
            <a:r>
              <a:rPr lang="de-DE" sz="2400" dirty="0">
                <a:solidFill>
                  <a:schemeClr val="bg1"/>
                </a:solidFill>
              </a:rPr>
              <a:t>; </a:t>
            </a:r>
            <a:r>
              <a:rPr lang="de-DE" sz="2400" dirty="0" err="1">
                <a:solidFill>
                  <a:schemeClr val="bg1"/>
                </a:solidFill>
              </a:rPr>
              <a:t>sum</a:t>
            </a:r>
            <a:r>
              <a:rPr lang="de-DE" sz="2400" dirty="0">
                <a:solidFill>
                  <a:schemeClr val="bg1"/>
                </a:solidFill>
              </a:rPr>
              <a:t>-and-alpha</a:t>
            </a:r>
            <a:endParaRPr lang="de-DE" sz="2400" i="1" dirty="0">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
        <p:nvSpPr>
          <p:cNvPr id="12" name="Textfeld 11">
            <a:extLst>
              <a:ext uri="{FF2B5EF4-FFF2-40B4-BE49-F238E27FC236}">
                <a16:creationId xmlns:a16="http://schemas.microsoft.com/office/drawing/2014/main" id="{7E623E89-5751-4442-A8D2-F707701EBFF7}"/>
              </a:ext>
            </a:extLst>
          </p:cNvPr>
          <p:cNvSpPr txBox="1"/>
          <p:nvPr/>
        </p:nvSpPr>
        <p:spPr>
          <a:xfrm>
            <a:off x="374063" y="2008742"/>
            <a:ext cx="8832460" cy="461665"/>
          </a:xfrm>
          <a:prstGeom prst="rect">
            <a:avLst/>
          </a:prstGeom>
          <a:noFill/>
        </p:spPr>
        <p:txBody>
          <a:bodyPr wrap="square" rtlCol="0">
            <a:spAutoFit/>
          </a:bodyPr>
          <a:lstStyle/>
          <a:p>
            <a:r>
              <a:rPr lang="de-DE" sz="2400" dirty="0">
                <a:solidFill>
                  <a:schemeClr val="bg1"/>
                </a:solidFill>
              </a:rPr>
              <a:t>Level 2: The </a:t>
            </a:r>
            <a:r>
              <a:rPr lang="de-DE" sz="2400" dirty="0" err="1">
                <a:solidFill>
                  <a:schemeClr val="bg1"/>
                </a:solidFill>
              </a:rPr>
              <a:t>psychometric</a:t>
            </a:r>
            <a:r>
              <a:rPr lang="de-DE" sz="2400" dirty="0">
                <a:solidFill>
                  <a:schemeClr val="bg1"/>
                </a:solidFill>
              </a:rPr>
              <a:t> </a:t>
            </a:r>
            <a:r>
              <a:rPr lang="de-DE" sz="2400" dirty="0" err="1">
                <a:solidFill>
                  <a:schemeClr val="bg1"/>
                </a:solidFill>
              </a:rPr>
              <a:t>approach</a:t>
            </a:r>
            <a:r>
              <a:rPr lang="de-DE" sz="2400" dirty="0">
                <a:solidFill>
                  <a:schemeClr val="bg1"/>
                </a:solidFill>
              </a:rPr>
              <a:t>; </a:t>
            </a:r>
            <a:r>
              <a:rPr lang="de-DE" sz="2400" dirty="0" err="1">
                <a:solidFill>
                  <a:schemeClr val="bg1"/>
                </a:solidFill>
              </a:rPr>
              <a:t>factor</a:t>
            </a:r>
            <a:r>
              <a:rPr lang="de-DE" sz="2400" dirty="0">
                <a:solidFill>
                  <a:schemeClr val="bg1"/>
                </a:solidFill>
              </a:rPr>
              <a:t> </a:t>
            </a:r>
            <a:r>
              <a:rPr lang="de-DE" sz="2400" dirty="0" err="1">
                <a:solidFill>
                  <a:schemeClr val="bg1"/>
                </a:solidFill>
              </a:rPr>
              <a:t>analysis</a:t>
            </a:r>
            <a:r>
              <a:rPr lang="de-DE" sz="2400" dirty="0">
                <a:solidFill>
                  <a:schemeClr val="bg1"/>
                </a:solidFill>
              </a:rPr>
              <a:t>/IRT</a:t>
            </a:r>
            <a:endParaRPr lang="de-DE" sz="2400" i="1" dirty="0">
              <a:solidFill>
                <a:schemeClr val="bg1"/>
              </a:solidFill>
            </a:endParaRPr>
          </a:p>
        </p:txBody>
      </p:sp>
      <p:sp>
        <p:nvSpPr>
          <p:cNvPr id="14" name="Textfeld 13">
            <a:extLst>
              <a:ext uri="{FF2B5EF4-FFF2-40B4-BE49-F238E27FC236}">
                <a16:creationId xmlns:a16="http://schemas.microsoft.com/office/drawing/2014/main" id="{5910EA01-E9BF-490F-867F-8D5918162BC6}"/>
              </a:ext>
            </a:extLst>
          </p:cNvPr>
          <p:cNvSpPr txBox="1"/>
          <p:nvPr/>
        </p:nvSpPr>
        <p:spPr>
          <a:xfrm>
            <a:off x="374062" y="2611273"/>
            <a:ext cx="5799909" cy="461665"/>
          </a:xfrm>
          <a:prstGeom prst="rect">
            <a:avLst/>
          </a:prstGeom>
          <a:noFill/>
        </p:spPr>
        <p:txBody>
          <a:bodyPr wrap="square" rtlCol="0">
            <a:spAutoFit/>
          </a:bodyPr>
          <a:lstStyle/>
          <a:p>
            <a:r>
              <a:rPr lang="de-DE" sz="2400" dirty="0">
                <a:solidFill>
                  <a:schemeClr val="bg1"/>
                </a:solidFill>
              </a:rPr>
              <a:t>Level 3: The </a:t>
            </a:r>
            <a:r>
              <a:rPr lang="de-DE" sz="2400" dirty="0" err="1">
                <a:solidFill>
                  <a:schemeClr val="bg1"/>
                </a:solidFill>
              </a:rPr>
              <a:t>theoretic</a:t>
            </a:r>
            <a:r>
              <a:rPr lang="de-DE" sz="2400" dirty="0">
                <a:solidFill>
                  <a:schemeClr val="bg1"/>
                </a:solidFill>
              </a:rPr>
              <a:t> </a:t>
            </a:r>
            <a:r>
              <a:rPr lang="de-DE" sz="2400" dirty="0" err="1">
                <a:solidFill>
                  <a:schemeClr val="bg1"/>
                </a:solidFill>
              </a:rPr>
              <a:t>approach</a:t>
            </a:r>
            <a:endParaRPr lang="de-DE" sz="2400" i="1" dirty="0">
              <a:solidFill>
                <a:schemeClr val="bg1"/>
              </a:solidFill>
            </a:endParaRPr>
          </a:p>
        </p:txBody>
      </p:sp>
    </p:spTree>
    <p:extLst>
      <p:ext uri="{BB962C8B-B14F-4D97-AF65-F5344CB8AC3E}">
        <p14:creationId xmlns:p14="http://schemas.microsoft.com/office/powerpoint/2010/main" val="6370756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2" name="Textfeld 21">
            <a:extLst>
              <a:ext uri="{FF2B5EF4-FFF2-40B4-BE49-F238E27FC236}">
                <a16:creationId xmlns:a16="http://schemas.microsoft.com/office/drawing/2014/main" id="{9BB3025A-7E55-4F4A-B7D9-46D57B667952}"/>
              </a:ext>
            </a:extLst>
          </p:cNvPr>
          <p:cNvSpPr txBox="1"/>
          <p:nvPr/>
        </p:nvSpPr>
        <p:spPr>
          <a:xfrm>
            <a:off x="374063" y="1363972"/>
            <a:ext cx="11098922" cy="2308324"/>
          </a:xfrm>
          <a:prstGeom prst="rect">
            <a:avLst/>
          </a:prstGeom>
          <a:noFill/>
        </p:spPr>
        <p:txBody>
          <a:bodyPr wrap="square" rtlCol="0">
            <a:spAutoFit/>
          </a:bodyPr>
          <a:lstStyle/>
          <a:p>
            <a:r>
              <a:rPr lang="de-DE" sz="2400" dirty="0">
                <a:solidFill>
                  <a:schemeClr val="bg1"/>
                </a:solidFill>
              </a:rPr>
              <a:t>Never </a:t>
            </a:r>
            <a:r>
              <a:rPr lang="de-DE" sz="2400" dirty="0" err="1">
                <a:solidFill>
                  <a:schemeClr val="bg1"/>
                </a:solidFill>
              </a:rPr>
              <a:t>let</a:t>
            </a:r>
            <a:r>
              <a:rPr lang="de-DE" sz="2400" dirty="0">
                <a:solidFill>
                  <a:schemeClr val="bg1"/>
                </a:solidFill>
              </a:rPr>
              <a:t> a </a:t>
            </a:r>
            <a:r>
              <a:rPr lang="de-DE" sz="2400" dirty="0" err="1">
                <a:solidFill>
                  <a:schemeClr val="bg1"/>
                </a:solidFill>
              </a:rPr>
              <a:t>methodologist</a:t>
            </a:r>
            <a:r>
              <a:rPr lang="de-DE" sz="2400" dirty="0">
                <a:solidFill>
                  <a:schemeClr val="bg1"/>
                </a:solidFill>
              </a:rPr>
              <a:t> </a:t>
            </a:r>
            <a:r>
              <a:rPr lang="de-DE" sz="2400" dirty="0" err="1">
                <a:solidFill>
                  <a:schemeClr val="bg1"/>
                </a:solidFill>
              </a:rPr>
              <a:t>tell</a:t>
            </a:r>
            <a:r>
              <a:rPr lang="de-DE" sz="2400" dirty="0">
                <a:solidFill>
                  <a:schemeClr val="bg1"/>
                </a:solidFill>
              </a:rPr>
              <a:t> </a:t>
            </a:r>
            <a:r>
              <a:rPr lang="de-DE" sz="2400" dirty="0" err="1">
                <a:solidFill>
                  <a:schemeClr val="bg1"/>
                </a:solidFill>
              </a:rPr>
              <a:t>you</a:t>
            </a:r>
            <a:r>
              <a:rPr lang="de-DE" sz="2400" dirty="0">
                <a:solidFill>
                  <a:schemeClr val="bg1"/>
                </a:solidFill>
              </a:rPr>
              <a:t> </a:t>
            </a:r>
            <a:r>
              <a:rPr lang="de-DE" sz="2400" dirty="0" err="1">
                <a:solidFill>
                  <a:schemeClr val="bg1"/>
                </a:solidFill>
              </a:rPr>
              <a:t>what</a:t>
            </a:r>
            <a:r>
              <a:rPr lang="de-DE" sz="2400" dirty="0">
                <a:solidFill>
                  <a:schemeClr val="bg1"/>
                </a:solidFill>
              </a:rPr>
              <a:t> </a:t>
            </a:r>
            <a:r>
              <a:rPr lang="de-DE" sz="2400" dirty="0" err="1">
                <a:solidFill>
                  <a:schemeClr val="bg1"/>
                </a:solidFill>
              </a:rPr>
              <a:t>to</a:t>
            </a:r>
            <a:r>
              <a:rPr lang="de-DE" sz="2400" dirty="0">
                <a:solidFill>
                  <a:schemeClr val="bg1"/>
                </a:solidFill>
              </a:rPr>
              <a:t> do</a:t>
            </a:r>
          </a:p>
          <a:p>
            <a:endParaRPr lang="de-DE" sz="2400" dirty="0">
              <a:solidFill>
                <a:schemeClr val="bg1"/>
              </a:solidFill>
            </a:endParaRPr>
          </a:p>
          <a:p>
            <a:r>
              <a:rPr lang="de-DE" sz="2400" dirty="0">
                <a:solidFill>
                  <a:schemeClr val="bg1"/>
                </a:solidFill>
              </a:rPr>
              <a:t>Never </a:t>
            </a:r>
            <a:r>
              <a:rPr lang="de-DE" sz="2400" dirty="0" err="1">
                <a:solidFill>
                  <a:schemeClr val="bg1"/>
                </a:solidFill>
              </a:rPr>
              <a:t>let</a:t>
            </a:r>
            <a:r>
              <a:rPr lang="de-DE" sz="2400" dirty="0">
                <a:solidFill>
                  <a:schemeClr val="bg1"/>
                </a:solidFill>
              </a:rPr>
              <a:t> a </a:t>
            </a:r>
            <a:r>
              <a:rPr lang="de-DE" sz="2400" dirty="0" err="1">
                <a:solidFill>
                  <a:schemeClr val="bg1"/>
                </a:solidFill>
              </a:rPr>
              <a:t>methodologist</a:t>
            </a:r>
            <a:r>
              <a:rPr lang="de-DE" sz="2400" dirty="0">
                <a:solidFill>
                  <a:schemeClr val="bg1"/>
                </a:solidFill>
              </a:rPr>
              <a:t> </a:t>
            </a:r>
            <a:r>
              <a:rPr lang="de-DE" sz="2400" dirty="0" err="1">
                <a:solidFill>
                  <a:schemeClr val="bg1"/>
                </a:solidFill>
              </a:rPr>
              <a:t>tell</a:t>
            </a:r>
            <a:r>
              <a:rPr lang="de-DE" sz="2400" dirty="0">
                <a:solidFill>
                  <a:schemeClr val="bg1"/>
                </a:solidFill>
              </a:rPr>
              <a:t> </a:t>
            </a:r>
            <a:r>
              <a:rPr lang="de-DE" sz="2400" dirty="0" err="1">
                <a:solidFill>
                  <a:schemeClr val="bg1"/>
                </a:solidFill>
              </a:rPr>
              <a:t>you</a:t>
            </a:r>
            <a:r>
              <a:rPr lang="de-DE" sz="2400" dirty="0">
                <a:solidFill>
                  <a:schemeClr val="bg1"/>
                </a:solidFill>
              </a:rPr>
              <a:t> </a:t>
            </a:r>
            <a:r>
              <a:rPr lang="de-DE" sz="2400" dirty="0" err="1">
                <a:solidFill>
                  <a:schemeClr val="bg1"/>
                </a:solidFill>
              </a:rPr>
              <a:t>what</a:t>
            </a:r>
            <a:r>
              <a:rPr lang="de-DE" sz="2400" dirty="0">
                <a:solidFill>
                  <a:schemeClr val="bg1"/>
                </a:solidFill>
              </a:rPr>
              <a:t> </a:t>
            </a:r>
            <a:r>
              <a:rPr lang="de-DE" sz="2400" dirty="0" err="1">
                <a:solidFill>
                  <a:schemeClr val="bg1"/>
                </a:solidFill>
              </a:rPr>
              <a:t>to</a:t>
            </a:r>
            <a:r>
              <a:rPr lang="de-DE" sz="2400" dirty="0">
                <a:solidFill>
                  <a:schemeClr val="bg1"/>
                </a:solidFill>
              </a:rPr>
              <a:t> </a:t>
            </a:r>
            <a:r>
              <a:rPr lang="de-DE" sz="2400" dirty="0" err="1">
                <a:solidFill>
                  <a:schemeClr val="bg1"/>
                </a:solidFill>
              </a:rPr>
              <a:t>want</a:t>
            </a:r>
            <a:endParaRPr lang="de-DE" sz="2400" dirty="0">
              <a:solidFill>
                <a:schemeClr val="bg1"/>
              </a:solidFill>
            </a:endParaRPr>
          </a:p>
          <a:p>
            <a:endParaRPr lang="de-DE" sz="2400" dirty="0">
              <a:solidFill>
                <a:schemeClr val="bg1"/>
              </a:solidFill>
            </a:endParaRPr>
          </a:p>
          <a:p>
            <a:endParaRPr lang="de-DE" sz="2400" dirty="0">
              <a:solidFill>
                <a:schemeClr val="bg1"/>
              </a:solidFill>
            </a:endParaRPr>
          </a:p>
          <a:p>
            <a:r>
              <a:rPr lang="de-DE" sz="2400" dirty="0">
                <a:solidFill>
                  <a:schemeClr val="bg1"/>
                </a:solidFill>
              </a:rPr>
              <a:t> </a:t>
            </a:r>
            <a:endParaRPr lang="de-DE" sz="2400" i="1" dirty="0">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Carey (2011)</a:t>
            </a:r>
            <a:endParaRPr lang="de-DE" sz="1200" i="1" dirty="0">
              <a:solidFill>
                <a:schemeClr val="bg1"/>
              </a:solidFill>
            </a:endParaRPr>
          </a:p>
        </p:txBody>
      </p:sp>
    </p:spTree>
    <p:extLst>
      <p:ext uri="{BB962C8B-B14F-4D97-AF65-F5344CB8AC3E}">
        <p14:creationId xmlns:p14="http://schemas.microsoft.com/office/powerpoint/2010/main" val="8582466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296091" y="6478800"/>
            <a:ext cx="5799909" cy="276999"/>
          </a:xfrm>
          <a:prstGeom prst="rect">
            <a:avLst/>
          </a:prstGeom>
          <a:noFill/>
        </p:spPr>
        <p:txBody>
          <a:bodyPr wrap="square" rtlCol="0">
            <a:spAutoFit/>
          </a:bodyPr>
          <a:lstStyle/>
          <a:p>
            <a:r>
              <a:rPr lang="de-DE" sz="1200" dirty="0">
                <a:solidFill>
                  <a:schemeClr val="bg1"/>
                </a:solidFill>
              </a:rPr>
              <a:t>Schwichow et al. (2016); Schwichow &amp; </a:t>
            </a:r>
            <a:r>
              <a:rPr lang="de-DE" sz="1200" dirty="0" err="1">
                <a:solidFill>
                  <a:schemeClr val="bg1"/>
                </a:solidFill>
              </a:rPr>
              <a:t>Zoupidis</a:t>
            </a:r>
            <a:r>
              <a:rPr lang="de-DE" sz="1200" dirty="0">
                <a:solidFill>
                  <a:schemeClr val="bg1"/>
                </a:solidFill>
              </a:rPr>
              <a:t> (2023)</a:t>
            </a:r>
          </a:p>
        </p:txBody>
      </p:sp>
      <p:pic>
        <p:nvPicPr>
          <p:cNvPr id="3" name="Grafik 2">
            <a:extLst>
              <a:ext uri="{FF2B5EF4-FFF2-40B4-BE49-F238E27FC236}">
                <a16:creationId xmlns:a16="http://schemas.microsoft.com/office/drawing/2014/main" id="{4A415C02-B157-4894-A818-82A4FA5BDCBB}"/>
              </a:ext>
            </a:extLst>
          </p:cNvPr>
          <p:cNvPicPr>
            <a:picLocks noChangeAspect="1"/>
          </p:cNvPicPr>
          <p:nvPr/>
        </p:nvPicPr>
        <p:blipFill>
          <a:blip r:embed="rId3"/>
          <a:stretch>
            <a:fillRect/>
          </a:stretch>
        </p:blipFill>
        <p:spPr>
          <a:xfrm>
            <a:off x="694647" y="2613607"/>
            <a:ext cx="2481942" cy="2481942"/>
          </a:xfrm>
          <a:prstGeom prst="rect">
            <a:avLst/>
          </a:prstGeom>
        </p:spPr>
      </p:pic>
      <p:sp>
        <p:nvSpPr>
          <p:cNvPr id="4" name="Textfeld 3">
            <a:extLst>
              <a:ext uri="{FF2B5EF4-FFF2-40B4-BE49-F238E27FC236}">
                <a16:creationId xmlns:a16="http://schemas.microsoft.com/office/drawing/2014/main" id="{8CD590F7-C9CA-4329-81A3-F2E4B0B8BBCA}"/>
              </a:ext>
            </a:extLst>
          </p:cNvPr>
          <p:cNvSpPr txBox="1"/>
          <p:nvPr/>
        </p:nvSpPr>
        <p:spPr>
          <a:xfrm>
            <a:off x="411618" y="1684711"/>
            <a:ext cx="3048000" cy="461665"/>
          </a:xfrm>
          <a:prstGeom prst="rect">
            <a:avLst/>
          </a:prstGeom>
          <a:noFill/>
        </p:spPr>
        <p:txBody>
          <a:bodyPr wrap="square" rtlCol="0">
            <a:spAutoFit/>
          </a:bodyPr>
          <a:lstStyle/>
          <a:p>
            <a:pPr algn="ctr"/>
            <a:r>
              <a:rPr lang="de-DE" sz="2400" dirty="0" err="1">
                <a:solidFill>
                  <a:schemeClr val="bg1"/>
                </a:solidFill>
              </a:rPr>
              <a:t>Genetics</a:t>
            </a:r>
            <a:endParaRPr lang="de-DE" sz="2400" dirty="0">
              <a:solidFill>
                <a:schemeClr val="bg1"/>
              </a:solidFill>
            </a:endParaRPr>
          </a:p>
        </p:txBody>
      </p:sp>
      <p:sp>
        <p:nvSpPr>
          <p:cNvPr id="16" name="Textfeld 15">
            <a:extLst>
              <a:ext uri="{FF2B5EF4-FFF2-40B4-BE49-F238E27FC236}">
                <a16:creationId xmlns:a16="http://schemas.microsoft.com/office/drawing/2014/main" id="{05A66B97-DC83-4B09-A42F-59E1C6145B8B}"/>
              </a:ext>
            </a:extLst>
          </p:cNvPr>
          <p:cNvSpPr txBox="1"/>
          <p:nvPr/>
        </p:nvSpPr>
        <p:spPr>
          <a:xfrm>
            <a:off x="3979274" y="1696815"/>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pic>
        <p:nvPicPr>
          <p:cNvPr id="17" name="Picture 5">
            <a:extLst>
              <a:ext uri="{FF2B5EF4-FFF2-40B4-BE49-F238E27FC236}">
                <a16:creationId xmlns:a16="http://schemas.microsoft.com/office/drawing/2014/main" id="{1E6EBD3B-71DB-4D37-8F55-94CDBDFF3E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4363" y="3067724"/>
            <a:ext cx="1671637" cy="186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feld 17">
            <a:extLst>
              <a:ext uri="{FF2B5EF4-FFF2-40B4-BE49-F238E27FC236}">
                <a16:creationId xmlns:a16="http://schemas.microsoft.com/office/drawing/2014/main" id="{8CF906B1-DCC5-47C8-8910-218E487DA8CD}"/>
              </a:ext>
            </a:extLst>
          </p:cNvPr>
          <p:cNvSpPr txBox="1"/>
          <p:nvPr/>
        </p:nvSpPr>
        <p:spPr>
          <a:xfrm>
            <a:off x="411618" y="5482172"/>
            <a:ext cx="3048000" cy="461665"/>
          </a:xfrm>
          <a:prstGeom prst="rect">
            <a:avLst/>
          </a:prstGeom>
          <a:noFill/>
        </p:spPr>
        <p:txBody>
          <a:bodyPr wrap="square" rtlCol="0">
            <a:spAutoFit/>
          </a:bodyPr>
          <a:lstStyle/>
          <a:p>
            <a:pPr algn="ctr"/>
            <a:r>
              <a:rPr lang="de-DE" sz="2400" dirty="0">
                <a:solidFill>
                  <a:schemeClr val="bg1"/>
                </a:solidFill>
              </a:rPr>
              <a:t>The </a:t>
            </a:r>
            <a:r>
              <a:rPr lang="de-DE" sz="2400" i="1" dirty="0">
                <a:solidFill>
                  <a:schemeClr val="bg1"/>
                </a:solidFill>
              </a:rPr>
              <a:t>Drosophila</a:t>
            </a:r>
          </a:p>
        </p:txBody>
      </p:sp>
      <p:sp>
        <p:nvSpPr>
          <p:cNvPr id="19" name="Textfeld 18">
            <a:extLst>
              <a:ext uri="{FF2B5EF4-FFF2-40B4-BE49-F238E27FC236}">
                <a16:creationId xmlns:a16="http://schemas.microsoft.com/office/drawing/2014/main" id="{A157AA7D-16F6-4D5C-A8DA-DB1E3C66D8C0}"/>
              </a:ext>
            </a:extLst>
          </p:cNvPr>
          <p:cNvSpPr txBox="1"/>
          <p:nvPr/>
        </p:nvSpPr>
        <p:spPr>
          <a:xfrm>
            <a:off x="3736181" y="5491578"/>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20" name="Textfeld 19">
            <a:extLst>
              <a:ext uri="{FF2B5EF4-FFF2-40B4-BE49-F238E27FC236}">
                <a16:creationId xmlns:a16="http://schemas.microsoft.com/office/drawing/2014/main" id="{EEB2A53A-97DC-4407-960B-2B06A37B9110}"/>
              </a:ext>
            </a:extLst>
          </p:cNvPr>
          <p:cNvSpPr txBox="1"/>
          <p:nvPr/>
        </p:nvSpPr>
        <p:spPr>
          <a:xfrm>
            <a:off x="6676685" y="5306911"/>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21" name="Textfeld 20">
            <a:extLst>
              <a:ext uri="{FF2B5EF4-FFF2-40B4-BE49-F238E27FC236}">
                <a16:creationId xmlns:a16="http://schemas.microsoft.com/office/drawing/2014/main" id="{3D26CFC6-2052-4CFB-A2C2-51AA944ADBD2}"/>
              </a:ext>
            </a:extLst>
          </p:cNvPr>
          <p:cNvSpPr txBox="1"/>
          <p:nvPr/>
        </p:nvSpPr>
        <p:spPr>
          <a:xfrm>
            <a:off x="296091" y="155594"/>
            <a:ext cx="5799909" cy="1200329"/>
          </a:xfrm>
          <a:prstGeom prst="rect">
            <a:avLst/>
          </a:prstGeom>
          <a:noFill/>
        </p:spPr>
        <p:txBody>
          <a:bodyPr wrap="square" rtlCol="0">
            <a:spAutoFit/>
          </a:bodyPr>
          <a:lstStyle/>
          <a:p>
            <a:pPr marL="457200" indent="-457200">
              <a:buAutoNum type="arabicParenBoth"/>
            </a:pPr>
            <a:r>
              <a:rPr lang="de-DE" sz="2400" dirty="0">
                <a:solidFill>
                  <a:schemeClr val="bg1"/>
                </a:solidFill>
              </a:rPr>
              <a:t>Initial </a:t>
            </a:r>
            <a:r>
              <a:rPr lang="de-DE" sz="2400" dirty="0" err="1">
                <a:solidFill>
                  <a:schemeClr val="bg1"/>
                </a:solidFill>
              </a:rPr>
              <a:t>knowledge</a:t>
            </a:r>
            <a:endParaRPr lang="de-DE" sz="2400" dirty="0">
              <a:solidFill>
                <a:schemeClr val="bg1"/>
              </a:solidFill>
            </a:endParaRPr>
          </a:p>
          <a:p>
            <a:pPr marL="457200" indent="-457200">
              <a:buAutoNum type="arabicParenBoth"/>
            </a:pPr>
            <a:r>
              <a:rPr lang="de-DE" sz="2400" dirty="0">
                <a:solidFill>
                  <a:schemeClr val="bg1"/>
                </a:solidFill>
              </a:rPr>
              <a:t>Knowledge </a:t>
            </a:r>
            <a:r>
              <a:rPr lang="de-DE" sz="2400" dirty="0" err="1">
                <a:solidFill>
                  <a:schemeClr val="bg1"/>
                </a:solidFill>
              </a:rPr>
              <a:t>development</a:t>
            </a:r>
            <a:endParaRPr lang="de-DE" sz="2400" dirty="0">
              <a:solidFill>
                <a:schemeClr val="bg1"/>
              </a:solidFill>
            </a:endParaRPr>
          </a:p>
          <a:p>
            <a:pPr marL="457200" indent="-457200">
              <a:buAutoNum type="arabicParenBoth"/>
            </a:pPr>
            <a:r>
              <a:rPr lang="de-DE" sz="2400" dirty="0" err="1">
                <a:solidFill>
                  <a:schemeClr val="bg1"/>
                </a:solidFill>
              </a:rPr>
              <a:t>Mechanisms</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change</a:t>
            </a:r>
            <a:endParaRPr lang="de-DE" sz="2400" dirty="0">
              <a:solidFill>
                <a:schemeClr val="bg1"/>
              </a:solidFill>
            </a:endParaRPr>
          </a:p>
        </p:txBody>
      </p:sp>
      <p:sp>
        <p:nvSpPr>
          <p:cNvPr id="26" name="Textfeld 25">
            <a:extLst>
              <a:ext uri="{FF2B5EF4-FFF2-40B4-BE49-F238E27FC236}">
                <a16:creationId xmlns:a16="http://schemas.microsoft.com/office/drawing/2014/main" id="{9831069B-4A8F-4631-A777-822503A37DCB}"/>
              </a:ext>
            </a:extLst>
          </p:cNvPr>
          <p:cNvSpPr txBox="1"/>
          <p:nvPr/>
        </p:nvSpPr>
        <p:spPr>
          <a:xfrm>
            <a:off x="3736181" y="2526443"/>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27" name="Textfeld 26">
            <a:extLst>
              <a:ext uri="{FF2B5EF4-FFF2-40B4-BE49-F238E27FC236}">
                <a16:creationId xmlns:a16="http://schemas.microsoft.com/office/drawing/2014/main" id="{CA681ACD-F6B6-4554-8314-D4433DCFE965}"/>
              </a:ext>
            </a:extLst>
          </p:cNvPr>
          <p:cNvSpPr txBox="1"/>
          <p:nvPr/>
        </p:nvSpPr>
        <p:spPr>
          <a:xfrm>
            <a:off x="6784181" y="2523438"/>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28" name="Textfeld 27">
            <a:extLst>
              <a:ext uri="{FF2B5EF4-FFF2-40B4-BE49-F238E27FC236}">
                <a16:creationId xmlns:a16="http://schemas.microsoft.com/office/drawing/2014/main" id="{7B16C23C-FB20-4B57-B9DB-83638561E8FA}"/>
              </a:ext>
            </a:extLst>
          </p:cNvPr>
          <p:cNvSpPr txBox="1"/>
          <p:nvPr/>
        </p:nvSpPr>
        <p:spPr>
          <a:xfrm>
            <a:off x="9282282" y="2536741"/>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29" name="Textfeld 28">
            <a:extLst>
              <a:ext uri="{FF2B5EF4-FFF2-40B4-BE49-F238E27FC236}">
                <a16:creationId xmlns:a16="http://schemas.microsoft.com/office/drawing/2014/main" id="{6A161D81-B0A6-4E9D-8513-C84F39DCD7A2}"/>
              </a:ext>
            </a:extLst>
          </p:cNvPr>
          <p:cNvSpPr txBox="1"/>
          <p:nvPr/>
        </p:nvSpPr>
        <p:spPr>
          <a:xfrm>
            <a:off x="9282282" y="5306911"/>
            <a:ext cx="3048000" cy="461665"/>
          </a:xfrm>
          <a:prstGeom prst="rect">
            <a:avLst/>
          </a:prstGeom>
          <a:noFill/>
        </p:spPr>
        <p:txBody>
          <a:bodyPr wrap="square" rtlCol="0">
            <a:spAutoFit/>
          </a:bodyPr>
          <a:lstStyle/>
          <a:p>
            <a:pPr algn="ctr"/>
            <a:r>
              <a:rPr lang="de-DE" sz="2400" i="1" dirty="0">
                <a:solidFill>
                  <a:schemeClr val="bg1"/>
                </a:solidFill>
              </a:rPr>
              <a:t>(</a:t>
            </a:r>
            <a:r>
              <a:rPr lang="de-DE" sz="2400" i="1" dirty="0" err="1">
                <a:solidFill>
                  <a:schemeClr val="bg1"/>
                </a:solidFill>
              </a:rPr>
              <a:t>Epistemic</a:t>
            </a:r>
            <a:r>
              <a:rPr lang="de-DE" sz="2400" i="1" dirty="0">
                <a:solidFill>
                  <a:schemeClr val="bg1"/>
                </a:solidFill>
              </a:rPr>
              <a:t> Beliefs)</a:t>
            </a:r>
          </a:p>
        </p:txBody>
      </p:sp>
      <p:pic>
        <p:nvPicPr>
          <p:cNvPr id="8" name="Grafik 7">
            <a:extLst>
              <a:ext uri="{FF2B5EF4-FFF2-40B4-BE49-F238E27FC236}">
                <a16:creationId xmlns:a16="http://schemas.microsoft.com/office/drawing/2014/main" id="{34D97665-024F-402B-B42F-0B13BB5F887F}"/>
              </a:ext>
            </a:extLst>
          </p:cNvPr>
          <p:cNvPicPr>
            <a:picLocks noChangeAspect="1"/>
          </p:cNvPicPr>
          <p:nvPr/>
        </p:nvPicPr>
        <p:blipFill>
          <a:blip r:embed="rId5"/>
          <a:stretch>
            <a:fillRect/>
          </a:stretch>
        </p:blipFill>
        <p:spPr>
          <a:xfrm>
            <a:off x="6875349" y="3260235"/>
            <a:ext cx="2650671" cy="1511711"/>
          </a:xfrm>
          <a:prstGeom prst="rect">
            <a:avLst/>
          </a:prstGeom>
        </p:spPr>
      </p:pic>
      <p:sp>
        <p:nvSpPr>
          <p:cNvPr id="30" name="Textfeld 29">
            <a:extLst>
              <a:ext uri="{FF2B5EF4-FFF2-40B4-BE49-F238E27FC236}">
                <a16:creationId xmlns:a16="http://schemas.microsoft.com/office/drawing/2014/main" id="{DCC6818B-5B57-46F5-8043-4D0EFDE490D3}"/>
              </a:ext>
            </a:extLst>
          </p:cNvPr>
          <p:cNvSpPr txBox="1"/>
          <p:nvPr/>
        </p:nvSpPr>
        <p:spPr>
          <a:xfrm>
            <a:off x="12711656" y="1880838"/>
            <a:ext cx="3048000" cy="1200329"/>
          </a:xfrm>
          <a:prstGeom prst="rect">
            <a:avLst/>
          </a:prstGeom>
          <a:noFill/>
        </p:spPr>
        <p:txBody>
          <a:bodyPr wrap="square" rtlCol="0">
            <a:spAutoFit/>
          </a:bodyPr>
          <a:lstStyle/>
          <a:p>
            <a:pPr algn="ctr"/>
            <a:r>
              <a:rPr lang="de-DE" sz="2400" dirty="0">
                <a:solidFill>
                  <a:schemeClr val="bg1"/>
                </a:solidFill>
              </a:rPr>
              <a:t>Balance Beam Task</a:t>
            </a:r>
          </a:p>
          <a:p>
            <a:pPr algn="ctr"/>
            <a:r>
              <a:rPr lang="de-DE" sz="2400" dirty="0">
                <a:solidFill>
                  <a:schemeClr val="bg1"/>
                </a:solidFill>
              </a:rPr>
              <a:t>Proportional </a:t>
            </a:r>
            <a:r>
              <a:rPr lang="de-DE" sz="2400" dirty="0" err="1">
                <a:solidFill>
                  <a:schemeClr val="bg1"/>
                </a:solidFill>
              </a:rPr>
              <a:t>Reasoning</a:t>
            </a:r>
            <a:r>
              <a:rPr lang="de-DE" sz="2400">
                <a:solidFill>
                  <a:schemeClr val="bg1"/>
                </a:solidFill>
              </a:rPr>
              <a:t>?</a:t>
            </a:r>
            <a:endParaRPr lang="de-DE" sz="2400" dirty="0">
              <a:solidFill>
                <a:schemeClr val="bg1"/>
              </a:solidFill>
            </a:endParaRPr>
          </a:p>
        </p:txBody>
      </p:sp>
    </p:spTree>
    <p:extLst>
      <p:ext uri="{BB962C8B-B14F-4D97-AF65-F5344CB8AC3E}">
        <p14:creationId xmlns:p14="http://schemas.microsoft.com/office/powerpoint/2010/main" val="182580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18" grpId="0"/>
      <p:bldP spid="19" grpId="0"/>
      <p:bldP spid="20" grpId="0"/>
      <p:bldP spid="26" grpId="0"/>
      <p:bldP spid="27" grpId="0"/>
      <p:bldP spid="28" grpId="0"/>
      <p:bldP spid="29" grpId="0"/>
      <p:bldP spid="30" grpId="0"/>
    </p:bldLst>
  </p:timing>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feld 24">
            <a:extLst>
              <a:ext uri="{FF2B5EF4-FFF2-40B4-BE49-F238E27FC236}">
                <a16:creationId xmlns:a16="http://schemas.microsoft.com/office/drawing/2014/main" id="{2F68E9EA-E18D-481D-B4D5-94AA06B80295}"/>
              </a:ext>
            </a:extLst>
          </p:cNvPr>
          <p:cNvSpPr txBox="1"/>
          <p:nvPr/>
        </p:nvSpPr>
        <p:spPr>
          <a:xfrm>
            <a:off x="386171" y="6497968"/>
            <a:ext cx="5799909" cy="276999"/>
          </a:xfrm>
          <a:prstGeom prst="rect">
            <a:avLst/>
          </a:prstGeom>
          <a:noFill/>
        </p:spPr>
        <p:txBody>
          <a:bodyPr wrap="square" rtlCol="0">
            <a:spAutoFit/>
          </a:bodyPr>
          <a:lstStyle/>
          <a:p>
            <a:r>
              <a:rPr lang="de-DE" sz="1200" dirty="0">
                <a:solidFill>
                  <a:schemeClr val="bg1"/>
                </a:solidFill>
              </a:rPr>
              <a:t>Schalk et al. (2018)</a:t>
            </a:r>
          </a:p>
        </p:txBody>
      </p:sp>
      <p:sp>
        <p:nvSpPr>
          <p:cNvPr id="16" name="Textfeld 15">
            <a:extLst>
              <a:ext uri="{FF2B5EF4-FFF2-40B4-BE49-F238E27FC236}">
                <a16:creationId xmlns:a16="http://schemas.microsoft.com/office/drawing/2014/main" id="{05A66B97-DC83-4B09-A42F-59E1C6145B8B}"/>
              </a:ext>
            </a:extLst>
          </p:cNvPr>
          <p:cNvSpPr txBox="1"/>
          <p:nvPr/>
        </p:nvSpPr>
        <p:spPr>
          <a:xfrm>
            <a:off x="3979274" y="1696815"/>
            <a:ext cx="6109062" cy="461665"/>
          </a:xfrm>
          <a:prstGeom prst="rect">
            <a:avLst/>
          </a:prstGeom>
          <a:noFill/>
        </p:spPr>
        <p:txBody>
          <a:bodyPr wrap="square" rtlCol="0">
            <a:spAutoFit/>
          </a:bodyPr>
          <a:lstStyle/>
          <a:p>
            <a:pPr algn="ctr"/>
            <a:r>
              <a:rPr lang="de-DE" sz="2400" dirty="0">
                <a:solidFill>
                  <a:schemeClr val="bg1"/>
                </a:solidFill>
              </a:rPr>
              <a:t>Inquiry Learning &amp; </a:t>
            </a:r>
            <a:r>
              <a:rPr lang="de-DE" sz="2400" dirty="0" err="1">
                <a:solidFill>
                  <a:schemeClr val="bg1"/>
                </a:solidFill>
              </a:rPr>
              <a:t>Conceptual</a:t>
            </a:r>
            <a:r>
              <a:rPr lang="de-DE" sz="2400" dirty="0">
                <a:solidFill>
                  <a:schemeClr val="bg1"/>
                </a:solidFill>
              </a:rPr>
              <a:t> Change</a:t>
            </a:r>
          </a:p>
        </p:txBody>
      </p:sp>
      <p:sp>
        <p:nvSpPr>
          <p:cNvPr id="19" name="Textfeld 18">
            <a:extLst>
              <a:ext uri="{FF2B5EF4-FFF2-40B4-BE49-F238E27FC236}">
                <a16:creationId xmlns:a16="http://schemas.microsoft.com/office/drawing/2014/main" id="{A157AA7D-16F6-4D5C-A8DA-DB1E3C66D8C0}"/>
              </a:ext>
            </a:extLst>
          </p:cNvPr>
          <p:cNvSpPr txBox="1"/>
          <p:nvPr/>
        </p:nvSpPr>
        <p:spPr>
          <a:xfrm>
            <a:off x="538775" y="5994832"/>
            <a:ext cx="3048000" cy="461665"/>
          </a:xfrm>
          <a:prstGeom prst="rect">
            <a:avLst/>
          </a:prstGeom>
          <a:noFill/>
        </p:spPr>
        <p:txBody>
          <a:bodyPr wrap="square" rtlCol="0">
            <a:spAutoFit/>
          </a:bodyPr>
          <a:lstStyle/>
          <a:p>
            <a:pPr algn="ctr"/>
            <a:r>
              <a:rPr lang="de-DE" sz="2400" i="1" dirty="0">
                <a:solidFill>
                  <a:schemeClr val="bg1"/>
                </a:solidFill>
              </a:rPr>
              <a:t>Floating and </a:t>
            </a:r>
            <a:r>
              <a:rPr lang="de-DE" sz="2400" i="1" dirty="0" err="1">
                <a:solidFill>
                  <a:schemeClr val="bg1"/>
                </a:solidFill>
              </a:rPr>
              <a:t>Sinking</a:t>
            </a:r>
            <a:endParaRPr lang="de-DE" sz="2400" i="1" dirty="0">
              <a:solidFill>
                <a:schemeClr val="bg1"/>
              </a:solidFill>
            </a:endParaRPr>
          </a:p>
        </p:txBody>
      </p:sp>
      <p:sp>
        <p:nvSpPr>
          <p:cNvPr id="20" name="Textfeld 19">
            <a:extLst>
              <a:ext uri="{FF2B5EF4-FFF2-40B4-BE49-F238E27FC236}">
                <a16:creationId xmlns:a16="http://schemas.microsoft.com/office/drawing/2014/main" id="{EEB2A53A-97DC-4407-960B-2B06A37B9110}"/>
              </a:ext>
            </a:extLst>
          </p:cNvPr>
          <p:cNvSpPr txBox="1"/>
          <p:nvPr/>
        </p:nvSpPr>
        <p:spPr>
          <a:xfrm>
            <a:off x="6676685" y="5306911"/>
            <a:ext cx="3048000" cy="830997"/>
          </a:xfrm>
          <a:prstGeom prst="rect">
            <a:avLst/>
          </a:prstGeom>
          <a:noFill/>
        </p:spPr>
        <p:txBody>
          <a:bodyPr wrap="square" rtlCol="0">
            <a:spAutoFit/>
          </a:bodyPr>
          <a:lstStyle/>
          <a:p>
            <a:pPr algn="ctr"/>
            <a:r>
              <a:rPr lang="de-DE" sz="2400" i="1" dirty="0">
                <a:solidFill>
                  <a:schemeClr val="bg1"/>
                </a:solidFill>
              </a:rPr>
              <a:t>The Control-</a:t>
            </a:r>
            <a:r>
              <a:rPr lang="de-DE" sz="2400" i="1" dirty="0" err="1">
                <a:solidFill>
                  <a:schemeClr val="bg1"/>
                </a:solidFill>
              </a:rPr>
              <a:t>of</a:t>
            </a:r>
            <a:r>
              <a:rPr lang="de-DE" sz="2400" i="1" dirty="0">
                <a:solidFill>
                  <a:schemeClr val="bg1"/>
                </a:solidFill>
              </a:rPr>
              <a:t>-Variables </a:t>
            </a:r>
            <a:r>
              <a:rPr lang="de-DE" sz="2400" i="1" dirty="0" err="1">
                <a:solidFill>
                  <a:schemeClr val="bg1"/>
                </a:solidFill>
              </a:rPr>
              <a:t>Strategy</a:t>
            </a:r>
            <a:endParaRPr lang="de-DE" sz="2400" i="1" dirty="0">
              <a:solidFill>
                <a:schemeClr val="bg1"/>
              </a:solidFill>
            </a:endParaRPr>
          </a:p>
        </p:txBody>
      </p:sp>
      <p:sp>
        <p:nvSpPr>
          <p:cNvPr id="21" name="Textfeld 20">
            <a:extLst>
              <a:ext uri="{FF2B5EF4-FFF2-40B4-BE49-F238E27FC236}">
                <a16:creationId xmlns:a16="http://schemas.microsoft.com/office/drawing/2014/main" id="{3D26CFC6-2052-4CFB-A2C2-51AA944ADBD2}"/>
              </a:ext>
            </a:extLst>
          </p:cNvPr>
          <p:cNvSpPr txBox="1"/>
          <p:nvPr/>
        </p:nvSpPr>
        <p:spPr>
          <a:xfrm>
            <a:off x="296091" y="155594"/>
            <a:ext cx="5799909" cy="1200329"/>
          </a:xfrm>
          <a:prstGeom prst="rect">
            <a:avLst/>
          </a:prstGeom>
          <a:noFill/>
        </p:spPr>
        <p:txBody>
          <a:bodyPr wrap="square" rtlCol="0">
            <a:spAutoFit/>
          </a:bodyPr>
          <a:lstStyle/>
          <a:p>
            <a:pPr marL="457200" indent="-457200">
              <a:buAutoNum type="arabicParenBoth"/>
            </a:pPr>
            <a:r>
              <a:rPr lang="de-DE" sz="2400" dirty="0">
                <a:solidFill>
                  <a:schemeClr val="bg1"/>
                </a:solidFill>
              </a:rPr>
              <a:t>Initial </a:t>
            </a:r>
            <a:r>
              <a:rPr lang="de-DE" sz="2400" dirty="0" err="1">
                <a:solidFill>
                  <a:schemeClr val="bg1"/>
                </a:solidFill>
              </a:rPr>
              <a:t>knowledge</a:t>
            </a:r>
            <a:endParaRPr lang="de-DE" sz="2400" dirty="0">
              <a:solidFill>
                <a:schemeClr val="bg1"/>
              </a:solidFill>
            </a:endParaRPr>
          </a:p>
          <a:p>
            <a:pPr marL="457200" indent="-457200">
              <a:buAutoNum type="arabicParenBoth"/>
            </a:pPr>
            <a:r>
              <a:rPr lang="de-DE" sz="2400" dirty="0">
                <a:solidFill>
                  <a:schemeClr val="bg1"/>
                </a:solidFill>
              </a:rPr>
              <a:t>Knowledge </a:t>
            </a:r>
            <a:r>
              <a:rPr lang="de-DE" sz="2400" dirty="0" err="1">
                <a:solidFill>
                  <a:schemeClr val="bg1"/>
                </a:solidFill>
              </a:rPr>
              <a:t>development</a:t>
            </a:r>
            <a:endParaRPr lang="de-DE" sz="2400" dirty="0">
              <a:solidFill>
                <a:schemeClr val="bg1"/>
              </a:solidFill>
            </a:endParaRPr>
          </a:p>
          <a:p>
            <a:pPr marL="457200" indent="-457200">
              <a:buAutoNum type="arabicParenBoth"/>
            </a:pPr>
            <a:r>
              <a:rPr lang="de-DE" sz="2400" dirty="0" err="1">
                <a:solidFill>
                  <a:schemeClr val="bg1"/>
                </a:solidFill>
              </a:rPr>
              <a:t>Mechanisms</a:t>
            </a:r>
            <a:r>
              <a:rPr lang="de-DE" sz="2400" dirty="0">
                <a:solidFill>
                  <a:schemeClr val="bg1"/>
                </a:solidFill>
              </a:rPr>
              <a:t> </a:t>
            </a:r>
            <a:r>
              <a:rPr lang="de-DE" sz="2400" dirty="0" err="1">
                <a:solidFill>
                  <a:schemeClr val="bg1"/>
                </a:solidFill>
              </a:rPr>
              <a:t>of</a:t>
            </a:r>
            <a:r>
              <a:rPr lang="de-DE" sz="2400" dirty="0">
                <a:solidFill>
                  <a:schemeClr val="bg1"/>
                </a:solidFill>
              </a:rPr>
              <a:t> </a:t>
            </a:r>
            <a:r>
              <a:rPr lang="de-DE" sz="2400" dirty="0" err="1">
                <a:solidFill>
                  <a:schemeClr val="bg1"/>
                </a:solidFill>
              </a:rPr>
              <a:t>change</a:t>
            </a:r>
            <a:endParaRPr lang="de-DE" sz="2400" dirty="0">
              <a:solidFill>
                <a:schemeClr val="bg1"/>
              </a:solidFill>
            </a:endParaRPr>
          </a:p>
        </p:txBody>
      </p:sp>
      <p:sp>
        <p:nvSpPr>
          <p:cNvPr id="26" name="Textfeld 25">
            <a:extLst>
              <a:ext uri="{FF2B5EF4-FFF2-40B4-BE49-F238E27FC236}">
                <a16:creationId xmlns:a16="http://schemas.microsoft.com/office/drawing/2014/main" id="{9831069B-4A8F-4631-A777-822503A37DCB}"/>
              </a:ext>
            </a:extLst>
          </p:cNvPr>
          <p:cNvSpPr txBox="1"/>
          <p:nvPr/>
        </p:nvSpPr>
        <p:spPr>
          <a:xfrm>
            <a:off x="465637" y="1511557"/>
            <a:ext cx="3048000" cy="461665"/>
          </a:xfrm>
          <a:prstGeom prst="rect">
            <a:avLst/>
          </a:prstGeom>
          <a:noFill/>
        </p:spPr>
        <p:txBody>
          <a:bodyPr wrap="square" rtlCol="0">
            <a:spAutoFit/>
          </a:bodyPr>
          <a:lstStyle/>
          <a:p>
            <a:pPr algn="ctr"/>
            <a:r>
              <a:rPr lang="de-DE" sz="2400" dirty="0">
                <a:solidFill>
                  <a:schemeClr val="bg1"/>
                </a:solidFill>
              </a:rPr>
              <a:t>Content </a:t>
            </a:r>
            <a:r>
              <a:rPr lang="de-DE" sz="2400" dirty="0" err="1">
                <a:solidFill>
                  <a:schemeClr val="bg1"/>
                </a:solidFill>
              </a:rPr>
              <a:t>knowledge</a:t>
            </a:r>
            <a:endParaRPr lang="de-DE" sz="2400" dirty="0">
              <a:solidFill>
                <a:schemeClr val="bg1"/>
              </a:solidFill>
            </a:endParaRPr>
          </a:p>
        </p:txBody>
      </p:sp>
      <p:sp>
        <p:nvSpPr>
          <p:cNvPr id="27" name="Textfeld 26">
            <a:extLst>
              <a:ext uri="{FF2B5EF4-FFF2-40B4-BE49-F238E27FC236}">
                <a16:creationId xmlns:a16="http://schemas.microsoft.com/office/drawing/2014/main" id="{CA681ACD-F6B6-4554-8314-D4433DCFE965}"/>
              </a:ext>
            </a:extLst>
          </p:cNvPr>
          <p:cNvSpPr txBox="1"/>
          <p:nvPr/>
        </p:nvSpPr>
        <p:spPr>
          <a:xfrm>
            <a:off x="6784181" y="2523438"/>
            <a:ext cx="3048000" cy="461665"/>
          </a:xfrm>
          <a:prstGeom prst="rect">
            <a:avLst/>
          </a:prstGeom>
          <a:noFill/>
        </p:spPr>
        <p:txBody>
          <a:bodyPr wrap="square" rtlCol="0">
            <a:spAutoFit/>
          </a:bodyPr>
          <a:lstStyle/>
          <a:p>
            <a:pPr algn="ctr"/>
            <a:r>
              <a:rPr lang="de-DE" sz="2400" dirty="0" err="1">
                <a:solidFill>
                  <a:schemeClr val="bg1"/>
                </a:solidFill>
              </a:rPr>
              <a:t>Process</a:t>
            </a:r>
            <a:r>
              <a:rPr lang="de-DE" sz="2400" dirty="0">
                <a:solidFill>
                  <a:schemeClr val="bg1"/>
                </a:solidFill>
              </a:rPr>
              <a:t> </a:t>
            </a:r>
            <a:r>
              <a:rPr lang="de-DE" sz="2400" dirty="0" err="1">
                <a:solidFill>
                  <a:schemeClr val="bg1"/>
                </a:solidFill>
              </a:rPr>
              <a:t>skills</a:t>
            </a:r>
            <a:endParaRPr lang="de-DE" sz="2400" dirty="0">
              <a:solidFill>
                <a:schemeClr val="bg1"/>
              </a:solidFill>
            </a:endParaRPr>
          </a:p>
        </p:txBody>
      </p:sp>
      <p:sp>
        <p:nvSpPr>
          <p:cNvPr id="28" name="Textfeld 27">
            <a:extLst>
              <a:ext uri="{FF2B5EF4-FFF2-40B4-BE49-F238E27FC236}">
                <a16:creationId xmlns:a16="http://schemas.microsoft.com/office/drawing/2014/main" id="{7B16C23C-FB20-4B57-B9DB-83638561E8FA}"/>
              </a:ext>
            </a:extLst>
          </p:cNvPr>
          <p:cNvSpPr txBox="1"/>
          <p:nvPr/>
        </p:nvSpPr>
        <p:spPr>
          <a:xfrm>
            <a:off x="9282282" y="2536741"/>
            <a:ext cx="3048000" cy="461665"/>
          </a:xfrm>
          <a:prstGeom prst="rect">
            <a:avLst/>
          </a:prstGeom>
          <a:noFill/>
        </p:spPr>
        <p:txBody>
          <a:bodyPr wrap="square" rtlCol="0">
            <a:spAutoFit/>
          </a:bodyPr>
          <a:lstStyle/>
          <a:p>
            <a:pPr algn="ctr"/>
            <a:r>
              <a:rPr lang="de-DE" sz="2400" dirty="0">
                <a:solidFill>
                  <a:schemeClr val="bg1"/>
                </a:solidFill>
              </a:rPr>
              <a:t>(Nature </a:t>
            </a:r>
            <a:r>
              <a:rPr lang="de-DE" sz="2400" dirty="0" err="1">
                <a:solidFill>
                  <a:schemeClr val="bg1"/>
                </a:solidFill>
              </a:rPr>
              <a:t>of</a:t>
            </a:r>
            <a:r>
              <a:rPr lang="de-DE" sz="2400" dirty="0">
                <a:solidFill>
                  <a:schemeClr val="bg1"/>
                </a:solidFill>
              </a:rPr>
              <a:t> Science)</a:t>
            </a:r>
          </a:p>
        </p:txBody>
      </p:sp>
      <p:sp>
        <p:nvSpPr>
          <p:cNvPr id="29" name="Textfeld 28">
            <a:extLst>
              <a:ext uri="{FF2B5EF4-FFF2-40B4-BE49-F238E27FC236}">
                <a16:creationId xmlns:a16="http://schemas.microsoft.com/office/drawing/2014/main" id="{6A161D81-B0A6-4E9D-8513-C84F39DCD7A2}"/>
              </a:ext>
            </a:extLst>
          </p:cNvPr>
          <p:cNvSpPr txBox="1"/>
          <p:nvPr/>
        </p:nvSpPr>
        <p:spPr>
          <a:xfrm>
            <a:off x="9282282" y="5306911"/>
            <a:ext cx="3048000" cy="461665"/>
          </a:xfrm>
          <a:prstGeom prst="rect">
            <a:avLst/>
          </a:prstGeom>
          <a:noFill/>
        </p:spPr>
        <p:txBody>
          <a:bodyPr wrap="square" rtlCol="0">
            <a:spAutoFit/>
          </a:bodyPr>
          <a:lstStyle/>
          <a:p>
            <a:pPr algn="ctr"/>
            <a:r>
              <a:rPr lang="de-DE" sz="2400" i="1" dirty="0">
                <a:solidFill>
                  <a:schemeClr val="bg1"/>
                </a:solidFill>
              </a:rPr>
              <a:t>(</a:t>
            </a:r>
            <a:r>
              <a:rPr lang="de-DE" sz="2400" i="1" dirty="0" err="1">
                <a:solidFill>
                  <a:schemeClr val="bg1"/>
                </a:solidFill>
              </a:rPr>
              <a:t>Epistemic</a:t>
            </a:r>
            <a:r>
              <a:rPr lang="de-DE" sz="2400" i="1" dirty="0">
                <a:solidFill>
                  <a:schemeClr val="bg1"/>
                </a:solidFill>
              </a:rPr>
              <a:t> Beliefs)</a:t>
            </a:r>
          </a:p>
        </p:txBody>
      </p:sp>
      <p:pic>
        <p:nvPicPr>
          <p:cNvPr id="8" name="Grafik 7">
            <a:extLst>
              <a:ext uri="{FF2B5EF4-FFF2-40B4-BE49-F238E27FC236}">
                <a16:creationId xmlns:a16="http://schemas.microsoft.com/office/drawing/2014/main" id="{34D97665-024F-402B-B42F-0B13BB5F887F}"/>
              </a:ext>
            </a:extLst>
          </p:cNvPr>
          <p:cNvPicPr>
            <a:picLocks noChangeAspect="1"/>
          </p:cNvPicPr>
          <p:nvPr/>
        </p:nvPicPr>
        <p:blipFill>
          <a:blip r:embed="rId3"/>
          <a:stretch>
            <a:fillRect/>
          </a:stretch>
        </p:blipFill>
        <p:spPr>
          <a:xfrm>
            <a:off x="6875349" y="3260235"/>
            <a:ext cx="2650671" cy="1511711"/>
          </a:xfrm>
          <a:prstGeom prst="rect">
            <a:avLst/>
          </a:prstGeom>
        </p:spPr>
      </p:pic>
      <p:pic>
        <p:nvPicPr>
          <p:cNvPr id="2" name="Grafik 1">
            <a:extLst>
              <a:ext uri="{FF2B5EF4-FFF2-40B4-BE49-F238E27FC236}">
                <a16:creationId xmlns:a16="http://schemas.microsoft.com/office/drawing/2014/main" id="{F6AB392B-8E86-44AC-9A61-5AE096CAFE1F}"/>
              </a:ext>
            </a:extLst>
          </p:cNvPr>
          <p:cNvPicPr>
            <a:picLocks noChangeAspect="1"/>
          </p:cNvPicPr>
          <p:nvPr/>
        </p:nvPicPr>
        <p:blipFill>
          <a:blip r:embed="rId4"/>
          <a:stretch>
            <a:fillRect/>
          </a:stretch>
        </p:blipFill>
        <p:spPr>
          <a:xfrm>
            <a:off x="840615" y="2230375"/>
            <a:ext cx="2443979" cy="3722868"/>
          </a:xfrm>
          <a:prstGeom prst="rect">
            <a:avLst/>
          </a:prstGeom>
        </p:spPr>
      </p:pic>
    </p:spTree>
    <p:extLst>
      <p:ext uri="{BB962C8B-B14F-4D97-AF65-F5344CB8AC3E}">
        <p14:creationId xmlns:p14="http://schemas.microsoft.com/office/powerpoint/2010/main" val="244404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6" grpId="0"/>
      <p:bldP spid="27" grpId="0"/>
      <p:bldP spid="28" grpId="0"/>
      <p:bldP spid="29" grpId="0"/>
    </p:bldLst>
  </p:timing>
</p:sld>
</file>

<file path=ppt/slides/slide7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1032" name="Picture 8" descr="https://lh3.googleusercontent.com/gps-cs-s/APNQkAHJ5lWSm0f7uu7KLFygwsQt3dSYp1fLHapOPTsWx8uyiNUlgFhYtfTTtsJ6LmaSPFbbp5gjk0TjuJii_icy4GDNm3xsKrBpJw4aZnEB--roJRqTF3qNRMLbCKwNGvPvixm0XAC9Mg=w540-h312-n-k-no">
            <a:extLst>
              <a:ext uri="{FF2B5EF4-FFF2-40B4-BE49-F238E27FC236}">
                <a16:creationId xmlns:a16="http://schemas.microsoft.com/office/drawing/2014/main" id="{8879CF58-81DD-4A3C-9BCB-6C16BB67D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052" y="2528330"/>
            <a:ext cx="4410948" cy="2548548"/>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p:cNvSpPr>
            <a:spLocks noGrp="1"/>
          </p:cNvSpPr>
          <p:nvPr>
            <p:ph type="ctrTitle"/>
          </p:nvPr>
        </p:nvSpPr>
        <p:spPr>
          <a:xfrm>
            <a:off x="-1384301" y="-1193802"/>
            <a:ext cx="9144000" cy="2387600"/>
          </a:xfrm>
        </p:spPr>
        <p:txBody>
          <a:bodyPr/>
          <a:lstStyle/>
          <a:p>
            <a:r>
              <a:rPr lang="en-US">
                <a:solidFill>
                  <a:schemeClr val="bg1"/>
                </a:solidFill>
              </a:rPr>
              <a:t>1957</a:t>
            </a:r>
            <a:endParaRPr lang="en-US" dirty="0">
              <a:solidFill>
                <a:schemeClr val="bg1"/>
              </a:solidFill>
            </a:endParaRP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026" name="Picture 2" descr="https://space.skyrocket.de/img_sat/sputnik-1__1.jpg">
            <a:extLst>
              <a:ext uri="{FF2B5EF4-FFF2-40B4-BE49-F238E27FC236}">
                <a16:creationId xmlns:a16="http://schemas.microsoft.com/office/drawing/2014/main" id="{6B1B93C7-6A17-4033-AF6E-0CED46F129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421" y="1732962"/>
            <a:ext cx="5056825" cy="3463925"/>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9D083A1E-9465-4544-A63D-BCA8C70538D4}"/>
              </a:ext>
            </a:extLst>
          </p:cNvPr>
          <p:cNvSpPr/>
          <p:nvPr/>
        </p:nvSpPr>
        <p:spPr>
          <a:xfrm>
            <a:off x="1127996" y="6400896"/>
            <a:ext cx="4588115" cy="369332"/>
          </a:xfrm>
          <a:prstGeom prst="rect">
            <a:avLst/>
          </a:prstGeom>
        </p:spPr>
        <p:txBody>
          <a:bodyPr wrap="none">
            <a:spAutoFit/>
          </a:bodyPr>
          <a:lstStyle/>
          <a:p>
            <a:r>
              <a:rPr lang="de-DE" dirty="0">
                <a:solidFill>
                  <a:schemeClr val="bg2">
                    <a:lumMod val="50000"/>
                  </a:schemeClr>
                </a:solidFill>
                <a:hlinkClick r:id="rId5">
                  <a:extLst>
                    <a:ext uri="{A12FA001-AC4F-418D-AE19-62706E023703}">
                      <ahyp:hlinkClr xmlns:ahyp="http://schemas.microsoft.com/office/drawing/2018/hyperlinkcolor" val="tx"/>
                    </a:ext>
                  </a:extLst>
                </a:hlinkClick>
              </a:rPr>
              <a:t>Sputnik 1 (PS-1 #1) - </a:t>
            </a:r>
            <a:r>
              <a:rPr lang="de-DE" dirty="0" err="1">
                <a:solidFill>
                  <a:schemeClr val="bg2">
                    <a:lumMod val="50000"/>
                  </a:schemeClr>
                </a:solidFill>
                <a:hlinkClick r:id="rId5">
                  <a:extLst>
                    <a:ext uri="{A12FA001-AC4F-418D-AE19-62706E023703}">
                      <ahyp:hlinkClr xmlns:ahyp="http://schemas.microsoft.com/office/drawing/2018/hyperlinkcolor" val="tx"/>
                    </a:ext>
                  </a:extLst>
                </a:hlinkClick>
              </a:rPr>
              <a:t>Gunter's</a:t>
            </a:r>
            <a:r>
              <a:rPr lang="de-DE" dirty="0">
                <a:solidFill>
                  <a:schemeClr val="bg2">
                    <a:lumMod val="50000"/>
                  </a:schemeClr>
                </a:solidFill>
                <a:hlinkClick r:id="rId5">
                  <a:extLst>
                    <a:ext uri="{A12FA001-AC4F-418D-AE19-62706E023703}">
                      <ahyp:hlinkClr xmlns:ahyp="http://schemas.microsoft.com/office/drawing/2018/hyperlinkcolor" val="tx"/>
                    </a:ext>
                  </a:extLst>
                </a:hlinkClick>
              </a:rPr>
              <a:t> Space Page</a:t>
            </a:r>
            <a:endParaRPr lang="de-DE" dirty="0">
              <a:solidFill>
                <a:schemeClr val="bg2">
                  <a:lumMod val="50000"/>
                </a:schemeClr>
              </a:solidFill>
            </a:endParaRPr>
          </a:p>
        </p:txBody>
      </p:sp>
      <p:sp>
        <p:nvSpPr>
          <p:cNvPr id="9" name="Rechteck 8">
            <a:extLst>
              <a:ext uri="{FF2B5EF4-FFF2-40B4-BE49-F238E27FC236}">
                <a16:creationId xmlns:a16="http://schemas.microsoft.com/office/drawing/2014/main" id="{3501CAE5-69F3-4283-8683-AB66A88CA5AD}"/>
              </a:ext>
            </a:extLst>
          </p:cNvPr>
          <p:cNvSpPr/>
          <p:nvPr/>
        </p:nvSpPr>
        <p:spPr>
          <a:xfrm>
            <a:off x="6285944" y="1348242"/>
            <a:ext cx="6096000" cy="769441"/>
          </a:xfrm>
          <a:prstGeom prst="rect">
            <a:avLst/>
          </a:prstGeom>
        </p:spPr>
        <p:txBody>
          <a:bodyPr>
            <a:spAutoFit/>
          </a:bodyPr>
          <a:lstStyle/>
          <a:p>
            <a:r>
              <a:rPr lang="en-US" sz="2200" dirty="0">
                <a:solidFill>
                  <a:schemeClr val="bg1"/>
                </a:solidFill>
              </a:rPr>
              <a:t>Woods Hole Conference at Cape Cod of Scientists, Scholars, and Educators</a:t>
            </a:r>
            <a:endParaRPr lang="de-DE" sz="2200" dirty="0">
              <a:solidFill>
                <a:schemeClr val="bg1"/>
              </a:solidFill>
            </a:endParaRPr>
          </a:p>
        </p:txBody>
      </p:sp>
      <p:sp>
        <p:nvSpPr>
          <p:cNvPr id="11" name="Titel 1">
            <a:extLst>
              <a:ext uri="{FF2B5EF4-FFF2-40B4-BE49-F238E27FC236}">
                <a16:creationId xmlns:a16="http://schemas.microsoft.com/office/drawing/2014/main" id="{803E373D-57E7-4BD9-A730-B54CBA536674}"/>
              </a:ext>
            </a:extLst>
          </p:cNvPr>
          <p:cNvSpPr txBox="1">
            <a:spLocks/>
          </p:cNvSpPr>
          <p:nvPr/>
        </p:nvSpPr>
        <p:spPr>
          <a:xfrm>
            <a:off x="8027244" y="279398"/>
            <a:ext cx="2066686" cy="914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bg1"/>
                </a:solidFill>
              </a:rPr>
              <a:t>1959</a:t>
            </a:r>
          </a:p>
        </p:txBody>
      </p:sp>
      <p:sp>
        <p:nvSpPr>
          <p:cNvPr id="12" name="Rechteck 11">
            <a:extLst>
              <a:ext uri="{FF2B5EF4-FFF2-40B4-BE49-F238E27FC236}">
                <a16:creationId xmlns:a16="http://schemas.microsoft.com/office/drawing/2014/main" id="{B3C5D897-619F-4569-99F5-BFF844983830}"/>
              </a:ext>
            </a:extLst>
          </p:cNvPr>
          <p:cNvSpPr/>
          <p:nvPr/>
        </p:nvSpPr>
        <p:spPr>
          <a:xfrm>
            <a:off x="7437189" y="6400848"/>
            <a:ext cx="4450898" cy="369332"/>
          </a:xfrm>
          <a:prstGeom prst="rect">
            <a:avLst/>
          </a:prstGeom>
        </p:spPr>
        <p:txBody>
          <a:bodyPr wrap="none">
            <a:spAutoFit/>
          </a:bodyPr>
          <a:lstStyle/>
          <a:p>
            <a:r>
              <a:rPr lang="de-DE" dirty="0">
                <a:solidFill>
                  <a:schemeClr val="bg2">
                    <a:lumMod val="50000"/>
                  </a:schemeClr>
                </a:solidFill>
              </a:rPr>
              <a:t>Bruner (1959). </a:t>
            </a:r>
            <a:r>
              <a:rPr lang="de-DE" i="1" dirty="0">
                <a:solidFill>
                  <a:schemeClr val="bg2">
                    <a:lumMod val="50000"/>
                  </a:schemeClr>
                </a:solidFill>
              </a:rPr>
              <a:t>The </a:t>
            </a:r>
            <a:r>
              <a:rPr lang="de-DE" i="1" dirty="0" err="1">
                <a:solidFill>
                  <a:schemeClr val="bg2">
                    <a:lumMod val="50000"/>
                  </a:schemeClr>
                </a:solidFill>
              </a:rPr>
              <a:t>Process</a:t>
            </a:r>
            <a:r>
              <a:rPr lang="de-DE" i="1" dirty="0">
                <a:solidFill>
                  <a:schemeClr val="bg2">
                    <a:lumMod val="50000"/>
                  </a:schemeClr>
                </a:solidFill>
              </a:rPr>
              <a:t> </a:t>
            </a:r>
            <a:r>
              <a:rPr lang="de-DE" i="1" dirty="0" err="1">
                <a:solidFill>
                  <a:schemeClr val="bg2">
                    <a:lumMod val="50000"/>
                  </a:schemeClr>
                </a:solidFill>
              </a:rPr>
              <a:t>of</a:t>
            </a:r>
            <a:r>
              <a:rPr lang="de-DE" i="1" dirty="0">
                <a:solidFill>
                  <a:schemeClr val="bg2">
                    <a:lumMod val="50000"/>
                  </a:schemeClr>
                </a:solidFill>
              </a:rPr>
              <a:t> Education</a:t>
            </a:r>
            <a:r>
              <a:rPr lang="de-DE" dirty="0">
                <a:solidFill>
                  <a:schemeClr val="bg2">
                    <a:lumMod val="50000"/>
                  </a:schemeClr>
                </a:solidFill>
              </a:rPr>
              <a:t>.</a:t>
            </a:r>
          </a:p>
        </p:txBody>
      </p:sp>
      <p:sp>
        <p:nvSpPr>
          <p:cNvPr id="10" name="Rechteck 9">
            <a:extLst>
              <a:ext uri="{FF2B5EF4-FFF2-40B4-BE49-F238E27FC236}">
                <a16:creationId xmlns:a16="http://schemas.microsoft.com/office/drawing/2014/main" id="{BA54D1C1-2C73-45EB-9B16-B93B1DDBE4F8}"/>
              </a:ext>
            </a:extLst>
          </p:cNvPr>
          <p:cNvSpPr/>
          <p:nvPr/>
        </p:nvSpPr>
        <p:spPr>
          <a:xfrm>
            <a:off x="6375397" y="2272125"/>
            <a:ext cx="5370381" cy="430887"/>
          </a:xfrm>
          <a:prstGeom prst="rect">
            <a:avLst/>
          </a:prstGeom>
        </p:spPr>
        <p:txBody>
          <a:bodyPr wrap="none">
            <a:spAutoFit/>
          </a:bodyPr>
          <a:lstStyle/>
          <a:p>
            <a:r>
              <a:rPr lang="en-US" sz="2200" i="1" dirty="0">
                <a:solidFill>
                  <a:schemeClr val="bg1"/>
                </a:solidFill>
              </a:rPr>
              <a:t>“Something new was stirring in the land.” </a:t>
            </a:r>
            <a:endParaRPr lang="de-DE" sz="2200" i="1" dirty="0">
              <a:solidFill>
                <a:schemeClr val="bg1"/>
              </a:solidFill>
            </a:endParaRPr>
          </a:p>
        </p:txBody>
      </p:sp>
      <p:pic>
        <p:nvPicPr>
          <p:cNvPr id="14" name="Grafik 13">
            <a:extLst>
              <a:ext uri="{FF2B5EF4-FFF2-40B4-BE49-F238E27FC236}">
                <a16:creationId xmlns:a16="http://schemas.microsoft.com/office/drawing/2014/main" id="{8656C9FE-5C1E-4AAC-9B7B-4098B6BF3981}"/>
              </a:ext>
            </a:extLst>
          </p:cNvPr>
          <p:cNvPicPr>
            <a:picLocks noChangeAspect="1"/>
          </p:cNvPicPr>
          <p:nvPr/>
        </p:nvPicPr>
        <p:blipFill>
          <a:blip r:embed="rId6"/>
          <a:stretch>
            <a:fillRect/>
          </a:stretch>
        </p:blipFill>
        <p:spPr>
          <a:xfrm>
            <a:off x="7247374" y="3284206"/>
            <a:ext cx="1157418" cy="1706405"/>
          </a:xfrm>
          <a:prstGeom prst="rect">
            <a:avLst/>
          </a:prstGeom>
        </p:spPr>
      </p:pic>
      <p:sp>
        <p:nvSpPr>
          <p:cNvPr id="17" name="Rechteck 16">
            <a:extLst>
              <a:ext uri="{FF2B5EF4-FFF2-40B4-BE49-F238E27FC236}">
                <a16:creationId xmlns:a16="http://schemas.microsoft.com/office/drawing/2014/main" id="{5C4E547F-F7B0-4D49-A17F-17497DDE9B96}"/>
              </a:ext>
            </a:extLst>
          </p:cNvPr>
          <p:cNvSpPr/>
          <p:nvPr/>
        </p:nvSpPr>
        <p:spPr>
          <a:xfrm>
            <a:off x="6388293" y="5046076"/>
            <a:ext cx="2615524" cy="430887"/>
          </a:xfrm>
          <a:prstGeom prst="rect">
            <a:avLst/>
          </a:prstGeom>
        </p:spPr>
        <p:txBody>
          <a:bodyPr wrap="none">
            <a:spAutoFit/>
          </a:bodyPr>
          <a:lstStyle/>
          <a:p>
            <a:r>
              <a:rPr lang="en-US" sz="2200" dirty="0">
                <a:solidFill>
                  <a:schemeClr val="bg1"/>
                </a:solidFill>
              </a:rPr>
              <a:t>Bruner (1939); Wiki</a:t>
            </a:r>
            <a:endParaRPr lang="de-DE" sz="2200" dirty="0">
              <a:solidFill>
                <a:schemeClr val="bg1"/>
              </a:solidFill>
            </a:endParaRPr>
          </a:p>
        </p:txBody>
      </p:sp>
      <p:sp>
        <p:nvSpPr>
          <p:cNvPr id="18" name="Rechteck 17">
            <a:extLst>
              <a:ext uri="{FF2B5EF4-FFF2-40B4-BE49-F238E27FC236}">
                <a16:creationId xmlns:a16="http://schemas.microsoft.com/office/drawing/2014/main" id="{6F62CD44-0AB0-4519-9B56-061E9A6CEDF4}"/>
              </a:ext>
            </a:extLst>
          </p:cNvPr>
          <p:cNvSpPr/>
          <p:nvPr/>
        </p:nvSpPr>
        <p:spPr>
          <a:xfrm>
            <a:off x="9133845" y="5046076"/>
            <a:ext cx="2611933" cy="430887"/>
          </a:xfrm>
          <a:prstGeom prst="rect">
            <a:avLst/>
          </a:prstGeom>
        </p:spPr>
        <p:txBody>
          <a:bodyPr wrap="none">
            <a:spAutoFit/>
          </a:bodyPr>
          <a:lstStyle/>
          <a:p>
            <a:r>
              <a:rPr lang="en-US" sz="2200" dirty="0">
                <a:solidFill>
                  <a:schemeClr val="bg1"/>
                </a:solidFill>
              </a:rPr>
              <a:t>Bruner (1916); APA</a:t>
            </a:r>
            <a:endParaRPr lang="de-DE" sz="2200" dirty="0">
              <a:solidFill>
                <a:schemeClr val="bg1"/>
              </a:solidFill>
            </a:endParaRPr>
          </a:p>
        </p:txBody>
      </p:sp>
      <p:pic>
        <p:nvPicPr>
          <p:cNvPr id="1030" name="Picture 6" descr="In Memoriam: Jerome Bruner, 1915-2016 | NYU School of Law">
            <a:extLst>
              <a:ext uri="{FF2B5EF4-FFF2-40B4-BE49-F238E27FC236}">
                <a16:creationId xmlns:a16="http://schemas.microsoft.com/office/drawing/2014/main" id="{19A73EB4-C5D3-4C04-BD4D-9E1B3E3A10D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037" r="20371" b="44223"/>
          <a:stretch/>
        </p:blipFill>
        <p:spPr bwMode="auto">
          <a:xfrm>
            <a:off x="9452819" y="3244856"/>
            <a:ext cx="1854200" cy="178510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Gerader Verbinder 15">
            <a:extLst>
              <a:ext uri="{FF2B5EF4-FFF2-40B4-BE49-F238E27FC236}">
                <a16:creationId xmlns:a16="http://schemas.microsoft.com/office/drawing/2014/main" id="{CBCCDB4A-E235-44F6-BE25-9D87291BBCC6}"/>
              </a:ext>
            </a:extLst>
          </p:cNvPr>
          <p:cNvCxnSpPr>
            <a:stCxn id="5" idx="0"/>
            <a:endCxn id="5" idx="2"/>
          </p:cNvCxnSpPr>
          <p:nvPr/>
        </p:nvCxnSpPr>
        <p:spPr>
          <a:xfrm>
            <a:off x="6096000"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B7BA31E3-A6EF-4BFE-9115-41C1904587FD}"/>
              </a:ext>
            </a:extLst>
          </p:cNvPr>
          <p:cNvSpPr/>
          <p:nvPr/>
        </p:nvSpPr>
        <p:spPr>
          <a:xfrm>
            <a:off x="6375397" y="3046872"/>
            <a:ext cx="5227713" cy="2462213"/>
          </a:xfrm>
          <a:prstGeom prst="rect">
            <a:avLst/>
          </a:prstGeom>
        </p:spPr>
        <p:txBody>
          <a:bodyPr wrap="none">
            <a:spAutoFit/>
          </a:bodyPr>
          <a:lstStyle/>
          <a:p>
            <a:pPr marL="342900" indent="-342900">
              <a:buFontTx/>
              <a:buChar char="-"/>
            </a:pPr>
            <a:r>
              <a:rPr lang="en-US" sz="2200" dirty="0">
                <a:solidFill>
                  <a:schemeClr val="bg1"/>
                </a:solidFill>
              </a:rPr>
              <a:t>Spiral curriculum</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Focus on (deep) structure and inquiry</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Tutoring systems &amp; feedback</a:t>
            </a:r>
          </a:p>
          <a:p>
            <a:pPr marL="342900" indent="-342900">
              <a:buFontTx/>
              <a:buChar char="-"/>
            </a:pPr>
            <a:endParaRPr lang="en-US" sz="2200" dirty="0">
              <a:solidFill>
                <a:schemeClr val="bg1"/>
              </a:solidFill>
            </a:endParaRPr>
          </a:p>
          <a:p>
            <a:pPr marL="342900" indent="-342900">
              <a:buFontTx/>
              <a:buChar char="-"/>
            </a:pPr>
            <a:r>
              <a:rPr lang="en-US" sz="2200" dirty="0">
                <a:solidFill>
                  <a:schemeClr val="bg1"/>
                </a:solidFill>
              </a:rPr>
              <a:t>Nature of Science</a:t>
            </a:r>
            <a:endParaRPr lang="de-DE" sz="2200" dirty="0">
              <a:solidFill>
                <a:schemeClr val="bg1"/>
              </a:solidFill>
            </a:endParaRPr>
          </a:p>
        </p:txBody>
      </p:sp>
    </p:spTree>
    <p:extLst>
      <p:ext uri="{BB962C8B-B14F-4D97-AF65-F5344CB8AC3E}">
        <p14:creationId xmlns:p14="http://schemas.microsoft.com/office/powerpoint/2010/main" val="18226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8"/>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30"/>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0" grpId="0"/>
      <p:bldP spid="17" grpId="0"/>
      <p:bldP spid="17" grpId="1"/>
      <p:bldP spid="18" grpId="0"/>
      <p:bldP spid="18" grpId="1"/>
      <p:bldP spid="23" grpId="0"/>
    </p:bldLst>
  </p:timing>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406401" y="-495302"/>
            <a:ext cx="13004801" cy="2387600"/>
          </a:xfrm>
        </p:spPr>
        <p:txBody>
          <a:bodyPr/>
          <a:lstStyle/>
          <a:p>
            <a:r>
              <a:rPr lang="en-US" i="1" dirty="0">
                <a:solidFill>
                  <a:schemeClr val="bg1"/>
                </a:solidFill>
              </a:rPr>
              <a:t>“Something new was stirring in the land.” </a:t>
            </a:r>
            <a:endParaRPr lang="de-DE" i="1" dirty="0">
              <a:solidFill>
                <a:schemeClr val="bg1"/>
              </a:solidFill>
            </a:endParaRP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hteck 11">
            <a:extLst>
              <a:ext uri="{FF2B5EF4-FFF2-40B4-BE49-F238E27FC236}">
                <a16:creationId xmlns:a16="http://schemas.microsoft.com/office/drawing/2014/main" id="{B3C5D897-619F-4569-99F5-BFF844983830}"/>
              </a:ext>
            </a:extLst>
          </p:cNvPr>
          <p:cNvSpPr/>
          <p:nvPr/>
        </p:nvSpPr>
        <p:spPr>
          <a:xfrm>
            <a:off x="236289" y="6488668"/>
            <a:ext cx="4450898" cy="369332"/>
          </a:xfrm>
          <a:prstGeom prst="rect">
            <a:avLst/>
          </a:prstGeom>
        </p:spPr>
        <p:txBody>
          <a:bodyPr wrap="none">
            <a:spAutoFit/>
          </a:bodyPr>
          <a:lstStyle/>
          <a:p>
            <a:r>
              <a:rPr lang="de-DE" dirty="0">
                <a:solidFill>
                  <a:schemeClr val="bg2">
                    <a:lumMod val="50000"/>
                  </a:schemeClr>
                </a:solidFill>
              </a:rPr>
              <a:t>Bruner (1959). </a:t>
            </a:r>
            <a:r>
              <a:rPr lang="de-DE" i="1" dirty="0">
                <a:solidFill>
                  <a:schemeClr val="bg2">
                    <a:lumMod val="50000"/>
                  </a:schemeClr>
                </a:solidFill>
              </a:rPr>
              <a:t>The </a:t>
            </a:r>
            <a:r>
              <a:rPr lang="de-DE" i="1" dirty="0" err="1">
                <a:solidFill>
                  <a:schemeClr val="bg2">
                    <a:lumMod val="50000"/>
                  </a:schemeClr>
                </a:solidFill>
              </a:rPr>
              <a:t>Process</a:t>
            </a:r>
            <a:r>
              <a:rPr lang="de-DE" i="1" dirty="0">
                <a:solidFill>
                  <a:schemeClr val="bg2">
                    <a:lumMod val="50000"/>
                  </a:schemeClr>
                </a:solidFill>
              </a:rPr>
              <a:t> </a:t>
            </a:r>
            <a:r>
              <a:rPr lang="de-DE" i="1" dirty="0" err="1">
                <a:solidFill>
                  <a:schemeClr val="bg2">
                    <a:lumMod val="50000"/>
                  </a:schemeClr>
                </a:solidFill>
              </a:rPr>
              <a:t>of</a:t>
            </a:r>
            <a:r>
              <a:rPr lang="de-DE" i="1" dirty="0">
                <a:solidFill>
                  <a:schemeClr val="bg2">
                    <a:lumMod val="50000"/>
                  </a:schemeClr>
                </a:solidFill>
              </a:rPr>
              <a:t> Education</a:t>
            </a:r>
            <a:r>
              <a:rPr lang="de-DE" dirty="0">
                <a:solidFill>
                  <a:schemeClr val="bg2">
                    <a:lumMod val="50000"/>
                  </a:schemeClr>
                </a:solidFill>
              </a:rPr>
              <a:t>.</a:t>
            </a:r>
          </a:p>
        </p:txBody>
      </p:sp>
      <p:sp>
        <p:nvSpPr>
          <p:cNvPr id="19" name="Titel 1">
            <a:extLst>
              <a:ext uri="{FF2B5EF4-FFF2-40B4-BE49-F238E27FC236}">
                <a16:creationId xmlns:a16="http://schemas.microsoft.com/office/drawing/2014/main" id="{99CE92F7-4954-4035-BA52-0ECB18FDB736}"/>
              </a:ext>
            </a:extLst>
          </p:cNvPr>
          <p:cNvSpPr txBox="1">
            <a:spLocks/>
          </p:cNvSpPr>
          <p:nvPr/>
        </p:nvSpPr>
        <p:spPr>
          <a:xfrm>
            <a:off x="-406401" y="2387600"/>
            <a:ext cx="13004801" cy="238760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i="1" dirty="0">
                <a:solidFill>
                  <a:schemeClr val="bg1"/>
                </a:solidFill>
              </a:rPr>
              <a:t>“Spiral curriculum, deep structure for learning transfer, warm aspects (</a:t>
            </a:r>
            <a:r>
              <a:rPr lang="en-US" i="1" dirty="0" err="1">
                <a:solidFill>
                  <a:schemeClr val="bg1"/>
                </a:solidFill>
              </a:rPr>
              <a:t>i.e</a:t>
            </a:r>
            <a:r>
              <a:rPr lang="en-US" i="1" dirty="0">
                <a:solidFill>
                  <a:schemeClr val="bg1"/>
                </a:solidFill>
              </a:rPr>
              <a:t>, motivational-affective factors); teaching general nature of science principles (e.g., </a:t>
            </a:r>
            <a:r>
              <a:rPr lang="en-US" i="1" dirty="0" err="1">
                <a:solidFill>
                  <a:schemeClr val="bg1"/>
                </a:solidFill>
              </a:rPr>
              <a:t>taxonomization</a:t>
            </a:r>
            <a:r>
              <a:rPr lang="en-US" i="1" dirty="0">
                <a:solidFill>
                  <a:schemeClr val="bg1"/>
                </a:solidFill>
              </a:rPr>
              <a:t>, measurement, modeling)</a:t>
            </a:r>
            <a:endParaRPr lang="de-DE" i="1" dirty="0">
              <a:solidFill>
                <a:schemeClr val="bg1"/>
              </a:solidFill>
            </a:endParaRPr>
          </a:p>
        </p:txBody>
      </p:sp>
    </p:spTree>
    <p:extLst>
      <p:ext uri="{BB962C8B-B14F-4D97-AF65-F5344CB8AC3E}">
        <p14:creationId xmlns:p14="http://schemas.microsoft.com/office/powerpoint/2010/main" val="47204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bg1"/>
                </a:solidFill>
              </a:rPr>
              <a:t>Theory of knowledge</a:t>
            </a:r>
            <a:br>
              <a:rPr lang="en-US" sz="3200" dirty="0">
                <a:solidFill>
                  <a:schemeClr val="bg1"/>
                </a:solidFill>
              </a:rPr>
            </a:br>
            <a:br>
              <a:rPr lang="en-US" sz="3200" dirty="0">
                <a:solidFill>
                  <a:schemeClr val="bg1"/>
                </a:solidFill>
              </a:rPr>
            </a:br>
            <a:r>
              <a:rPr lang="en-US" sz="2400" i="1" dirty="0">
                <a:solidFill>
                  <a:schemeClr val="bg1"/>
                </a:solidFill>
              </a:rPr>
              <a:t>Our theoretical assumptions</a:t>
            </a:r>
            <a:br>
              <a:rPr lang="en-US" sz="2400" i="1" dirty="0">
                <a:solidFill>
                  <a:schemeClr val="bg1"/>
                </a:solidFill>
              </a:rPr>
            </a:br>
            <a:r>
              <a:rPr lang="en-US" sz="2400" i="1" dirty="0">
                <a:solidFill>
                  <a:schemeClr val="bg1"/>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bg1"/>
                </a:solidFill>
              </a:rPr>
              <a:t>Model of knowledge</a:t>
            </a:r>
          </a:p>
          <a:p>
            <a:endParaRPr lang="en-US" sz="2800" dirty="0">
              <a:solidFill>
                <a:schemeClr val="bg1"/>
              </a:solidFill>
            </a:endParaRPr>
          </a:p>
          <a:p>
            <a:r>
              <a:rPr lang="en-US" sz="2200" i="1" dirty="0">
                <a:solidFill>
                  <a:schemeClr val="bg1"/>
                </a:solidFill>
              </a:rPr>
              <a:t>Our statistical model</a:t>
            </a:r>
          </a:p>
          <a:p>
            <a:r>
              <a:rPr lang="en-US" sz="2200" i="1" dirty="0">
                <a:solidFill>
                  <a:schemeClr val="bg1"/>
                </a:solidFill>
              </a:rPr>
              <a:t>about learners` knowledge</a:t>
            </a:r>
          </a:p>
        </p:txBody>
      </p:sp>
      <p:cxnSp>
        <p:nvCxnSpPr>
          <p:cNvPr id="9" name="Gerade Verbindung mit Pfeil 8">
            <a:extLst>
              <a:ext uri="{FF2B5EF4-FFF2-40B4-BE49-F238E27FC236}">
                <a16:creationId xmlns:a16="http://schemas.microsoft.com/office/drawing/2014/main" id="{96DFA16D-A36A-4304-B2FE-9FA5C7F153D5}"/>
              </a:ext>
            </a:extLst>
          </p:cNvPr>
          <p:cNvCxnSpPr>
            <a:cxnSpLocks/>
          </p:cNvCxnSpPr>
          <p:nvPr/>
        </p:nvCxnSpPr>
        <p:spPr>
          <a:xfrm>
            <a:off x="4749800" y="2787904"/>
            <a:ext cx="26924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44D57E33-E697-418D-9C9F-A8FAC43470B2}"/>
              </a:ext>
            </a:extLst>
          </p:cNvPr>
          <p:cNvCxnSpPr>
            <a:cxnSpLocks/>
          </p:cNvCxnSpPr>
          <p:nvPr/>
        </p:nvCxnSpPr>
        <p:spPr>
          <a:xfrm flipH="1">
            <a:off x="4749800" y="3759708"/>
            <a:ext cx="26924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41442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accent6">
                    <a:lumMod val="60000"/>
                    <a:lumOff val="40000"/>
                  </a:schemeClr>
                </a:solidFill>
              </a:rPr>
              <a:t>Theory</a:t>
            </a:r>
            <a:r>
              <a:rPr lang="en-US" sz="3100" dirty="0">
                <a:solidFill>
                  <a:schemeClr val="bg1"/>
                </a:solidFill>
              </a:rPr>
              <a:t> of </a:t>
            </a:r>
            <a:r>
              <a:rPr lang="en-US" sz="3100" dirty="0">
                <a:solidFill>
                  <a:schemeClr val="accent4">
                    <a:lumMod val="60000"/>
                    <a:lumOff val="40000"/>
                  </a:schemeClr>
                </a:solidFill>
              </a:rPr>
              <a:t>knowledge</a:t>
            </a:r>
            <a:br>
              <a:rPr lang="en-US" sz="3200" dirty="0">
                <a:solidFill>
                  <a:schemeClr val="bg1"/>
                </a:solidFill>
              </a:rPr>
            </a:br>
            <a:br>
              <a:rPr lang="en-US" sz="3200" dirty="0">
                <a:solidFill>
                  <a:schemeClr val="bg1"/>
                </a:solidFill>
              </a:rPr>
            </a:br>
            <a:r>
              <a:rPr lang="en-US" sz="2400" i="1" dirty="0">
                <a:solidFill>
                  <a:schemeClr val="accent6">
                    <a:lumMod val="60000"/>
                    <a:lumOff val="40000"/>
                  </a:schemeClr>
                </a:solidFill>
              </a:rPr>
              <a:t>Our theoretical assumptions</a:t>
            </a:r>
            <a:br>
              <a:rPr lang="en-US" sz="2400" i="1" dirty="0">
                <a:solidFill>
                  <a:schemeClr val="accent6">
                    <a:lumMod val="60000"/>
                    <a:lumOff val="40000"/>
                  </a:schemeClr>
                </a:solidFill>
              </a:rPr>
            </a:br>
            <a:r>
              <a:rPr lang="en-US" sz="2400" i="1" dirty="0">
                <a:solidFill>
                  <a:schemeClr val="accent6">
                    <a:lumMod val="60000"/>
                    <a:lumOff val="40000"/>
                  </a:schemeClr>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accent5">
                    <a:lumMod val="60000"/>
                    <a:lumOff val="40000"/>
                  </a:schemeClr>
                </a:solidFill>
              </a:rPr>
              <a:t>Model</a:t>
            </a:r>
            <a:r>
              <a:rPr lang="en-US" sz="2800" dirty="0">
                <a:solidFill>
                  <a:schemeClr val="bg1"/>
                </a:solidFill>
              </a:rPr>
              <a:t> of </a:t>
            </a:r>
            <a:r>
              <a:rPr lang="en-US" sz="2800" dirty="0">
                <a:solidFill>
                  <a:schemeClr val="accent4">
                    <a:lumMod val="60000"/>
                    <a:lumOff val="40000"/>
                  </a:schemeClr>
                </a:solidFill>
              </a:rPr>
              <a:t>knowledge</a:t>
            </a:r>
          </a:p>
          <a:p>
            <a:endParaRPr lang="en-US" sz="2800" dirty="0">
              <a:solidFill>
                <a:schemeClr val="bg1"/>
              </a:solidFill>
            </a:endParaRPr>
          </a:p>
          <a:p>
            <a:r>
              <a:rPr lang="en-US" sz="2200" i="1" dirty="0">
                <a:solidFill>
                  <a:schemeClr val="accent5">
                    <a:lumMod val="60000"/>
                    <a:lumOff val="40000"/>
                  </a:schemeClr>
                </a:solidFill>
              </a:rPr>
              <a:t>Our statistical model</a:t>
            </a:r>
          </a:p>
          <a:p>
            <a:r>
              <a:rPr lang="en-US" sz="2200" i="1" dirty="0">
                <a:solidFill>
                  <a:schemeClr val="accent5">
                    <a:lumMod val="60000"/>
                    <a:lumOff val="40000"/>
                  </a:schemeClr>
                </a:solidFill>
              </a:rPr>
              <a:t>about learners` knowledge</a:t>
            </a:r>
          </a:p>
        </p:txBody>
      </p:sp>
      <p:sp>
        <p:nvSpPr>
          <p:cNvPr id="3" name="Textfeld 2">
            <a:extLst>
              <a:ext uri="{FF2B5EF4-FFF2-40B4-BE49-F238E27FC236}">
                <a16:creationId xmlns:a16="http://schemas.microsoft.com/office/drawing/2014/main" id="{E0FDA858-8300-4D0E-91DD-FC66F79A098A}"/>
              </a:ext>
            </a:extLst>
          </p:cNvPr>
          <p:cNvSpPr txBox="1"/>
          <p:nvPr/>
        </p:nvSpPr>
        <p:spPr>
          <a:xfrm>
            <a:off x="3683000" y="973993"/>
            <a:ext cx="5003800" cy="769441"/>
          </a:xfrm>
          <a:prstGeom prst="rect">
            <a:avLst/>
          </a:prstGeom>
          <a:noFill/>
        </p:spPr>
        <p:txBody>
          <a:bodyPr wrap="square" rtlCol="0">
            <a:spAutoFit/>
          </a:bodyPr>
          <a:lstStyle/>
          <a:p>
            <a:r>
              <a:rPr lang="de-DE" sz="2200" i="1" dirty="0" err="1">
                <a:solidFill>
                  <a:schemeClr val="accent4">
                    <a:lumMod val="60000"/>
                    <a:lumOff val="40000"/>
                  </a:schemeClr>
                </a:solidFill>
              </a:rPr>
              <a:t>Learners`mental</a:t>
            </a:r>
            <a:r>
              <a:rPr lang="de-DE" sz="2200" i="1" dirty="0">
                <a:solidFill>
                  <a:schemeClr val="accent4">
                    <a:lumMod val="60000"/>
                    <a:lumOff val="40000"/>
                  </a:schemeClr>
                </a:solidFill>
              </a:rPr>
              <a:t> </a:t>
            </a:r>
            <a:r>
              <a:rPr lang="de-DE" sz="2200" i="1" dirty="0" err="1">
                <a:solidFill>
                  <a:schemeClr val="accent4">
                    <a:lumMod val="60000"/>
                    <a:lumOff val="40000"/>
                  </a:schemeClr>
                </a:solidFill>
              </a:rPr>
              <a:t>representations</a:t>
            </a:r>
            <a:r>
              <a:rPr lang="de-DE" sz="2200" i="1" dirty="0">
                <a:solidFill>
                  <a:schemeClr val="accent4">
                    <a:lumMod val="60000"/>
                    <a:lumOff val="40000"/>
                  </a:schemeClr>
                </a:solidFill>
              </a:rPr>
              <a:t> </a:t>
            </a:r>
            <a:r>
              <a:rPr lang="de-DE" sz="2200" i="1" dirty="0" err="1">
                <a:solidFill>
                  <a:schemeClr val="accent4">
                    <a:lumMod val="60000"/>
                    <a:lumOff val="40000"/>
                  </a:schemeClr>
                </a:solidFill>
              </a:rPr>
              <a:t>of</a:t>
            </a:r>
            <a:r>
              <a:rPr lang="de-DE" sz="2200" i="1" dirty="0">
                <a:solidFill>
                  <a:schemeClr val="accent4">
                    <a:lumMod val="60000"/>
                    <a:lumOff val="40000"/>
                  </a:schemeClr>
                </a:solidFill>
              </a:rPr>
              <a:t> domain-</a:t>
            </a:r>
            <a:r>
              <a:rPr lang="de-DE" sz="2200" i="1" dirty="0" err="1">
                <a:solidFill>
                  <a:schemeClr val="accent4">
                    <a:lumMod val="60000"/>
                    <a:lumOff val="40000"/>
                  </a:schemeClr>
                </a:solidFill>
              </a:rPr>
              <a:t>specific</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contents</a:t>
            </a:r>
            <a:endParaRPr lang="de-DE" sz="2200" i="1" dirty="0">
              <a:solidFill>
                <a:schemeClr val="accent4">
                  <a:lumMod val="60000"/>
                  <a:lumOff val="40000"/>
                </a:schemeClr>
              </a:solidFill>
            </a:endParaRPr>
          </a:p>
        </p:txBody>
      </p:sp>
      <p:sp>
        <p:nvSpPr>
          <p:cNvPr id="8" name="Textfeld 7">
            <a:extLst>
              <a:ext uri="{FF2B5EF4-FFF2-40B4-BE49-F238E27FC236}">
                <a16:creationId xmlns:a16="http://schemas.microsoft.com/office/drawing/2014/main" id="{29ADAC8A-D930-43A2-A5A3-C27897282D22}"/>
              </a:ext>
            </a:extLst>
          </p:cNvPr>
          <p:cNvSpPr txBox="1"/>
          <p:nvPr/>
        </p:nvSpPr>
        <p:spPr>
          <a:xfrm>
            <a:off x="3860799" y="4548663"/>
            <a:ext cx="6012405" cy="1107996"/>
          </a:xfrm>
          <a:prstGeom prst="rect">
            <a:avLst/>
          </a:prstGeom>
          <a:noFill/>
        </p:spPr>
        <p:txBody>
          <a:bodyPr wrap="square" rtlCol="0">
            <a:spAutoFit/>
          </a:bodyPr>
          <a:lstStyle/>
          <a:p>
            <a:r>
              <a:rPr lang="de-DE" sz="2200" i="1" dirty="0">
                <a:solidFill>
                  <a:schemeClr val="accent4">
                    <a:lumMod val="60000"/>
                    <a:lumOff val="40000"/>
                  </a:schemeClr>
                </a:solidFill>
              </a:rPr>
              <a:t>not domain-general </a:t>
            </a:r>
            <a:r>
              <a:rPr lang="de-DE" sz="2200" i="1" dirty="0" err="1">
                <a:solidFill>
                  <a:schemeClr val="accent4">
                    <a:lumMod val="60000"/>
                    <a:lumOff val="40000"/>
                  </a:schemeClr>
                </a:solidFill>
              </a:rPr>
              <a:t>reasoning</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intelligence</a:t>
            </a:r>
            <a:r>
              <a:rPr lang="de-DE" sz="2200" i="1" dirty="0">
                <a:solidFill>
                  <a:schemeClr val="accent4">
                    <a:lumMod val="60000"/>
                    <a:lumOff val="40000"/>
                  </a:schemeClr>
                </a:solidFill>
              </a:rPr>
              <a:t>), motivational-</a:t>
            </a:r>
            <a:r>
              <a:rPr lang="de-DE" sz="2200" i="1" dirty="0" err="1">
                <a:solidFill>
                  <a:schemeClr val="accent4">
                    <a:lumMod val="60000"/>
                    <a:lumOff val="40000"/>
                  </a:schemeClr>
                </a:solidFill>
              </a:rPr>
              <a:t>affective</a:t>
            </a:r>
            <a:r>
              <a:rPr lang="de-DE" sz="2200" i="1" dirty="0">
                <a:solidFill>
                  <a:schemeClr val="accent4">
                    <a:lumMod val="60000"/>
                    <a:lumOff val="40000"/>
                  </a:schemeClr>
                </a:solidFill>
              </a:rPr>
              <a:t> </a:t>
            </a:r>
            <a:r>
              <a:rPr lang="de-DE" sz="2200" i="1" dirty="0" err="1">
                <a:solidFill>
                  <a:schemeClr val="accent4">
                    <a:lumMod val="60000"/>
                    <a:lumOff val="40000"/>
                  </a:schemeClr>
                </a:solidFill>
              </a:rPr>
              <a:t>factors</a:t>
            </a:r>
            <a:r>
              <a:rPr lang="de-DE" sz="2200" i="1" dirty="0">
                <a:solidFill>
                  <a:schemeClr val="accent4">
                    <a:lumMod val="60000"/>
                    <a:lumOff val="40000"/>
                  </a:schemeClr>
                </a:solidFill>
              </a:rPr>
              <a:t>, </a:t>
            </a:r>
            <a:r>
              <a:rPr lang="de-DE" sz="2200" i="1" dirty="0" err="1">
                <a:solidFill>
                  <a:schemeClr val="accent4">
                    <a:lumMod val="60000"/>
                    <a:lumOff val="40000"/>
                  </a:schemeClr>
                </a:solidFill>
              </a:rPr>
              <a:t>processes</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self</a:t>
            </a:r>
            <a:r>
              <a:rPr lang="de-DE" sz="2200" i="1" dirty="0">
                <a:solidFill>
                  <a:schemeClr val="accent4">
                    <a:lumMod val="60000"/>
                    <a:lumOff val="40000"/>
                  </a:schemeClr>
                </a:solidFill>
              </a:rPr>
              <a:t>-regulation)</a:t>
            </a:r>
          </a:p>
        </p:txBody>
      </p:sp>
    </p:spTree>
    <p:extLst>
      <p:ext uri="{BB962C8B-B14F-4D97-AF65-F5344CB8AC3E}">
        <p14:creationId xmlns:p14="http://schemas.microsoft.com/office/powerpoint/2010/main" val="10468890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060705" y="2255527"/>
            <a:ext cx="3689095" cy="1781043"/>
          </a:xfrm>
        </p:spPr>
        <p:txBody>
          <a:bodyPr>
            <a:normAutofit fontScale="90000"/>
          </a:bodyPr>
          <a:lstStyle/>
          <a:p>
            <a:r>
              <a:rPr lang="en-US" sz="3100" dirty="0">
                <a:solidFill>
                  <a:schemeClr val="accent6">
                    <a:lumMod val="60000"/>
                    <a:lumOff val="40000"/>
                  </a:schemeClr>
                </a:solidFill>
              </a:rPr>
              <a:t>Theory</a:t>
            </a:r>
            <a:r>
              <a:rPr lang="en-US" sz="3100" dirty="0">
                <a:solidFill>
                  <a:schemeClr val="bg1"/>
                </a:solidFill>
              </a:rPr>
              <a:t> of </a:t>
            </a:r>
            <a:r>
              <a:rPr lang="en-US" sz="3100" dirty="0">
                <a:solidFill>
                  <a:schemeClr val="accent4">
                    <a:lumMod val="60000"/>
                    <a:lumOff val="40000"/>
                  </a:schemeClr>
                </a:solidFill>
              </a:rPr>
              <a:t>knowledge</a:t>
            </a:r>
            <a:br>
              <a:rPr lang="en-US" sz="3200" dirty="0">
                <a:solidFill>
                  <a:schemeClr val="bg1"/>
                </a:solidFill>
              </a:rPr>
            </a:br>
            <a:br>
              <a:rPr lang="en-US" sz="3200" dirty="0">
                <a:solidFill>
                  <a:schemeClr val="bg1"/>
                </a:solidFill>
              </a:rPr>
            </a:br>
            <a:r>
              <a:rPr lang="en-US" sz="2400" i="1" dirty="0">
                <a:solidFill>
                  <a:schemeClr val="accent6">
                    <a:lumMod val="60000"/>
                    <a:lumOff val="40000"/>
                  </a:schemeClr>
                </a:solidFill>
              </a:rPr>
              <a:t>Our theoretical assumptions</a:t>
            </a:r>
            <a:br>
              <a:rPr lang="en-US" sz="2400" i="1" dirty="0">
                <a:solidFill>
                  <a:schemeClr val="accent6">
                    <a:lumMod val="60000"/>
                    <a:lumOff val="40000"/>
                  </a:schemeClr>
                </a:solidFill>
              </a:rPr>
            </a:br>
            <a:r>
              <a:rPr lang="en-US" sz="2400" i="1" dirty="0">
                <a:solidFill>
                  <a:schemeClr val="accent6">
                    <a:lumMod val="60000"/>
                    <a:lumOff val="40000"/>
                  </a:schemeClr>
                </a:solidFill>
              </a:rPr>
              <a:t>about learners` knowledge</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el 1">
            <a:extLst>
              <a:ext uri="{FF2B5EF4-FFF2-40B4-BE49-F238E27FC236}">
                <a16:creationId xmlns:a16="http://schemas.microsoft.com/office/drawing/2014/main" id="{6506C898-4FB5-49A3-8936-7828B4981EDC}"/>
              </a:ext>
            </a:extLst>
          </p:cNvPr>
          <p:cNvSpPr txBox="1">
            <a:spLocks/>
          </p:cNvSpPr>
          <p:nvPr/>
        </p:nvSpPr>
        <p:spPr>
          <a:xfrm>
            <a:off x="7442200" y="2307345"/>
            <a:ext cx="3689095" cy="17292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800" dirty="0">
                <a:solidFill>
                  <a:schemeClr val="accent5">
                    <a:lumMod val="60000"/>
                    <a:lumOff val="40000"/>
                  </a:schemeClr>
                </a:solidFill>
              </a:rPr>
              <a:t>Model</a:t>
            </a:r>
            <a:r>
              <a:rPr lang="en-US" sz="2800" dirty="0">
                <a:solidFill>
                  <a:schemeClr val="bg1"/>
                </a:solidFill>
              </a:rPr>
              <a:t> of </a:t>
            </a:r>
            <a:r>
              <a:rPr lang="en-US" sz="2800" dirty="0">
                <a:solidFill>
                  <a:schemeClr val="accent4">
                    <a:lumMod val="60000"/>
                    <a:lumOff val="40000"/>
                  </a:schemeClr>
                </a:solidFill>
              </a:rPr>
              <a:t>knowledge</a:t>
            </a:r>
          </a:p>
          <a:p>
            <a:endParaRPr lang="en-US" sz="2800" dirty="0">
              <a:solidFill>
                <a:schemeClr val="bg1"/>
              </a:solidFill>
            </a:endParaRPr>
          </a:p>
          <a:p>
            <a:r>
              <a:rPr lang="en-US" sz="2200" i="1" dirty="0">
                <a:solidFill>
                  <a:schemeClr val="accent5">
                    <a:lumMod val="60000"/>
                    <a:lumOff val="40000"/>
                  </a:schemeClr>
                </a:solidFill>
              </a:rPr>
              <a:t>Our statistical model</a:t>
            </a:r>
          </a:p>
          <a:p>
            <a:r>
              <a:rPr lang="en-US" sz="2200" i="1" dirty="0">
                <a:solidFill>
                  <a:schemeClr val="accent5">
                    <a:lumMod val="60000"/>
                    <a:lumOff val="40000"/>
                  </a:schemeClr>
                </a:solidFill>
              </a:rPr>
              <a:t>about learners` knowledge</a:t>
            </a:r>
          </a:p>
        </p:txBody>
      </p:sp>
      <p:sp>
        <p:nvSpPr>
          <p:cNvPr id="3" name="Textfeld 2">
            <a:extLst>
              <a:ext uri="{FF2B5EF4-FFF2-40B4-BE49-F238E27FC236}">
                <a16:creationId xmlns:a16="http://schemas.microsoft.com/office/drawing/2014/main" id="{E0FDA858-8300-4D0E-91DD-FC66F79A098A}"/>
              </a:ext>
            </a:extLst>
          </p:cNvPr>
          <p:cNvSpPr txBox="1"/>
          <p:nvPr/>
        </p:nvSpPr>
        <p:spPr>
          <a:xfrm>
            <a:off x="3454400" y="1592894"/>
            <a:ext cx="5816600" cy="769441"/>
          </a:xfrm>
          <a:prstGeom prst="rect">
            <a:avLst/>
          </a:prstGeom>
          <a:noFill/>
        </p:spPr>
        <p:txBody>
          <a:bodyPr wrap="square" rtlCol="0">
            <a:spAutoFit/>
          </a:bodyPr>
          <a:lstStyle/>
          <a:p>
            <a:r>
              <a:rPr lang="de-DE" sz="2200" i="1" dirty="0" err="1">
                <a:solidFill>
                  <a:schemeClr val="accent4">
                    <a:lumMod val="60000"/>
                    <a:lumOff val="40000"/>
                  </a:schemeClr>
                </a:solidFill>
              </a:rPr>
              <a:t>Learners</a:t>
            </a:r>
            <a:r>
              <a:rPr lang="de-DE" sz="2200" i="1" dirty="0">
                <a:solidFill>
                  <a:schemeClr val="accent4">
                    <a:lumMod val="60000"/>
                    <a:lumOff val="40000"/>
                  </a:schemeClr>
                </a:solidFill>
              </a:rPr>
              <a:t>` mental </a:t>
            </a:r>
            <a:r>
              <a:rPr lang="de-DE" sz="2200" i="1" dirty="0" err="1">
                <a:solidFill>
                  <a:schemeClr val="accent4">
                    <a:lumMod val="60000"/>
                    <a:lumOff val="40000"/>
                  </a:schemeClr>
                </a:solidFill>
              </a:rPr>
              <a:t>representations</a:t>
            </a:r>
            <a:r>
              <a:rPr lang="de-DE" sz="2200" i="1" dirty="0">
                <a:solidFill>
                  <a:schemeClr val="accent4">
                    <a:lumMod val="60000"/>
                    <a:lumOff val="40000"/>
                  </a:schemeClr>
                </a:solidFill>
              </a:rPr>
              <a:t> </a:t>
            </a:r>
            <a:r>
              <a:rPr lang="de-DE" sz="2200" i="1" dirty="0" err="1">
                <a:solidFill>
                  <a:schemeClr val="accent4">
                    <a:lumMod val="60000"/>
                    <a:lumOff val="40000"/>
                  </a:schemeClr>
                </a:solidFill>
              </a:rPr>
              <a:t>of</a:t>
            </a:r>
            <a:r>
              <a:rPr lang="de-DE" sz="2200" i="1" dirty="0">
                <a:solidFill>
                  <a:schemeClr val="accent4">
                    <a:lumMod val="60000"/>
                    <a:lumOff val="40000"/>
                  </a:schemeClr>
                </a:solidFill>
              </a:rPr>
              <a:t> domain-</a:t>
            </a:r>
            <a:r>
              <a:rPr lang="de-DE" sz="2200" i="1" dirty="0" err="1">
                <a:solidFill>
                  <a:schemeClr val="accent4">
                    <a:lumMod val="60000"/>
                    <a:lumOff val="40000"/>
                  </a:schemeClr>
                </a:solidFill>
              </a:rPr>
              <a:t>specific</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contents</a:t>
            </a:r>
            <a:r>
              <a:rPr lang="de-DE" sz="2200" i="1" dirty="0">
                <a:solidFill>
                  <a:schemeClr val="accent4">
                    <a:lumMod val="60000"/>
                    <a:lumOff val="40000"/>
                  </a:schemeClr>
                </a:solidFill>
              </a:rPr>
              <a:t> in </a:t>
            </a:r>
            <a:r>
              <a:rPr lang="de-DE" sz="2200" i="1" dirty="0" err="1">
                <a:solidFill>
                  <a:schemeClr val="accent4">
                    <a:lumMod val="60000"/>
                    <a:lumOff val="40000"/>
                  </a:schemeClr>
                </a:solidFill>
              </a:rPr>
              <a:t>long</a:t>
            </a:r>
            <a:r>
              <a:rPr lang="de-DE" sz="2200" i="1" dirty="0">
                <a:solidFill>
                  <a:schemeClr val="accent4">
                    <a:lumMod val="60000"/>
                    <a:lumOff val="40000"/>
                  </a:schemeClr>
                </a:solidFill>
              </a:rPr>
              <a:t>-term </a:t>
            </a:r>
            <a:r>
              <a:rPr lang="de-DE" sz="2200" i="1" dirty="0" err="1">
                <a:solidFill>
                  <a:schemeClr val="accent4">
                    <a:lumMod val="60000"/>
                    <a:lumOff val="40000"/>
                  </a:schemeClr>
                </a:solidFill>
              </a:rPr>
              <a:t>memory</a:t>
            </a:r>
            <a:endParaRPr lang="de-DE" sz="2200" i="1" dirty="0">
              <a:solidFill>
                <a:schemeClr val="accent4">
                  <a:lumMod val="60000"/>
                  <a:lumOff val="40000"/>
                </a:schemeClr>
              </a:solidFill>
            </a:endParaRPr>
          </a:p>
        </p:txBody>
      </p:sp>
      <p:sp>
        <p:nvSpPr>
          <p:cNvPr id="8" name="Textfeld 7">
            <a:extLst>
              <a:ext uri="{FF2B5EF4-FFF2-40B4-BE49-F238E27FC236}">
                <a16:creationId xmlns:a16="http://schemas.microsoft.com/office/drawing/2014/main" id="{29ADAC8A-D930-43A2-A5A3-C27897282D22}"/>
              </a:ext>
            </a:extLst>
          </p:cNvPr>
          <p:cNvSpPr txBox="1"/>
          <p:nvPr/>
        </p:nvSpPr>
        <p:spPr>
          <a:xfrm>
            <a:off x="3860800" y="4115682"/>
            <a:ext cx="5003800" cy="1107996"/>
          </a:xfrm>
          <a:prstGeom prst="rect">
            <a:avLst/>
          </a:prstGeom>
          <a:noFill/>
        </p:spPr>
        <p:txBody>
          <a:bodyPr wrap="square" rtlCol="0">
            <a:spAutoFit/>
          </a:bodyPr>
          <a:lstStyle/>
          <a:p>
            <a:r>
              <a:rPr lang="de-DE" sz="2200" i="1" dirty="0">
                <a:solidFill>
                  <a:schemeClr val="accent4">
                    <a:lumMod val="60000"/>
                    <a:lumOff val="40000"/>
                  </a:schemeClr>
                </a:solidFill>
              </a:rPr>
              <a:t>not domain-general </a:t>
            </a:r>
            <a:r>
              <a:rPr lang="de-DE" sz="2200" i="1" dirty="0" err="1">
                <a:solidFill>
                  <a:schemeClr val="accent4">
                    <a:lumMod val="60000"/>
                    <a:lumOff val="40000"/>
                  </a:schemeClr>
                </a:solidFill>
              </a:rPr>
              <a:t>reasoning</a:t>
            </a:r>
            <a:r>
              <a:rPr lang="de-DE" sz="2200" i="1" dirty="0">
                <a:solidFill>
                  <a:schemeClr val="accent4">
                    <a:lumMod val="60000"/>
                    <a:lumOff val="40000"/>
                  </a:schemeClr>
                </a:solidFill>
              </a:rPr>
              <a:t> (e.g., </a:t>
            </a:r>
            <a:r>
              <a:rPr lang="de-DE" sz="2200" i="1" dirty="0" err="1">
                <a:solidFill>
                  <a:schemeClr val="accent4">
                    <a:lumMod val="60000"/>
                    <a:lumOff val="40000"/>
                  </a:schemeClr>
                </a:solidFill>
              </a:rPr>
              <a:t>intelligence</a:t>
            </a:r>
            <a:r>
              <a:rPr lang="de-DE" sz="2200" i="1" dirty="0">
                <a:solidFill>
                  <a:schemeClr val="accent4">
                    <a:lumMod val="60000"/>
                    <a:lumOff val="40000"/>
                  </a:schemeClr>
                </a:solidFill>
              </a:rPr>
              <a:t>), </a:t>
            </a:r>
            <a:r>
              <a:rPr lang="de-DE" sz="2200" i="1" dirty="0" err="1">
                <a:solidFill>
                  <a:schemeClr val="accent4">
                    <a:lumMod val="60000"/>
                    <a:lumOff val="40000"/>
                  </a:schemeClr>
                </a:solidFill>
              </a:rPr>
              <a:t>competencies</a:t>
            </a:r>
            <a:r>
              <a:rPr lang="de-DE" sz="2200" i="1" dirty="0">
                <a:solidFill>
                  <a:schemeClr val="accent4">
                    <a:lumMod val="60000"/>
                    <a:lumOff val="40000"/>
                  </a:schemeClr>
                </a:solidFill>
              </a:rPr>
              <a:t>, motivational-</a:t>
            </a:r>
            <a:r>
              <a:rPr lang="de-DE" sz="2200" i="1" dirty="0" err="1">
                <a:solidFill>
                  <a:schemeClr val="accent4">
                    <a:lumMod val="60000"/>
                    <a:lumOff val="40000"/>
                  </a:schemeClr>
                </a:solidFill>
              </a:rPr>
              <a:t>affective</a:t>
            </a:r>
            <a:r>
              <a:rPr lang="de-DE" sz="2200" i="1" dirty="0">
                <a:solidFill>
                  <a:schemeClr val="accent4">
                    <a:lumMod val="60000"/>
                    <a:lumOff val="40000"/>
                  </a:schemeClr>
                </a:solidFill>
              </a:rPr>
              <a:t> </a:t>
            </a:r>
            <a:r>
              <a:rPr lang="de-DE" sz="2200" i="1" dirty="0" err="1">
                <a:solidFill>
                  <a:schemeClr val="accent4">
                    <a:lumMod val="60000"/>
                    <a:lumOff val="40000"/>
                  </a:schemeClr>
                </a:solidFill>
              </a:rPr>
              <a:t>factors</a:t>
            </a:r>
            <a:endParaRPr lang="de-DE" sz="2200" i="1" dirty="0">
              <a:solidFill>
                <a:schemeClr val="accent4">
                  <a:lumMod val="60000"/>
                  <a:lumOff val="40000"/>
                </a:schemeClr>
              </a:solidFill>
            </a:endParaRPr>
          </a:p>
        </p:txBody>
      </p:sp>
    </p:spTree>
    <p:extLst>
      <p:ext uri="{BB962C8B-B14F-4D97-AF65-F5344CB8AC3E}">
        <p14:creationId xmlns:p14="http://schemas.microsoft.com/office/powerpoint/2010/main" val="19911713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rot="20285446">
            <a:off x="449624" y="1988377"/>
            <a:ext cx="3798975" cy="1786801"/>
          </a:xfrm>
        </p:spPr>
        <p:txBody>
          <a:bodyPr>
            <a:normAutofit/>
          </a:bodyPr>
          <a:lstStyle/>
          <a:p>
            <a:r>
              <a:rPr lang="en-US" dirty="0">
                <a:solidFill>
                  <a:schemeClr val="bg1"/>
                </a:solidFill>
              </a:rPr>
              <a:t>Skills</a:t>
            </a:r>
          </a:p>
          <a:p>
            <a:r>
              <a:rPr lang="en-US" dirty="0">
                <a:solidFill>
                  <a:schemeClr val="bg1"/>
                </a:solidFill>
              </a:rPr>
              <a:t>&amp; </a:t>
            </a:r>
          </a:p>
          <a:p>
            <a:r>
              <a:rPr lang="en-US" dirty="0">
                <a:solidFill>
                  <a:schemeClr val="bg1"/>
                </a:solidFill>
              </a:rPr>
              <a:t>Competencies</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Untertitel 2">
            <a:extLst>
              <a:ext uri="{FF2B5EF4-FFF2-40B4-BE49-F238E27FC236}">
                <a16:creationId xmlns:a16="http://schemas.microsoft.com/office/drawing/2014/main" id="{5C338CA3-56EC-4DEB-BBC8-BD851B1459A4}"/>
              </a:ext>
            </a:extLst>
          </p:cNvPr>
          <p:cNvSpPr txBox="1">
            <a:spLocks/>
          </p:cNvSpPr>
          <p:nvPr/>
        </p:nvSpPr>
        <p:spPr>
          <a:xfrm rot="1765541">
            <a:off x="7880722" y="2215530"/>
            <a:ext cx="3443040" cy="1451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Motivation</a:t>
            </a:r>
          </a:p>
          <a:p>
            <a:r>
              <a:rPr lang="en-US" dirty="0">
                <a:solidFill>
                  <a:schemeClr val="bg1"/>
                </a:solidFill>
              </a:rPr>
              <a:t>&amp;</a:t>
            </a:r>
          </a:p>
          <a:p>
            <a:r>
              <a:rPr lang="en-US" dirty="0">
                <a:solidFill>
                  <a:schemeClr val="bg1"/>
                </a:solidFill>
              </a:rPr>
              <a:t>emotion</a:t>
            </a:r>
          </a:p>
        </p:txBody>
      </p:sp>
      <p:sp>
        <p:nvSpPr>
          <p:cNvPr id="8" name="Untertitel 2">
            <a:extLst>
              <a:ext uri="{FF2B5EF4-FFF2-40B4-BE49-F238E27FC236}">
                <a16:creationId xmlns:a16="http://schemas.microsoft.com/office/drawing/2014/main" id="{61758FCC-0EDE-4A6D-AA42-A2AD9804AEB5}"/>
              </a:ext>
            </a:extLst>
          </p:cNvPr>
          <p:cNvSpPr txBox="1">
            <a:spLocks/>
          </p:cNvSpPr>
          <p:nvPr/>
        </p:nvSpPr>
        <p:spPr>
          <a:xfrm>
            <a:off x="4230443" y="4671549"/>
            <a:ext cx="3515745" cy="14433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Self-regulation</a:t>
            </a:r>
          </a:p>
          <a:p>
            <a:r>
              <a:rPr lang="en-US" dirty="0">
                <a:solidFill>
                  <a:schemeClr val="bg1"/>
                </a:solidFill>
              </a:rPr>
              <a:t>&amp;</a:t>
            </a:r>
          </a:p>
          <a:p>
            <a:r>
              <a:rPr lang="en-US" dirty="0">
                <a:solidFill>
                  <a:schemeClr val="bg1"/>
                </a:solidFill>
              </a:rPr>
              <a:t>meta-cognition</a:t>
            </a:r>
          </a:p>
        </p:txBody>
      </p:sp>
      <p:sp>
        <p:nvSpPr>
          <p:cNvPr id="9" name="Untertitel 2">
            <a:extLst>
              <a:ext uri="{FF2B5EF4-FFF2-40B4-BE49-F238E27FC236}">
                <a16:creationId xmlns:a16="http://schemas.microsoft.com/office/drawing/2014/main" id="{237EC759-6CFD-4640-85BF-9BB244F79065}"/>
              </a:ext>
            </a:extLst>
          </p:cNvPr>
          <p:cNvSpPr txBox="1">
            <a:spLocks/>
          </p:cNvSpPr>
          <p:nvPr/>
        </p:nvSpPr>
        <p:spPr>
          <a:xfrm>
            <a:off x="3228081" y="2828955"/>
            <a:ext cx="5520467" cy="17419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solidFill>
                  <a:schemeClr val="bg1"/>
                </a:solidFill>
              </a:rPr>
              <a:t>Knowledge</a:t>
            </a:r>
          </a:p>
        </p:txBody>
      </p:sp>
      <p:cxnSp>
        <p:nvCxnSpPr>
          <p:cNvPr id="12" name="Gerader Verbinder 11">
            <a:extLst>
              <a:ext uri="{FF2B5EF4-FFF2-40B4-BE49-F238E27FC236}">
                <a16:creationId xmlns:a16="http://schemas.microsoft.com/office/drawing/2014/main" id="{8055514D-C4BD-4C2F-BCC1-57A334CA3D92}"/>
              </a:ext>
            </a:extLst>
          </p:cNvPr>
          <p:cNvCxnSpPr>
            <a:cxnSpLocks/>
          </p:cNvCxnSpPr>
          <p:nvPr/>
        </p:nvCxnSpPr>
        <p:spPr>
          <a:xfrm>
            <a:off x="2938272" y="3243072"/>
            <a:ext cx="10119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C048B33-7323-44E5-8962-0DF4E2E7481F}"/>
              </a:ext>
            </a:extLst>
          </p:cNvPr>
          <p:cNvCxnSpPr>
            <a:cxnSpLocks/>
            <a:stCxn id="9" idx="2"/>
          </p:cNvCxnSpPr>
          <p:nvPr/>
        </p:nvCxnSpPr>
        <p:spPr>
          <a:xfrm flipH="1" flipV="1">
            <a:off x="5988314" y="3699921"/>
            <a:ext cx="1" cy="87096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59454F67-A154-4C2A-A82A-88D307839BB9}"/>
              </a:ext>
            </a:extLst>
          </p:cNvPr>
          <p:cNvCxnSpPr>
            <a:cxnSpLocks/>
          </p:cNvCxnSpPr>
          <p:nvPr/>
        </p:nvCxnSpPr>
        <p:spPr>
          <a:xfrm flipV="1">
            <a:off x="7888224" y="2584706"/>
            <a:ext cx="860324" cy="5120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8848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014787"/>
            <a:ext cx="9144000" cy="2387600"/>
          </a:xfrm>
        </p:spPr>
        <p:txBody>
          <a:bodyPr/>
          <a:lstStyle/>
          <a:p>
            <a:r>
              <a:rPr lang="en-US" dirty="0">
                <a:solidFill>
                  <a:schemeClr val="bg1"/>
                </a:solidFill>
              </a:rPr>
              <a:t>Modeling Knowledge</a:t>
            </a:r>
          </a:p>
        </p:txBody>
      </p:sp>
      <p:sp>
        <p:nvSpPr>
          <p:cNvPr id="3" name="Untertitel 2"/>
          <p:cNvSpPr>
            <a:spLocks noGrp="1"/>
          </p:cNvSpPr>
          <p:nvPr>
            <p:ph type="subTitle" idx="1"/>
          </p:nvPr>
        </p:nvSpPr>
        <p:spPr>
          <a:xfrm>
            <a:off x="1537447" y="3439117"/>
            <a:ext cx="9144000" cy="1655762"/>
          </a:xfrm>
        </p:spPr>
        <p:txBody>
          <a:bodyPr/>
          <a:lstStyle/>
          <a:p>
            <a:r>
              <a:rPr lang="en-US" b="1" dirty="0">
                <a:solidFill>
                  <a:schemeClr val="bg1"/>
                </a:solidFill>
              </a:rPr>
              <a:t>Yesterday</a:t>
            </a:r>
          </a:p>
          <a:p>
            <a:r>
              <a:rPr lang="en-US" b="1" dirty="0">
                <a:solidFill>
                  <a:schemeClr val="bg1"/>
                </a:solidFill>
              </a:rPr>
              <a:t>Today</a:t>
            </a:r>
          </a:p>
          <a:p>
            <a:r>
              <a:rPr lang="en-US" b="1"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640541" y="3404835"/>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dirty="0">
                <a:solidFill>
                  <a:schemeClr val="bg1"/>
                </a:solidFill>
              </a:rPr>
              <a:t>Knowledge</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8139953" y="3442449"/>
            <a:ext cx="2299447"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dirty="0">
                <a:solidFill>
                  <a:schemeClr val="bg1"/>
                </a:solidFill>
              </a:rPr>
              <a:t>Model</a:t>
            </a:r>
          </a:p>
        </p:txBody>
      </p:sp>
      <p:cxnSp>
        <p:nvCxnSpPr>
          <p:cNvPr id="10" name="Gerade Verbindung mit Pfeil 9">
            <a:extLst>
              <a:ext uri="{FF2B5EF4-FFF2-40B4-BE49-F238E27FC236}">
                <a16:creationId xmlns:a16="http://schemas.microsoft.com/office/drawing/2014/main" id="{C0A01EEA-624E-4F1C-971A-AAE254F73236}"/>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5B78720-124A-46DE-A58E-F29E8A8C76E4}"/>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1800" dirty="0">
                <a:solidFill>
                  <a:schemeClr val="bg1"/>
                </a:solidFill>
              </a:rPr>
              <a:t>Peter Edelsbrunner</a:t>
            </a:r>
          </a:p>
          <a:p>
            <a:r>
              <a:rPr lang="en-US" sz="1800" dirty="0">
                <a:solidFill>
                  <a:schemeClr val="bg1"/>
                </a:solidFill>
              </a:rPr>
              <a:t>SIG3&amp;20 Meeting Turku 2026</a:t>
            </a:r>
          </a:p>
        </p:txBody>
      </p:sp>
    </p:spTree>
    <p:extLst>
      <p:ext uri="{BB962C8B-B14F-4D97-AF65-F5344CB8AC3E}">
        <p14:creationId xmlns:p14="http://schemas.microsoft.com/office/powerpoint/2010/main" val="9760152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7987043" y="1808064"/>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Development</a:t>
            </a:r>
          </a:p>
          <a:p>
            <a:endParaRPr lang="en-US" b="1" dirty="0">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460264"/>
            <a:ext cx="9144000" cy="2387600"/>
          </a:xfrm>
        </p:spPr>
        <p:txBody>
          <a:bodyPr/>
          <a:lstStyle/>
          <a:p>
            <a:r>
              <a:rPr lang="en-US" dirty="0">
                <a:solidFill>
                  <a:schemeClr val="bg1"/>
                </a:solidFill>
              </a:rPr>
              <a:t>Knowledge</a:t>
            </a:r>
          </a:p>
        </p:txBody>
      </p:sp>
      <p:cxnSp>
        <p:nvCxnSpPr>
          <p:cNvPr id="21" name="Gerade Verbindung mit Pfeil 20">
            <a:extLst>
              <a:ext uri="{FF2B5EF4-FFF2-40B4-BE49-F238E27FC236}">
                <a16:creationId xmlns:a16="http://schemas.microsoft.com/office/drawing/2014/main" id="{6F837F16-7AF1-4F6B-9E9C-535476348560}"/>
              </a:ext>
            </a:extLst>
          </p:cNvPr>
          <p:cNvCxnSpPr>
            <a:cxnSpLocks/>
          </p:cNvCxnSpPr>
          <p:nvPr/>
        </p:nvCxnSpPr>
        <p:spPr>
          <a:xfrm flipH="1">
            <a:off x="7841608" y="2166350"/>
            <a:ext cx="297836" cy="713058"/>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DF505C37-2722-4020-95B7-530CF07D4DF3}"/>
              </a:ext>
            </a:extLst>
          </p:cNvPr>
          <p:cNvSpPr txBox="1"/>
          <p:nvPr/>
        </p:nvSpPr>
        <p:spPr>
          <a:xfrm>
            <a:off x="9720293" y="2151261"/>
            <a:ext cx="2471707"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develop</a:t>
            </a:r>
            <a:r>
              <a:rPr lang="de-DE" i="1" dirty="0">
                <a:solidFill>
                  <a:schemeClr val="bg1"/>
                </a:solidFill>
              </a:rPr>
              <a:t>?</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106710" y="1420019"/>
            <a:ext cx="3261419"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do </a:t>
            </a:r>
            <a:r>
              <a:rPr lang="de-DE" i="1" dirty="0" err="1">
                <a:solidFill>
                  <a:schemeClr val="bg1"/>
                </a:solidFill>
              </a:rPr>
              <a:t>interventions</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it</a:t>
            </a:r>
            <a:r>
              <a:rPr lang="de-DE" i="1" dirty="0">
                <a:solidFill>
                  <a:schemeClr val="bg1"/>
                </a:solidFill>
              </a:rPr>
              <a:t>?</a:t>
            </a:r>
          </a:p>
        </p:txBody>
      </p:sp>
      <p:sp>
        <p:nvSpPr>
          <p:cNvPr id="36" name="Textfeld 35">
            <a:extLst>
              <a:ext uri="{FF2B5EF4-FFF2-40B4-BE49-F238E27FC236}">
                <a16:creationId xmlns:a16="http://schemas.microsoft.com/office/drawing/2014/main" id="{2D78AA9D-ED77-4381-A4B8-C0B3A0478816}"/>
              </a:ext>
            </a:extLst>
          </p:cNvPr>
          <p:cNvSpPr txBox="1"/>
          <p:nvPr/>
        </p:nvSpPr>
        <p:spPr>
          <a:xfrm>
            <a:off x="3851742" y="1415353"/>
            <a:ext cx="5947578"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learners</a:t>
            </a:r>
            <a:r>
              <a:rPr lang="de-DE" i="1" dirty="0">
                <a:solidFill>
                  <a:schemeClr val="bg1"/>
                </a:solidFill>
              </a:rPr>
              <a:t>‘ </a:t>
            </a:r>
            <a:r>
              <a:rPr lang="de-DE" i="1" dirty="0" err="1">
                <a:solidFill>
                  <a:schemeClr val="bg1"/>
                </a:solidFill>
              </a:rPr>
              <a:t>responses</a:t>
            </a:r>
            <a:r>
              <a:rPr lang="de-DE" i="1" dirty="0">
                <a:solidFill>
                  <a:schemeClr val="bg1"/>
                </a:solidFill>
              </a:rPr>
              <a:t> </a:t>
            </a:r>
            <a:r>
              <a:rPr lang="de-DE" i="1" dirty="0" err="1">
                <a:solidFill>
                  <a:schemeClr val="bg1"/>
                </a:solidFill>
              </a:rPr>
              <a:t>to</a:t>
            </a:r>
            <a:r>
              <a:rPr lang="de-DE" i="1" dirty="0">
                <a:solidFill>
                  <a:schemeClr val="bg1"/>
                </a:solidFill>
              </a:rPr>
              <a:t> </a:t>
            </a:r>
            <a:r>
              <a:rPr lang="de-DE" i="1" dirty="0" err="1">
                <a:solidFill>
                  <a:schemeClr val="bg1"/>
                </a:solidFill>
              </a:rPr>
              <a:t>interventions</a:t>
            </a:r>
            <a:r>
              <a:rPr lang="de-DE" i="1" dirty="0">
                <a:solidFill>
                  <a:schemeClr val="bg1"/>
                </a:solidFill>
              </a:rPr>
              <a:t>?</a:t>
            </a:r>
          </a:p>
        </p:txBody>
      </p:sp>
      <p:sp>
        <p:nvSpPr>
          <p:cNvPr id="17" name="Untertitel 2">
            <a:extLst>
              <a:ext uri="{FF2B5EF4-FFF2-40B4-BE49-F238E27FC236}">
                <a16:creationId xmlns:a16="http://schemas.microsoft.com/office/drawing/2014/main" id="{C2550B9F-EFE5-471C-9CCC-5B30CD6068FC}"/>
              </a:ext>
            </a:extLst>
          </p:cNvPr>
          <p:cNvSpPr txBox="1">
            <a:spLocks/>
          </p:cNvSpPr>
          <p:nvPr/>
        </p:nvSpPr>
        <p:spPr>
          <a:xfrm>
            <a:off x="2227755" y="1808064"/>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Interventions</a:t>
            </a:r>
          </a:p>
          <a:p>
            <a:endParaRPr lang="en-US" b="1" dirty="0">
              <a:solidFill>
                <a:schemeClr val="bg1"/>
              </a:solidFill>
            </a:endParaRPr>
          </a:p>
        </p:txBody>
      </p:sp>
      <p:cxnSp>
        <p:nvCxnSpPr>
          <p:cNvPr id="19" name="Gerade Verbindung mit Pfeil 18">
            <a:extLst>
              <a:ext uri="{FF2B5EF4-FFF2-40B4-BE49-F238E27FC236}">
                <a16:creationId xmlns:a16="http://schemas.microsoft.com/office/drawing/2014/main" id="{DF270004-1994-4110-AEAD-2AAE11D95EAB}"/>
              </a:ext>
            </a:extLst>
          </p:cNvPr>
          <p:cNvCxnSpPr>
            <a:cxnSpLocks/>
          </p:cNvCxnSpPr>
          <p:nvPr/>
        </p:nvCxnSpPr>
        <p:spPr>
          <a:xfrm>
            <a:off x="4101886" y="2195871"/>
            <a:ext cx="134834" cy="791169"/>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9CDBF820-691F-4312-A41D-BBFC4822566E}"/>
              </a:ext>
            </a:extLst>
          </p:cNvPr>
          <p:cNvCxnSpPr>
            <a:cxnSpLocks/>
          </p:cNvCxnSpPr>
          <p:nvPr/>
        </p:nvCxnSpPr>
        <p:spPr>
          <a:xfrm flipH="1" flipV="1">
            <a:off x="4358640" y="2166350"/>
            <a:ext cx="164420" cy="82069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00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4" grpId="0"/>
      <p:bldP spid="35" grpId="0"/>
      <p:bldP spid="36" grpId="0"/>
      <p:bldP spid="17" grpId="0"/>
    </p:bldLst>
  </p:timing>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460264"/>
            <a:ext cx="9144000" cy="2387600"/>
          </a:xfrm>
        </p:spPr>
        <p:txBody>
          <a:bodyPr/>
          <a:lstStyle/>
          <a:p>
            <a:r>
              <a:rPr lang="en-US" dirty="0">
                <a:solidFill>
                  <a:schemeClr val="bg1"/>
                </a:solidFill>
              </a:rPr>
              <a:t>Knowledge</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909290" y="1782019"/>
            <a:ext cx="1508965" cy="369332"/>
          </a:xfrm>
          <a:prstGeom prst="rect">
            <a:avLst/>
          </a:prstGeom>
          <a:noFill/>
        </p:spPr>
        <p:txBody>
          <a:bodyPr wrap="square" rtlCol="0">
            <a:spAutoFit/>
          </a:bodyPr>
          <a:lstStyle/>
          <a:p>
            <a:pPr algn="ctr"/>
            <a:r>
              <a:rPr lang="de-DE" i="1" dirty="0" err="1">
                <a:solidFill>
                  <a:schemeClr val="bg1"/>
                </a:solidFill>
              </a:rPr>
              <a:t>Procedural</a:t>
            </a:r>
            <a:endParaRPr lang="de-DE" i="1" dirty="0">
              <a:solidFill>
                <a:schemeClr val="bg1"/>
              </a:solidFill>
            </a:endParaRPr>
          </a:p>
        </p:txBody>
      </p:sp>
      <p:sp>
        <p:nvSpPr>
          <p:cNvPr id="12" name="Textfeld 11">
            <a:extLst>
              <a:ext uri="{FF2B5EF4-FFF2-40B4-BE49-F238E27FC236}">
                <a16:creationId xmlns:a16="http://schemas.microsoft.com/office/drawing/2014/main" id="{479C3784-BBC8-49E4-B102-5CBCD4C0B9E9}"/>
              </a:ext>
            </a:extLst>
          </p:cNvPr>
          <p:cNvSpPr txBox="1"/>
          <p:nvPr/>
        </p:nvSpPr>
        <p:spPr>
          <a:xfrm>
            <a:off x="2533277" y="2890472"/>
            <a:ext cx="1508965" cy="369332"/>
          </a:xfrm>
          <a:prstGeom prst="rect">
            <a:avLst/>
          </a:prstGeom>
          <a:noFill/>
        </p:spPr>
        <p:txBody>
          <a:bodyPr wrap="square" rtlCol="0">
            <a:spAutoFit/>
          </a:bodyPr>
          <a:lstStyle/>
          <a:p>
            <a:pPr algn="ctr"/>
            <a:r>
              <a:rPr lang="de-DE" i="1" dirty="0" err="1">
                <a:solidFill>
                  <a:schemeClr val="bg1"/>
                </a:solidFill>
              </a:rPr>
              <a:t>Declarative</a:t>
            </a:r>
            <a:endParaRPr lang="de-DE" i="1" dirty="0">
              <a:solidFill>
                <a:schemeClr val="bg1"/>
              </a:solidFill>
            </a:endParaRPr>
          </a:p>
        </p:txBody>
      </p:sp>
      <p:sp>
        <p:nvSpPr>
          <p:cNvPr id="13" name="Textfeld 12">
            <a:extLst>
              <a:ext uri="{FF2B5EF4-FFF2-40B4-BE49-F238E27FC236}">
                <a16:creationId xmlns:a16="http://schemas.microsoft.com/office/drawing/2014/main" id="{8503E513-6957-4921-AB0C-D9E0E1939D3E}"/>
              </a:ext>
            </a:extLst>
          </p:cNvPr>
          <p:cNvSpPr txBox="1"/>
          <p:nvPr/>
        </p:nvSpPr>
        <p:spPr>
          <a:xfrm>
            <a:off x="1441077" y="707629"/>
            <a:ext cx="1508965" cy="369332"/>
          </a:xfrm>
          <a:prstGeom prst="rect">
            <a:avLst/>
          </a:prstGeom>
          <a:noFill/>
        </p:spPr>
        <p:txBody>
          <a:bodyPr wrap="square" rtlCol="0">
            <a:spAutoFit/>
          </a:bodyPr>
          <a:lstStyle/>
          <a:p>
            <a:pPr algn="ctr"/>
            <a:r>
              <a:rPr lang="de-DE" i="1" dirty="0">
                <a:solidFill>
                  <a:schemeClr val="bg1"/>
                </a:solidFill>
              </a:rPr>
              <a:t>Fact</a:t>
            </a:r>
          </a:p>
        </p:txBody>
      </p:sp>
      <p:sp>
        <p:nvSpPr>
          <p:cNvPr id="15" name="Textfeld 14">
            <a:extLst>
              <a:ext uri="{FF2B5EF4-FFF2-40B4-BE49-F238E27FC236}">
                <a16:creationId xmlns:a16="http://schemas.microsoft.com/office/drawing/2014/main" id="{4B896E1B-61C3-4EEB-8D2A-E09AA05071CD}"/>
              </a:ext>
            </a:extLst>
          </p:cNvPr>
          <p:cNvSpPr txBox="1"/>
          <p:nvPr/>
        </p:nvSpPr>
        <p:spPr>
          <a:xfrm>
            <a:off x="165966" y="2521140"/>
            <a:ext cx="1508965" cy="369332"/>
          </a:xfrm>
          <a:prstGeom prst="rect">
            <a:avLst/>
          </a:prstGeom>
          <a:noFill/>
        </p:spPr>
        <p:txBody>
          <a:bodyPr wrap="square" rtlCol="0">
            <a:spAutoFit/>
          </a:bodyPr>
          <a:lstStyle/>
          <a:p>
            <a:pPr algn="ctr"/>
            <a:r>
              <a:rPr lang="de-DE" i="1" dirty="0" err="1">
                <a:solidFill>
                  <a:schemeClr val="bg1"/>
                </a:solidFill>
              </a:rPr>
              <a:t>Conceptual</a:t>
            </a:r>
            <a:endParaRPr lang="de-DE" i="1" dirty="0">
              <a:solidFill>
                <a:schemeClr val="bg1"/>
              </a:solidFill>
            </a:endParaRPr>
          </a:p>
        </p:txBody>
      </p:sp>
      <p:sp>
        <p:nvSpPr>
          <p:cNvPr id="2" name="Ellipse 1">
            <a:extLst>
              <a:ext uri="{FF2B5EF4-FFF2-40B4-BE49-F238E27FC236}">
                <a16:creationId xmlns:a16="http://schemas.microsoft.com/office/drawing/2014/main" id="{10BF4618-E1E7-4C03-B53B-9B596C0C45C5}"/>
              </a:ext>
            </a:extLst>
          </p:cNvPr>
          <p:cNvSpPr/>
          <p:nvPr/>
        </p:nvSpPr>
        <p:spPr>
          <a:xfrm>
            <a:off x="9144000" y="1600019"/>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Ellipse 15">
            <a:extLst>
              <a:ext uri="{FF2B5EF4-FFF2-40B4-BE49-F238E27FC236}">
                <a16:creationId xmlns:a16="http://schemas.microsoft.com/office/drawing/2014/main" id="{20DBA403-F0D0-415F-9E23-47D0200A79D5}"/>
              </a:ext>
            </a:extLst>
          </p:cNvPr>
          <p:cNvSpPr/>
          <p:nvPr/>
        </p:nvSpPr>
        <p:spPr>
          <a:xfrm>
            <a:off x="7937500" y="4149583"/>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Ellipse 19">
            <a:extLst>
              <a:ext uri="{FF2B5EF4-FFF2-40B4-BE49-F238E27FC236}">
                <a16:creationId xmlns:a16="http://schemas.microsoft.com/office/drawing/2014/main" id="{A0311D96-6806-4CE8-AD76-3635CC23DC8E}"/>
              </a:ext>
            </a:extLst>
          </p:cNvPr>
          <p:cNvSpPr/>
          <p:nvPr/>
        </p:nvSpPr>
        <p:spPr>
          <a:xfrm>
            <a:off x="9563100" y="3259804"/>
            <a:ext cx="838200" cy="54628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4" name="Gerader Verbinder 3">
            <a:extLst>
              <a:ext uri="{FF2B5EF4-FFF2-40B4-BE49-F238E27FC236}">
                <a16:creationId xmlns:a16="http://schemas.microsoft.com/office/drawing/2014/main" id="{26BBE5BC-D3B0-4B7A-BE64-734CC0BD60F7}"/>
              </a:ext>
            </a:extLst>
          </p:cNvPr>
          <p:cNvCxnSpPr>
            <a:stCxn id="2" idx="4"/>
            <a:endCxn id="20" idx="0"/>
          </p:cNvCxnSpPr>
          <p:nvPr/>
        </p:nvCxnSpPr>
        <p:spPr>
          <a:xfrm>
            <a:off x="9563100" y="2146300"/>
            <a:ext cx="419100" cy="1113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5F945601-BA25-4276-9019-F6E62A0E96F4}"/>
              </a:ext>
            </a:extLst>
          </p:cNvPr>
          <p:cNvCxnSpPr>
            <a:cxnSpLocks/>
            <a:stCxn id="20" idx="3"/>
            <a:endCxn id="16" idx="7"/>
          </p:cNvCxnSpPr>
          <p:nvPr/>
        </p:nvCxnSpPr>
        <p:spPr>
          <a:xfrm flipH="1">
            <a:off x="8652948" y="3726084"/>
            <a:ext cx="1032904" cy="503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EECDA030-BA24-45D4-A184-A5062B335900}"/>
              </a:ext>
            </a:extLst>
          </p:cNvPr>
          <p:cNvSpPr txBox="1"/>
          <p:nvPr/>
        </p:nvSpPr>
        <p:spPr>
          <a:xfrm>
            <a:off x="5341517" y="924902"/>
            <a:ext cx="1508965" cy="1754326"/>
          </a:xfrm>
          <a:prstGeom prst="rect">
            <a:avLst/>
          </a:prstGeom>
          <a:noFill/>
        </p:spPr>
        <p:txBody>
          <a:bodyPr wrap="square" rtlCol="0">
            <a:spAutoFit/>
          </a:bodyPr>
          <a:lstStyle/>
          <a:p>
            <a:pPr algn="ctr"/>
            <a:r>
              <a:rPr lang="de-DE" i="1" dirty="0" err="1">
                <a:solidFill>
                  <a:schemeClr val="bg1"/>
                </a:solidFill>
              </a:rPr>
              <a:t>Types</a:t>
            </a:r>
            <a:endParaRPr lang="de-DE" i="1" dirty="0">
              <a:solidFill>
                <a:schemeClr val="bg1"/>
              </a:solidFill>
            </a:endParaRPr>
          </a:p>
          <a:p>
            <a:pPr algn="ctr"/>
            <a:r>
              <a:rPr lang="de-DE" i="1" dirty="0">
                <a:solidFill>
                  <a:schemeClr val="bg1"/>
                </a:solidFill>
              </a:rPr>
              <a:t>Vs.</a:t>
            </a:r>
          </a:p>
          <a:p>
            <a:pPr algn="ctr"/>
            <a:r>
              <a:rPr lang="de-DE" i="1" dirty="0" err="1">
                <a:solidFill>
                  <a:schemeClr val="bg1"/>
                </a:solidFill>
              </a:rPr>
              <a:t>Qualities</a:t>
            </a:r>
            <a:endParaRPr lang="de-DE" i="1" dirty="0">
              <a:solidFill>
                <a:schemeClr val="bg1"/>
              </a:solidFill>
            </a:endParaRPr>
          </a:p>
          <a:p>
            <a:pPr algn="ctr"/>
            <a:r>
              <a:rPr lang="de-DE" i="1" dirty="0">
                <a:solidFill>
                  <a:schemeClr val="bg1"/>
                </a:solidFill>
              </a:rPr>
              <a:t>(Paas/</a:t>
            </a:r>
            <a:r>
              <a:rPr lang="de-DE" i="1" dirty="0" err="1">
                <a:solidFill>
                  <a:schemeClr val="bg1"/>
                </a:solidFill>
              </a:rPr>
              <a:t>Whoever</a:t>
            </a:r>
            <a:r>
              <a:rPr lang="de-DE" i="1" dirty="0">
                <a:solidFill>
                  <a:schemeClr val="bg1"/>
                </a:solidFill>
              </a:rPr>
              <a:t>/1998 </a:t>
            </a:r>
            <a:r>
              <a:rPr lang="de-DE" i="1" dirty="0" err="1">
                <a:solidFill>
                  <a:schemeClr val="bg1"/>
                </a:solidFill>
              </a:rPr>
              <a:t>or</a:t>
            </a:r>
            <a:r>
              <a:rPr lang="de-DE" i="1" dirty="0">
                <a:solidFill>
                  <a:schemeClr val="bg1"/>
                </a:solidFill>
              </a:rPr>
              <a:t> so)</a:t>
            </a:r>
          </a:p>
        </p:txBody>
      </p:sp>
      <p:sp>
        <p:nvSpPr>
          <p:cNvPr id="24" name="Textfeld 23">
            <a:extLst>
              <a:ext uri="{FF2B5EF4-FFF2-40B4-BE49-F238E27FC236}">
                <a16:creationId xmlns:a16="http://schemas.microsoft.com/office/drawing/2014/main" id="{0F3BC783-E78F-4CF9-B666-E74C46950D8F}"/>
              </a:ext>
            </a:extLst>
          </p:cNvPr>
          <p:cNvSpPr txBox="1"/>
          <p:nvPr/>
        </p:nvSpPr>
        <p:spPr>
          <a:xfrm>
            <a:off x="4998617" y="4061606"/>
            <a:ext cx="1508965" cy="369332"/>
          </a:xfrm>
          <a:prstGeom prst="rect">
            <a:avLst/>
          </a:prstGeom>
          <a:noFill/>
        </p:spPr>
        <p:txBody>
          <a:bodyPr wrap="square" rtlCol="0">
            <a:spAutoFit/>
          </a:bodyPr>
          <a:lstStyle/>
          <a:p>
            <a:pPr algn="ctr"/>
            <a:r>
              <a:rPr lang="de-DE" i="1" dirty="0">
                <a:solidFill>
                  <a:schemeClr val="bg1"/>
                </a:solidFill>
              </a:rPr>
              <a:t>?</a:t>
            </a:r>
          </a:p>
        </p:txBody>
      </p:sp>
      <p:sp>
        <p:nvSpPr>
          <p:cNvPr id="26" name="Textfeld 25">
            <a:extLst>
              <a:ext uri="{FF2B5EF4-FFF2-40B4-BE49-F238E27FC236}">
                <a16:creationId xmlns:a16="http://schemas.microsoft.com/office/drawing/2014/main" id="{F1523547-3495-4BE8-A1E6-6016630F8C74}"/>
              </a:ext>
            </a:extLst>
          </p:cNvPr>
          <p:cNvSpPr txBox="1"/>
          <p:nvPr/>
        </p:nvSpPr>
        <p:spPr>
          <a:xfrm>
            <a:off x="686594" y="5617183"/>
            <a:ext cx="1508965" cy="369332"/>
          </a:xfrm>
          <a:prstGeom prst="rect">
            <a:avLst/>
          </a:prstGeom>
          <a:noFill/>
        </p:spPr>
        <p:txBody>
          <a:bodyPr wrap="square" rtlCol="0">
            <a:spAutoFit/>
          </a:bodyPr>
          <a:lstStyle/>
          <a:p>
            <a:pPr algn="ctr"/>
            <a:r>
              <a:rPr lang="de-DE" i="1" dirty="0" err="1">
                <a:solidFill>
                  <a:schemeClr val="bg1"/>
                </a:solidFill>
              </a:rPr>
              <a:t>Implicit</a:t>
            </a:r>
            <a:endParaRPr lang="de-DE" i="1" dirty="0">
              <a:solidFill>
                <a:schemeClr val="bg1"/>
              </a:solidFill>
            </a:endParaRPr>
          </a:p>
        </p:txBody>
      </p:sp>
      <p:sp>
        <p:nvSpPr>
          <p:cNvPr id="27" name="Textfeld 26">
            <a:extLst>
              <a:ext uri="{FF2B5EF4-FFF2-40B4-BE49-F238E27FC236}">
                <a16:creationId xmlns:a16="http://schemas.microsoft.com/office/drawing/2014/main" id="{306E0F31-000D-4004-AAC6-1ADE192E7A7D}"/>
              </a:ext>
            </a:extLst>
          </p:cNvPr>
          <p:cNvSpPr txBox="1"/>
          <p:nvPr/>
        </p:nvSpPr>
        <p:spPr>
          <a:xfrm>
            <a:off x="1524000" y="4885231"/>
            <a:ext cx="1508965" cy="369332"/>
          </a:xfrm>
          <a:prstGeom prst="rect">
            <a:avLst/>
          </a:prstGeom>
          <a:noFill/>
        </p:spPr>
        <p:txBody>
          <a:bodyPr wrap="square" rtlCol="0">
            <a:spAutoFit/>
          </a:bodyPr>
          <a:lstStyle/>
          <a:p>
            <a:pPr algn="ctr"/>
            <a:r>
              <a:rPr lang="de-DE" i="1" dirty="0">
                <a:solidFill>
                  <a:schemeClr val="bg1"/>
                </a:solidFill>
              </a:rPr>
              <a:t>Explicit</a:t>
            </a:r>
          </a:p>
        </p:txBody>
      </p:sp>
    </p:spTree>
    <p:extLst>
      <p:ext uri="{BB962C8B-B14F-4D97-AF65-F5344CB8AC3E}">
        <p14:creationId xmlns:p14="http://schemas.microsoft.com/office/powerpoint/2010/main" val="157543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P spid="13" grpId="0"/>
      <p:bldP spid="15" grpId="0"/>
      <p:bldP spid="23" grpId="0"/>
      <p:bldP spid="24" grpId="0"/>
      <p:bldP spid="26" grpId="0"/>
      <p:bldP spid="27" grpId="0"/>
    </p:bldLst>
  </p:timing>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4147073" y="4467765"/>
            <a:ext cx="3942678" cy="447286"/>
          </a:xfrm>
        </p:spPr>
        <p:txBody>
          <a:bodyPr/>
          <a:lstStyle/>
          <a:p>
            <a:r>
              <a:rPr lang="en-US" b="1" dirty="0">
                <a:solidFill>
                  <a:schemeClr val="accent5"/>
                </a:solidFill>
              </a:rPr>
              <a:t>Theory</a:t>
            </a:r>
            <a:r>
              <a:rPr lang="en-US" b="1" dirty="0">
                <a:solidFill>
                  <a:schemeClr val="bg1"/>
                </a:solidFill>
              </a:rPr>
              <a:t> </a:t>
            </a:r>
            <a:r>
              <a:rPr lang="en-US" b="1" dirty="0">
                <a:solidFill>
                  <a:schemeClr val="accent6"/>
                </a:solidFill>
              </a:rPr>
              <a:t>representation</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hteck: abgerundete Ecken 3">
            <a:extLst>
              <a:ext uri="{FF2B5EF4-FFF2-40B4-BE49-F238E27FC236}">
                <a16:creationId xmlns:a16="http://schemas.microsoft.com/office/drawing/2014/main" id="{2A1C06D2-0D7B-43D2-A00F-B29D86A71D32}"/>
              </a:ext>
            </a:extLst>
          </p:cNvPr>
          <p:cNvSpPr/>
          <p:nvPr/>
        </p:nvSpPr>
        <p:spPr>
          <a:xfrm>
            <a:off x="1290918" y="3923209"/>
            <a:ext cx="2998694" cy="2387600"/>
          </a:xfrm>
          <a:prstGeom prst="roundRect">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829EA218-F25C-48D8-88DD-88EFA9754AEE}"/>
              </a:ext>
            </a:extLst>
          </p:cNvPr>
          <p:cNvSpPr/>
          <p:nvPr/>
        </p:nvSpPr>
        <p:spPr>
          <a:xfrm>
            <a:off x="7790330" y="3923209"/>
            <a:ext cx="2998694" cy="2387600"/>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el 1">
            <a:extLst>
              <a:ext uri="{FF2B5EF4-FFF2-40B4-BE49-F238E27FC236}">
                <a16:creationId xmlns:a16="http://schemas.microsoft.com/office/drawing/2014/main" id="{B80B60E2-F123-4216-926F-EB0FBDF86154}"/>
              </a:ext>
            </a:extLst>
          </p:cNvPr>
          <p:cNvSpPr txBox="1">
            <a:spLocks/>
          </p:cNvSpPr>
          <p:nvPr/>
        </p:nvSpPr>
        <p:spPr>
          <a:xfrm>
            <a:off x="1141879" y="3166831"/>
            <a:ext cx="3296771" cy="6965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b="1" dirty="0">
                <a:solidFill>
                  <a:schemeClr val="accent1"/>
                </a:solidFill>
              </a:rPr>
              <a:t>Theory</a:t>
            </a:r>
            <a:r>
              <a:rPr lang="en-US" sz="2400" b="1" dirty="0">
                <a:solidFill>
                  <a:schemeClr val="bg1"/>
                </a:solidFill>
              </a:rPr>
              <a:t> Knowledge</a:t>
            </a:r>
          </a:p>
        </p:txBody>
      </p:sp>
      <p:sp>
        <p:nvSpPr>
          <p:cNvPr id="8" name="Titel 1">
            <a:extLst>
              <a:ext uri="{FF2B5EF4-FFF2-40B4-BE49-F238E27FC236}">
                <a16:creationId xmlns:a16="http://schemas.microsoft.com/office/drawing/2014/main" id="{F444FED0-AEBA-4318-9742-952A28FD81AA}"/>
              </a:ext>
            </a:extLst>
          </p:cNvPr>
          <p:cNvSpPr txBox="1">
            <a:spLocks/>
          </p:cNvSpPr>
          <p:nvPr/>
        </p:nvSpPr>
        <p:spPr>
          <a:xfrm>
            <a:off x="7938247" y="3361796"/>
            <a:ext cx="2649071" cy="480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2400" b="1" dirty="0">
                <a:solidFill>
                  <a:schemeClr val="accent6"/>
                </a:solidFill>
              </a:rPr>
              <a:t>Statistical</a:t>
            </a:r>
            <a:r>
              <a:rPr lang="en-US" sz="2400" b="1" dirty="0">
                <a:solidFill>
                  <a:schemeClr val="bg1"/>
                </a:solidFill>
              </a:rPr>
              <a:t> Model</a:t>
            </a:r>
          </a:p>
        </p:txBody>
      </p:sp>
      <p:sp>
        <p:nvSpPr>
          <p:cNvPr id="25" name="Titel 1">
            <a:extLst>
              <a:ext uri="{FF2B5EF4-FFF2-40B4-BE49-F238E27FC236}">
                <a16:creationId xmlns:a16="http://schemas.microsoft.com/office/drawing/2014/main" id="{22BC0E00-AE32-4055-9C64-A4E094D0BE2C}"/>
              </a:ext>
            </a:extLst>
          </p:cNvPr>
          <p:cNvSpPr txBox="1">
            <a:spLocks/>
          </p:cNvSpPr>
          <p:nvPr/>
        </p:nvSpPr>
        <p:spPr>
          <a:xfrm>
            <a:off x="3563471" y="6370669"/>
            <a:ext cx="5109883" cy="48076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r>
              <a:rPr lang="en-US" sz="1800" dirty="0">
                <a:solidFill>
                  <a:schemeClr val="bg1"/>
                </a:solidFill>
              </a:rPr>
              <a:t>Peter Edelsbrunner</a:t>
            </a:r>
          </a:p>
          <a:p>
            <a:r>
              <a:rPr lang="en-US" sz="1800" dirty="0">
                <a:solidFill>
                  <a:schemeClr val="bg1"/>
                </a:solidFill>
              </a:rPr>
              <a:t>SIG3&amp;20 Meeting Turku 2026</a:t>
            </a: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1443318" y="5763651"/>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Theory representation</a:t>
            </a:r>
          </a:p>
        </p:txBody>
      </p:sp>
      <p:cxnSp>
        <p:nvCxnSpPr>
          <p:cNvPr id="15" name="Gerade Verbindung mit Pfeil 14">
            <a:extLst>
              <a:ext uri="{FF2B5EF4-FFF2-40B4-BE49-F238E27FC236}">
                <a16:creationId xmlns:a16="http://schemas.microsoft.com/office/drawing/2014/main" id="{BF115860-AFF7-4722-8656-EA937FB7E158}"/>
              </a:ext>
            </a:extLst>
          </p:cNvPr>
          <p:cNvCxnSpPr>
            <a:cxnSpLocks/>
          </p:cNvCxnSpPr>
          <p:nvPr/>
        </p:nvCxnSpPr>
        <p:spPr>
          <a:xfrm>
            <a:off x="4457788" y="4974158"/>
            <a:ext cx="3264229" cy="0"/>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08EE774E-27AA-4425-AE62-274E9F3CE6FD}"/>
              </a:ext>
            </a:extLst>
          </p:cNvPr>
          <p:cNvCxnSpPr>
            <a:cxnSpLocks/>
          </p:cNvCxnSpPr>
          <p:nvPr/>
        </p:nvCxnSpPr>
        <p:spPr>
          <a:xfrm flipH="1">
            <a:off x="4350751" y="5194268"/>
            <a:ext cx="3244864" cy="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Untertitel 2">
            <a:extLst>
              <a:ext uri="{FF2B5EF4-FFF2-40B4-BE49-F238E27FC236}">
                <a16:creationId xmlns:a16="http://schemas.microsoft.com/office/drawing/2014/main" id="{65045D73-D4EE-472E-A172-DE9888790125}"/>
              </a:ext>
            </a:extLst>
          </p:cNvPr>
          <p:cNvSpPr txBox="1">
            <a:spLocks/>
          </p:cNvSpPr>
          <p:nvPr/>
        </p:nvSpPr>
        <p:spPr>
          <a:xfrm>
            <a:off x="4147073" y="5244221"/>
            <a:ext cx="3942678" cy="4472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accent6"/>
                </a:solidFill>
              </a:rPr>
              <a:t>Model</a:t>
            </a:r>
            <a:r>
              <a:rPr lang="en-US" b="1" dirty="0">
                <a:solidFill>
                  <a:schemeClr val="bg1"/>
                </a:solidFill>
              </a:rPr>
              <a:t> </a:t>
            </a:r>
            <a:r>
              <a:rPr lang="en-US" b="1" dirty="0">
                <a:solidFill>
                  <a:schemeClr val="accent1"/>
                </a:solidFill>
              </a:rPr>
              <a:t>representation</a:t>
            </a:r>
          </a:p>
        </p:txBody>
      </p:sp>
    </p:spTree>
    <p:extLst>
      <p:ext uri="{BB962C8B-B14F-4D97-AF65-F5344CB8AC3E}">
        <p14:creationId xmlns:p14="http://schemas.microsoft.com/office/powerpoint/2010/main" val="35354632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Untertitel 2">
            <a:extLst>
              <a:ext uri="{FF2B5EF4-FFF2-40B4-BE49-F238E27FC236}">
                <a16:creationId xmlns:a16="http://schemas.microsoft.com/office/drawing/2014/main" id="{7039B5F8-5B42-45CE-82FE-E37634AED1BB}"/>
              </a:ext>
            </a:extLst>
          </p:cNvPr>
          <p:cNvSpPr txBox="1">
            <a:spLocks/>
          </p:cNvSpPr>
          <p:nvPr/>
        </p:nvSpPr>
        <p:spPr>
          <a:xfrm>
            <a:off x="5100916" y="4956597"/>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Development</a:t>
            </a:r>
          </a:p>
          <a:p>
            <a:endParaRPr lang="en-US" b="1" dirty="0">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1014787"/>
            <a:ext cx="9144000" cy="2387600"/>
          </a:xfrm>
        </p:spPr>
        <p:txBody>
          <a:bodyPr/>
          <a:lstStyle/>
          <a:p>
            <a:r>
              <a:rPr lang="en-US" dirty="0">
                <a:solidFill>
                  <a:schemeClr val="bg1"/>
                </a:solidFill>
              </a:rPr>
              <a:t>Knowledge</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2523282" y="3850999"/>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Intervention</a:t>
            </a:r>
          </a:p>
          <a:p>
            <a:endParaRPr lang="en-US" b="1" dirty="0">
              <a:solidFill>
                <a:schemeClr val="bg1"/>
              </a:solidFill>
            </a:endParaRPr>
          </a:p>
        </p:txBody>
      </p:sp>
      <p:cxnSp>
        <p:nvCxnSpPr>
          <p:cNvPr id="21" name="Gerade Verbindung mit Pfeil 20">
            <a:extLst>
              <a:ext uri="{FF2B5EF4-FFF2-40B4-BE49-F238E27FC236}">
                <a16:creationId xmlns:a16="http://schemas.microsoft.com/office/drawing/2014/main" id="{6F837F16-7AF1-4F6B-9E9C-535476348560}"/>
              </a:ext>
            </a:extLst>
          </p:cNvPr>
          <p:cNvCxnSpPr>
            <a:cxnSpLocks/>
          </p:cNvCxnSpPr>
          <p:nvPr/>
        </p:nvCxnSpPr>
        <p:spPr>
          <a:xfrm>
            <a:off x="3670934" y="5509549"/>
            <a:ext cx="4722469"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Untertitel 2">
            <a:extLst>
              <a:ext uri="{FF2B5EF4-FFF2-40B4-BE49-F238E27FC236}">
                <a16:creationId xmlns:a16="http://schemas.microsoft.com/office/drawing/2014/main" id="{0622EC9F-0EBA-4F0E-9A4F-D718D39D14E2}"/>
              </a:ext>
            </a:extLst>
          </p:cNvPr>
          <p:cNvSpPr txBox="1">
            <a:spLocks/>
          </p:cNvSpPr>
          <p:nvPr/>
        </p:nvSpPr>
        <p:spPr>
          <a:xfrm>
            <a:off x="4948347" y="5559221"/>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bg1"/>
                </a:solidFill>
              </a:rPr>
              <a:t>Ageing</a:t>
            </a:r>
          </a:p>
          <a:p>
            <a:endParaRPr lang="en-US" sz="1800" dirty="0">
              <a:solidFill>
                <a:schemeClr val="bg1"/>
              </a:solidFill>
            </a:endParaRPr>
          </a:p>
        </p:txBody>
      </p:sp>
      <p:cxnSp>
        <p:nvCxnSpPr>
          <p:cNvPr id="24" name="Gerade Verbindung mit Pfeil 23">
            <a:extLst>
              <a:ext uri="{FF2B5EF4-FFF2-40B4-BE49-F238E27FC236}">
                <a16:creationId xmlns:a16="http://schemas.microsoft.com/office/drawing/2014/main" id="{9AB54A60-FE86-44B7-9E57-764D489D58CF}"/>
              </a:ext>
            </a:extLst>
          </p:cNvPr>
          <p:cNvCxnSpPr>
            <a:cxnSpLocks/>
          </p:cNvCxnSpPr>
          <p:nvPr/>
        </p:nvCxnSpPr>
        <p:spPr>
          <a:xfrm>
            <a:off x="4629873" y="4224759"/>
            <a:ext cx="659757" cy="731838"/>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7DECF99F-F630-4E9A-8DEF-6D3754E1B0F8}"/>
              </a:ext>
            </a:extLst>
          </p:cNvPr>
          <p:cNvCxnSpPr>
            <a:cxnSpLocks/>
          </p:cNvCxnSpPr>
          <p:nvPr/>
        </p:nvCxnSpPr>
        <p:spPr>
          <a:xfrm flipH="1">
            <a:off x="4973087" y="4209728"/>
            <a:ext cx="524888" cy="312419"/>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Untertitel 2">
            <a:extLst>
              <a:ext uri="{FF2B5EF4-FFF2-40B4-BE49-F238E27FC236}">
                <a16:creationId xmlns:a16="http://schemas.microsoft.com/office/drawing/2014/main" id="{CCA4772B-A473-4FAE-9C9B-D5B800006474}"/>
              </a:ext>
            </a:extLst>
          </p:cNvPr>
          <p:cNvSpPr txBox="1">
            <a:spLocks/>
          </p:cNvSpPr>
          <p:nvPr/>
        </p:nvSpPr>
        <p:spPr>
          <a:xfrm>
            <a:off x="5256664" y="3843330"/>
            <a:ext cx="2295305" cy="5679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rPr>
              <a:t>Moderation</a:t>
            </a:r>
          </a:p>
          <a:p>
            <a:endParaRPr lang="en-US" b="1" dirty="0">
              <a:solidFill>
                <a:schemeClr val="bg1"/>
              </a:solidFill>
            </a:endParaRPr>
          </a:p>
        </p:txBody>
      </p:sp>
      <p:sp>
        <p:nvSpPr>
          <p:cNvPr id="34" name="Textfeld 33">
            <a:extLst>
              <a:ext uri="{FF2B5EF4-FFF2-40B4-BE49-F238E27FC236}">
                <a16:creationId xmlns:a16="http://schemas.microsoft.com/office/drawing/2014/main" id="{DF505C37-2722-4020-95B7-530CF07D4DF3}"/>
              </a:ext>
            </a:extLst>
          </p:cNvPr>
          <p:cNvSpPr txBox="1"/>
          <p:nvPr/>
        </p:nvSpPr>
        <p:spPr>
          <a:xfrm>
            <a:off x="7243652" y="4770128"/>
            <a:ext cx="2471707"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develop</a:t>
            </a:r>
            <a:r>
              <a:rPr lang="de-DE" i="1" dirty="0">
                <a:solidFill>
                  <a:schemeClr val="bg1"/>
                </a:solidFill>
              </a:rPr>
              <a:t>?</a:t>
            </a:r>
          </a:p>
        </p:txBody>
      </p:sp>
      <p:sp>
        <p:nvSpPr>
          <p:cNvPr id="35" name="Textfeld 34">
            <a:extLst>
              <a:ext uri="{FF2B5EF4-FFF2-40B4-BE49-F238E27FC236}">
                <a16:creationId xmlns:a16="http://schemas.microsoft.com/office/drawing/2014/main" id="{96946656-F258-4818-AA18-0960289DCEF1}"/>
              </a:ext>
            </a:extLst>
          </p:cNvPr>
          <p:cNvSpPr txBox="1"/>
          <p:nvPr/>
        </p:nvSpPr>
        <p:spPr>
          <a:xfrm>
            <a:off x="106813" y="3405761"/>
            <a:ext cx="3261419"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do </a:t>
            </a:r>
            <a:r>
              <a:rPr lang="de-DE" i="1" dirty="0" err="1">
                <a:solidFill>
                  <a:schemeClr val="bg1"/>
                </a:solidFill>
              </a:rPr>
              <a:t>interventions</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it</a:t>
            </a:r>
            <a:r>
              <a:rPr lang="de-DE" i="1" dirty="0">
                <a:solidFill>
                  <a:schemeClr val="bg1"/>
                </a:solidFill>
              </a:rPr>
              <a:t>?</a:t>
            </a:r>
          </a:p>
        </p:txBody>
      </p:sp>
      <p:sp>
        <p:nvSpPr>
          <p:cNvPr id="36" name="Textfeld 35">
            <a:extLst>
              <a:ext uri="{FF2B5EF4-FFF2-40B4-BE49-F238E27FC236}">
                <a16:creationId xmlns:a16="http://schemas.microsoft.com/office/drawing/2014/main" id="{2D78AA9D-ED77-4381-A4B8-C0B3A0478816}"/>
              </a:ext>
            </a:extLst>
          </p:cNvPr>
          <p:cNvSpPr txBox="1"/>
          <p:nvPr/>
        </p:nvSpPr>
        <p:spPr>
          <a:xfrm>
            <a:off x="6937805" y="3444241"/>
            <a:ext cx="4891522" cy="369332"/>
          </a:xfrm>
          <a:prstGeom prst="rect">
            <a:avLst/>
          </a:prstGeom>
          <a:noFill/>
        </p:spPr>
        <p:txBody>
          <a:bodyPr wrap="square" rtlCol="0">
            <a:spAutoFit/>
          </a:bodyPr>
          <a:lstStyle/>
          <a:p>
            <a:r>
              <a:rPr lang="de-DE" i="1" dirty="0" err="1">
                <a:solidFill>
                  <a:schemeClr val="bg1"/>
                </a:solidFill>
              </a:rPr>
              <a:t>How</a:t>
            </a:r>
            <a:r>
              <a:rPr lang="de-DE" i="1" dirty="0">
                <a:solidFill>
                  <a:schemeClr val="bg1"/>
                </a:solidFill>
              </a:rPr>
              <a:t> </a:t>
            </a:r>
            <a:r>
              <a:rPr lang="de-DE" i="1" dirty="0" err="1">
                <a:solidFill>
                  <a:schemeClr val="bg1"/>
                </a:solidFill>
              </a:rPr>
              <a:t>does</a:t>
            </a:r>
            <a:r>
              <a:rPr lang="de-DE" i="1" dirty="0">
                <a:solidFill>
                  <a:schemeClr val="bg1"/>
                </a:solidFill>
              </a:rPr>
              <a:t> </a:t>
            </a:r>
            <a:r>
              <a:rPr lang="de-DE" i="1" dirty="0" err="1">
                <a:solidFill>
                  <a:schemeClr val="bg1"/>
                </a:solidFill>
              </a:rPr>
              <a:t>it</a:t>
            </a:r>
            <a:r>
              <a:rPr lang="de-DE" i="1" dirty="0">
                <a:solidFill>
                  <a:schemeClr val="bg1"/>
                </a:solidFill>
              </a:rPr>
              <a:t> </a:t>
            </a:r>
            <a:r>
              <a:rPr lang="de-DE" i="1" dirty="0" err="1">
                <a:solidFill>
                  <a:schemeClr val="bg1"/>
                </a:solidFill>
              </a:rPr>
              <a:t>affect</a:t>
            </a:r>
            <a:r>
              <a:rPr lang="de-DE" i="1" dirty="0">
                <a:solidFill>
                  <a:schemeClr val="bg1"/>
                </a:solidFill>
              </a:rPr>
              <a:t> </a:t>
            </a:r>
            <a:r>
              <a:rPr lang="de-DE" i="1" dirty="0" err="1">
                <a:solidFill>
                  <a:schemeClr val="bg1"/>
                </a:solidFill>
              </a:rPr>
              <a:t>the</a:t>
            </a:r>
            <a:r>
              <a:rPr lang="de-DE" i="1" dirty="0">
                <a:solidFill>
                  <a:schemeClr val="bg1"/>
                </a:solidFill>
              </a:rPr>
              <a:t> </a:t>
            </a:r>
            <a:r>
              <a:rPr lang="de-DE" i="1" dirty="0" err="1">
                <a:solidFill>
                  <a:schemeClr val="bg1"/>
                </a:solidFill>
              </a:rPr>
              <a:t>effects</a:t>
            </a:r>
            <a:r>
              <a:rPr lang="de-DE" i="1" dirty="0">
                <a:solidFill>
                  <a:schemeClr val="bg1"/>
                </a:solidFill>
              </a:rPr>
              <a:t> </a:t>
            </a:r>
            <a:r>
              <a:rPr lang="de-DE" i="1" dirty="0" err="1">
                <a:solidFill>
                  <a:schemeClr val="bg1"/>
                </a:solidFill>
              </a:rPr>
              <a:t>of</a:t>
            </a:r>
            <a:r>
              <a:rPr lang="de-DE" i="1" dirty="0">
                <a:solidFill>
                  <a:schemeClr val="bg1"/>
                </a:solidFill>
              </a:rPr>
              <a:t> </a:t>
            </a:r>
            <a:r>
              <a:rPr lang="de-DE" i="1" dirty="0" err="1">
                <a:solidFill>
                  <a:schemeClr val="bg1"/>
                </a:solidFill>
              </a:rPr>
              <a:t>interventions</a:t>
            </a:r>
            <a:r>
              <a:rPr lang="de-DE" i="1" dirty="0">
                <a:solidFill>
                  <a:schemeClr val="bg1"/>
                </a:solidFill>
              </a:rPr>
              <a:t>?</a:t>
            </a:r>
          </a:p>
        </p:txBody>
      </p:sp>
    </p:spTree>
    <p:extLst>
      <p:ext uri="{BB962C8B-B14F-4D97-AF65-F5344CB8AC3E}">
        <p14:creationId xmlns:p14="http://schemas.microsoft.com/office/powerpoint/2010/main" val="170562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35" grpId="0"/>
      <p:bldP spid="36" grpId="0"/>
    </p:bldLst>
  </p:timing>
</p:sld>
</file>

<file path=ppt/slides/slide83.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2315195"/>
            <a:ext cx="9144000" cy="1087192"/>
          </a:xfrm>
        </p:spPr>
        <p:txBody>
          <a:bodyPr/>
          <a:lstStyle/>
          <a:p>
            <a:r>
              <a:rPr lang="en-US" dirty="0">
                <a:solidFill>
                  <a:schemeClr val="bg1"/>
                </a:solidFill>
              </a:rPr>
              <a:t>take home</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510450" y="3402387"/>
            <a:ext cx="3942598"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rPr>
              <a:t>1) Chocolate, because that’s always a great think to take home!</a:t>
            </a:r>
          </a:p>
          <a:p>
            <a:pPr algn="l"/>
            <a:endParaRPr lang="en-US" b="1" dirty="0">
              <a:solidFill>
                <a:schemeClr val="bg1"/>
              </a:solidFill>
            </a:endParaRPr>
          </a:p>
        </p:txBody>
      </p:sp>
      <p:sp>
        <p:nvSpPr>
          <p:cNvPr id="15" name="Untertitel 2">
            <a:extLst>
              <a:ext uri="{FF2B5EF4-FFF2-40B4-BE49-F238E27FC236}">
                <a16:creationId xmlns:a16="http://schemas.microsoft.com/office/drawing/2014/main" id="{6C0C378C-A8BC-4315-B006-9CE3A12CFF7D}"/>
              </a:ext>
            </a:extLst>
          </p:cNvPr>
          <p:cNvSpPr txBox="1">
            <a:spLocks/>
          </p:cNvSpPr>
          <p:nvPr/>
        </p:nvSpPr>
        <p:spPr>
          <a:xfrm>
            <a:off x="367014" y="4773571"/>
            <a:ext cx="11682313"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AutoNum type="arabicParenR"/>
            </a:pPr>
            <a:r>
              <a:rPr lang="en-US" b="1" dirty="0">
                <a:solidFill>
                  <a:schemeClr val="bg1"/>
                </a:solidFill>
              </a:rPr>
              <a:t>Think about your meta-theory</a:t>
            </a:r>
          </a:p>
          <a:p>
            <a:pPr algn="l"/>
            <a:r>
              <a:rPr lang="en-US" b="1" dirty="0">
                <a:solidFill>
                  <a:schemeClr val="bg1"/>
                </a:solidFill>
              </a:rPr>
              <a:t>Are your Items interchangeable or not?</a:t>
            </a:r>
          </a:p>
          <a:p>
            <a:pPr algn="l"/>
            <a:r>
              <a:rPr lang="en-US" b="1" dirty="0">
                <a:solidFill>
                  <a:schemeClr val="bg1"/>
                </a:solidFill>
              </a:rPr>
              <a:t>Construct relevance -&gt; latent variable (theory/model)</a:t>
            </a:r>
          </a:p>
          <a:p>
            <a:pPr algn="l"/>
            <a:r>
              <a:rPr lang="en-US" b="1" dirty="0">
                <a:solidFill>
                  <a:schemeClr val="bg1"/>
                </a:solidFill>
              </a:rPr>
              <a:t>Vs. models emphasizing the individual items (e.g., multilevel modeling -&gt; see my approach)</a:t>
            </a:r>
          </a:p>
          <a:p>
            <a:pPr algn="l"/>
            <a:r>
              <a:rPr lang="en-US" b="1" dirty="0">
                <a:solidFill>
                  <a:schemeClr val="bg1"/>
                </a:solidFill>
              </a:rPr>
              <a:t>Both?</a:t>
            </a:r>
          </a:p>
          <a:p>
            <a:pPr algn="l"/>
            <a:r>
              <a:rPr lang="en-US" b="1" dirty="0">
                <a:solidFill>
                  <a:schemeClr val="bg1"/>
                </a:solidFill>
              </a:rPr>
              <a:t>Do both!</a:t>
            </a:r>
          </a:p>
        </p:txBody>
      </p:sp>
    </p:spTree>
    <p:extLst>
      <p:ext uri="{BB962C8B-B14F-4D97-AF65-F5344CB8AC3E}">
        <p14:creationId xmlns:p14="http://schemas.microsoft.com/office/powerpoint/2010/main" val="213635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8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itel 1">
            <a:extLst>
              <a:ext uri="{FF2B5EF4-FFF2-40B4-BE49-F238E27FC236}">
                <a16:creationId xmlns:a16="http://schemas.microsoft.com/office/drawing/2014/main" id="{D5060B7C-5783-4C3E-AF7D-F0874D8FB05B}"/>
              </a:ext>
            </a:extLst>
          </p:cNvPr>
          <p:cNvSpPr>
            <a:spLocks noGrp="1"/>
          </p:cNvSpPr>
          <p:nvPr>
            <p:ph type="ctrTitle"/>
          </p:nvPr>
        </p:nvSpPr>
        <p:spPr>
          <a:xfrm>
            <a:off x="1524000" y="2315195"/>
            <a:ext cx="9144000" cy="1087192"/>
          </a:xfrm>
        </p:spPr>
        <p:txBody>
          <a:bodyPr/>
          <a:lstStyle/>
          <a:p>
            <a:r>
              <a:rPr lang="en-US" dirty="0">
                <a:solidFill>
                  <a:schemeClr val="bg1"/>
                </a:solidFill>
              </a:rPr>
              <a:t>central ideas and takes</a:t>
            </a:r>
          </a:p>
        </p:txBody>
      </p:sp>
      <p:sp>
        <p:nvSpPr>
          <p:cNvPr id="20" name="Untertitel 2">
            <a:extLst>
              <a:ext uri="{FF2B5EF4-FFF2-40B4-BE49-F238E27FC236}">
                <a16:creationId xmlns:a16="http://schemas.microsoft.com/office/drawing/2014/main" id="{0B166754-B6A3-467A-959C-64CDE40ACB20}"/>
              </a:ext>
            </a:extLst>
          </p:cNvPr>
          <p:cNvSpPr txBox="1">
            <a:spLocks/>
          </p:cNvSpPr>
          <p:nvPr/>
        </p:nvSpPr>
        <p:spPr>
          <a:xfrm>
            <a:off x="1059897" y="230766"/>
            <a:ext cx="10072206"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rPr>
              <a:t>Yesterday: Factor analysis, sum-and-alpha approach</a:t>
            </a:r>
          </a:p>
          <a:p>
            <a:pPr algn="l"/>
            <a:r>
              <a:rPr lang="en-US" b="1" dirty="0">
                <a:solidFill>
                  <a:schemeClr val="bg1"/>
                </a:solidFill>
              </a:rPr>
              <a:t>Today: Mixture models, network models, CDM, IRT,…, debates on reflective vs. formative,…</a:t>
            </a:r>
          </a:p>
          <a:p>
            <a:pPr algn="l"/>
            <a:r>
              <a:rPr lang="en-US" b="1" dirty="0">
                <a:solidFill>
                  <a:schemeClr val="bg1"/>
                </a:solidFill>
              </a:rPr>
              <a:t>Tomorrow:</a:t>
            </a:r>
          </a:p>
          <a:p>
            <a:pPr algn="l"/>
            <a:endParaRPr lang="en-US" b="1" dirty="0">
              <a:solidFill>
                <a:schemeClr val="bg1"/>
              </a:solidFill>
            </a:endParaRPr>
          </a:p>
          <a:p>
            <a:pPr algn="l"/>
            <a:endParaRPr lang="en-US" b="1" dirty="0">
              <a:solidFill>
                <a:schemeClr val="bg1"/>
              </a:solidFill>
            </a:endParaRPr>
          </a:p>
          <a:p>
            <a:pPr algn="l"/>
            <a:endParaRPr lang="en-US" b="1" dirty="0">
              <a:solidFill>
                <a:schemeClr val="bg1"/>
              </a:solidFill>
            </a:endParaRPr>
          </a:p>
        </p:txBody>
      </p:sp>
      <p:sp>
        <p:nvSpPr>
          <p:cNvPr id="15" name="Untertitel 2">
            <a:extLst>
              <a:ext uri="{FF2B5EF4-FFF2-40B4-BE49-F238E27FC236}">
                <a16:creationId xmlns:a16="http://schemas.microsoft.com/office/drawing/2014/main" id="{6C0C378C-A8BC-4315-B006-9CE3A12CFF7D}"/>
              </a:ext>
            </a:extLst>
          </p:cNvPr>
          <p:cNvSpPr txBox="1">
            <a:spLocks/>
          </p:cNvSpPr>
          <p:nvPr/>
        </p:nvSpPr>
        <p:spPr>
          <a:xfrm>
            <a:off x="367014" y="4773571"/>
            <a:ext cx="11682313" cy="5679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AutoNum type="arabicParenR"/>
            </a:pPr>
            <a:r>
              <a:rPr lang="en-US" b="1" dirty="0">
                <a:solidFill>
                  <a:schemeClr val="bg1"/>
                </a:solidFill>
              </a:rPr>
              <a:t>Think about your meta-theory</a:t>
            </a:r>
          </a:p>
          <a:p>
            <a:pPr algn="l"/>
            <a:r>
              <a:rPr lang="en-US" b="1" dirty="0">
                <a:solidFill>
                  <a:schemeClr val="bg1"/>
                </a:solidFill>
              </a:rPr>
              <a:t>Are your Items interchangeable or not?</a:t>
            </a:r>
          </a:p>
          <a:p>
            <a:pPr algn="l"/>
            <a:r>
              <a:rPr lang="en-US" b="1" dirty="0">
                <a:solidFill>
                  <a:schemeClr val="bg1"/>
                </a:solidFill>
              </a:rPr>
              <a:t>Construct relevance -&gt; latent variable (theory/model)</a:t>
            </a:r>
          </a:p>
          <a:p>
            <a:pPr algn="l"/>
            <a:r>
              <a:rPr lang="en-US" b="1" dirty="0">
                <a:solidFill>
                  <a:schemeClr val="bg1"/>
                </a:solidFill>
              </a:rPr>
              <a:t>Vs. models emphasizing the individual items (e.g., multilevel modeling -&gt; see my approach)</a:t>
            </a:r>
          </a:p>
          <a:p>
            <a:pPr algn="l"/>
            <a:r>
              <a:rPr lang="en-US" b="1" dirty="0">
                <a:solidFill>
                  <a:schemeClr val="bg1"/>
                </a:solidFill>
              </a:rPr>
              <a:t>Both?</a:t>
            </a:r>
          </a:p>
          <a:p>
            <a:pPr algn="l"/>
            <a:r>
              <a:rPr lang="en-US" b="1" dirty="0">
                <a:solidFill>
                  <a:schemeClr val="bg1"/>
                </a:solidFill>
              </a:rPr>
              <a:t>Do both!</a:t>
            </a:r>
          </a:p>
        </p:txBody>
      </p:sp>
    </p:spTree>
    <p:extLst>
      <p:ext uri="{BB962C8B-B14F-4D97-AF65-F5344CB8AC3E}">
        <p14:creationId xmlns:p14="http://schemas.microsoft.com/office/powerpoint/2010/main" val="2947079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dirty="0"/>
          </a:p>
        </p:txBody>
      </p:sp>
      <p:sp>
        <p:nvSpPr>
          <p:cNvPr id="3" name="Inhaltsplatzhalter 2"/>
          <p:cNvSpPr>
            <a:spLocks noGrp="1"/>
          </p:cNvSpPr>
          <p:nvPr>
            <p:ph idx="1"/>
          </p:nvPr>
        </p:nvSpPr>
        <p:spPr/>
        <p:txBody>
          <a:bodyPr>
            <a:normAutofit fontScale="55000" lnSpcReduction="20000"/>
          </a:bodyPr>
          <a:lstStyle/>
          <a:p>
            <a:r>
              <a:rPr lang="en-US" dirty="0"/>
              <a:t>Integration a historical account of models that have been used to model knowledge with the research areas…</a:t>
            </a:r>
          </a:p>
          <a:p>
            <a:endParaRPr lang="en-US" dirty="0"/>
          </a:p>
          <a:p>
            <a:r>
              <a:rPr lang="en-US" dirty="0"/>
              <a:t>The result will be five conclusions for educational researchers who aim to model knowledge and learn the most about its nature and development.</a:t>
            </a:r>
          </a:p>
          <a:p>
            <a:endParaRPr lang="en-US" dirty="0"/>
          </a:p>
          <a:p>
            <a:r>
              <a:rPr lang="en-US" dirty="0"/>
              <a:t>1) ANOVA can be enough</a:t>
            </a:r>
          </a:p>
          <a:p>
            <a:r>
              <a:rPr lang="en-US" dirty="0"/>
              <a:t>2) Cronbach`s Alpha and factor analysis may lead us astray</a:t>
            </a:r>
          </a:p>
          <a:p>
            <a:r>
              <a:rPr lang="en-US" dirty="0"/>
              <a:t>3) Knowledge and its development can be modelled on multiple levels: Process (diffusion), components (items/elements and relations), construct (sum score,…), for individuals and across groups/populations. Variation across learner levels and construct levels (and process levels? -&gt; diffusion, learning analytics/micro-genetic, developmental). Use Leos micro meso macro? Micro: On level of items (individual knowledge elements – although not always, an item may also capture a whole concept/multiple elements and/or relations), seconds; meso: On level of multiple knowledge elements, minutes/hours; macro: On level of the whole construct (e.g., topic/domain knowledge), days/weeks/months/years. Learning units: between meso and macro.</a:t>
            </a:r>
          </a:p>
          <a:p>
            <a:r>
              <a:rPr lang="en-US" dirty="0"/>
              <a:t>4) Our theoretical thinking can inspire statistical models</a:t>
            </a:r>
          </a:p>
          <a:p>
            <a:r>
              <a:rPr lang="en-US" dirty="0"/>
              <a:t>5) Statistical models can inspire our theoretical thinking</a:t>
            </a:r>
          </a:p>
          <a:p>
            <a:endParaRPr lang="en-US" dirty="0"/>
          </a:p>
          <a:p>
            <a:r>
              <a:rPr lang="en-US" dirty="0"/>
              <a:t>Final model:</a:t>
            </a:r>
          </a:p>
        </p:txBody>
      </p:sp>
    </p:spTree>
    <p:extLst>
      <p:ext uri="{BB962C8B-B14F-4D97-AF65-F5344CB8AC3E}">
        <p14:creationId xmlns:p14="http://schemas.microsoft.com/office/powerpoint/2010/main" val="4807396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Final model</a:t>
            </a:r>
          </a:p>
        </p:txBody>
      </p:sp>
      <p:sp>
        <p:nvSpPr>
          <p:cNvPr id="3" name="Inhaltsplatzhalter 2"/>
          <p:cNvSpPr>
            <a:spLocks noGrp="1"/>
          </p:cNvSpPr>
          <p:nvPr>
            <p:ph idx="1"/>
          </p:nvPr>
        </p:nvSpPr>
        <p:spPr/>
        <p:txBody>
          <a:bodyPr>
            <a:normAutofit/>
          </a:bodyPr>
          <a:lstStyle/>
          <a:p>
            <a:r>
              <a:rPr lang="en-US" dirty="0"/>
              <a:t>Shows the mutual relation between theory about knowledge and its statistical representation.</a:t>
            </a:r>
          </a:p>
          <a:p>
            <a:r>
              <a:rPr lang="en-US" dirty="0"/>
              <a:t>Theory/model dimensions:</a:t>
            </a:r>
          </a:p>
          <a:p>
            <a:r>
              <a:rPr lang="en-US" dirty="0"/>
              <a:t>Individual elements (components or relations; intrinsic feature vs. external relation? PE: Intrinsic features categories: Fact knowledge – “IS” relation in knowledge network; external relation: No single “is” eventually? -&gt; Is this correct?),</a:t>
            </a:r>
          </a:p>
          <a:p>
            <a:r>
              <a:rPr lang="en-US" dirty="0"/>
              <a:t>Granularity (sub-element, supra-element, construct); within-individual, between-individuals,… (Krammer,…)</a:t>
            </a:r>
          </a:p>
        </p:txBody>
      </p:sp>
    </p:spTree>
    <p:extLst>
      <p:ext uri="{BB962C8B-B14F-4D97-AF65-F5344CB8AC3E}">
        <p14:creationId xmlns:p14="http://schemas.microsoft.com/office/powerpoint/2010/main" val="40839373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dirty="0"/>
          </a:p>
        </p:txBody>
      </p:sp>
      <p:sp>
        <p:nvSpPr>
          <p:cNvPr id="3" name="Inhaltsplatzhalter 2"/>
          <p:cNvSpPr>
            <a:spLocks noGrp="1"/>
          </p:cNvSpPr>
          <p:nvPr>
            <p:ph idx="1"/>
          </p:nvPr>
        </p:nvSpPr>
        <p:spPr/>
        <p:txBody>
          <a:bodyPr>
            <a:normAutofit fontScale="25000" lnSpcReduction="20000"/>
          </a:bodyPr>
          <a:lstStyle/>
          <a:p>
            <a:r>
              <a:rPr lang="en-US" dirty="0"/>
              <a:t>Definition</a:t>
            </a:r>
          </a:p>
          <a:p>
            <a:r>
              <a:rPr lang="en-US" dirty="0"/>
              <a:t>Kinds/Types</a:t>
            </a:r>
          </a:p>
          <a:p>
            <a:r>
              <a:rPr lang="en-US" dirty="0"/>
              <a:t>Characteristics: Element knowledge, relational knowledge – different or just different hierarchical level? -&gt; Lennart? Read his article and then ask him.</a:t>
            </a:r>
          </a:p>
          <a:p>
            <a:r>
              <a:rPr lang="en-US" dirty="0"/>
              <a:t>Conceptual change:</a:t>
            </a:r>
          </a:p>
          <a:p>
            <a:pPr lvl="1"/>
            <a:r>
              <a:rPr lang="en-US" dirty="0"/>
              <a:t>Susan Carey: What is it that changes? How does the change look like?</a:t>
            </a:r>
          </a:p>
          <a:p>
            <a:r>
              <a:rPr lang="en-US" dirty="0"/>
              <a:t>Development as modeling the world:</a:t>
            </a:r>
          </a:p>
          <a:p>
            <a:pPr lvl="1"/>
            <a:r>
              <a:rPr lang="en-US" dirty="0"/>
              <a:t>We have core knowledge</a:t>
            </a:r>
          </a:p>
          <a:p>
            <a:pPr lvl="1"/>
            <a:r>
              <a:rPr lang="en-US" dirty="0"/>
              <a:t>We have intelligence (&amp; working memory?)</a:t>
            </a:r>
          </a:p>
          <a:p>
            <a:pPr lvl="1"/>
            <a:r>
              <a:rPr lang="en-US" dirty="0"/>
              <a:t>Intelligence is the engine that interacts with experience to fill our knowledge space beyond core knowledge -&gt; Int connects core knowledge with experience to deduce – abductively – explanations (i.e., mental models/knowledge) through reasoning</a:t>
            </a:r>
          </a:p>
          <a:p>
            <a:pPr lvl="1"/>
            <a:r>
              <a:rPr lang="en-US" dirty="0"/>
              <a:t>Agency, numeracy, … + Intelligence :)</a:t>
            </a:r>
          </a:p>
          <a:p>
            <a:pPr lvl="1"/>
            <a:r>
              <a:rPr lang="en-US" dirty="0"/>
              <a:t>My aim is to portray how we can statistically model what the aims of inquiry learning and conceptual change research in this process are:</a:t>
            </a:r>
          </a:p>
          <a:p>
            <a:pPr lvl="2"/>
            <a:r>
              <a:rPr lang="en-US" dirty="0"/>
              <a:t>What are their assumptions about the processes of knowledge development that take place</a:t>
            </a:r>
          </a:p>
          <a:p>
            <a:pPr lvl="2"/>
            <a:r>
              <a:rPr lang="en-US" dirty="0"/>
              <a:t>How can we represent, describe (effect estimates), and  test (hypothesis tests) these assumptions using statistical models? </a:t>
            </a:r>
          </a:p>
          <a:p>
            <a:pPr marL="457200" lvl="1" indent="0">
              <a:buNone/>
            </a:pPr>
            <a:r>
              <a:rPr lang="en-US" dirty="0"/>
              <a:t>	Interest of inquiry research: Study how learners build knowledge through inquiry experience, and study how we can design and support the inquiry experience to moderate the knowledge construction process</a:t>
            </a:r>
          </a:p>
          <a:p>
            <a:pPr marL="457200" lvl="1" indent="0">
              <a:buNone/>
            </a:pPr>
            <a:r>
              <a:rPr lang="en-US" dirty="0"/>
              <a:t>Conceptual change research: Study the knowledge that learners bring into the inquiry process, how it changes therein – particularly when the prior knowledge is in contrast with the learning goal or outcome – then, we require conceptual change/non-linear, not typical additive constructivist (adding piece by piece) processes of knowledge restructuring</a:t>
            </a:r>
          </a:p>
          <a:p>
            <a:pPr marL="457200" lvl="1" indent="0">
              <a:buNone/>
            </a:pPr>
            <a:r>
              <a:rPr lang="en-US" dirty="0"/>
              <a:t>Distinguish between: Fact acquisition, Belief change/revision/updating, conceptual change </a:t>
            </a:r>
          </a:p>
          <a:p>
            <a:pPr marL="457200" lvl="1" indent="0">
              <a:buNone/>
            </a:pPr>
            <a:endParaRPr lang="en-US" dirty="0"/>
          </a:p>
          <a:p>
            <a:pPr marL="457200" lvl="1" indent="0">
              <a:buNone/>
            </a:pPr>
            <a:r>
              <a:rPr lang="en-US" dirty="0"/>
              <a:t>Accompanying paper in the educational psychologist:</a:t>
            </a:r>
          </a:p>
          <a:p>
            <a:pPr marL="457200" lvl="1" indent="0">
              <a:buNone/>
            </a:pPr>
            <a:r>
              <a:rPr lang="en-US" dirty="0"/>
              <a:t>Modeling knowledge</a:t>
            </a:r>
          </a:p>
          <a:p>
            <a:pPr marL="457200" lvl="1" indent="0">
              <a:buNone/>
            </a:pPr>
            <a:r>
              <a:rPr lang="en-US" dirty="0"/>
              <a:t>When we quantitatively study learners` knowledge and its development, a prime task is to translate our theoretical models of knowledge and development into statistical parameters that allow representing, describing, and testing our assumptions about these models.</a:t>
            </a:r>
          </a:p>
          <a:p>
            <a:pPr marL="457200" lvl="1" indent="0">
              <a:buNone/>
            </a:pPr>
            <a:r>
              <a:rPr lang="en-US" dirty="0"/>
              <a:t>Here, we describe central assumptions about knowledge and survey how these may be best represented in the statistical models we have available in educational research.</a:t>
            </a:r>
          </a:p>
          <a:p>
            <a:pPr marL="457200" lvl="1" indent="0">
              <a:buNone/>
            </a:pPr>
            <a:r>
              <a:rPr lang="en-US" dirty="0"/>
              <a:t>This is done from two perspectives.</a:t>
            </a:r>
          </a:p>
          <a:p>
            <a:pPr marL="457200" lvl="1" indent="0">
              <a:buNone/>
            </a:pPr>
            <a:r>
              <a:rPr lang="en-US" dirty="0"/>
              <a:t>First, we provide a historical account of how knowledge has been typically represented in statistical models throughout the decades.</a:t>
            </a:r>
          </a:p>
          <a:p>
            <a:pPr marL="457200" lvl="1" indent="0">
              <a:buNone/>
            </a:pPr>
            <a:r>
              <a:rPr lang="en-US" dirty="0"/>
              <a:t>Second, we survey available models to see and compare how they manage to represent theoretical assumptions about knowledge better or worse than others.</a:t>
            </a:r>
          </a:p>
          <a:p>
            <a:pPr marL="457200" lvl="1" indent="0">
              <a:buNone/>
            </a:pPr>
            <a:r>
              <a:rPr lang="en-US" dirty="0"/>
              <a:t>As a result, we provide implications for researchers that may help them select the best available models for their research question concerning knowledge at hand, as well as a potential future research agenda for applied methodological research aimed to help educational research in doing so.</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844839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feld 5"/>
          <p:cNvSpPr txBox="1"/>
          <p:nvPr/>
        </p:nvSpPr>
        <p:spPr>
          <a:xfrm>
            <a:off x="2778642" y="1615136"/>
            <a:ext cx="6826102"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6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MODELING KNOWLEDGE</a:t>
            </a:r>
            <a:endParaRPr kumimoji="0" lang="en-US" sz="6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extfeld 6"/>
          <p:cNvSpPr txBox="1"/>
          <p:nvPr/>
        </p:nvSpPr>
        <p:spPr>
          <a:xfrm>
            <a:off x="152400" y="3900487"/>
            <a:ext cx="118872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Yesterday					Today					Tomorrow</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530845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feld 6"/>
          <p:cNvSpPr txBox="1"/>
          <p:nvPr/>
        </p:nvSpPr>
        <p:spPr>
          <a:xfrm>
            <a:off x="776287" y="337527"/>
            <a:ext cx="1188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Cognitive representations about the world stored in long-term memory</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Textfeld 7"/>
          <p:cNvSpPr txBox="1"/>
          <p:nvPr/>
        </p:nvSpPr>
        <p:spPr>
          <a:xfrm>
            <a:off x="481012" y="1190015"/>
            <a:ext cx="118872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Elements (e.g., fact, procedure,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Relations between elements</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Abgerundetes Rechteck 5"/>
          <p:cNvSpPr/>
          <p:nvPr/>
        </p:nvSpPr>
        <p:spPr>
          <a:xfrm>
            <a:off x="3071812" y="4267200"/>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Bike</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Abgerundetes Rechteck 8"/>
          <p:cNvSpPr/>
          <p:nvPr/>
        </p:nvSpPr>
        <p:spPr>
          <a:xfrm>
            <a:off x="5005387" y="287288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Wheel</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Abgerundetes Rechteck 9"/>
          <p:cNvSpPr/>
          <p:nvPr/>
        </p:nvSpPr>
        <p:spPr>
          <a:xfrm>
            <a:off x="8000999" y="4101368"/>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Movement</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Abgerundetes Rechteck 10"/>
          <p:cNvSpPr/>
          <p:nvPr/>
        </p:nvSpPr>
        <p:spPr>
          <a:xfrm>
            <a:off x="5386387" y="461009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Flower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Abgerundetes Rechteck 11"/>
          <p:cNvSpPr/>
          <p:nvPr/>
        </p:nvSpPr>
        <p:spPr>
          <a:xfrm>
            <a:off x="4786312" y="5800113"/>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Green</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4" name="Gerader Verbinder 13"/>
          <p:cNvCxnSpPr/>
          <p:nvPr/>
        </p:nvCxnSpPr>
        <p:spPr>
          <a:xfrm flipV="1">
            <a:off x="4210050" y="3502025"/>
            <a:ext cx="815974" cy="7651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stCxn id="10" idx="1"/>
          </p:cNvCxnSpPr>
          <p:nvPr/>
        </p:nvCxnSpPr>
        <p:spPr>
          <a:xfrm flipH="1" flipV="1">
            <a:off x="6394450" y="3502025"/>
            <a:ext cx="1606549" cy="9374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a:stCxn id="12" idx="0"/>
            <a:endCxn id="11" idx="2"/>
          </p:cNvCxnSpPr>
          <p:nvPr/>
        </p:nvCxnSpPr>
        <p:spPr>
          <a:xfrm flipV="1">
            <a:off x="5495925" y="5286374"/>
            <a:ext cx="600075" cy="5137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Abgerundetes Rechteck 22"/>
          <p:cNvSpPr/>
          <p:nvPr/>
        </p:nvSpPr>
        <p:spPr>
          <a:xfrm>
            <a:off x="6538912" y="5671034"/>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the color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Gerader Verbinder 23"/>
          <p:cNvCxnSpPr/>
          <p:nvPr/>
        </p:nvCxnSpPr>
        <p:spPr>
          <a:xfrm>
            <a:off x="5795962" y="5543243"/>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3884611" y="3619346"/>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Abgerundetes Rechteck 27"/>
          <p:cNvSpPr/>
          <p:nvPr/>
        </p:nvSpPr>
        <p:spPr>
          <a:xfrm>
            <a:off x="1784347" y="3294490"/>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a part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Abgerundetes Rechteck 28"/>
          <p:cNvSpPr/>
          <p:nvPr/>
        </p:nvSpPr>
        <p:spPr>
          <a:xfrm>
            <a:off x="7319960" y="2994136"/>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Does</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30" name="Gerader Verbinder 29"/>
          <p:cNvCxnSpPr/>
          <p:nvPr/>
        </p:nvCxnSpPr>
        <p:spPr>
          <a:xfrm flipV="1">
            <a:off x="7197724" y="3632627"/>
            <a:ext cx="155576" cy="3381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Abgerundetes Rechteck 18"/>
          <p:cNvSpPr/>
          <p:nvPr/>
        </p:nvSpPr>
        <p:spPr>
          <a:xfrm>
            <a:off x="1919288" y="5461975"/>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Cycling</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1" name="Gerader Verbinder 20"/>
          <p:cNvCxnSpPr/>
          <p:nvPr/>
        </p:nvCxnSpPr>
        <p:spPr>
          <a:xfrm flipV="1">
            <a:off x="2592384" y="4909193"/>
            <a:ext cx="521099" cy="5527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bgerundetes Rechteck 24"/>
          <p:cNvSpPr/>
          <p:nvPr/>
        </p:nvSpPr>
        <p:spPr>
          <a:xfrm>
            <a:off x="267090" y="4378232"/>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Used for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6" name="Gerader Verbinder 25"/>
          <p:cNvCxnSpPr>
            <a:stCxn id="25" idx="3"/>
          </p:cNvCxnSpPr>
          <p:nvPr/>
        </p:nvCxnSpPr>
        <p:spPr>
          <a:xfrm>
            <a:off x="2367354" y="4716370"/>
            <a:ext cx="494534" cy="467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2058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4" name="Rechteck 3"/>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feld 6"/>
          <p:cNvSpPr txBox="1"/>
          <p:nvPr/>
        </p:nvSpPr>
        <p:spPr>
          <a:xfrm>
            <a:off x="776287" y="337527"/>
            <a:ext cx="1188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Cognitive representations about the world stored in long-term memory</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Textfeld 7"/>
          <p:cNvSpPr txBox="1"/>
          <p:nvPr/>
        </p:nvSpPr>
        <p:spPr>
          <a:xfrm>
            <a:off x="481012" y="1190015"/>
            <a:ext cx="118872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Elements (e.g., fact, procedure,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CH" sz="2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Relations between elements</a:t>
            </a:r>
            <a:endParaRPr kumimoji="0" lang="en-US" sz="2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Abgerundetes Rechteck 5"/>
          <p:cNvSpPr/>
          <p:nvPr/>
        </p:nvSpPr>
        <p:spPr>
          <a:xfrm>
            <a:off x="3071812" y="4267200"/>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Bike</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Abgerundetes Rechteck 8"/>
          <p:cNvSpPr/>
          <p:nvPr/>
        </p:nvSpPr>
        <p:spPr>
          <a:xfrm>
            <a:off x="5005387" y="287288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Wheel</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Abgerundetes Rechteck 9"/>
          <p:cNvSpPr/>
          <p:nvPr/>
        </p:nvSpPr>
        <p:spPr>
          <a:xfrm>
            <a:off x="8000999" y="4101368"/>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Movement</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Abgerundetes Rechteck 10"/>
          <p:cNvSpPr/>
          <p:nvPr/>
        </p:nvSpPr>
        <p:spPr>
          <a:xfrm>
            <a:off x="5386387" y="4610099"/>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Flower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Abgerundetes Rechteck 11"/>
          <p:cNvSpPr/>
          <p:nvPr/>
        </p:nvSpPr>
        <p:spPr>
          <a:xfrm>
            <a:off x="4786312" y="5800113"/>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Green</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4" name="Gerader Verbinder 13"/>
          <p:cNvCxnSpPr/>
          <p:nvPr/>
        </p:nvCxnSpPr>
        <p:spPr>
          <a:xfrm flipV="1">
            <a:off x="4210050" y="3502025"/>
            <a:ext cx="815974" cy="7651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stCxn id="10" idx="1"/>
          </p:cNvCxnSpPr>
          <p:nvPr/>
        </p:nvCxnSpPr>
        <p:spPr>
          <a:xfrm flipH="1" flipV="1">
            <a:off x="6394450" y="3502025"/>
            <a:ext cx="1606549" cy="9374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a:stCxn id="12" idx="0"/>
            <a:endCxn id="11" idx="2"/>
          </p:cNvCxnSpPr>
          <p:nvPr/>
        </p:nvCxnSpPr>
        <p:spPr>
          <a:xfrm flipV="1">
            <a:off x="5495925" y="5286374"/>
            <a:ext cx="600075" cy="5137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Abgerundetes Rechteck 22"/>
          <p:cNvSpPr/>
          <p:nvPr/>
        </p:nvSpPr>
        <p:spPr>
          <a:xfrm>
            <a:off x="6538912" y="5671034"/>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the color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4" name="Gerader Verbinder 23"/>
          <p:cNvCxnSpPr/>
          <p:nvPr/>
        </p:nvCxnSpPr>
        <p:spPr>
          <a:xfrm>
            <a:off x="5795962" y="5543243"/>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3884611" y="3619346"/>
            <a:ext cx="742950" cy="2568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Abgerundetes Rechteck 27"/>
          <p:cNvSpPr/>
          <p:nvPr/>
        </p:nvSpPr>
        <p:spPr>
          <a:xfrm>
            <a:off x="1784347" y="3294490"/>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Is a part of</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Abgerundetes Rechteck 28"/>
          <p:cNvSpPr/>
          <p:nvPr/>
        </p:nvSpPr>
        <p:spPr>
          <a:xfrm>
            <a:off x="7319960" y="2994136"/>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Does</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30" name="Gerader Verbinder 29"/>
          <p:cNvCxnSpPr/>
          <p:nvPr/>
        </p:nvCxnSpPr>
        <p:spPr>
          <a:xfrm flipV="1">
            <a:off x="7197724" y="3632627"/>
            <a:ext cx="155576" cy="3381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Abgerundetes Rechteck 18"/>
          <p:cNvSpPr/>
          <p:nvPr/>
        </p:nvSpPr>
        <p:spPr>
          <a:xfrm>
            <a:off x="1919288" y="5461975"/>
            <a:ext cx="1419225"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Cycling</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1" name="Gerader Verbinder 20"/>
          <p:cNvCxnSpPr/>
          <p:nvPr/>
        </p:nvCxnSpPr>
        <p:spPr>
          <a:xfrm flipV="1">
            <a:off x="2592384" y="4909193"/>
            <a:ext cx="521099" cy="55278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bgerundetes Rechteck 24"/>
          <p:cNvSpPr/>
          <p:nvPr/>
        </p:nvSpPr>
        <p:spPr>
          <a:xfrm>
            <a:off x="267090" y="4378232"/>
            <a:ext cx="2100264" cy="676275"/>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Used for</a:t>
            </a: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26" name="Gerader Verbinder 25"/>
          <p:cNvCxnSpPr>
            <a:stCxn id="25" idx="3"/>
          </p:cNvCxnSpPr>
          <p:nvPr/>
        </p:nvCxnSpPr>
        <p:spPr>
          <a:xfrm>
            <a:off x="2367354" y="4716370"/>
            <a:ext cx="494534" cy="467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7130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986CD8-AD28-4F31-8822-F7A8A1395821}"/>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B31EE47C-E798-4909-B0C7-93230F394E24}"/>
              </a:ext>
            </a:extLst>
          </p:cNvPr>
          <p:cNvSpPr>
            <a:spLocks noGrp="1"/>
          </p:cNvSpPr>
          <p:nvPr>
            <p:ph idx="1"/>
          </p:nvPr>
        </p:nvSpPr>
        <p:spPr/>
        <p:txBody>
          <a:bodyPr/>
          <a:lstStyle/>
          <a:p>
            <a:endParaRPr lang="de-DE"/>
          </a:p>
        </p:txBody>
      </p:sp>
      <p:pic>
        <p:nvPicPr>
          <p:cNvPr id="4" name="Grafik 3">
            <a:extLst>
              <a:ext uri="{FF2B5EF4-FFF2-40B4-BE49-F238E27FC236}">
                <a16:creationId xmlns:a16="http://schemas.microsoft.com/office/drawing/2014/main" id="{57FCA9FF-BC65-4881-A1FD-093BC96AF57F}"/>
              </a:ext>
            </a:extLst>
          </p:cNvPr>
          <p:cNvPicPr>
            <a:picLocks noChangeAspect="1"/>
          </p:cNvPicPr>
          <p:nvPr/>
        </p:nvPicPr>
        <p:blipFill>
          <a:blip r:embed="rId2"/>
          <a:stretch>
            <a:fillRect/>
          </a:stretch>
        </p:blipFill>
        <p:spPr>
          <a:xfrm>
            <a:off x="0" y="340303"/>
            <a:ext cx="12192000" cy="6177394"/>
          </a:xfrm>
          <a:prstGeom prst="rect">
            <a:avLst/>
          </a:prstGeom>
        </p:spPr>
      </p:pic>
    </p:spTree>
    <p:extLst>
      <p:ext uri="{BB962C8B-B14F-4D97-AF65-F5344CB8AC3E}">
        <p14:creationId xmlns:p14="http://schemas.microsoft.com/office/powerpoint/2010/main" val="11286439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solidFill>
                  <a:schemeClr val="bg1"/>
                </a:solidFill>
              </a:rPr>
              <a:t>Modeling Knowledge</a:t>
            </a:r>
          </a:p>
        </p:txBody>
      </p:sp>
      <p:sp>
        <p:nvSpPr>
          <p:cNvPr id="3" name="Untertitel 2"/>
          <p:cNvSpPr>
            <a:spLocks noGrp="1"/>
          </p:cNvSpPr>
          <p:nvPr>
            <p:ph type="subTitle" idx="1"/>
          </p:nvPr>
        </p:nvSpPr>
        <p:spPr/>
        <p:txBody>
          <a:bodyPr/>
          <a:lstStyle/>
          <a:p>
            <a:r>
              <a:rPr lang="en-US" dirty="0">
                <a:solidFill>
                  <a:schemeClr val="bg1"/>
                </a:solidFill>
              </a:rPr>
              <a:t>Yesterday</a:t>
            </a:r>
          </a:p>
          <a:p>
            <a:r>
              <a:rPr lang="en-US" dirty="0">
                <a:solidFill>
                  <a:schemeClr val="bg1"/>
                </a:solidFill>
              </a:rPr>
              <a:t>Today</a:t>
            </a:r>
          </a:p>
          <a:p>
            <a:r>
              <a:rPr lang="en-US" dirty="0">
                <a:solidFill>
                  <a:schemeClr val="bg1"/>
                </a:solidFill>
              </a:rPr>
              <a:t>Tomorrow</a:t>
            </a:r>
          </a:p>
        </p:txBody>
      </p:sp>
      <p:sp>
        <p:nvSpPr>
          <p:cNvPr id="5" name="Rechteck 4"/>
          <p:cNvSpPr/>
          <p:nvPr/>
        </p:nvSpPr>
        <p:spPr>
          <a:xfrm>
            <a:off x="0" y="0"/>
            <a:ext cx="12192000" cy="68580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24228836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29664</Words>
  <Application>Microsoft Office PowerPoint</Application>
  <PresentationFormat>Breitbild</PresentationFormat>
  <Paragraphs>2835</Paragraphs>
  <Slides>92</Slides>
  <Notes>89</Notes>
  <HiddenSlides>42</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92</vt:i4>
      </vt:variant>
    </vt:vector>
  </HeadingPairs>
  <TitlesOfParts>
    <vt:vector size="98" baseType="lpstr">
      <vt:lpstr>Arial</vt:lpstr>
      <vt:lpstr>Calibri</vt:lpstr>
      <vt:lpstr>Calibri Light</vt:lpstr>
      <vt:lpstr>Times New Roman</vt:lpstr>
      <vt:lpstr>Office</vt:lpstr>
      <vt:lpstr>1_Office</vt:lpstr>
      <vt:lpstr>Modeling Knowledge</vt:lpstr>
      <vt:lpstr>PowerPoint-Präsentation</vt:lpstr>
      <vt:lpstr>Part I</vt:lpstr>
      <vt:lpstr>Part I</vt:lpstr>
      <vt:lpstr>70s/80s</vt:lpstr>
      <vt:lpstr>70s/80s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Part I</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Part I</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thank you.</vt:lpstr>
      <vt:lpstr>PowerPoint-Präsentation</vt:lpstr>
      <vt:lpstr>PowerPoint-Präsentation</vt:lpstr>
      <vt:lpstr>PowerPoint-Präsentation</vt:lpstr>
      <vt:lpstr>70s/80s</vt:lpstr>
      <vt:lpstr>70s/80s</vt:lpstr>
      <vt:lpstr>PowerPoint-Präsentation</vt:lpstr>
      <vt:lpstr>Modeling Knowledge</vt:lpstr>
      <vt:lpstr>Modeling Knowledge</vt:lpstr>
      <vt:lpstr>PowerPoint-Präsentation</vt:lpstr>
      <vt:lpstr>70s</vt:lpstr>
      <vt:lpstr>70s</vt:lpstr>
      <vt:lpstr>The foundations of educational research: Individual items and the sum score</vt:lpstr>
      <vt:lpstr>PowerPoint-Präsentation</vt:lpstr>
      <vt:lpstr>Educational research goes textbook: Cronbach`s Alpha and Factor analysis</vt:lpstr>
      <vt:lpstr>Beyond the textbook: Adapting models to theories</vt:lpstr>
      <vt:lpstr>Beyond the textbook: Adapting models to theories</vt:lpstr>
      <vt:lpstr>PowerPoint-Präsentation</vt:lpstr>
      <vt:lpstr>PowerPoint-Präsentation</vt:lpstr>
      <vt:lpstr>PowerPoint-Präsentation</vt:lpstr>
      <vt:lpstr>PowerPoint-Präsentation</vt:lpstr>
      <vt:lpstr>PowerPoint-Präsentation</vt:lpstr>
      <vt:lpstr>1957</vt:lpstr>
      <vt:lpstr>“Something new was stirring in the land.” </vt:lpstr>
      <vt:lpstr>Theory of knowledge  Our theoretical assumptions about learners` knowledge</vt:lpstr>
      <vt:lpstr>Theory of knowledge  Our theoretical assumptions about learners` knowledge</vt:lpstr>
      <vt:lpstr>Theory of knowledge  Our theoretical assumptions about learners` knowledge</vt:lpstr>
      <vt:lpstr>PowerPoint-Präsentation</vt:lpstr>
      <vt:lpstr>Modeling Knowledge</vt:lpstr>
      <vt:lpstr>Knowledge</vt:lpstr>
      <vt:lpstr>Knowledge</vt:lpstr>
      <vt:lpstr>PowerPoint-Präsentation</vt:lpstr>
      <vt:lpstr>Knowledge</vt:lpstr>
      <vt:lpstr>take home</vt:lpstr>
      <vt:lpstr>central ideas and takes</vt:lpstr>
      <vt:lpstr>PowerPoint-Präsentation</vt:lpstr>
      <vt:lpstr>Final model</vt:lpstr>
      <vt:lpstr>PowerPoint-Präsentation</vt:lpstr>
      <vt:lpstr>PowerPoint-Präsentation</vt:lpstr>
      <vt:lpstr>PowerPoint-Präsentation</vt:lpstr>
      <vt:lpstr>PowerPoint-Präsentation</vt:lpstr>
      <vt:lpstr>PowerPoint-Präsentation</vt:lpstr>
      <vt:lpstr>Modeling Knowledge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Peter Edelsbrunner</dc:creator>
  <cp:lastModifiedBy>Peter Edelsbrunner</cp:lastModifiedBy>
  <cp:revision>574</cp:revision>
  <dcterms:created xsi:type="dcterms:W3CDTF">2022-05-21T08:20:22Z</dcterms:created>
  <dcterms:modified xsi:type="dcterms:W3CDTF">2026-08-26T20:30:29Z</dcterms:modified>
</cp:coreProperties>
</file>